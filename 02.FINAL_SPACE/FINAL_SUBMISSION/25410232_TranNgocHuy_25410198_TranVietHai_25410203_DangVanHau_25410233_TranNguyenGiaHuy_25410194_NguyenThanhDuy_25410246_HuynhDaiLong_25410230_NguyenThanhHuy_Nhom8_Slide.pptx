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x="18288000" cy="10287000"/>
  <p:notesSz cx="6858000" cy="9144000"/>
  <p:embeddedFontLst>
    <p:embeddedFont>
      <p:font typeface="Poppins Bold" charset="1" panose="00000800000000000000"/>
      <p:regular r:id="rId62"/>
    </p:embeddedFont>
    <p:embeddedFont>
      <p:font typeface="Poppins" charset="1" panose="00000500000000000000"/>
      <p:regular r:id="rId63"/>
    </p:embeddedFont>
    <p:embeddedFont>
      <p:font typeface="Noto Sans Bold" charset="1" panose="020B0802040504020204"/>
      <p:regular r:id="rId64"/>
    </p:embeddedFont>
    <p:embeddedFont>
      <p:font typeface="Noto Sans" charset="1" panose="020B0502040504020204"/>
      <p:regular r:id="rId65"/>
    </p:embeddedFont>
    <p:embeddedFont>
      <p:font typeface="Poppins Italics" charset="1" panose="00000500000000000000"/>
      <p:regular r:id="rId6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fonts/font62.fntdata" Type="http://schemas.openxmlformats.org/officeDocument/2006/relationships/font"/><Relationship Id="rId63" Target="fonts/font63.fntdata" Type="http://schemas.openxmlformats.org/officeDocument/2006/relationships/font"/><Relationship Id="rId64" Target="fonts/font64.fntdata" Type="http://schemas.openxmlformats.org/officeDocument/2006/relationships/font"/><Relationship Id="rId65" Target="fonts/font65.fntdata" Type="http://schemas.openxmlformats.org/officeDocument/2006/relationships/font"/><Relationship Id="rId66" Target="fonts/font66.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jpeg" Type="http://schemas.openxmlformats.org/officeDocument/2006/relationships/image"/><Relationship Id="rId16" Target="../media/image15.pn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jpe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png" Type="http://schemas.openxmlformats.org/officeDocument/2006/relationships/image"/><Relationship Id="rId11" Target="../media/image4.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1.png" Type="http://schemas.openxmlformats.org/officeDocument/2006/relationships/image"/><Relationship Id="rId15" Target="../media/image2.svg" Type="http://schemas.openxmlformats.org/officeDocument/2006/relationships/image"/><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12" Target="../media/image34.png" Type="http://schemas.openxmlformats.org/officeDocument/2006/relationships/image"/><Relationship Id="rId13" Target="../media/image35.png" Type="http://schemas.openxmlformats.org/officeDocument/2006/relationships/image"/><Relationship Id="rId14" Target="../media/image36.png" Type="http://schemas.openxmlformats.org/officeDocument/2006/relationships/image"/><Relationship Id="rId15" Target="../media/image37.svg" Type="http://schemas.openxmlformats.org/officeDocument/2006/relationships/image"/><Relationship Id="rId16" Target="../media/image38.png" Type="http://schemas.openxmlformats.org/officeDocument/2006/relationships/image"/><Relationship Id="rId17" Target="../media/image39.png" Type="http://schemas.openxmlformats.org/officeDocument/2006/relationships/image"/><Relationship Id="rId18" Target="../media/image40.jpeg" Type="http://schemas.openxmlformats.org/officeDocument/2006/relationships/image"/><Relationship Id="rId19" Target="../media/image21.png" Type="http://schemas.openxmlformats.org/officeDocument/2006/relationships/image"/><Relationship Id="rId2" Target="../media/image1.png" Type="http://schemas.openxmlformats.org/officeDocument/2006/relationships/image"/><Relationship Id="rId20" Target="../media/image22.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43.png" Type="http://schemas.openxmlformats.org/officeDocument/2006/relationships/image"/><Relationship Id="rId15" Target="../media/image44.sv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18" Target="../media/image30.png" Type="http://schemas.openxmlformats.org/officeDocument/2006/relationships/image"/><Relationship Id="rId19" Target="../media/image3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6.png" Type="http://schemas.openxmlformats.org/officeDocument/2006/relationships/image"/><Relationship Id="rId9" Target="../media/image3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6.png" Type="http://schemas.openxmlformats.org/officeDocument/2006/relationships/image"/><Relationship Id="rId9"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55.png" Type="http://schemas.openxmlformats.org/officeDocument/2006/relationships/image"/><Relationship Id="rId14" Target="../media/image56.svg" Type="http://schemas.openxmlformats.org/officeDocument/2006/relationships/image"/><Relationship Id="rId15" Target="../media/image1.png" Type="http://schemas.openxmlformats.org/officeDocument/2006/relationships/image"/><Relationship Id="rId16" Target="../media/image2.svg" Type="http://schemas.openxmlformats.org/officeDocument/2006/relationships/image"/><Relationship Id="rId17" Target="../media/image21.png" Type="http://schemas.openxmlformats.org/officeDocument/2006/relationships/image"/><Relationship Id="rId18" Target="../media/image22.svg" Type="http://schemas.openxmlformats.org/officeDocument/2006/relationships/image"/><Relationship Id="rId2" Target="../media/image47.png" Type="http://schemas.openxmlformats.org/officeDocument/2006/relationships/image"/><Relationship Id="rId3" Target="../media/image48.svg" Type="http://schemas.openxmlformats.org/officeDocument/2006/relationships/image"/><Relationship Id="rId4" Target="../media/image49.png" Type="http://schemas.openxmlformats.org/officeDocument/2006/relationships/image"/><Relationship Id="rId5" Target="../media/image5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5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57.png" Type="http://schemas.openxmlformats.org/officeDocument/2006/relationships/image"/><Relationship Id="rId9"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62.png" Type="http://schemas.openxmlformats.org/officeDocument/2006/relationships/image"/><Relationship Id="rId13" Target="../media/image63.sv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0.svg" Type="http://schemas.openxmlformats.org/officeDocument/2006/relationships/image"/><Relationship Id="rId11" Target="../media/image60.png" Type="http://schemas.openxmlformats.org/officeDocument/2006/relationships/image"/><Relationship Id="rId12" Target="../media/image61.sv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2" Target="../media/image64.png" Type="http://schemas.openxmlformats.org/officeDocument/2006/relationships/image"/><Relationship Id="rId3" Target="../media/image65.png" Type="http://schemas.openxmlformats.org/officeDocument/2006/relationships/image"/><Relationship Id="rId4" Target="../media/image66.png" Type="http://schemas.openxmlformats.org/officeDocument/2006/relationships/image"/><Relationship Id="rId5" Target="../media/image67.png" Type="http://schemas.openxmlformats.org/officeDocument/2006/relationships/image"/><Relationship Id="rId6" Target="../media/image68.png" Type="http://schemas.openxmlformats.org/officeDocument/2006/relationships/image"/><Relationship Id="rId7" Target="../media/image3.png" Type="http://schemas.openxmlformats.org/officeDocument/2006/relationships/image"/><Relationship Id="rId8" Target="../media/image4.svg" Type="http://schemas.openxmlformats.org/officeDocument/2006/relationships/image"/><Relationship Id="rId9" Target="../media/image6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9.png" Type="http://schemas.openxmlformats.org/officeDocument/2006/relationships/image"/><Relationship Id="rId11" Target="../media/image80.png" Type="http://schemas.openxmlformats.org/officeDocument/2006/relationships/image"/><Relationship Id="rId12" Target="../media/image81.png" Type="http://schemas.openxmlformats.org/officeDocument/2006/relationships/image"/><Relationship Id="rId13" Target="../media/image82.png" Type="http://schemas.openxmlformats.org/officeDocument/2006/relationships/image"/><Relationship Id="rId14" Target="../media/image83.png" Type="http://schemas.openxmlformats.org/officeDocument/2006/relationships/image"/><Relationship Id="rId15" Target="../media/image84.png" Type="http://schemas.openxmlformats.org/officeDocument/2006/relationships/image"/><Relationship Id="rId16" Target="../media/image85.png" Type="http://schemas.openxmlformats.org/officeDocument/2006/relationships/image"/><Relationship Id="rId17" Target="../media/image86.png" Type="http://schemas.openxmlformats.org/officeDocument/2006/relationships/image"/><Relationship Id="rId18" Target="../media/image87.png" Type="http://schemas.openxmlformats.org/officeDocument/2006/relationships/image"/><Relationship Id="rId19" Target="../media/image88.png" Type="http://schemas.openxmlformats.org/officeDocument/2006/relationships/image"/><Relationship Id="rId2" Target="../media/image71.png" Type="http://schemas.openxmlformats.org/officeDocument/2006/relationships/image"/><Relationship Id="rId20" Target="../media/image89.png" Type="http://schemas.openxmlformats.org/officeDocument/2006/relationships/image"/><Relationship Id="rId21" Target="../media/image90.png" Type="http://schemas.openxmlformats.org/officeDocument/2006/relationships/image"/><Relationship Id="rId22" Target="../media/image91.png" Type="http://schemas.openxmlformats.org/officeDocument/2006/relationships/image"/><Relationship Id="rId23" Target="../media/image3.png" Type="http://schemas.openxmlformats.org/officeDocument/2006/relationships/image"/><Relationship Id="rId24" Target="../media/image4.svg" Type="http://schemas.openxmlformats.org/officeDocument/2006/relationships/image"/><Relationship Id="rId25" Target="../media/image69.png" Type="http://schemas.openxmlformats.org/officeDocument/2006/relationships/image"/><Relationship Id="rId26" Target="../media/image70.svg" Type="http://schemas.openxmlformats.org/officeDocument/2006/relationships/image"/><Relationship Id="rId27" Target="../media/image65.png" Type="http://schemas.openxmlformats.org/officeDocument/2006/relationships/image"/><Relationship Id="rId28" Target="../media/image21.png" Type="http://schemas.openxmlformats.org/officeDocument/2006/relationships/image"/><Relationship Id="rId29" Target="../media/image22.svg" Type="http://schemas.openxmlformats.org/officeDocument/2006/relationships/image"/><Relationship Id="rId3" Target="../media/image72.png" Type="http://schemas.openxmlformats.org/officeDocument/2006/relationships/image"/><Relationship Id="rId4" Target="../media/image73.png" Type="http://schemas.openxmlformats.org/officeDocument/2006/relationships/image"/><Relationship Id="rId5" Target="../media/image74.png" Type="http://schemas.openxmlformats.org/officeDocument/2006/relationships/image"/><Relationship Id="rId6" Target="../media/image75.png" Type="http://schemas.openxmlformats.org/officeDocument/2006/relationships/image"/><Relationship Id="rId7" Target="../media/image76.png" Type="http://schemas.openxmlformats.org/officeDocument/2006/relationships/image"/><Relationship Id="rId8" Target="../media/image77.png" Type="http://schemas.openxmlformats.org/officeDocument/2006/relationships/image"/><Relationship Id="rId9" Target="../media/image7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65.pn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0.png" Type="http://schemas.openxmlformats.org/officeDocument/2006/relationships/image"/><Relationship Id="rId11" Target="../media/image101.png" Type="http://schemas.openxmlformats.org/officeDocument/2006/relationships/image"/><Relationship Id="rId12" Target="../media/image102.png" Type="http://schemas.openxmlformats.org/officeDocument/2006/relationships/image"/><Relationship Id="rId13" Target="../media/image3.png" Type="http://schemas.openxmlformats.org/officeDocument/2006/relationships/image"/><Relationship Id="rId14" Target="../media/image4.svg" Type="http://schemas.openxmlformats.org/officeDocument/2006/relationships/image"/><Relationship Id="rId15" Target="../media/image69.png" Type="http://schemas.openxmlformats.org/officeDocument/2006/relationships/image"/><Relationship Id="rId16" Target="../media/image70.svg" Type="http://schemas.openxmlformats.org/officeDocument/2006/relationships/image"/><Relationship Id="rId17" Target="../media/image65.png" Type="http://schemas.openxmlformats.org/officeDocument/2006/relationships/image"/><Relationship Id="rId18" Target="../media/image103.png" Type="http://schemas.openxmlformats.org/officeDocument/2006/relationships/image"/><Relationship Id="rId19" Target="../media/image104.svg" Type="http://schemas.openxmlformats.org/officeDocument/2006/relationships/image"/><Relationship Id="rId2" Target="../media/image92.png" Type="http://schemas.openxmlformats.org/officeDocument/2006/relationships/image"/><Relationship Id="rId20" Target="../media/image90.png" Type="http://schemas.openxmlformats.org/officeDocument/2006/relationships/image"/><Relationship Id="rId21" Target="../media/image91.png" Type="http://schemas.openxmlformats.org/officeDocument/2006/relationships/image"/><Relationship Id="rId22" Target="../media/image105.png" Type="http://schemas.openxmlformats.org/officeDocument/2006/relationships/image"/><Relationship Id="rId23" Target="../media/image106.svg" Type="http://schemas.openxmlformats.org/officeDocument/2006/relationships/image"/><Relationship Id="rId3" Target="../media/image93.png" Type="http://schemas.openxmlformats.org/officeDocument/2006/relationships/image"/><Relationship Id="rId4" Target="../media/image94.png" Type="http://schemas.openxmlformats.org/officeDocument/2006/relationships/image"/><Relationship Id="rId5" Target="../media/image95.png" Type="http://schemas.openxmlformats.org/officeDocument/2006/relationships/image"/><Relationship Id="rId6" Target="../media/image96.png" Type="http://schemas.openxmlformats.org/officeDocument/2006/relationships/image"/><Relationship Id="rId7" Target="../media/image97.png" Type="http://schemas.openxmlformats.org/officeDocument/2006/relationships/image"/><Relationship Id="rId8" Target="../media/image98.png" Type="http://schemas.openxmlformats.org/officeDocument/2006/relationships/image"/><Relationship Id="rId9" Target="../media/image9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5.png" Type="http://schemas.openxmlformats.org/officeDocument/2006/relationships/image"/><Relationship Id="rId11" Target="../media/image116.png" Type="http://schemas.openxmlformats.org/officeDocument/2006/relationships/image"/><Relationship Id="rId12" Target="../media/image117.png" Type="http://schemas.openxmlformats.org/officeDocument/2006/relationships/image"/><Relationship Id="rId13" Target="../media/image118.png" Type="http://schemas.openxmlformats.org/officeDocument/2006/relationships/image"/><Relationship Id="rId14" Target="../media/image119.png" Type="http://schemas.openxmlformats.org/officeDocument/2006/relationships/image"/><Relationship Id="rId15" Target="../media/image120.png" Type="http://schemas.openxmlformats.org/officeDocument/2006/relationships/image"/><Relationship Id="rId16" Target="../media/image121.png" Type="http://schemas.openxmlformats.org/officeDocument/2006/relationships/image"/><Relationship Id="rId17" Target="../media/image122.png" Type="http://schemas.openxmlformats.org/officeDocument/2006/relationships/image"/><Relationship Id="rId18" Target="../media/image123.png" Type="http://schemas.openxmlformats.org/officeDocument/2006/relationships/image"/><Relationship Id="rId19" Target="../media/image124.png" Type="http://schemas.openxmlformats.org/officeDocument/2006/relationships/image"/><Relationship Id="rId2" Target="../media/image107.png" Type="http://schemas.openxmlformats.org/officeDocument/2006/relationships/image"/><Relationship Id="rId20" Target="../media/image125.png" Type="http://schemas.openxmlformats.org/officeDocument/2006/relationships/image"/><Relationship Id="rId21" Target="../media/image126.png" Type="http://schemas.openxmlformats.org/officeDocument/2006/relationships/image"/><Relationship Id="rId22" Target="../media/image127.png" Type="http://schemas.openxmlformats.org/officeDocument/2006/relationships/image"/><Relationship Id="rId23" Target="../media/image128.png" Type="http://schemas.openxmlformats.org/officeDocument/2006/relationships/image"/><Relationship Id="rId24" Target="../media/image129.png" Type="http://schemas.openxmlformats.org/officeDocument/2006/relationships/image"/><Relationship Id="rId25" Target="../media/image130.png" Type="http://schemas.openxmlformats.org/officeDocument/2006/relationships/image"/><Relationship Id="rId26" Target="../media/image3.png" Type="http://schemas.openxmlformats.org/officeDocument/2006/relationships/image"/><Relationship Id="rId27" Target="../media/image4.svg" Type="http://schemas.openxmlformats.org/officeDocument/2006/relationships/image"/><Relationship Id="rId28" Target="../media/image69.png" Type="http://schemas.openxmlformats.org/officeDocument/2006/relationships/image"/><Relationship Id="rId29" Target="../media/image70.svg" Type="http://schemas.openxmlformats.org/officeDocument/2006/relationships/image"/><Relationship Id="rId3" Target="../media/image108.png" Type="http://schemas.openxmlformats.org/officeDocument/2006/relationships/image"/><Relationship Id="rId30" Target="../media/image65.png" Type="http://schemas.openxmlformats.org/officeDocument/2006/relationships/image"/><Relationship Id="rId31" Target="../media/image105.png" Type="http://schemas.openxmlformats.org/officeDocument/2006/relationships/image"/><Relationship Id="rId32" Target="../media/image106.svg" Type="http://schemas.openxmlformats.org/officeDocument/2006/relationships/image"/><Relationship Id="rId4" Target="../media/image109.png" Type="http://schemas.openxmlformats.org/officeDocument/2006/relationships/image"/><Relationship Id="rId5" Target="../media/image110.png" Type="http://schemas.openxmlformats.org/officeDocument/2006/relationships/image"/><Relationship Id="rId6" Target="../media/image111.png" Type="http://schemas.openxmlformats.org/officeDocument/2006/relationships/image"/><Relationship Id="rId7" Target="../media/image112.png" Type="http://schemas.openxmlformats.org/officeDocument/2006/relationships/image"/><Relationship Id="rId8" Target="../media/image113.png" Type="http://schemas.openxmlformats.org/officeDocument/2006/relationships/image"/><Relationship Id="rId9" Target="../media/image11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9.png" Type="http://schemas.openxmlformats.org/officeDocument/2006/relationships/image"/><Relationship Id="rId11" Target="../media/image140.png" Type="http://schemas.openxmlformats.org/officeDocument/2006/relationships/image"/><Relationship Id="rId12" Target="../media/image141.png" Type="http://schemas.openxmlformats.org/officeDocument/2006/relationships/image"/><Relationship Id="rId13" Target="../media/image142.png" Type="http://schemas.openxmlformats.org/officeDocument/2006/relationships/image"/><Relationship Id="rId14" Target="../media/image143.png" Type="http://schemas.openxmlformats.org/officeDocument/2006/relationships/image"/><Relationship Id="rId15" Target="../media/image144.png" Type="http://schemas.openxmlformats.org/officeDocument/2006/relationships/image"/><Relationship Id="rId16" Target="../media/image145.png" Type="http://schemas.openxmlformats.org/officeDocument/2006/relationships/image"/><Relationship Id="rId17" Target="../media/image146.png" Type="http://schemas.openxmlformats.org/officeDocument/2006/relationships/image"/><Relationship Id="rId18" Target="../media/image147.png" Type="http://schemas.openxmlformats.org/officeDocument/2006/relationships/image"/><Relationship Id="rId19" Target="../media/image148.png" Type="http://schemas.openxmlformats.org/officeDocument/2006/relationships/image"/><Relationship Id="rId2" Target="../media/image131.png" Type="http://schemas.openxmlformats.org/officeDocument/2006/relationships/image"/><Relationship Id="rId20" Target="../media/image149.png" Type="http://schemas.openxmlformats.org/officeDocument/2006/relationships/image"/><Relationship Id="rId21" Target="../media/image150.svg" Type="http://schemas.openxmlformats.org/officeDocument/2006/relationships/image"/><Relationship Id="rId22" Target="../media/image151.png" Type="http://schemas.openxmlformats.org/officeDocument/2006/relationships/image"/><Relationship Id="rId23" Target="../media/image152.svg" Type="http://schemas.openxmlformats.org/officeDocument/2006/relationships/image"/><Relationship Id="rId24" Target="../media/image60.png" Type="http://schemas.openxmlformats.org/officeDocument/2006/relationships/image"/><Relationship Id="rId25" Target="../media/image61.svg" Type="http://schemas.openxmlformats.org/officeDocument/2006/relationships/image"/><Relationship Id="rId26" Target="../media/image3.png" Type="http://schemas.openxmlformats.org/officeDocument/2006/relationships/image"/><Relationship Id="rId27" Target="../media/image4.svg" Type="http://schemas.openxmlformats.org/officeDocument/2006/relationships/image"/><Relationship Id="rId28" Target="../media/image5.png" Type="http://schemas.openxmlformats.org/officeDocument/2006/relationships/image"/><Relationship Id="rId29" Target="../media/image6.svg" Type="http://schemas.openxmlformats.org/officeDocument/2006/relationships/image"/><Relationship Id="rId3" Target="../media/image132.png" Type="http://schemas.openxmlformats.org/officeDocument/2006/relationships/image"/><Relationship Id="rId30" Target="../media/image153.png" Type="http://schemas.openxmlformats.org/officeDocument/2006/relationships/image"/><Relationship Id="rId31" Target="../media/image154.svg" Type="http://schemas.openxmlformats.org/officeDocument/2006/relationships/image"/><Relationship Id="rId32" Target="../media/image155.png" Type="http://schemas.openxmlformats.org/officeDocument/2006/relationships/image"/><Relationship Id="rId4" Target="../media/image133.png" Type="http://schemas.openxmlformats.org/officeDocument/2006/relationships/image"/><Relationship Id="rId5" Target="../media/image134.png" Type="http://schemas.openxmlformats.org/officeDocument/2006/relationships/image"/><Relationship Id="rId6" Target="../media/image135.png" Type="http://schemas.openxmlformats.org/officeDocument/2006/relationships/image"/><Relationship Id="rId7" Target="../media/image136.png" Type="http://schemas.openxmlformats.org/officeDocument/2006/relationships/image"/><Relationship Id="rId8" Target="../media/image137.png" Type="http://schemas.openxmlformats.org/officeDocument/2006/relationships/image"/><Relationship Id="rId9" Target="../media/image13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0.png" Type="http://schemas.openxmlformats.org/officeDocument/2006/relationships/image"/><Relationship Id="rId12" Target="../media/image91.png" Type="http://schemas.openxmlformats.org/officeDocument/2006/relationships/image"/><Relationship Id="rId13" Target="../media/image153.png" Type="http://schemas.openxmlformats.org/officeDocument/2006/relationships/image"/><Relationship Id="rId14" Target="../media/image154.svg" Type="http://schemas.openxmlformats.org/officeDocument/2006/relationships/image"/><Relationship Id="rId15" Target="../media/image60.png" Type="http://schemas.openxmlformats.org/officeDocument/2006/relationships/image"/><Relationship Id="rId16" Target="../media/image61.svg" Type="http://schemas.openxmlformats.org/officeDocument/2006/relationships/image"/><Relationship Id="rId17" Target="../media/image161.png" Type="http://schemas.openxmlformats.org/officeDocument/2006/relationships/image"/><Relationship Id="rId2" Target="../media/image156.png" Type="http://schemas.openxmlformats.org/officeDocument/2006/relationships/image"/><Relationship Id="rId3" Target="../media/image157.png" Type="http://schemas.openxmlformats.org/officeDocument/2006/relationships/image"/><Relationship Id="rId4" Target="../media/image158.pn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59.png" Type="http://schemas.openxmlformats.org/officeDocument/2006/relationships/image"/><Relationship Id="rId8" Target="../media/image160.svg" Type="http://schemas.openxmlformats.org/officeDocument/2006/relationships/image"/><Relationship Id="rId9" Target="../media/image5.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1.png" Type="http://schemas.openxmlformats.org/officeDocument/2006/relationships/image"/><Relationship Id="rId11" Target="../media/image161.png" Type="http://schemas.openxmlformats.org/officeDocument/2006/relationships/image"/><Relationship Id="rId12" Target="../media/image165.png" Type="http://schemas.openxmlformats.org/officeDocument/2006/relationships/image"/><Relationship Id="rId13" Target="../media/image166.png" Type="http://schemas.openxmlformats.org/officeDocument/2006/relationships/image"/><Relationship Id="rId14" Target="../media/image21.png" Type="http://schemas.openxmlformats.org/officeDocument/2006/relationships/image"/><Relationship Id="rId15" Target="../media/image22.svg" Type="http://schemas.openxmlformats.org/officeDocument/2006/relationships/image"/><Relationship Id="rId16" Target="../media/image60.png" Type="http://schemas.openxmlformats.org/officeDocument/2006/relationships/image"/><Relationship Id="rId17" Target="../media/image61.svg" Type="http://schemas.openxmlformats.org/officeDocument/2006/relationships/image"/><Relationship Id="rId2" Target="../media/image162.png" Type="http://schemas.openxmlformats.org/officeDocument/2006/relationships/image"/><Relationship Id="rId3" Target="../media/image159.png" Type="http://schemas.openxmlformats.org/officeDocument/2006/relationships/image"/><Relationship Id="rId4" Target="../media/image160.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63.png" Type="http://schemas.openxmlformats.org/officeDocument/2006/relationships/image"/><Relationship Id="rId8" Target="../media/image164.svg" Type="http://schemas.openxmlformats.org/officeDocument/2006/relationships/image"/><Relationship Id="rId9" Target="../media/image90.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7.png" Type="http://schemas.openxmlformats.org/officeDocument/2006/relationships/image"/><Relationship Id="rId9" Target="../media/image21.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8.png" Type="http://schemas.openxmlformats.org/officeDocument/2006/relationships/image"/><Relationship Id="rId11" Target="../media/image169.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70.png" Type="http://schemas.openxmlformats.org/officeDocument/2006/relationships/image"/><Relationship Id="rId15" Target="../media/image171.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72.png" Type="http://schemas.openxmlformats.org/officeDocument/2006/relationships/image"/><Relationship Id="rId15" Target="../media/image173.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74.png" Type="http://schemas.openxmlformats.org/officeDocument/2006/relationships/image"/><Relationship Id="rId13" Target="../media/image175.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76.png" Type="http://schemas.openxmlformats.org/officeDocument/2006/relationships/image"/><Relationship Id="rId13" Target="../media/image177.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78.png" Type="http://schemas.openxmlformats.org/officeDocument/2006/relationships/image"/><Relationship Id="rId13" Target="../media/image177.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179.png" Type="http://schemas.openxmlformats.org/officeDocument/2006/relationships/image"/><Relationship Id="rId13" Target="../media/image177.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80.png" Type="http://schemas.openxmlformats.org/officeDocument/2006/relationships/image"/><Relationship Id="rId15" Target="../media/image181.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82.png" Type="http://schemas.openxmlformats.org/officeDocument/2006/relationships/image"/><Relationship Id="rId15" Target="../media/image183.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84.png" Type="http://schemas.openxmlformats.org/officeDocument/2006/relationships/image"/><Relationship Id="rId15" Target="../media/image185.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6.png" Type="http://schemas.openxmlformats.org/officeDocument/2006/relationships/image"/><Relationship Id="rId11" Target="../media/image171.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7.png" Type="http://schemas.openxmlformats.org/officeDocument/2006/relationships/image"/><Relationship Id="rId11" Target="../media/image188.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9.png" Type="http://schemas.openxmlformats.org/officeDocument/2006/relationships/image"/><Relationship Id="rId11" Target="../media/image190.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62.png" Type="http://schemas.openxmlformats.org/officeDocument/2006/relationships/image"/><Relationship Id="rId7" Target="../media/image63.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91.png" Type="http://schemas.openxmlformats.org/officeDocument/2006/relationships/image"/><Relationship Id="rId15" Target="../media/image171.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92.pn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93.pn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194.pn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195.png" Type="http://schemas.openxmlformats.org/officeDocument/2006/relationships/image"/><Relationship Id="rId17" Target="../media/image196.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58.png" Type="http://schemas.openxmlformats.org/officeDocument/2006/relationships/image"/><Relationship Id="rId20" Target="../media/image197.png" Type="http://schemas.openxmlformats.org/officeDocument/2006/relationships/image"/><Relationship Id="rId21" Target="../media/image198.svg" Type="http://schemas.openxmlformats.org/officeDocument/2006/relationships/image"/><Relationship Id="rId22" Target="../media/image199.png" Type="http://schemas.openxmlformats.org/officeDocument/2006/relationships/image"/><Relationship Id="rId23" Target="../media/image200.sv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2.png" Type="http://schemas.openxmlformats.org/officeDocument/2006/relationships/image"/><Relationship Id="rId11" Target="../media/image63.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14" Target="../media/image28.png" Type="http://schemas.openxmlformats.org/officeDocument/2006/relationships/image"/><Relationship Id="rId15" Target="../media/image29.sv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01.png" Type="http://schemas.openxmlformats.org/officeDocument/2006/relationships/image"/><Relationship Id="rId19" Target="../media/image202.svg" Type="http://schemas.openxmlformats.org/officeDocument/2006/relationships/image"/><Relationship Id="rId2" Target="../media/image58.png" Type="http://schemas.openxmlformats.org/officeDocument/2006/relationships/image"/><Relationship Id="rId3" Target="../media/image59.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5.jpeg" Type="http://schemas.openxmlformats.org/officeDocument/2006/relationships/image"/><Relationship Id="rId11" Target="../media/image206.jpeg" Type="http://schemas.openxmlformats.org/officeDocument/2006/relationships/image"/><Relationship Id="rId12" Target="../media/image207.jpeg" Type="http://schemas.openxmlformats.org/officeDocument/2006/relationships/image"/><Relationship Id="rId13" Target="../media/image1.png" Type="http://schemas.openxmlformats.org/officeDocument/2006/relationships/image"/><Relationship Id="rId14" Target="../media/image2.svg" Type="http://schemas.openxmlformats.org/officeDocument/2006/relationships/image"/><Relationship Id="rId15" Target="../media/image208.png" Type="http://schemas.openxmlformats.org/officeDocument/2006/relationships/image"/><Relationship Id="rId16" Target="../media/image21.png" Type="http://schemas.openxmlformats.org/officeDocument/2006/relationships/image"/><Relationship Id="rId17" Target="../media/image22.svg" Type="http://schemas.openxmlformats.org/officeDocument/2006/relationships/image"/><Relationship Id="rId2" Target="../media/image36.png" Type="http://schemas.openxmlformats.org/officeDocument/2006/relationships/image"/><Relationship Id="rId3" Target="../media/image37.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3.png" Type="http://schemas.openxmlformats.org/officeDocument/2006/relationships/image"/><Relationship Id="rId9" Target="../media/image20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95184" y="3008177"/>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694505">
            <a:off x="4640749" y="4911897"/>
            <a:ext cx="9692632" cy="1490242"/>
          </a:xfrm>
          <a:custGeom>
            <a:avLst/>
            <a:gdLst/>
            <a:ahLst/>
            <a:cxnLst/>
            <a:rect r="r" b="b" t="t" l="l"/>
            <a:pathLst>
              <a:path h="1490242" w="9692632">
                <a:moveTo>
                  <a:pt x="0" y="0"/>
                </a:moveTo>
                <a:lnTo>
                  <a:pt x="9692632" y="0"/>
                </a:lnTo>
                <a:lnTo>
                  <a:pt x="9692632" y="1490242"/>
                </a:lnTo>
                <a:lnTo>
                  <a:pt x="0" y="1490242"/>
                </a:lnTo>
                <a:lnTo>
                  <a:pt x="0" y="0"/>
                </a:lnTo>
                <a:close/>
              </a:path>
            </a:pathLst>
          </a:custGeom>
          <a:blipFill>
            <a:blip r:embed="rId8">
              <a:alphaModFix amt="34000"/>
            </a:blip>
            <a:stretch>
              <a:fillRect l="0" t="0" r="0" b="0"/>
            </a:stretch>
          </a:blipFill>
        </p:spPr>
      </p:sp>
      <p:sp>
        <p:nvSpPr>
          <p:cNvPr name="Freeform 6" id="6"/>
          <p:cNvSpPr/>
          <p:nvPr/>
        </p:nvSpPr>
        <p:spPr>
          <a:xfrm flipH="false" flipV="false" rot="3935820">
            <a:off x="5058521" y="1300164"/>
            <a:ext cx="7968651" cy="1225180"/>
          </a:xfrm>
          <a:custGeom>
            <a:avLst/>
            <a:gdLst/>
            <a:ahLst/>
            <a:cxnLst/>
            <a:rect r="r" b="b" t="t" l="l"/>
            <a:pathLst>
              <a:path h="1225180" w="7968651">
                <a:moveTo>
                  <a:pt x="0" y="0"/>
                </a:moveTo>
                <a:lnTo>
                  <a:pt x="7968651" y="0"/>
                </a:lnTo>
                <a:lnTo>
                  <a:pt x="7968651" y="1225180"/>
                </a:lnTo>
                <a:lnTo>
                  <a:pt x="0" y="1225180"/>
                </a:lnTo>
                <a:lnTo>
                  <a:pt x="0" y="0"/>
                </a:lnTo>
                <a:close/>
              </a:path>
            </a:pathLst>
          </a:custGeom>
          <a:blipFill>
            <a:blip r:embed="rId8">
              <a:alphaModFix amt="34000"/>
            </a:blip>
            <a:stretch>
              <a:fillRect l="0" t="0" r="0" b="0"/>
            </a:stretch>
          </a:blipFill>
        </p:spPr>
      </p:sp>
      <p:sp>
        <p:nvSpPr>
          <p:cNvPr name="Freeform 7" id="7"/>
          <p:cNvSpPr/>
          <p:nvPr/>
        </p:nvSpPr>
        <p:spPr>
          <a:xfrm flipH="false" flipV="true" rot="0">
            <a:off x="8353986" y="-351449"/>
            <a:ext cx="20441969" cy="5366017"/>
          </a:xfrm>
          <a:custGeom>
            <a:avLst/>
            <a:gdLst/>
            <a:ahLst/>
            <a:cxnLst/>
            <a:rect r="r" b="b" t="t" l="l"/>
            <a:pathLst>
              <a:path h="5366017" w="20441969">
                <a:moveTo>
                  <a:pt x="0" y="5366017"/>
                </a:moveTo>
                <a:lnTo>
                  <a:pt x="20441968" y="5366017"/>
                </a:lnTo>
                <a:lnTo>
                  <a:pt x="20441968" y="0"/>
                </a:lnTo>
                <a:lnTo>
                  <a:pt x="0" y="0"/>
                </a:lnTo>
                <a:lnTo>
                  <a:pt x="0" y="5366017"/>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4140140">
            <a:off x="633462" y="6327375"/>
            <a:ext cx="21930702" cy="5756809"/>
          </a:xfrm>
          <a:custGeom>
            <a:avLst/>
            <a:gdLst/>
            <a:ahLst/>
            <a:cxnLst/>
            <a:rect r="r" b="b" t="t" l="l"/>
            <a:pathLst>
              <a:path h="5756809" w="21930702">
                <a:moveTo>
                  <a:pt x="0" y="0"/>
                </a:moveTo>
                <a:lnTo>
                  <a:pt x="21930702" y="0"/>
                </a:lnTo>
                <a:lnTo>
                  <a:pt x="21930702" y="5756810"/>
                </a:lnTo>
                <a:lnTo>
                  <a:pt x="0" y="575681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7901567" y="1873444"/>
            <a:ext cx="6875476" cy="6875476"/>
          </a:xfrm>
          <a:custGeom>
            <a:avLst/>
            <a:gdLst/>
            <a:ahLst/>
            <a:cxnLst/>
            <a:rect r="r" b="b" t="t" l="l"/>
            <a:pathLst>
              <a:path h="6875476" w="6875476">
                <a:moveTo>
                  <a:pt x="0" y="0"/>
                </a:moveTo>
                <a:lnTo>
                  <a:pt x="6875476" y="0"/>
                </a:lnTo>
                <a:lnTo>
                  <a:pt x="6875476" y="6875477"/>
                </a:lnTo>
                <a:lnTo>
                  <a:pt x="0" y="68754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0" id="10"/>
          <p:cNvGrpSpPr/>
          <p:nvPr/>
        </p:nvGrpSpPr>
        <p:grpSpPr>
          <a:xfrm rot="0">
            <a:off x="8377424" y="2349301"/>
            <a:ext cx="5923763" cy="592376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5"/>
              <a:stretch>
                <a:fillRect l="-28036" t="-13910" r="-44153" b="-917"/>
              </a:stretch>
            </a:blipFill>
            <a:ln w="190500" cap="sq">
              <a:solidFill>
                <a:srgbClr val="FFFFFF"/>
              </a:solidFill>
              <a:prstDash val="solid"/>
              <a:miter/>
            </a:ln>
          </p:spPr>
        </p:sp>
      </p:grpSp>
      <p:sp>
        <p:nvSpPr>
          <p:cNvPr name="Freeform 12" id="12"/>
          <p:cNvSpPr/>
          <p:nvPr/>
        </p:nvSpPr>
        <p:spPr>
          <a:xfrm flipH="false" flipV="false" rot="0">
            <a:off x="13786013" y="8748921"/>
            <a:ext cx="3252899" cy="500133"/>
          </a:xfrm>
          <a:custGeom>
            <a:avLst/>
            <a:gdLst/>
            <a:ahLst/>
            <a:cxnLst/>
            <a:rect r="r" b="b" t="t" l="l"/>
            <a:pathLst>
              <a:path h="500133" w="3252899">
                <a:moveTo>
                  <a:pt x="0" y="0"/>
                </a:moveTo>
                <a:lnTo>
                  <a:pt x="3252899" y="0"/>
                </a:lnTo>
                <a:lnTo>
                  <a:pt x="3252899" y="500133"/>
                </a:lnTo>
                <a:lnTo>
                  <a:pt x="0" y="500133"/>
                </a:lnTo>
                <a:lnTo>
                  <a:pt x="0" y="0"/>
                </a:lnTo>
                <a:close/>
              </a:path>
            </a:pathLst>
          </a:custGeom>
          <a:blipFill>
            <a:blip r:embed="rId8">
              <a:alphaModFix amt="34000"/>
            </a:blip>
            <a:stretch>
              <a:fillRect l="0" t="0" r="0" b="0"/>
            </a:stretch>
          </a:blipFill>
        </p:spPr>
      </p:sp>
      <p:grpSp>
        <p:nvGrpSpPr>
          <p:cNvPr name="Group 13" id="13"/>
          <p:cNvGrpSpPr/>
          <p:nvPr/>
        </p:nvGrpSpPr>
        <p:grpSpPr>
          <a:xfrm rot="0">
            <a:off x="13863297" y="7799179"/>
            <a:ext cx="3175615" cy="1079185"/>
            <a:chOff x="0" y="0"/>
            <a:chExt cx="541840" cy="184136"/>
          </a:xfrm>
        </p:grpSpPr>
        <p:sp>
          <p:nvSpPr>
            <p:cNvPr name="Freeform 14" id="14"/>
            <p:cNvSpPr/>
            <p:nvPr/>
          </p:nvSpPr>
          <p:spPr>
            <a:xfrm flipH="false" flipV="false" rot="0">
              <a:off x="0" y="0"/>
              <a:ext cx="541840" cy="184136"/>
            </a:xfrm>
            <a:custGeom>
              <a:avLst/>
              <a:gdLst/>
              <a:ahLst/>
              <a:cxnLst/>
              <a:rect r="r" b="b" t="t" l="l"/>
              <a:pathLst>
                <a:path h="184136" w="541840">
                  <a:moveTo>
                    <a:pt x="46321" y="0"/>
                  </a:moveTo>
                  <a:lnTo>
                    <a:pt x="495520" y="0"/>
                  </a:lnTo>
                  <a:cubicBezTo>
                    <a:pt x="521102" y="0"/>
                    <a:pt x="541840" y="20738"/>
                    <a:pt x="541840" y="46321"/>
                  </a:cubicBezTo>
                  <a:lnTo>
                    <a:pt x="541840" y="137816"/>
                  </a:lnTo>
                  <a:cubicBezTo>
                    <a:pt x="541840" y="150101"/>
                    <a:pt x="536960" y="161883"/>
                    <a:pt x="528273" y="170569"/>
                  </a:cubicBezTo>
                  <a:cubicBezTo>
                    <a:pt x="519587" y="179256"/>
                    <a:pt x="507805" y="184136"/>
                    <a:pt x="495520" y="184136"/>
                  </a:cubicBezTo>
                  <a:lnTo>
                    <a:pt x="46321" y="184136"/>
                  </a:lnTo>
                  <a:cubicBezTo>
                    <a:pt x="34036" y="184136"/>
                    <a:pt x="22254" y="179256"/>
                    <a:pt x="13567" y="170569"/>
                  </a:cubicBezTo>
                  <a:cubicBezTo>
                    <a:pt x="4880" y="161883"/>
                    <a:pt x="0" y="150101"/>
                    <a:pt x="0" y="137816"/>
                  </a:cubicBezTo>
                  <a:lnTo>
                    <a:pt x="0" y="46321"/>
                  </a:lnTo>
                  <a:cubicBezTo>
                    <a:pt x="0" y="20738"/>
                    <a:pt x="20738" y="0"/>
                    <a:pt x="46321" y="0"/>
                  </a:cubicBezTo>
                  <a:close/>
                </a:path>
              </a:pathLst>
            </a:custGeom>
            <a:solidFill>
              <a:srgbClr val="BD0016"/>
            </a:solidFill>
          </p:spPr>
        </p:sp>
        <p:sp>
          <p:nvSpPr>
            <p:cNvPr name="TextBox 15" id="15"/>
            <p:cNvSpPr txBox="true"/>
            <p:nvPr/>
          </p:nvSpPr>
          <p:spPr>
            <a:xfrm>
              <a:off x="0" y="9525"/>
              <a:ext cx="541840" cy="174611"/>
            </a:xfrm>
            <a:prstGeom prst="rect">
              <a:avLst/>
            </a:prstGeom>
          </p:spPr>
          <p:txBody>
            <a:bodyPr anchor="ctr" rtlCol="false" tIns="50800" lIns="50800" bIns="50800" rIns="50800"/>
            <a:lstStyle/>
            <a:p>
              <a:pPr algn="ctr">
                <a:lnSpc>
                  <a:spcPts val="2921"/>
                </a:lnSpc>
              </a:pPr>
            </a:p>
          </p:txBody>
        </p:sp>
      </p:grpSp>
      <p:sp>
        <p:nvSpPr>
          <p:cNvPr name="Freeform 16" id="16"/>
          <p:cNvSpPr/>
          <p:nvPr/>
        </p:nvSpPr>
        <p:spPr>
          <a:xfrm flipH="false" flipV="false" rot="0">
            <a:off x="12852829" y="1911088"/>
            <a:ext cx="4640286" cy="4657752"/>
          </a:xfrm>
          <a:custGeom>
            <a:avLst/>
            <a:gdLst/>
            <a:ahLst/>
            <a:cxnLst/>
            <a:rect r="r" b="b" t="t" l="l"/>
            <a:pathLst>
              <a:path h="4657752" w="4640286">
                <a:moveTo>
                  <a:pt x="0" y="0"/>
                </a:moveTo>
                <a:lnTo>
                  <a:pt x="4640286" y="0"/>
                </a:lnTo>
                <a:lnTo>
                  <a:pt x="4640286" y="4657752"/>
                </a:lnTo>
                <a:lnTo>
                  <a:pt x="0" y="4657752"/>
                </a:lnTo>
                <a:lnTo>
                  <a:pt x="0" y="0"/>
                </a:lnTo>
                <a:close/>
              </a:path>
            </a:pathLst>
          </a:custGeom>
          <a:blipFill>
            <a:blip r:embed="rId16">
              <a:alphaModFix amt="97000"/>
            </a:blip>
            <a:stretch>
              <a:fillRect l="0" t="0" r="0" b="0"/>
            </a:stretch>
          </a:blipFill>
        </p:spPr>
      </p:sp>
      <p:sp>
        <p:nvSpPr>
          <p:cNvPr name="Freeform 17" id="17"/>
          <p:cNvSpPr/>
          <p:nvPr/>
        </p:nvSpPr>
        <p:spPr>
          <a:xfrm flipH="false" flipV="false" rot="0">
            <a:off x="12852829" y="1873444"/>
            <a:ext cx="4733039" cy="4733039"/>
          </a:xfrm>
          <a:custGeom>
            <a:avLst/>
            <a:gdLst/>
            <a:ahLst/>
            <a:cxnLst/>
            <a:rect r="r" b="b" t="t" l="l"/>
            <a:pathLst>
              <a:path h="4733039" w="4733039">
                <a:moveTo>
                  <a:pt x="0" y="0"/>
                </a:moveTo>
                <a:lnTo>
                  <a:pt x="4733039" y="0"/>
                </a:lnTo>
                <a:lnTo>
                  <a:pt x="4733039" y="4733039"/>
                </a:lnTo>
                <a:lnTo>
                  <a:pt x="0" y="4733039"/>
                </a:lnTo>
                <a:lnTo>
                  <a:pt x="0" y="0"/>
                </a:lnTo>
                <a:close/>
              </a:path>
            </a:pathLst>
          </a:custGeom>
          <a:blipFill>
            <a:blip r:embed="rId17">
              <a:alphaModFix amt="60000"/>
              <a:extLst>
                <a:ext uri="{96DAC541-7B7A-43D3-8B79-37D633B846F1}">
                  <asvg:svgBlip xmlns:asvg="http://schemas.microsoft.com/office/drawing/2016/SVG/main" r:embed="rId18"/>
                </a:ext>
              </a:extLst>
            </a:blip>
            <a:stretch>
              <a:fillRect l="0" t="0" r="0" b="0"/>
            </a:stretch>
          </a:blipFill>
        </p:spPr>
      </p:sp>
      <p:grpSp>
        <p:nvGrpSpPr>
          <p:cNvPr name="Group 18" id="18"/>
          <p:cNvGrpSpPr/>
          <p:nvPr/>
        </p:nvGrpSpPr>
        <p:grpSpPr>
          <a:xfrm rot="0">
            <a:off x="13194875" y="2261867"/>
            <a:ext cx="3956194" cy="395619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9"/>
              <a:stretch>
                <a:fillRect l="-25471" t="0" r="-25471" b="0"/>
              </a:stretch>
            </a:blipFill>
            <a:ln w="190500" cap="sq">
              <a:solidFill>
                <a:srgbClr val="FFFFFF"/>
              </a:solidFill>
              <a:prstDash val="solid"/>
              <a:miter/>
            </a:ln>
          </p:spPr>
        </p:sp>
      </p:grpSp>
      <p:sp>
        <p:nvSpPr>
          <p:cNvPr name="Freeform 20" id="20"/>
          <p:cNvSpPr/>
          <p:nvPr/>
        </p:nvSpPr>
        <p:spPr>
          <a:xfrm flipH="false" flipV="false" rot="0">
            <a:off x="16149956" y="7512653"/>
            <a:ext cx="621306" cy="621306"/>
          </a:xfrm>
          <a:custGeom>
            <a:avLst/>
            <a:gdLst/>
            <a:ahLst/>
            <a:cxnLst/>
            <a:rect r="r" b="b" t="t" l="l"/>
            <a:pathLst>
              <a:path h="621306" w="621306">
                <a:moveTo>
                  <a:pt x="0" y="0"/>
                </a:moveTo>
                <a:lnTo>
                  <a:pt x="621306" y="0"/>
                </a:lnTo>
                <a:lnTo>
                  <a:pt x="621306" y="621307"/>
                </a:lnTo>
                <a:lnTo>
                  <a:pt x="0" y="62130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1" id="21"/>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2" id="22"/>
          <p:cNvSpPr/>
          <p:nvPr/>
        </p:nvSpPr>
        <p:spPr>
          <a:xfrm flipH="false" flipV="false" rot="0">
            <a:off x="16138456" y="7480137"/>
            <a:ext cx="644305" cy="686339"/>
          </a:xfrm>
          <a:custGeom>
            <a:avLst/>
            <a:gdLst/>
            <a:ahLst/>
            <a:cxnLst/>
            <a:rect r="r" b="b" t="t" l="l"/>
            <a:pathLst>
              <a:path h="686339" w="644305">
                <a:moveTo>
                  <a:pt x="0" y="0"/>
                </a:moveTo>
                <a:lnTo>
                  <a:pt x="644305" y="0"/>
                </a:lnTo>
                <a:lnTo>
                  <a:pt x="644305" y="686339"/>
                </a:lnTo>
                <a:lnTo>
                  <a:pt x="0" y="686339"/>
                </a:lnTo>
                <a:lnTo>
                  <a:pt x="0" y="0"/>
                </a:lnTo>
                <a:close/>
              </a:path>
            </a:pathLst>
          </a:custGeom>
          <a:blipFill>
            <a:blip r:embed="rId24"/>
            <a:stretch>
              <a:fillRect l="-2428" t="0" r="-4095" b="0"/>
            </a:stretch>
          </a:blipFill>
        </p:spPr>
      </p:sp>
      <p:sp>
        <p:nvSpPr>
          <p:cNvPr name="TextBox 23" id="23"/>
          <p:cNvSpPr txBox="true"/>
          <p:nvPr/>
        </p:nvSpPr>
        <p:spPr>
          <a:xfrm rot="0">
            <a:off x="1395184" y="4329484"/>
            <a:ext cx="6323664" cy="1171650"/>
          </a:xfrm>
          <a:prstGeom prst="rect">
            <a:avLst/>
          </a:prstGeom>
        </p:spPr>
        <p:txBody>
          <a:bodyPr anchor="t" rtlCol="false" tIns="0" lIns="0" bIns="0" rIns="0">
            <a:spAutoFit/>
          </a:bodyPr>
          <a:lstStyle/>
          <a:p>
            <a:pPr algn="l">
              <a:lnSpc>
                <a:spcPts val="8561"/>
              </a:lnSpc>
            </a:pPr>
            <a:r>
              <a:rPr lang="en-US" b="true" sz="7509">
                <a:solidFill>
                  <a:srgbClr val="BD0016"/>
                </a:solidFill>
                <a:latin typeface="Poppins Bold"/>
                <a:ea typeface="Poppins Bold"/>
                <a:cs typeface="Poppins Bold"/>
                <a:sym typeface="Poppins Bold"/>
              </a:rPr>
              <a:t>VIETTEL POST </a:t>
            </a:r>
          </a:p>
        </p:txBody>
      </p:sp>
      <p:sp>
        <p:nvSpPr>
          <p:cNvPr name="TextBox 24" id="24"/>
          <p:cNvSpPr txBox="true"/>
          <p:nvPr/>
        </p:nvSpPr>
        <p:spPr>
          <a:xfrm rot="0">
            <a:off x="1404709" y="5678622"/>
            <a:ext cx="5945027" cy="510864"/>
          </a:xfrm>
          <a:prstGeom prst="rect">
            <a:avLst/>
          </a:prstGeom>
        </p:spPr>
        <p:txBody>
          <a:bodyPr anchor="t" rtlCol="false" tIns="0" lIns="0" bIns="0" rIns="0">
            <a:spAutoFit/>
          </a:bodyPr>
          <a:lstStyle/>
          <a:p>
            <a:pPr algn="l">
              <a:lnSpc>
                <a:spcPts val="3753"/>
              </a:lnSpc>
            </a:pPr>
            <a:r>
              <a:rPr lang="en-US" sz="3292" spc="-102">
                <a:solidFill>
                  <a:srgbClr val="100643"/>
                </a:solidFill>
                <a:latin typeface="Poppins"/>
                <a:ea typeface="Poppins"/>
                <a:cs typeface="Poppins"/>
                <a:sym typeface="Poppins"/>
              </a:rPr>
              <a:t>Lĩnh vực: Logistics</a:t>
            </a:r>
          </a:p>
        </p:txBody>
      </p:sp>
      <p:sp>
        <p:nvSpPr>
          <p:cNvPr name="TextBox 25" id="25"/>
          <p:cNvSpPr txBox="true"/>
          <p:nvPr/>
        </p:nvSpPr>
        <p:spPr>
          <a:xfrm rot="0">
            <a:off x="2453954" y="3145280"/>
            <a:ext cx="4454761" cy="349852"/>
          </a:xfrm>
          <a:prstGeom prst="rect">
            <a:avLst/>
          </a:prstGeom>
        </p:spPr>
        <p:txBody>
          <a:bodyPr anchor="t" rtlCol="false" tIns="0" lIns="0" bIns="0" rIns="0">
            <a:spAutoFit/>
          </a:bodyPr>
          <a:lstStyle/>
          <a:p>
            <a:pPr algn="l">
              <a:lnSpc>
                <a:spcPts val="2558"/>
              </a:lnSpc>
            </a:pPr>
            <a:r>
              <a:rPr lang="en-US" sz="2244" b="true">
                <a:solidFill>
                  <a:srgbClr val="100643"/>
                </a:solidFill>
                <a:latin typeface="Poppins Bold"/>
                <a:ea typeface="Poppins Bold"/>
                <a:cs typeface="Poppins Bold"/>
                <a:sym typeface="Poppins Bold"/>
              </a:rPr>
              <a:t>BÁO CÁO ĐỒ ÁN CUỐI KỲ</a:t>
            </a:r>
          </a:p>
        </p:txBody>
      </p:sp>
      <p:sp>
        <p:nvSpPr>
          <p:cNvPr name="TextBox 26" id="26"/>
          <p:cNvSpPr txBox="true"/>
          <p:nvPr/>
        </p:nvSpPr>
        <p:spPr>
          <a:xfrm rot="0">
            <a:off x="2288840" y="8511427"/>
            <a:ext cx="6283957" cy="347281"/>
          </a:xfrm>
          <a:prstGeom prst="rect">
            <a:avLst/>
          </a:prstGeom>
        </p:spPr>
        <p:txBody>
          <a:bodyPr anchor="t" rtlCol="false" tIns="0" lIns="0" bIns="0" rIns="0">
            <a:spAutoFit/>
          </a:bodyPr>
          <a:lstStyle/>
          <a:p>
            <a:pPr algn="l">
              <a:lnSpc>
                <a:spcPts val="2518"/>
              </a:lnSpc>
            </a:pPr>
            <a:r>
              <a:rPr lang="en-US" sz="2189">
                <a:solidFill>
                  <a:srgbClr val="100643"/>
                </a:solidFill>
                <a:latin typeface="Poppins"/>
                <a:ea typeface="Poppins"/>
                <a:cs typeface="Poppins"/>
                <a:sym typeface="Poppins"/>
              </a:rPr>
              <a:t>Giảng viên hướng dẫn: </a:t>
            </a:r>
            <a:r>
              <a:rPr lang="en-US" sz="2189" b="true">
                <a:solidFill>
                  <a:srgbClr val="100643"/>
                </a:solidFill>
                <a:latin typeface="Poppins Bold"/>
                <a:ea typeface="Poppins Bold"/>
                <a:cs typeface="Poppins Bold"/>
                <a:sym typeface="Poppins Bold"/>
              </a:rPr>
              <a:t>ThS. Hà Lê Hoài Trung</a:t>
            </a:r>
          </a:p>
        </p:txBody>
      </p:sp>
      <p:sp>
        <p:nvSpPr>
          <p:cNvPr name="TextBox 27" id="27"/>
          <p:cNvSpPr txBox="true"/>
          <p:nvPr/>
        </p:nvSpPr>
        <p:spPr>
          <a:xfrm rot="0">
            <a:off x="2288840" y="8140004"/>
            <a:ext cx="4392781"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Học phần: </a:t>
            </a:r>
            <a:r>
              <a:rPr lang="en-US" sz="2120" b="true">
                <a:solidFill>
                  <a:srgbClr val="100643"/>
                </a:solidFill>
                <a:latin typeface="Poppins Bold"/>
                <a:ea typeface="Poppins Bold"/>
                <a:cs typeface="Poppins Bold"/>
                <a:sym typeface="Poppins Bold"/>
              </a:rPr>
              <a:t>IE203.F32.LT.CNTT</a:t>
            </a:r>
          </a:p>
        </p:txBody>
      </p:sp>
      <p:sp>
        <p:nvSpPr>
          <p:cNvPr name="TextBox 28" id="28"/>
          <p:cNvSpPr txBox="true"/>
          <p:nvPr/>
        </p:nvSpPr>
        <p:spPr>
          <a:xfrm rot="0">
            <a:off x="2453954" y="3514792"/>
            <a:ext cx="4627969"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Hệ thống quản trị quy trình nghiệp vụ</a:t>
            </a:r>
          </a:p>
        </p:txBody>
      </p:sp>
      <p:sp>
        <p:nvSpPr>
          <p:cNvPr name="TextBox 29" id="29"/>
          <p:cNvSpPr txBox="true"/>
          <p:nvPr/>
        </p:nvSpPr>
        <p:spPr>
          <a:xfrm rot="0">
            <a:off x="14130947" y="8041310"/>
            <a:ext cx="2165876" cy="270276"/>
          </a:xfrm>
          <a:prstGeom prst="rect">
            <a:avLst/>
          </a:prstGeom>
        </p:spPr>
        <p:txBody>
          <a:bodyPr anchor="t" rtlCol="false" tIns="0" lIns="0" bIns="0" rIns="0">
            <a:spAutoFit/>
          </a:bodyPr>
          <a:lstStyle/>
          <a:p>
            <a:pPr algn="l">
              <a:lnSpc>
                <a:spcPts val="1920"/>
              </a:lnSpc>
            </a:pPr>
            <a:r>
              <a:rPr lang="en-US" sz="1684">
                <a:solidFill>
                  <a:srgbClr val="FFFFFF"/>
                </a:solidFill>
                <a:latin typeface="Poppins"/>
                <a:ea typeface="Poppins"/>
                <a:cs typeface="Poppins"/>
                <a:sym typeface="Poppins"/>
              </a:rPr>
              <a:t>NHÓM THỰC HIỆN:</a:t>
            </a:r>
          </a:p>
        </p:txBody>
      </p:sp>
      <p:sp>
        <p:nvSpPr>
          <p:cNvPr name="TextBox 30" id="30"/>
          <p:cNvSpPr txBox="true"/>
          <p:nvPr/>
        </p:nvSpPr>
        <p:spPr>
          <a:xfrm rot="0">
            <a:off x="14130947" y="8298987"/>
            <a:ext cx="3020122" cy="333972"/>
          </a:xfrm>
          <a:prstGeom prst="rect">
            <a:avLst/>
          </a:prstGeom>
        </p:spPr>
        <p:txBody>
          <a:bodyPr anchor="t" rtlCol="false" tIns="0" lIns="0" bIns="0" rIns="0">
            <a:spAutoFit/>
          </a:bodyPr>
          <a:lstStyle/>
          <a:p>
            <a:pPr algn="l">
              <a:lnSpc>
                <a:spcPts val="2472"/>
              </a:lnSpc>
            </a:pPr>
            <a:r>
              <a:rPr lang="en-US" sz="2169" b="true">
                <a:solidFill>
                  <a:srgbClr val="FFFFFF"/>
                </a:solidFill>
                <a:latin typeface="Poppins Bold"/>
                <a:ea typeface="Poppins Bold"/>
                <a:cs typeface="Poppins Bold"/>
                <a:sym typeface="Poppins Bold"/>
              </a:rPr>
              <a:t>NHÓM 8</a:t>
            </a:r>
          </a:p>
        </p:txBody>
      </p:sp>
      <p:sp>
        <p:nvSpPr>
          <p:cNvPr name="TextBox 31" id="31"/>
          <p:cNvSpPr txBox="true"/>
          <p:nvPr/>
        </p:nvSpPr>
        <p:spPr>
          <a:xfrm rot="0">
            <a:off x="1395184" y="696190"/>
            <a:ext cx="10203629" cy="901030"/>
          </a:xfrm>
          <a:prstGeom prst="rect">
            <a:avLst/>
          </a:prstGeom>
        </p:spPr>
        <p:txBody>
          <a:bodyPr anchor="t" rtlCol="false" tIns="0" lIns="0" bIns="0" rIns="0">
            <a:spAutoFit/>
          </a:bodyPr>
          <a:lstStyle/>
          <a:p>
            <a:pPr algn="l">
              <a:lnSpc>
                <a:spcPts val="2331"/>
              </a:lnSpc>
            </a:pPr>
            <a:r>
              <a:rPr lang="en-US" sz="2027">
                <a:solidFill>
                  <a:srgbClr val="100643"/>
                </a:solidFill>
                <a:latin typeface="Poppins"/>
                <a:ea typeface="Poppins"/>
                <a:cs typeface="Poppins"/>
                <a:sym typeface="Poppins"/>
              </a:rPr>
              <a:t>TRƯỜNG ĐẠI HỌC CÔNG NGHỆ THÔNG TIN – ĐHQG-HCM</a:t>
            </a:r>
          </a:p>
          <a:p>
            <a:pPr algn="l">
              <a:lnSpc>
                <a:spcPts val="2331"/>
              </a:lnSpc>
            </a:pPr>
            <a:r>
              <a:rPr lang="en-US" sz="2027">
                <a:solidFill>
                  <a:srgbClr val="100643"/>
                </a:solidFill>
                <a:latin typeface="Poppins"/>
                <a:ea typeface="Poppins"/>
                <a:cs typeface="Poppins"/>
                <a:sym typeface="Poppins"/>
              </a:rPr>
              <a:t>TRUNG TÂM PHÁT TRIỂN CÔNG NGHỆ THÔNG TIN • KH</a:t>
            </a:r>
            <a:r>
              <a:rPr lang="en-US" sz="2027">
                <a:solidFill>
                  <a:srgbClr val="100643"/>
                </a:solidFill>
                <a:latin typeface="Poppins"/>
                <a:ea typeface="Poppins"/>
                <a:cs typeface="Poppins"/>
                <a:sym typeface="Poppins"/>
              </a:rPr>
              <a:t>OA CÔNG NGHỆ THÔNG TIN</a:t>
            </a:r>
          </a:p>
          <a:p>
            <a:pPr algn="l">
              <a:lnSpc>
                <a:spcPts val="2331"/>
              </a:lnSpc>
            </a:pPr>
          </a:p>
        </p:txBody>
      </p:sp>
      <p:sp>
        <p:nvSpPr>
          <p:cNvPr name="TextBox 32" id="32"/>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2796872" y="2553109"/>
            <a:ext cx="21603465" cy="10801732"/>
          </a:xfrm>
          <a:custGeom>
            <a:avLst/>
            <a:gdLst/>
            <a:ahLst/>
            <a:cxnLst/>
            <a:rect r="r" b="b" t="t" l="l"/>
            <a:pathLst>
              <a:path h="10801732" w="21603465">
                <a:moveTo>
                  <a:pt x="0" y="0"/>
                </a:moveTo>
                <a:lnTo>
                  <a:pt x="21603464" y="0"/>
                </a:lnTo>
                <a:lnTo>
                  <a:pt x="21603464" y="10801732"/>
                </a:lnTo>
                <a:lnTo>
                  <a:pt x="0" y="1080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304889" y="4173638"/>
            <a:ext cx="8331174" cy="2143367"/>
            <a:chOff x="0" y="0"/>
            <a:chExt cx="1421509" cy="365713"/>
          </a:xfrm>
        </p:grpSpPr>
        <p:sp>
          <p:nvSpPr>
            <p:cNvPr name="Freeform 4" id="4"/>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5" id="5"/>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6" id="6"/>
          <p:cNvGrpSpPr/>
          <p:nvPr/>
        </p:nvGrpSpPr>
        <p:grpSpPr>
          <a:xfrm rot="0">
            <a:off x="9237258" y="1669228"/>
            <a:ext cx="8331174" cy="2143367"/>
            <a:chOff x="0" y="0"/>
            <a:chExt cx="1421509" cy="365713"/>
          </a:xfrm>
        </p:grpSpPr>
        <p:sp>
          <p:nvSpPr>
            <p:cNvPr name="Freeform 7" id="7"/>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8" id="8"/>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sp>
        <p:nvSpPr>
          <p:cNvPr name="Freeform 9" id="9"/>
          <p:cNvSpPr/>
          <p:nvPr/>
        </p:nvSpPr>
        <p:spPr>
          <a:xfrm flipH="false" flipV="false" rot="0">
            <a:off x="9790173" y="2066325"/>
            <a:ext cx="1601445" cy="1387251"/>
          </a:xfrm>
          <a:custGeom>
            <a:avLst/>
            <a:gdLst/>
            <a:ahLst/>
            <a:cxnLst/>
            <a:rect r="r" b="b" t="t" l="l"/>
            <a:pathLst>
              <a:path h="1387251" w="1601445">
                <a:moveTo>
                  <a:pt x="0" y="0"/>
                </a:moveTo>
                <a:lnTo>
                  <a:pt x="1601445" y="0"/>
                </a:lnTo>
                <a:lnTo>
                  <a:pt x="1601445" y="1387251"/>
                </a:lnTo>
                <a:lnTo>
                  <a:pt x="0" y="13872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9259802" y="6618545"/>
            <a:ext cx="8331174" cy="2143367"/>
            <a:chOff x="0" y="0"/>
            <a:chExt cx="1421509" cy="365713"/>
          </a:xfrm>
        </p:grpSpPr>
        <p:sp>
          <p:nvSpPr>
            <p:cNvPr name="Freeform 11" id="11"/>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2" id="12"/>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sp>
        <p:nvSpPr>
          <p:cNvPr name="Freeform 13" id="13"/>
          <p:cNvSpPr/>
          <p:nvPr/>
        </p:nvSpPr>
        <p:spPr>
          <a:xfrm flipH="false" flipV="false" rot="0">
            <a:off x="9790173" y="4577603"/>
            <a:ext cx="1601445" cy="1387251"/>
          </a:xfrm>
          <a:custGeom>
            <a:avLst/>
            <a:gdLst/>
            <a:ahLst/>
            <a:cxnLst/>
            <a:rect r="r" b="b" t="t" l="l"/>
            <a:pathLst>
              <a:path h="1387251" w="1601445">
                <a:moveTo>
                  <a:pt x="0" y="0"/>
                </a:moveTo>
                <a:lnTo>
                  <a:pt x="1601445" y="0"/>
                </a:lnTo>
                <a:lnTo>
                  <a:pt x="1601445" y="1387251"/>
                </a:lnTo>
                <a:lnTo>
                  <a:pt x="0" y="13872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5400000">
            <a:off x="-7646478" y="3361046"/>
            <a:ext cx="21603465" cy="10801732"/>
          </a:xfrm>
          <a:custGeom>
            <a:avLst/>
            <a:gdLst/>
            <a:ahLst/>
            <a:cxnLst/>
            <a:rect r="r" b="b" t="t" l="l"/>
            <a:pathLst>
              <a:path h="10801732" w="21603465">
                <a:moveTo>
                  <a:pt x="0" y="0"/>
                </a:moveTo>
                <a:lnTo>
                  <a:pt x="21603465" y="0"/>
                </a:lnTo>
                <a:lnTo>
                  <a:pt x="21603465" y="10801732"/>
                </a:lnTo>
                <a:lnTo>
                  <a:pt x="0" y="1080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6" id="16"/>
          <p:cNvGrpSpPr/>
          <p:nvPr/>
        </p:nvGrpSpPr>
        <p:grpSpPr>
          <a:xfrm rot="0">
            <a:off x="601284" y="1669228"/>
            <a:ext cx="8331174" cy="2143367"/>
            <a:chOff x="0" y="0"/>
            <a:chExt cx="1421509" cy="365713"/>
          </a:xfrm>
        </p:grpSpPr>
        <p:sp>
          <p:nvSpPr>
            <p:cNvPr name="Freeform 17" id="17"/>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8" id="18"/>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19" id="19"/>
          <p:cNvGrpSpPr/>
          <p:nvPr/>
        </p:nvGrpSpPr>
        <p:grpSpPr>
          <a:xfrm rot="0">
            <a:off x="621290" y="4145970"/>
            <a:ext cx="8331174" cy="2143367"/>
            <a:chOff x="0" y="0"/>
            <a:chExt cx="1421509" cy="365713"/>
          </a:xfrm>
        </p:grpSpPr>
        <p:sp>
          <p:nvSpPr>
            <p:cNvPr name="Freeform 20" id="20"/>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21" id="21"/>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sp>
        <p:nvSpPr>
          <p:cNvPr name="Freeform 22" id="22"/>
          <p:cNvSpPr/>
          <p:nvPr/>
        </p:nvSpPr>
        <p:spPr>
          <a:xfrm flipH="false" flipV="false" rot="0">
            <a:off x="985480" y="2047286"/>
            <a:ext cx="1601445" cy="1387251"/>
          </a:xfrm>
          <a:custGeom>
            <a:avLst/>
            <a:gdLst/>
            <a:ahLst/>
            <a:cxnLst/>
            <a:rect r="r" b="b" t="t" l="l"/>
            <a:pathLst>
              <a:path h="1387251" w="1601445">
                <a:moveTo>
                  <a:pt x="0" y="0"/>
                </a:moveTo>
                <a:lnTo>
                  <a:pt x="1601445" y="0"/>
                </a:lnTo>
                <a:lnTo>
                  <a:pt x="1601445" y="1387251"/>
                </a:lnTo>
                <a:lnTo>
                  <a:pt x="0" y="138725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005487" y="4524028"/>
            <a:ext cx="1601445" cy="1387251"/>
          </a:xfrm>
          <a:custGeom>
            <a:avLst/>
            <a:gdLst/>
            <a:ahLst/>
            <a:cxnLst/>
            <a:rect r="r" b="b" t="t" l="l"/>
            <a:pathLst>
              <a:path h="1387251" w="1601445">
                <a:moveTo>
                  <a:pt x="0" y="0"/>
                </a:moveTo>
                <a:lnTo>
                  <a:pt x="1601444" y="0"/>
                </a:lnTo>
                <a:lnTo>
                  <a:pt x="1601444" y="1387251"/>
                </a:lnTo>
                <a:lnTo>
                  <a:pt x="0" y="13872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646371" y="6622712"/>
            <a:ext cx="8331174" cy="2143367"/>
            <a:chOff x="0" y="0"/>
            <a:chExt cx="1421509" cy="365713"/>
          </a:xfrm>
        </p:grpSpPr>
        <p:sp>
          <p:nvSpPr>
            <p:cNvPr name="Freeform 25" id="25"/>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26" id="26"/>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sp>
        <p:nvSpPr>
          <p:cNvPr name="Freeform 27" id="27"/>
          <p:cNvSpPr/>
          <p:nvPr/>
        </p:nvSpPr>
        <p:spPr>
          <a:xfrm flipH="false" flipV="false" rot="0">
            <a:off x="1032998" y="6943277"/>
            <a:ext cx="1601445" cy="1387251"/>
          </a:xfrm>
          <a:custGeom>
            <a:avLst/>
            <a:gdLst/>
            <a:ahLst/>
            <a:cxnLst/>
            <a:rect r="r" b="b" t="t" l="l"/>
            <a:pathLst>
              <a:path h="1387251" w="1601445">
                <a:moveTo>
                  <a:pt x="0" y="0"/>
                </a:moveTo>
                <a:lnTo>
                  <a:pt x="1601445" y="0"/>
                </a:lnTo>
                <a:lnTo>
                  <a:pt x="1601445" y="1387252"/>
                </a:lnTo>
                <a:lnTo>
                  <a:pt x="0" y="13872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9790173" y="6996603"/>
            <a:ext cx="1601445" cy="1387251"/>
          </a:xfrm>
          <a:custGeom>
            <a:avLst/>
            <a:gdLst/>
            <a:ahLst/>
            <a:cxnLst/>
            <a:rect r="r" b="b" t="t" l="l"/>
            <a:pathLst>
              <a:path h="1387251" w="1601445">
                <a:moveTo>
                  <a:pt x="0" y="0"/>
                </a:moveTo>
                <a:lnTo>
                  <a:pt x="1601445" y="0"/>
                </a:lnTo>
                <a:lnTo>
                  <a:pt x="1601445" y="1387251"/>
                </a:lnTo>
                <a:lnTo>
                  <a:pt x="0" y="13872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719323" y="9212055"/>
            <a:ext cx="671992" cy="671992"/>
          </a:xfrm>
          <a:custGeom>
            <a:avLst/>
            <a:gdLst/>
            <a:ahLst/>
            <a:cxnLst/>
            <a:rect r="r" b="b" t="t" l="l"/>
            <a:pathLst>
              <a:path h="671992" w="671992">
                <a:moveTo>
                  <a:pt x="0" y="0"/>
                </a:moveTo>
                <a:lnTo>
                  <a:pt x="671991" y="0"/>
                </a:lnTo>
                <a:lnTo>
                  <a:pt x="671991" y="671992"/>
                </a:lnTo>
                <a:lnTo>
                  <a:pt x="0" y="67199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864602" y="9355840"/>
            <a:ext cx="381433" cy="381433"/>
          </a:xfrm>
          <a:custGeom>
            <a:avLst/>
            <a:gdLst/>
            <a:ahLst/>
            <a:cxnLst/>
            <a:rect r="r" b="b" t="t" l="l"/>
            <a:pathLst>
              <a:path h="381433" w="381433">
                <a:moveTo>
                  <a:pt x="0" y="0"/>
                </a:moveTo>
                <a:lnTo>
                  <a:pt x="381433" y="0"/>
                </a:lnTo>
                <a:lnTo>
                  <a:pt x="381433" y="381433"/>
                </a:lnTo>
                <a:lnTo>
                  <a:pt x="0" y="38143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1" id="31"/>
          <p:cNvSpPr/>
          <p:nvPr/>
        </p:nvSpPr>
        <p:spPr>
          <a:xfrm flipH="false" flipV="false" rot="0">
            <a:off x="669160" y="281366"/>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2" id="32"/>
          <p:cNvSpPr txBox="true"/>
          <p:nvPr/>
        </p:nvSpPr>
        <p:spPr>
          <a:xfrm rot="0">
            <a:off x="10046880" y="2385444"/>
            <a:ext cx="1088031" cy="710935"/>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04</a:t>
            </a:r>
          </a:p>
        </p:txBody>
      </p:sp>
      <p:sp>
        <p:nvSpPr>
          <p:cNvPr name="TextBox 33" id="33"/>
          <p:cNvSpPr txBox="true"/>
          <p:nvPr/>
        </p:nvSpPr>
        <p:spPr>
          <a:xfrm rot="0">
            <a:off x="9975566" y="4947876"/>
            <a:ext cx="1230660" cy="710935"/>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05</a:t>
            </a:r>
          </a:p>
        </p:txBody>
      </p:sp>
      <p:sp>
        <p:nvSpPr>
          <p:cNvPr name="TextBox 34" id="34"/>
          <p:cNvSpPr txBox="true"/>
          <p:nvPr/>
        </p:nvSpPr>
        <p:spPr>
          <a:xfrm rot="0">
            <a:off x="1170873" y="2375919"/>
            <a:ext cx="1230660" cy="710935"/>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01</a:t>
            </a:r>
          </a:p>
        </p:txBody>
      </p:sp>
      <p:sp>
        <p:nvSpPr>
          <p:cNvPr name="TextBox 35" id="35"/>
          <p:cNvSpPr txBox="true"/>
          <p:nvPr/>
        </p:nvSpPr>
        <p:spPr>
          <a:xfrm rot="0">
            <a:off x="1262193" y="4880328"/>
            <a:ext cx="1088031" cy="710935"/>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02</a:t>
            </a:r>
          </a:p>
        </p:txBody>
      </p:sp>
      <p:sp>
        <p:nvSpPr>
          <p:cNvPr name="TextBox 36" id="36"/>
          <p:cNvSpPr txBox="true"/>
          <p:nvPr/>
        </p:nvSpPr>
        <p:spPr>
          <a:xfrm rot="0">
            <a:off x="1190879" y="7344281"/>
            <a:ext cx="1230660" cy="710935"/>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03</a:t>
            </a:r>
          </a:p>
        </p:txBody>
      </p:sp>
      <p:sp>
        <p:nvSpPr>
          <p:cNvPr name="TextBox 37" id="37"/>
          <p:cNvSpPr txBox="true"/>
          <p:nvPr/>
        </p:nvSpPr>
        <p:spPr>
          <a:xfrm rot="0">
            <a:off x="1612979" y="9517115"/>
            <a:ext cx="5432255" cy="348841"/>
          </a:xfrm>
          <a:prstGeom prst="rect">
            <a:avLst/>
          </a:prstGeom>
        </p:spPr>
        <p:txBody>
          <a:bodyPr anchor="t" rtlCol="false" tIns="0" lIns="0" bIns="0" rIns="0">
            <a:spAutoFit/>
          </a:bodyPr>
          <a:lstStyle/>
          <a:p>
            <a:pPr algn="l">
              <a:lnSpc>
                <a:spcPts val="2518"/>
              </a:lnSpc>
            </a:pPr>
            <a:r>
              <a:rPr lang="en-US" sz="2189" b="true">
                <a:solidFill>
                  <a:srgbClr val="FFFFFF"/>
                </a:solidFill>
                <a:latin typeface="Poppins Bold"/>
                <a:ea typeface="Poppins Bold"/>
                <a:cs typeface="Poppins Bold"/>
                <a:sym typeface="Poppins Bold"/>
              </a:rPr>
              <a:t>Hệ thống quản trị quy trình nghiệp vụ</a:t>
            </a:r>
          </a:p>
        </p:txBody>
      </p:sp>
      <p:sp>
        <p:nvSpPr>
          <p:cNvPr name="TextBox 38" id="38"/>
          <p:cNvSpPr txBox="true"/>
          <p:nvPr/>
        </p:nvSpPr>
        <p:spPr>
          <a:xfrm rot="0">
            <a:off x="1612979" y="9182684"/>
            <a:ext cx="2331008" cy="329300"/>
          </a:xfrm>
          <a:prstGeom prst="rect">
            <a:avLst/>
          </a:prstGeom>
        </p:spPr>
        <p:txBody>
          <a:bodyPr anchor="t" rtlCol="false" tIns="0" lIns="0" bIns="0" rIns="0">
            <a:spAutoFit/>
          </a:bodyPr>
          <a:lstStyle/>
          <a:p>
            <a:pPr algn="l">
              <a:lnSpc>
                <a:spcPts val="2438"/>
              </a:lnSpc>
            </a:pPr>
            <a:r>
              <a:rPr lang="en-US" sz="2120">
                <a:solidFill>
                  <a:srgbClr val="FFFFFF"/>
                </a:solidFill>
                <a:latin typeface="Poppins"/>
                <a:ea typeface="Poppins"/>
                <a:cs typeface="Poppins"/>
                <a:sym typeface="Poppins"/>
              </a:rPr>
              <a:t>VIETTEL POST </a:t>
            </a:r>
          </a:p>
        </p:txBody>
      </p:sp>
      <p:sp>
        <p:nvSpPr>
          <p:cNvPr name="TextBox 39" id="39"/>
          <p:cNvSpPr txBox="true"/>
          <p:nvPr/>
        </p:nvSpPr>
        <p:spPr>
          <a:xfrm rot="0">
            <a:off x="1727930" y="418469"/>
            <a:ext cx="2342595" cy="349852"/>
          </a:xfrm>
          <a:prstGeom prst="rect">
            <a:avLst/>
          </a:prstGeom>
        </p:spPr>
        <p:txBody>
          <a:bodyPr anchor="t" rtlCol="false" tIns="0" lIns="0" bIns="0" rIns="0">
            <a:spAutoFit/>
          </a:bodyPr>
          <a:lstStyle/>
          <a:p>
            <a:pPr algn="l">
              <a:lnSpc>
                <a:spcPts val="2558"/>
              </a:lnSpc>
            </a:pPr>
            <a:r>
              <a:rPr lang="en-US" sz="2244" b="true">
                <a:solidFill>
                  <a:srgbClr val="FFFFFF"/>
                </a:solidFill>
                <a:latin typeface="Poppins Bold"/>
                <a:ea typeface="Poppins Bold"/>
                <a:cs typeface="Poppins Bold"/>
                <a:sym typeface="Poppins Bold"/>
              </a:rPr>
              <a:t>Nhóm 8</a:t>
            </a:r>
          </a:p>
        </p:txBody>
      </p:sp>
      <p:sp>
        <p:nvSpPr>
          <p:cNvPr name="TextBox 40" id="40"/>
          <p:cNvSpPr txBox="true"/>
          <p:nvPr/>
        </p:nvSpPr>
        <p:spPr>
          <a:xfrm rot="0">
            <a:off x="1727930" y="787981"/>
            <a:ext cx="2795471" cy="262632"/>
          </a:xfrm>
          <a:prstGeom prst="rect">
            <a:avLst/>
          </a:prstGeom>
        </p:spPr>
        <p:txBody>
          <a:bodyPr anchor="t" rtlCol="false" tIns="0" lIns="0" bIns="0" rIns="0">
            <a:spAutoFit/>
          </a:bodyPr>
          <a:lstStyle/>
          <a:p>
            <a:pPr algn="l">
              <a:lnSpc>
                <a:spcPts val="1987"/>
              </a:lnSpc>
            </a:pPr>
            <a:r>
              <a:rPr lang="en-US" sz="1743">
                <a:solidFill>
                  <a:srgbClr val="FFFFFF"/>
                </a:solidFill>
                <a:latin typeface="Poppins"/>
                <a:ea typeface="Poppins"/>
                <a:cs typeface="Poppins"/>
                <a:sym typeface="Poppins"/>
              </a:rPr>
              <a:t>NỘI DUNG THUYẾT TRÌNH</a:t>
            </a:r>
          </a:p>
        </p:txBody>
      </p:sp>
      <p:sp>
        <p:nvSpPr>
          <p:cNvPr name="TextBox 41" id="41"/>
          <p:cNvSpPr txBox="true"/>
          <p:nvPr/>
        </p:nvSpPr>
        <p:spPr>
          <a:xfrm rot="0">
            <a:off x="2914650" y="2268853"/>
            <a:ext cx="5619750" cy="377825"/>
          </a:xfrm>
          <a:prstGeom prst="rect">
            <a:avLst/>
          </a:prstGeom>
        </p:spPr>
        <p:txBody>
          <a:bodyPr anchor="t" rtlCol="false" tIns="0" lIns="0" bIns="0" rIns="0">
            <a:spAutoFit/>
          </a:bodyPr>
          <a:lstStyle/>
          <a:p>
            <a:pPr algn="l" marL="0" indent="0" lvl="0">
              <a:lnSpc>
                <a:spcPts val="2799"/>
              </a:lnSpc>
              <a:spcBef>
                <a:spcPct val="0"/>
              </a:spcBef>
            </a:pPr>
            <a:r>
              <a:rPr lang="en-US" b="true" sz="2499" strike="noStrike" u="none">
                <a:solidFill>
                  <a:srgbClr val="100643"/>
                </a:solidFill>
                <a:latin typeface="Poppins Bold"/>
                <a:ea typeface="Poppins Bold"/>
                <a:cs typeface="Poppins Bold"/>
                <a:sym typeface="Poppins Bold"/>
              </a:rPr>
              <a:t>GIỚI THIỆU NHÓM</a:t>
            </a:r>
          </a:p>
        </p:txBody>
      </p:sp>
      <p:sp>
        <p:nvSpPr>
          <p:cNvPr name="TextBox 42" id="42"/>
          <p:cNvSpPr txBox="true"/>
          <p:nvPr/>
        </p:nvSpPr>
        <p:spPr>
          <a:xfrm rot="0">
            <a:off x="2914650" y="2740900"/>
            <a:ext cx="5715000" cy="284163"/>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Thành viên, vai trò và phạm vi thực hiện. (Slide 3)</a:t>
            </a:r>
          </a:p>
        </p:txBody>
      </p:sp>
      <p:sp>
        <p:nvSpPr>
          <p:cNvPr name="TextBox 43" id="43"/>
          <p:cNvSpPr txBox="true"/>
          <p:nvPr/>
        </p:nvSpPr>
        <p:spPr>
          <a:xfrm rot="0">
            <a:off x="2962275" y="4788046"/>
            <a:ext cx="5619750" cy="357759"/>
          </a:xfrm>
          <a:prstGeom prst="rect">
            <a:avLst/>
          </a:prstGeom>
        </p:spPr>
        <p:txBody>
          <a:bodyPr anchor="t" rtlCol="false" tIns="0" lIns="0" bIns="0" rIns="0">
            <a:spAutoFit/>
          </a:bodyPr>
          <a:lstStyle/>
          <a:p>
            <a:pPr algn="l" marL="0" indent="0" lvl="0">
              <a:lnSpc>
                <a:spcPts val="2688"/>
              </a:lnSpc>
              <a:spcBef>
                <a:spcPct val="0"/>
              </a:spcBef>
            </a:pPr>
            <a:r>
              <a:rPr lang="en-US" b="true" sz="2400" strike="noStrike" u="none">
                <a:solidFill>
                  <a:srgbClr val="100643"/>
                </a:solidFill>
                <a:latin typeface="Poppins Bold"/>
                <a:ea typeface="Poppins Bold"/>
                <a:cs typeface="Poppins Bold"/>
                <a:sym typeface="Poppins Bold"/>
              </a:rPr>
              <a:t>TỔNG QUAN VIETTEL POST</a:t>
            </a:r>
          </a:p>
        </p:txBody>
      </p:sp>
      <p:sp>
        <p:nvSpPr>
          <p:cNvPr name="TextBox 44" id="44"/>
          <p:cNvSpPr txBox="true"/>
          <p:nvPr/>
        </p:nvSpPr>
        <p:spPr>
          <a:xfrm rot="0">
            <a:off x="2936371" y="5301545"/>
            <a:ext cx="5715000" cy="560388"/>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Thông tin chung, hệ sinh thái dịch vụ, cơ cấu tổ chức và các chỉ số nổi bật. (Slide 4–7)</a:t>
            </a:r>
          </a:p>
        </p:txBody>
      </p:sp>
      <p:sp>
        <p:nvSpPr>
          <p:cNvPr name="TextBox 45" id="45"/>
          <p:cNvSpPr txBox="true"/>
          <p:nvPr/>
        </p:nvSpPr>
        <p:spPr>
          <a:xfrm rot="0">
            <a:off x="2936371" y="7169573"/>
            <a:ext cx="5619750" cy="357759"/>
          </a:xfrm>
          <a:prstGeom prst="rect">
            <a:avLst/>
          </a:prstGeom>
        </p:spPr>
        <p:txBody>
          <a:bodyPr anchor="t" rtlCol="false" tIns="0" lIns="0" bIns="0" rIns="0">
            <a:spAutoFit/>
          </a:bodyPr>
          <a:lstStyle/>
          <a:p>
            <a:pPr algn="l" marL="0" indent="0" lvl="0">
              <a:lnSpc>
                <a:spcPts val="2688"/>
              </a:lnSpc>
              <a:spcBef>
                <a:spcPct val="0"/>
              </a:spcBef>
            </a:pPr>
            <a:r>
              <a:rPr lang="en-US" b="true" sz="2400" strike="noStrike" u="none">
                <a:solidFill>
                  <a:srgbClr val="100643"/>
                </a:solidFill>
                <a:latin typeface="Poppins Bold"/>
                <a:ea typeface="Poppins Bold"/>
                <a:cs typeface="Poppins Bold"/>
                <a:sym typeface="Poppins Bold"/>
              </a:rPr>
              <a:t>KIẾN TRÚC QUY TRÌNH</a:t>
            </a:r>
          </a:p>
        </p:txBody>
      </p:sp>
      <p:sp>
        <p:nvSpPr>
          <p:cNvPr name="TextBox 46" id="46"/>
          <p:cNvSpPr txBox="true"/>
          <p:nvPr/>
        </p:nvSpPr>
        <p:spPr>
          <a:xfrm rot="0">
            <a:off x="2914650" y="7690224"/>
            <a:ext cx="5715000" cy="284163"/>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Kiến trúc quy trình quản lý, cốt lõi, hỗ trợ (Slide 8–13)</a:t>
            </a:r>
          </a:p>
        </p:txBody>
      </p:sp>
      <p:sp>
        <p:nvSpPr>
          <p:cNvPr name="TextBox 47" id="47"/>
          <p:cNvSpPr txBox="true"/>
          <p:nvPr/>
        </p:nvSpPr>
        <p:spPr>
          <a:xfrm rot="0">
            <a:off x="11553825" y="2268853"/>
            <a:ext cx="5619750" cy="357759"/>
          </a:xfrm>
          <a:prstGeom prst="rect">
            <a:avLst/>
          </a:prstGeom>
        </p:spPr>
        <p:txBody>
          <a:bodyPr anchor="t" rtlCol="false" tIns="0" lIns="0" bIns="0" rIns="0">
            <a:spAutoFit/>
          </a:bodyPr>
          <a:lstStyle/>
          <a:p>
            <a:pPr algn="l" marL="0" indent="0" lvl="0">
              <a:lnSpc>
                <a:spcPts val="2688"/>
              </a:lnSpc>
              <a:spcBef>
                <a:spcPct val="0"/>
              </a:spcBef>
            </a:pPr>
            <a:r>
              <a:rPr lang="en-US" b="true" sz="2400">
                <a:solidFill>
                  <a:srgbClr val="100643"/>
                </a:solidFill>
                <a:latin typeface="Poppins Bold"/>
                <a:ea typeface="Poppins Bold"/>
                <a:cs typeface="Poppins Bold"/>
                <a:sym typeface="Poppins Bold"/>
              </a:rPr>
              <a:t>PHƯƠNG PHÁP THỰC HIỆN</a:t>
            </a:r>
          </a:p>
        </p:txBody>
      </p:sp>
      <p:sp>
        <p:nvSpPr>
          <p:cNvPr name="TextBox 48" id="48"/>
          <p:cNvSpPr txBox="true"/>
          <p:nvPr/>
        </p:nvSpPr>
        <p:spPr>
          <a:xfrm rot="0">
            <a:off x="11553825" y="2740900"/>
            <a:ext cx="5715000" cy="560388"/>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Thu thập bằng chứng, phỏng vấn và xác định dữ liệu cần phân tích. (Slide 14–21)</a:t>
            </a:r>
          </a:p>
        </p:txBody>
      </p:sp>
      <p:sp>
        <p:nvSpPr>
          <p:cNvPr name="TextBox 49" id="49"/>
          <p:cNvSpPr txBox="true"/>
          <p:nvPr/>
        </p:nvSpPr>
        <p:spPr>
          <a:xfrm rot="0">
            <a:off x="11601450" y="4717470"/>
            <a:ext cx="5619750" cy="691134"/>
          </a:xfrm>
          <a:prstGeom prst="rect">
            <a:avLst/>
          </a:prstGeom>
        </p:spPr>
        <p:txBody>
          <a:bodyPr anchor="t" rtlCol="false" tIns="0" lIns="0" bIns="0" rIns="0">
            <a:spAutoFit/>
          </a:bodyPr>
          <a:lstStyle/>
          <a:p>
            <a:pPr algn="l" marL="0" indent="0" lvl="0">
              <a:lnSpc>
                <a:spcPts val="2688"/>
              </a:lnSpc>
              <a:spcBef>
                <a:spcPct val="0"/>
              </a:spcBef>
            </a:pPr>
            <a:r>
              <a:rPr lang="en-US" b="true" sz="2400">
                <a:solidFill>
                  <a:srgbClr val="100643"/>
                </a:solidFill>
                <a:latin typeface="Poppins Bold"/>
                <a:ea typeface="Poppins Bold"/>
                <a:cs typeface="Poppins Bold"/>
                <a:sym typeface="Poppins Bold"/>
              </a:rPr>
              <a:t>MÔ HÌNH HÓA, PHÂN TÍCH VÀ CẢI TIẾN QUY TRÌNH</a:t>
            </a:r>
          </a:p>
        </p:txBody>
      </p:sp>
      <p:sp>
        <p:nvSpPr>
          <p:cNvPr name="TextBox 50" id="50"/>
          <p:cNvSpPr txBox="true"/>
          <p:nvPr/>
        </p:nvSpPr>
        <p:spPr>
          <a:xfrm rot="0">
            <a:off x="11667843" y="7214680"/>
            <a:ext cx="5715000" cy="377825"/>
          </a:xfrm>
          <a:prstGeom prst="rect">
            <a:avLst/>
          </a:prstGeom>
        </p:spPr>
        <p:txBody>
          <a:bodyPr anchor="t" rtlCol="false" tIns="0" lIns="0" bIns="0" rIns="0">
            <a:spAutoFit/>
          </a:bodyPr>
          <a:lstStyle/>
          <a:p>
            <a:pPr algn="l" marL="0" indent="0" lvl="0">
              <a:lnSpc>
                <a:spcPts val="2799"/>
              </a:lnSpc>
              <a:spcBef>
                <a:spcPct val="0"/>
              </a:spcBef>
            </a:pPr>
            <a:r>
              <a:rPr lang="en-US" b="true" sz="2499" strike="noStrike" u="none">
                <a:solidFill>
                  <a:srgbClr val="100643"/>
                </a:solidFill>
                <a:latin typeface="Poppins Bold"/>
                <a:ea typeface="Poppins Bold"/>
                <a:cs typeface="Poppins Bold"/>
                <a:sym typeface="Poppins Bold"/>
              </a:rPr>
              <a:t>THẢO LUẬN VÀ HỎI ĐÁP</a:t>
            </a:r>
          </a:p>
        </p:txBody>
      </p:sp>
      <p:sp>
        <p:nvSpPr>
          <p:cNvPr name="TextBox 51" id="51"/>
          <p:cNvSpPr txBox="true"/>
          <p:nvPr/>
        </p:nvSpPr>
        <p:spPr>
          <a:xfrm rot="0">
            <a:off x="11667843" y="7756176"/>
            <a:ext cx="5715000" cy="284163"/>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Phần kết thúc và trao đổi với người nghe. (Slide 53)</a:t>
            </a:r>
          </a:p>
        </p:txBody>
      </p:sp>
      <p:sp>
        <p:nvSpPr>
          <p:cNvPr name="TextBox 52" id="52"/>
          <p:cNvSpPr txBox="true"/>
          <p:nvPr/>
        </p:nvSpPr>
        <p:spPr>
          <a:xfrm rot="0">
            <a:off x="11601450" y="5419983"/>
            <a:ext cx="5715000" cy="560388"/>
          </a:xfrm>
          <a:prstGeom prst="rect">
            <a:avLst/>
          </a:prstGeom>
        </p:spPr>
        <p:txBody>
          <a:bodyPr anchor="t" rtlCol="false" tIns="0" lIns="0" bIns="0" rIns="0">
            <a:spAutoFit/>
          </a:bodyPr>
          <a:lstStyle/>
          <a:p>
            <a:pPr algn="l" marL="0" indent="0" lvl="0">
              <a:lnSpc>
                <a:spcPts val="2187"/>
              </a:lnSpc>
              <a:spcBef>
                <a:spcPct val="0"/>
              </a:spcBef>
            </a:pPr>
            <a:r>
              <a:rPr lang="en-US" sz="1749" strike="noStrike" u="none">
                <a:solidFill>
                  <a:srgbClr val="100643"/>
                </a:solidFill>
                <a:latin typeface="Poppins"/>
                <a:ea typeface="Poppins"/>
                <a:cs typeface="Poppins"/>
                <a:sym typeface="Poppins"/>
              </a:rPr>
              <a:t>Mô hình hóa 3 quy trình bằng BPMN; phân tích và đề xuất cải tiến. (Slide 22–52)</a:t>
            </a:r>
          </a:p>
        </p:txBody>
      </p:sp>
      <p:sp>
        <p:nvSpPr>
          <p:cNvPr name="TextBox 53" id="53"/>
          <p:cNvSpPr txBox="true"/>
          <p:nvPr/>
        </p:nvSpPr>
        <p:spPr>
          <a:xfrm rot="0">
            <a:off x="10046880" y="7329403"/>
            <a:ext cx="1088031" cy="710935"/>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06</a:t>
            </a:r>
          </a:p>
        </p:txBody>
      </p:sp>
      <p:sp>
        <p:nvSpPr>
          <p:cNvPr name="TextBox 54" id="54"/>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7684711" y="-1203690"/>
            <a:ext cx="14251795" cy="14251795"/>
          </a:xfrm>
          <a:custGeom>
            <a:avLst/>
            <a:gdLst/>
            <a:ahLst/>
            <a:cxnLst/>
            <a:rect r="r" b="b" t="t" l="l"/>
            <a:pathLst>
              <a:path h="14251795" w="14251795">
                <a:moveTo>
                  <a:pt x="0" y="0"/>
                </a:moveTo>
                <a:lnTo>
                  <a:pt x="14251795" y="0"/>
                </a:lnTo>
                <a:lnTo>
                  <a:pt x="14251795" y="14251794"/>
                </a:lnTo>
                <a:lnTo>
                  <a:pt x="0" y="142517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6" id="6"/>
          <p:cNvGrpSpPr/>
          <p:nvPr/>
        </p:nvGrpSpPr>
        <p:grpSpPr>
          <a:xfrm rot="0">
            <a:off x="8401205" y="2962773"/>
            <a:ext cx="2376633" cy="2343313"/>
            <a:chOff x="0" y="0"/>
            <a:chExt cx="473492" cy="466854"/>
          </a:xfrm>
        </p:grpSpPr>
        <p:sp>
          <p:nvSpPr>
            <p:cNvPr name="Freeform 7" id="7"/>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8" id="8"/>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9" id="9"/>
          <p:cNvGrpSpPr/>
          <p:nvPr/>
        </p:nvGrpSpPr>
        <p:grpSpPr>
          <a:xfrm rot="0">
            <a:off x="8728603" y="2584807"/>
            <a:ext cx="1721836" cy="172183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346" t="0" r="-346" b="0"/>
              </a:stretch>
            </a:blipFill>
            <a:ln w="57150" cap="sq">
              <a:solidFill>
                <a:srgbClr val="100643"/>
              </a:solidFill>
              <a:prstDash val="solid"/>
              <a:miter/>
            </a:ln>
          </p:spPr>
        </p:sp>
      </p:grpSp>
      <p:grpSp>
        <p:nvGrpSpPr>
          <p:cNvPr name="Group 11" id="11"/>
          <p:cNvGrpSpPr/>
          <p:nvPr/>
        </p:nvGrpSpPr>
        <p:grpSpPr>
          <a:xfrm rot="0">
            <a:off x="10852800" y="2962773"/>
            <a:ext cx="2376633" cy="2343313"/>
            <a:chOff x="0" y="0"/>
            <a:chExt cx="473492" cy="466854"/>
          </a:xfrm>
        </p:grpSpPr>
        <p:sp>
          <p:nvSpPr>
            <p:cNvPr name="Freeform 12" id="12"/>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13" id="13"/>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14" id="14"/>
          <p:cNvGrpSpPr/>
          <p:nvPr/>
        </p:nvGrpSpPr>
        <p:grpSpPr>
          <a:xfrm rot="0">
            <a:off x="11180198" y="2584807"/>
            <a:ext cx="1721836" cy="172183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0" t="-9565" r="0" b="-9565"/>
              </a:stretch>
            </a:blipFill>
            <a:ln w="57150" cap="sq">
              <a:solidFill>
                <a:srgbClr val="100643"/>
              </a:solidFill>
              <a:prstDash val="solid"/>
              <a:miter/>
            </a:ln>
          </p:spPr>
        </p:sp>
      </p:grpSp>
      <p:grpSp>
        <p:nvGrpSpPr>
          <p:cNvPr name="Group 16" id="16"/>
          <p:cNvGrpSpPr/>
          <p:nvPr/>
        </p:nvGrpSpPr>
        <p:grpSpPr>
          <a:xfrm rot="0">
            <a:off x="9901030" y="6240477"/>
            <a:ext cx="2376633" cy="2343313"/>
            <a:chOff x="0" y="0"/>
            <a:chExt cx="473492" cy="466854"/>
          </a:xfrm>
        </p:grpSpPr>
        <p:sp>
          <p:nvSpPr>
            <p:cNvPr name="Freeform 17" id="17"/>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18" id="18"/>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19" id="19"/>
          <p:cNvGrpSpPr/>
          <p:nvPr/>
        </p:nvGrpSpPr>
        <p:grpSpPr>
          <a:xfrm rot="0">
            <a:off x="10228428" y="5862511"/>
            <a:ext cx="1721836" cy="1721836"/>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0" t="0" r="0" b="0"/>
              </a:stretch>
            </a:blipFill>
            <a:ln w="57150" cap="sq">
              <a:solidFill>
                <a:srgbClr val="100643"/>
              </a:solidFill>
              <a:prstDash val="solid"/>
              <a:miter/>
            </a:ln>
          </p:spPr>
        </p:sp>
      </p:grpSp>
      <p:grpSp>
        <p:nvGrpSpPr>
          <p:cNvPr name="Group 21" id="21"/>
          <p:cNvGrpSpPr/>
          <p:nvPr/>
        </p:nvGrpSpPr>
        <p:grpSpPr>
          <a:xfrm rot="0">
            <a:off x="12352625" y="6240477"/>
            <a:ext cx="2376633" cy="2343313"/>
            <a:chOff x="0" y="0"/>
            <a:chExt cx="473492" cy="466854"/>
          </a:xfrm>
        </p:grpSpPr>
        <p:sp>
          <p:nvSpPr>
            <p:cNvPr name="Freeform 22" id="22"/>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23" id="23"/>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24" id="24"/>
          <p:cNvGrpSpPr/>
          <p:nvPr/>
        </p:nvGrpSpPr>
        <p:grpSpPr>
          <a:xfrm rot="0">
            <a:off x="12680023" y="5862511"/>
            <a:ext cx="1721836" cy="172183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3"/>
              <a:stretch>
                <a:fillRect l="0" t="0" r="0" b="0"/>
              </a:stretch>
            </a:blipFill>
            <a:ln w="57150" cap="sq">
              <a:solidFill>
                <a:srgbClr val="100643"/>
              </a:solidFill>
              <a:prstDash val="solid"/>
              <a:miter/>
            </a:ln>
          </p:spPr>
        </p:sp>
      </p:grpSp>
      <p:sp>
        <p:nvSpPr>
          <p:cNvPr name="Freeform 26" id="26"/>
          <p:cNvSpPr/>
          <p:nvPr/>
        </p:nvSpPr>
        <p:spPr>
          <a:xfrm flipH="false" flipV="false" rot="-5400000">
            <a:off x="-15696427" y="2090492"/>
            <a:ext cx="21603465" cy="10801732"/>
          </a:xfrm>
          <a:custGeom>
            <a:avLst/>
            <a:gdLst/>
            <a:ahLst/>
            <a:cxnLst/>
            <a:rect r="r" b="b" t="t" l="l"/>
            <a:pathLst>
              <a:path h="10801732" w="21603465">
                <a:moveTo>
                  <a:pt x="0" y="0"/>
                </a:moveTo>
                <a:lnTo>
                  <a:pt x="21603465" y="0"/>
                </a:lnTo>
                <a:lnTo>
                  <a:pt x="21603465" y="10801732"/>
                </a:lnTo>
                <a:lnTo>
                  <a:pt x="0" y="108017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7" id="27"/>
          <p:cNvSpPr txBox="true"/>
          <p:nvPr/>
        </p:nvSpPr>
        <p:spPr>
          <a:xfrm rot="0">
            <a:off x="8278934" y="4449995"/>
            <a:ext cx="2621176" cy="276112"/>
          </a:xfrm>
          <a:prstGeom prst="rect">
            <a:avLst/>
          </a:prstGeom>
        </p:spPr>
        <p:txBody>
          <a:bodyPr anchor="t" rtlCol="false" tIns="0" lIns="0" bIns="0" rIns="0">
            <a:spAutoFit/>
          </a:bodyPr>
          <a:lstStyle/>
          <a:p>
            <a:pPr algn="ctr">
              <a:lnSpc>
                <a:spcPts val="2050"/>
              </a:lnSpc>
            </a:pPr>
            <a:r>
              <a:rPr lang="en-US" b="true" sz="1798">
                <a:solidFill>
                  <a:srgbClr val="BD0016"/>
                </a:solidFill>
                <a:latin typeface="Poppins Bold"/>
                <a:ea typeface="Poppins Bold"/>
                <a:cs typeface="Poppins Bold"/>
                <a:sym typeface="Poppins Bold"/>
              </a:rPr>
              <a:t>Trần Ngọc Huy</a:t>
            </a:r>
          </a:p>
        </p:txBody>
      </p:sp>
      <p:sp>
        <p:nvSpPr>
          <p:cNvPr name="TextBox 28" id="28"/>
          <p:cNvSpPr txBox="true"/>
          <p:nvPr/>
        </p:nvSpPr>
        <p:spPr>
          <a:xfrm rot="0">
            <a:off x="10685335" y="4449995"/>
            <a:ext cx="2711564" cy="276112"/>
          </a:xfrm>
          <a:prstGeom prst="rect">
            <a:avLst/>
          </a:prstGeom>
        </p:spPr>
        <p:txBody>
          <a:bodyPr anchor="t" rtlCol="false" tIns="0" lIns="0" bIns="0" rIns="0">
            <a:spAutoFit/>
          </a:bodyPr>
          <a:lstStyle/>
          <a:p>
            <a:pPr algn="ctr">
              <a:lnSpc>
                <a:spcPts val="2050"/>
              </a:lnSpc>
            </a:pPr>
            <a:r>
              <a:rPr lang="en-US" b="true" sz="1798">
                <a:solidFill>
                  <a:srgbClr val="BD0016"/>
                </a:solidFill>
                <a:latin typeface="Poppins Bold"/>
                <a:ea typeface="Poppins Bold"/>
                <a:cs typeface="Poppins Bold"/>
                <a:sym typeface="Poppins Bold"/>
              </a:rPr>
              <a:t>Trần Việt Hải</a:t>
            </a:r>
          </a:p>
        </p:txBody>
      </p:sp>
      <p:sp>
        <p:nvSpPr>
          <p:cNvPr name="TextBox 29" id="29"/>
          <p:cNvSpPr txBox="true"/>
          <p:nvPr/>
        </p:nvSpPr>
        <p:spPr>
          <a:xfrm rot="0">
            <a:off x="9804547" y="7727699"/>
            <a:ext cx="2569599" cy="276112"/>
          </a:xfrm>
          <a:prstGeom prst="rect">
            <a:avLst/>
          </a:prstGeom>
        </p:spPr>
        <p:txBody>
          <a:bodyPr anchor="t" rtlCol="false" tIns="0" lIns="0" bIns="0" rIns="0">
            <a:spAutoFit/>
          </a:bodyPr>
          <a:lstStyle/>
          <a:p>
            <a:pPr algn="ctr">
              <a:lnSpc>
                <a:spcPts val="2050"/>
              </a:lnSpc>
            </a:pPr>
            <a:r>
              <a:rPr lang="en-US" b="true" sz="1798">
                <a:solidFill>
                  <a:srgbClr val="BD0016"/>
                </a:solidFill>
                <a:latin typeface="Poppins Bold"/>
                <a:ea typeface="Poppins Bold"/>
                <a:cs typeface="Poppins Bold"/>
                <a:sym typeface="Poppins Bold"/>
              </a:rPr>
              <a:t>Đặng Văn Hậu</a:t>
            </a:r>
          </a:p>
        </p:txBody>
      </p:sp>
      <p:sp>
        <p:nvSpPr>
          <p:cNvPr name="TextBox 30" id="30"/>
          <p:cNvSpPr txBox="true"/>
          <p:nvPr/>
        </p:nvSpPr>
        <p:spPr>
          <a:xfrm rot="0">
            <a:off x="12196135" y="7718174"/>
            <a:ext cx="2689613" cy="276827"/>
          </a:xfrm>
          <a:prstGeom prst="rect">
            <a:avLst/>
          </a:prstGeom>
        </p:spPr>
        <p:txBody>
          <a:bodyPr anchor="t" rtlCol="false" tIns="0" lIns="0" bIns="0" rIns="0">
            <a:spAutoFit/>
          </a:bodyPr>
          <a:lstStyle/>
          <a:p>
            <a:pPr algn="ctr">
              <a:lnSpc>
                <a:spcPts val="1952"/>
              </a:lnSpc>
            </a:pPr>
            <a:r>
              <a:rPr lang="en-US" b="true" sz="1712">
                <a:solidFill>
                  <a:srgbClr val="BD0016"/>
                </a:solidFill>
                <a:latin typeface="Poppins Bold"/>
                <a:ea typeface="Poppins Bold"/>
                <a:cs typeface="Poppins Bold"/>
                <a:sym typeface="Poppins Bold"/>
              </a:rPr>
              <a:t>Trần Nguyễn Gia Huy</a:t>
            </a:r>
          </a:p>
        </p:txBody>
      </p:sp>
      <p:grpSp>
        <p:nvGrpSpPr>
          <p:cNvPr name="Group 31" id="31"/>
          <p:cNvGrpSpPr/>
          <p:nvPr/>
        </p:nvGrpSpPr>
        <p:grpSpPr>
          <a:xfrm rot="0">
            <a:off x="13291470" y="2962773"/>
            <a:ext cx="2376633" cy="2343313"/>
            <a:chOff x="0" y="0"/>
            <a:chExt cx="473492" cy="466854"/>
          </a:xfrm>
        </p:grpSpPr>
        <p:sp>
          <p:nvSpPr>
            <p:cNvPr name="Freeform 32" id="32"/>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33" id="33"/>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34" id="34"/>
          <p:cNvGrpSpPr/>
          <p:nvPr/>
        </p:nvGrpSpPr>
        <p:grpSpPr>
          <a:xfrm rot="0">
            <a:off x="13618868" y="2584807"/>
            <a:ext cx="1721836" cy="1721836"/>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6"/>
              <a:stretch>
                <a:fillRect l="0" t="-6331" r="0" b="-6331"/>
              </a:stretch>
            </a:blipFill>
            <a:ln w="57150" cap="sq">
              <a:solidFill>
                <a:srgbClr val="100643"/>
              </a:solidFill>
              <a:prstDash val="solid"/>
              <a:miter/>
            </a:ln>
          </p:spPr>
        </p:sp>
      </p:grpSp>
      <p:grpSp>
        <p:nvGrpSpPr>
          <p:cNvPr name="Group 36" id="36"/>
          <p:cNvGrpSpPr/>
          <p:nvPr/>
        </p:nvGrpSpPr>
        <p:grpSpPr>
          <a:xfrm rot="0">
            <a:off x="14791295" y="6240477"/>
            <a:ext cx="2376633" cy="2343313"/>
            <a:chOff x="0" y="0"/>
            <a:chExt cx="473492" cy="466854"/>
          </a:xfrm>
        </p:grpSpPr>
        <p:sp>
          <p:nvSpPr>
            <p:cNvPr name="Freeform 37" id="37"/>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38" id="38"/>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39" id="39"/>
          <p:cNvGrpSpPr/>
          <p:nvPr/>
        </p:nvGrpSpPr>
        <p:grpSpPr>
          <a:xfrm rot="0">
            <a:off x="15118693" y="5862511"/>
            <a:ext cx="1721836" cy="1721836"/>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7"/>
              <a:stretch>
                <a:fillRect l="0" t="0" r="0" b="-36869"/>
              </a:stretch>
            </a:blipFill>
            <a:ln w="57150" cap="sq">
              <a:solidFill>
                <a:srgbClr val="100643"/>
              </a:solidFill>
              <a:prstDash val="solid"/>
              <a:miter/>
            </a:ln>
          </p:spPr>
        </p:sp>
      </p:grpSp>
      <p:sp>
        <p:nvSpPr>
          <p:cNvPr name="TextBox 41" id="41"/>
          <p:cNvSpPr txBox="true"/>
          <p:nvPr/>
        </p:nvSpPr>
        <p:spPr>
          <a:xfrm rot="0">
            <a:off x="13124004" y="4449995"/>
            <a:ext cx="2711564" cy="276112"/>
          </a:xfrm>
          <a:prstGeom prst="rect">
            <a:avLst/>
          </a:prstGeom>
        </p:spPr>
        <p:txBody>
          <a:bodyPr anchor="t" rtlCol="false" tIns="0" lIns="0" bIns="0" rIns="0">
            <a:spAutoFit/>
          </a:bodyPr>
          <a:lstStyle/>
          <a:p>
            <a:pPr algn="ctr">
              <a:lnSpc>
                <a:spcPts val="2050"/>
              </a:lnSpc>
            </a:pPr>
            <a:r>
              <a:rPr lang="en-US" b="true" sz="1798">
                <a:solidFill>
                  <a:srgbClr val="BD0016"/>
                </a:solidFill>
                <a:latin typeface="Poppins Bold"/>
                <a:ea typeface="Poppins Bold"/>
                <a:cs typeface="Poppins Bold"/>
                <a:sym typeface="Poppins Bold"/>
              </a:rPr>
              <a:t>Nguyễn Thanh Duy</a:t>
            </a:r>
          </a:p>
        </p:txBody>
      </p:sp>
      <p:grpSp>
        <p:nvGrpSpPr>
          <p:cNvPr name="Group 42" id="42"/>
          <p:cNvGrpSpPr/>
          <p:nvPr/>
        </p:nvGrpSpPr>
        <p:grpSpPr>
          <a:xfrm rot="0">
            <a:off x="15743901" y="2962773"/>
            <a:ext cx="2376633" cy="2343313"/>
            <a:chOff x="0" y="0"/>
            <a:chExt cx="473492" cy="466854"/>
          </a:xfrm>
        </p:grpSpPr>
        <p:sp>
          <p:nvSpPr>
            <p:cNvPr name="Freeform 43" id="43"/>
            <p:cNvSpPr/>
            <p:nvPr/>
          </p:nvSpPr>
          <p:spPr>
            <a:xfrm flipH="false" flipV="false" rot="0">
              <a:off x="0" y="0"/>
              <a:ext cx="473492" cy="466854"/>
            </a:xfrm>
            <a:custGeom>
              <a:avLst/>
              <a:gdLst/>
              <a:ahLst/>
              <a:cxnLst/>
              <a:rect r="r" b="b" t="t" l="l"/>
              <a:pathLst>
                <a:path h="466854" w="473492">
                  <a:moveTo>
                    <a:pt x="61893" y="0"/>
                  </a:moveTo>
                  <a:lnTo>
                    <a:pt x="411600" y="0"/>
                  </a:lnTo>
                  <a:cubicBezTo>
                    <a:pt x="445782" y="0"/>
                    <a:pt x="473492" y="27710"/>
                    <a:pt x="473492" y="61893"/>
                  </a:cubicBezTo>
                  <a:lnTo>
                    <a:pt x="473492" y="404961"/>
                  </a:lnTo>
                  <a:cubicBezTo>
                    <a:pt x="473492" y="439144"/>
                    <a:pt x="445782" y="466854"/>
                    <a:pt x="411600" y="466854"/>
                  </a:cubicBezTo>
                  <a:lnTo>
                    <a:pt x="61893" y="466854"/>
                  </a:lnTo>
                  <a:cubicBezTo>
                    <a:pt x="45478" y="466854"/>
                    <a:pt x="29735" y="460333"/>
                    <a:pt x="18128" y="448726"/>
                  </a:cubicBezTo>
                  <a:cubicBezTo>
                    <a:pt x="6521" y="437119"/>
                    <a:pt x="0" y="421376"/>
                    <a:pt x="0" y="404961"/>
                  </a:cubicBezTo>
                  <a:lnTo>
                    <a:pt x="0" y="61893"/>
                  </a:lnTo>
                  <a:cubicBezTo>
                    <a:pt x="0" y="45478"/>
                    <a:pt x="6521" y="29735"/>
                    <a:pt x="18128" y="18128"/>
                  </a:cubicBezTo>
                  <a:cubicBezTo>
                    <a:pt x="29735" y="6521"/>
                    <a:pt x="45478" y="0"/>
                    <a:pt x="61893" y="0"/>
                  </a:cubicBezTo>
                  <a:close/>
                </a:path>
              </a:pathLst>
            </a:custGeom>
            <a:solidFill>
              <a:srgbClr val="FFFFFF"/>
            </a:solidFill>
          </p:spPr>
        </p:sp>
        <p:sp>
          <p:nvSpPr>
            <p:cNvPr name="TextBox 44" id="44"/>
            <p:cNvSpPr txBox="true"/>
            <p:nvPr/>
          </p:nvSpPr>
          <p:spPr>
            <a:xfrm>
              <a:off x="0" y="9525"/>
              <a:ext cx="473492" cy="457329"/>
            </a:xfrm>
            <a:prstGeom prst="rect">
              <a:avLst/>
            </a:prstGeom>
          </p:spPr>
          <p:txBody>
            <a:bodyPr anchor="ctr" rtlCol="false" tIns="50800" lIns="50800" bIns="50800" rIns="50800"/>
            <a:lstStyle/>
            <a:p>
              <a:pPr algn="ctr">
                <a:lnSpc>
                  <a:spcPts val="2921"/>
                </a:lnSpc>
              </a:pPr>
            </a:p>
          </p:txBody>
        </p:sp>
      </p:grpSp>
      <p:grpSp>
        <p:nvGrpSpPr>
          <p:cNvPr name="Group 45" id="45"/>
          <p:cNvGrpSpPr/>
          <p:nvPr/>
        </p:nvGrpSpPr>
        <p:grpSpPr>
          <a:xfrm rot="0">
            <a:off x="16071300" y="2584807"/>
            <a:ext cx="1721836" cy="1721836"/>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8"/>
              <a:stretch>
                <a:fillRect l="0" t="-6550" r="0" b="-6550"/>
              </a:stretch>
            </a:blipFill>
            <a:ln w="57150" cap="sq">
              <a:solidFill>
                <a:srgbClr val="100643"/>
              </a:solidFill>
              <a:prstDash val="solid"/>
              <a:miter/>
            </a:ln>
          </p:spPr>
        </p:sp>
      </p:grpSp>
      <p:sp>
        <p:nvSpPr>
          <p:cNvPr name="Freeform 47" id="4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TextBox 48" id="48"/>
          <p:cNvSpPr txBox="true"/>
          <p:nvPr/>
        </p:nvSpPr>
        <p:spPr>
          <a:xfrm rot="0">
            <a:off x="1325322" y="3027236"/>
            <a:ext cx="6608904"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Thành viên nhóm</a:t>
            </a:r>
          </a:p>
        </p:txBody>
      </p:sp>
      <p:sp>
        <p:nvSpPr>
          <p:cNvPr name="TextBox 49" id="49"/>
          <p:cNvSpPr txBox="true"/>
          <p:nvPr/>
        </p:nvSpPr>
        <p:spPr>
          <a:xfrm rot="0">
            <a:off x="2384092" y="1582736"/>
            <a:ext cx="2599164"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1</a:t>
            </a:r>
          </a:p>
        </p:txBody>
      </p:sp>
      <p:sp>
        <p:nvSpPr>
          <p:cNvPr name="TextBox 50" id="50"/>
          <p:cNvSpPr txBox="true"/>
          <p:nvPr/>
        </p:nvSpPr>
        <p:spPr>
          <a:xfrm rot="0">
            <a:off x="2384092" y="1952248"/>
            <a:ext cx="2979591" cy="262632"/>
          </a:xfrm>
          <a:prstGeom prst="rect">
            <a:avLst/>
          </a:prstGeom>
        </p:spPr>
        <p:txBody>
          <a:bodyPr anchor="t" rtlCol="false" tIns="0" lIns="0" bIns="0" rIns="0">
            <a:spAutoFit/>
          </a:bodyPr>
          <a:lstStyle/>
          <a:p>
            <a:pPr algn="l" marL="0" indent="0" lvl="0">
              <a:lnSpc>
                <a:spcPts val="1987"/>
              </a:lnSpc>
              <a:spcBef>
                <a:spcPct val="0"/>
              </a:spcBef>
            </a:pPr>
            <a:r>
              <a:rPr lang="en-US" sz="1743" strike="noStrike" u="none">
                <a:solidFill>
                  <a:srgbClr val="100643"/>
                </a:solidFill>
                <a:latin typeface="Poppins"/>
                <a:ea typeface="Poppins"/>
                <a:cs typeface="Poppins"/>
                <a:sym typeface="Poppins"/>
              </a:rPr>
              <a:t>GIỚI THIỆU NHÓM</a:t>
            </a:r>
          </a:p>
        </p:txBody>
      </p:sp>
      <p:sp>
        <p:nvSpPr>
          <p:cNvPr name="TextBox 51" id="51"/>
          <p:cNvSpPr txBox="true"/>
          <p:nvPr/>
        </p:nvSpPr>
        <p:spPr>
          <a:xfrm rot="0">
            <a:off x="2288840" y="8474434"/>
            <a:ext cx="54053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52" id="52"/>
          <p:cNvSpPr txBox="true"/>
          <p:nvPr/>
        </p:nvSpPr>
        <p:spPr>
          <a:xfrm rot="0">
            <a:off x="2288840" y="8140004"/>
            <a:ext cx="2650837"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53" id="53"/>
          <p:cNvSpPr txBox="true"/>
          <p:nvPr/>
        </p:nvSpPr>
        <p:spPr>
          <a:xfrm rot="0">
            <a:off x="1325322" y="5334857"/>
            <a:ext cx="5626286" cy="20770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Nhóm 8 gồm 7 thành viên, cùng thực hiện đề tài Phân tích và quản trị quy trình nghiệp vụ Viettel Post. </a:t>
            </a:r>
          </a:p>
          <a:p>
            <a:pPr algn="just">
              <a:lnSpc>
                <a:spcPts val="1837"/>
              </a:lnSpc>
            </a:pPr>
          </a:p>
          <a:p>
            <a:pPr algn="just">
              <a:lnSpc>
                <a:spcPts val="1837"/>
              </a:lnSpc>
            </a:pPr>
            <a:r>
              <a:rPr lang="en-US" sz="1597">
                <a:solidFill>
                  <a:srgbClr val="100643"/>
                </a:solidFill>
                <a:latin typeface="Poppins"/>
                <a:ea typeface="Poppins"/>
                <a:cs typeface="Poppins"/>
                <a:sym typeface="Poppins"/>
              </a:rPr>
              <a:t>Trong quá trình thực hiện, nhóm </a:t>
            </a:r>
            <a:r>
              <a:rPr lang="en-US" sz="1597" b="true">
                <a:solidFill>
                  <a:srgbClr val="100643"/>
                </a:solidFill>
                <a:latin typeface="Poppins Bold"/>
                <a:ea typeface="Poppins Bold"/>
                <a:cs typeface="Poppins Bold"/>
                <a:sym typeface="Poppins Bold"/>
              </a:rPr>
              <a:t>cùng nhau khảo sát nghiệp vụ, xây dựng BPMN và thực hiện phân tích chi tiết các quy trình của đề tài.</a:t>
            </a:r>
          </a:p>
          <a:p>
            <a:pPr algn="just">
              <a:lnSpc>
                <a:spcPts val="1837"/>
              </a:lnSpc>
            </a:pPr>
          </a:p>
          <a:p>
            <a:pPr algn="just">
              <a:lnSpc>
                <a:spcPts val="1837"/>
              </a:lnSpc>
            </a:pPr>
            <a:r>
              <a:rPr lang="en-US" sz="1597">
                <a:solidFill>
                  <a:srgbClr val="100643"/>
                </a:solidFill>
                <a:latin typeface="Poppins"/>
                <a:ea typeface="Poppins"/>
                <a:cs typeface="Poppins"/>
                <a:sym typeface="Poppins"/>
              </a:rPr>
              <a:t>Công việc được phân chia theo ba nhóm quy trình chính: quản lý, cốt lõi và hỗ trợ.</a:t>
            </a:r>
          </a:p>
        </p:txBody>
      </p:sp>
      <p:sp>
        <p:nvSpPr>
          <p:cNvPr name="TextBox 54" id="54"/>
          <p:cNvSpPr txBox="true"/>
          <p:nvPr/>
        </p:nvSpPr>
        <p:spPr>
          <a:xfrm rot="0">
            <a:off x="8715652" y="4765802"/>
            <a:ext cx="1747739"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25410232</a:t>
            </a:r>
          </a:p>
        </p:txBody>
      </p:sp>
      <p:sp>
        <p:nvSpPr>
          <p:cNvPr name="TextBox 55" id="55"/>
          <p:cNvSpPr txBox="true"/>
          <p:nvPr/>
        </p:nvSpPr>
        <p:spPr>
          <a:xfrm rot="0">
            <a:off x="11134967" y="4765802"/>
            <a:ext cx="1812300"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25410198</a:t>
            </a:r>
          </a:p>
        </p:txBody>
      </p:sp>
      <p:sp>
        <p:nvSpPr>
          <p:cNvPr name="TextBox 56" id="56"/>
          <p:cNvSpPr txBox="true"/>
          <p:nvPr/>
        </p:nvSpPr>
        <p:spPr>
          <a:xfrm rot="0">
            <a:off x="10212608" y="8043506"/>
            <a:ext cx="1753476"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25410203</a:t>
            </a:r>
          </a:p>
        </p:txBody>
      </p:sp>
      <p:sp>
        <p:nvSpPr>
          <p:cNvPr name="TextBox 57" id="57"/>
          <p:cNvSpPr txBox="true"/>
          <p:nvPr/>
        </p:nvSpPr>
        <p:spPr>
          <a:xfrm rot="0">
            <a:off x="12626721" y="8043506"/>
            <a:ext cx="1828440"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25410233</a:t>
            </a:r>
          </a:p>
        </p:txBody>
      </p:sp>
      <p:sp>
        <p:nvSpPr>
          <p:cNvPr name="TextBox 58" id="58"/>
          <p:cNvSpPr txBox="true"/>
          <p:nvPr/>
        </p:nvSpPr>
        <p:spPr>
          <a:xfrm rot="0">
            <a:off x="13573636" y="4765802"/>
            <a:ext cx="1812300"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25410194</a:t>
            </a:r>
          </a:p>
        </p:txBody>
      </p:sp>
      <p:sp>
        <p:nvSpPr>
          <p:cNvPr name="TextBox 59" id="59"/>
          <p:cNvSpPr txBox="true"/>
          <p:nvPr/>
        </p:nvSpPr>
        <p:spPr>
          <a:xfrm rot="0">
            <a:off x="14634805" y="7718174"/>
            <a:ext cx="2689613" cy="276827"/>
          </a:xfrm>
          <a:prstGeom prst="rect">
            <a:avLst/>
          </a:prstGeom>
        </p:spPr>
        <p:txBody>
          <a:bodyPr anchor="t" rtlCol="false" tIns="0" lIns="0" bIns="0" rIns="0">
            <a:spAutoFit/>
          </a:bodyPr>
          <a:lstStyle/>
          <a:p>
            <a:pPr algn="ctr">
              <a:lnSpc>
                <a:spcPts val="1952"/>
              </a:lnSpc>
            </a:pPr>
            <a:r>
              <a:rPr lang="en-US" b="true" sz="1712">
                <a:solidFill>
                  <a:srgbClr val="BD0016"/>
                </a:solidFill>
                <a:latin typeface="Poppins Bold"/>
                <a:ea typeface="Poppins Bold"/>
                <a:cs typeface="Poppins Bold"/>
                <a:sym typeface="Poppins Bold"/>
              </a:rPr>
              <a:t>Nguyễn Thanh Huy</a:t>
            </a:r>
          </a:p>
        </p:txBody>
      </p:sp>
      <p:sp>
        <p:nvSpPr>
          <p:cNvPr name="TextBox 60" id="60"/>
          <p:cNvSpPr txBox="true"/>
          <p:nvPr/>
        </p:nvSpPr>
        <p:spPr>
          <a:xfrm rot="0">
            <a:off x="15065391" y="8043506"/>
            <a:ext cx="1828440"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25410230</a:t>
            </a:r>
          </a:p>
        </p:txBody>
      </p:sp>
      <p:sp>
        <p:nvSpPr>
          <p:cNvPr name="TextBox 61" id="61"/>
          <p:cNvSpPr txBox="true"/>
          <p:nvPr/>
        </p:nvSpPr>
        <p:spPr>
          <a:xfrm rot="0">
            <a:off x="15576436" y="4449995"/>
            <a:ext cx="2711564" cy="276112"/>
          </a:xfrm>
          <a:prstGeom prst="rect">
            <a:avLst/>
          </a:prstGeom>
        </p:spPr>
        <p:txBody>
          <a:bodyPr anchor="t" rtlCol="false" tIns="0" lIns="0" bIns="0" rIns="0">
            <a:spAutoFit/>
          </a:bodyPr>
          <a:lstStyle/>
          <a:p>
            <a:pPr algn="ctr">
              <a:lnSpc>
                <a:spcPts val="2050"/>
              </a:lnSpc>
            </a:pPr>
            <a:r>
              <a:rPr lang="en-US" b="true" sz="1798">
                <a:solidFill>
                  <a:srgbClr val="BD0016"/>
                </a:solidFill>
                <a:latin typeface="Poppins Bold"/>
                <a:ea typeface="Poppins Bold"/>
                <a:cs typeface="Poppins Bold"/>
                <a:sym typeface="Poppins Bold"/>
              </a:rPr>
              <a:t>Huỳnh Đại Long</a:t>
            </a:r>
          </a:p>
        </p:txBody>
      </p:sp>
      <p:sp>
        <p:nvSpPr>
          <p:cNvPr name="TextBox 62" id="62"/>
          <p:cNvSpPr txBox="true"/>
          <p:nvPr/>
        </p:nvSpPr>
        <p:spPr>
          <a:xfrm rot="0">
            <a:off x="16026068" y="4765802"/>
            <a:ext cx="1812300" cy="276112"/>
          </a:xfrm>
          <a:prstGeom prst="rect">
            <a:avLst/>
          </a:prstGeom>
        </p:spPr>
        <p:txBody>
          <a:bodyPr anchor="t" rtlCol="false" tIns="0" lIns="0" bIns="0" rIns="0">
            <a:spAutoFit/>
          </a:bodyPr>
          <a:lstStyle/>
          <a:p>
            <a:pPr algn="ctr">
              <a:lnSpc>
                <a:spcPts val="2050"/>
              </a:lnSpc>
            </a:pPr>
            <a:r>
              <a:rPr lang="en-US" sz="1798">
                <a:solidFill>
                  <a:srgbClr val="100643"/>
                </a:solidFill>
                <a:latin typeface="Poppins"/>
                <a:ea typeface="Poppins"/>
                <a:cs typeface="Poppins"/>
                <a:sym typeface="Poppins"/>
              </a:rPr>
              <a:t>25410246</a:t>
            </a:r>
          </a:p>
        </p:txBody>
      </p:sp>
      <p:sp>
        <p:nvSpPr>
          <p:cNvPr name="TextBox 63" id="63"/>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2</a:t>
            </a:r>
          </a:p>
        </p:txBody>
      </p:sp>
      <p:sp>
        <p:nvSpPr>
          <p:cNvPr name="TextBox 4" id="4"/>
          <p:cNvSpPr txBox="true"/>
          <p:nvPr/>
        </p:nvSpPr>
        <p:spPr>
          <a:xfrm rot="0">
            <a:off x="2384092" y="1952248"/>
            <a:ext cx="3120025"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TỔNG QUAN VIETTEL POST</a:t>
            </a:r>
          </a:p>
        </p:txBody>
      </p:sp>
      <p:sp>
        <p:nvSpPr>
          <p:cNvPr name="TextBox 5" id="5"/>
          <p:cNvSpPr txBox="true"/>
          <p:nvPr/>
        </p:nvSpPr>
        <p:spPr>
          <a:xfrm rot="0">
            <a:off x="1325322" y="3027236"/>
            <a:ext cx="6178835" cy="2674620"/>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Thông tin chung về Viettel Post</a:t>
            </a:r>
          </a:p>
        </p:txBody>
      </p:sp>
      <p:sp>
        <p:nvSpPr>
          <p:cNvPr name="Freeform 6" id="6"/>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288840" y="8474434"/>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9" id="9"/>
          <p:cNvSpPr txBox="true"/>
          <p:nvPr/>
        </p:nvSpPr>
        <p:spPr>
          <a:xfrm rot="0">
            <a:off x="2288840" y="8140004"/>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Freeform 10" id="10"/>
          <p:cNvSpPr/>
          <p:nvPr/>
        </p:nvSpPr>
        <p:spPr>
          <a:xfrm flipH="false" flipV="false" rot="-5400000">
            <a:off x="3432856" y="-4822708"/>
            <a:ext cx="20613434" cy="10306717"/>
          </a:xfrm>
          <a:custGeom>
            <a:avLst/>
            <a:gdLst/>
            <a:ahLst/>
            <a:cxnLst/>
            <a:rect r="r" b="b" t="t" l="l"/>
            <a:pathLst>
              <a:path h="10306717" w="20613434">
                <a:moveTo>
                  <a:pt x="0" y="0"/>
                </a:moveTo>
                <a:lnTo>
                  <a:pt x="20613435" y="0"/>
                </a:lnTo>
                <a:lnTo>
                  <a:pt x="20613435" y="10306717"/>
                </a:lnTo>
                <a:lnTo>
                  <a:pt x="0" y="103067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5400000">
            <a:off x="3432856" y="-8563630"/>
            <a:ext cx="20613434" cy="10306717"/>
          </a:xfrm>
          <a:custGeom>
            <a:avLst/>
            <a:gdLst/>
            <a:ahLst/>
            <a:cxnLst/>
            <a:rect r="r" b="b" t="t" l="l"/>
            <a:pathLst>
              <a:path h="10306717" w="20613434">
                <a:moveTo>
                  <a:pt x="0" y="0"/>
                </a:moveTo>
                <a:lnTo>
                  <a:pt x="20613435" y="0"/>
                </a:lnTo>
                <a:lnTo>
                  <a:pt x="20613435" y="10306717"/>
                </a:lnTo>
                <a:lnTo>
                  <a:pt x="0" y="103067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2" id="12"/>
          <p:cNvSpPr/>
          <p:nvPr/>
        </p:nvSpPr>
        <p:spPr>
          <a:xfrm flipH="false" flipV="false" rot="-5400000">
            <a:off x="3432856" y="-11862722"/>
            <a:ext cx="20613434" cy="10306717"/>
          </a:xfrm>
          <a:custGeom>
            <a:avLst/>
            <a:gdLst/>
            <a:ahLst/>
            <a:cxnLst/>
            <a:rect r="r" b="b" t="t" l="l"/>
            <a:pathLst>
              <a:path h="10306717" w="20613434">
                <a:moveTo>
                  <a:pt x="0" y="0"/>
                </a:moveTo>
                <a:lnTo>
                  <a:pt x="20613435" y="0"/>
                </a:lnTo>
                <a:lnTo>
                  <a:pt x="20613435" y="10306717"/>
                </a:lnTo>
                <a:lnTo>
                  <a:pt x="0" y="103067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1395184" y="5950342"/>
            <a:ext cx="6281592" cy="7054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Viettel Post tiền thân là Bộ phận Phát hành Báo chí thuộc Viettel, được thành lập năm 1997 và hiện là doanh nghiệp thành viên của Tập đoàn Công nghiệp – Viễn thông Quân đội.</a:t>
            </a:r>
          </a:p>
        </p:txBody>
      </p:sp>
      <p:sp>
        <p:nvSpPr>
          <p:cNvPr name="Freeform 14" id="14"/>
          <p:cNvSpPr/>
          <p:nvPr/>
        </p:nvSpPr>
        <p:spPr>
          <a:xfrm flipH="false" flipV="false" rot="0">
            <a:off x="9144000" y="986916"/>
            <a:ext cx="1551017" cy="1551017"/>
          </a:xfrm>
          <a:custGeom>
            <a:avLst/>
            <a:gdLst/>
            <a:ahLst/>
            <a:cxnLst/>
            <a:rect r="r" b="b" t="t" l="l"/>
            <a:pathLst>
              <a:path h="1551017" w="1551017">
                <a:moveTo>
                  <a:pt x="0" y="0"/>
                </a:moveTo>
                <a:lnTo>
                  <a:pt x="1551017" y="0"/>
                </a:lnTo>
                <a:lnTo>
                  <a:pt x="1551017" y="1551017"/>
                </a:lnTo>
                <a:lnTo>
                  <a:pt x="0" y="15510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9144000" y="4619039"/>
            <a:ext cx="1551017" cy="1551017"/>
          </a:xfrm>
          <a:custGeom>
            <a:avLst/>
            <a:gdLst/>
            <a:ahLst/>
            <a:cxnLst/>
            <a:rect r="r" b="b" t="t" l="l"/>
            <a:pathLst>
              <a:path h="1551017" w="1551017">
                <a:moveTo>
                  <a:pt x="0" y="0"/>
                </a:moveTo>
                <a:lnTo>
                  <a:pt x="1551017" y="0"/>
                </a:lnTo>
                <a:lnTo>
                  <a:pt x="1551017" y="1551017"/>
                </a:lnTo>
                <a:lnTo>
                  <a:pt x="0" y="155101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9144000" y="7693796"/>
            <a:ext cx="1551017" cy="1551017"/>
          </a:xfrm>
          <a:custGeom>
            <a:avLst/>
            <a:gdLst/>
            <a:ahLst/>
            <a:cxnLst/>
            <a:rect r="r" b="b" t="t" l="l"/>
            <a:pathLst>
              <a:path h="1551017" w="1551017">
                <a:moveTo>
                  <a:pt x="0" y="0"/>
                </a:moveTo>
                <a:lnTo>
                  <a:pt x="1551017" y="0"/>
                </a:lnTo>
                <a:lnTo>
                  <a:pt x="1551017" y="1551017"/>
                </a:lnTo>
                <a:lnTo>
                  <a:pt x="0" y="155101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7" id="17"/>
          <p:cNvSpPr txBox="true"/>
          <p:nvPr/>
        </p:nvSpPr>
        <p:spPr>
          <a:xfrm rot="0">
            <a:off x="11056388" y="1347563"/>
            <a:ext cx="5265900" cy="311277"/>
          </a:xfrm>
          <a:prstGeom prst="rect">
            <a:avLst/>
          </a:prstGeom>
        </p:spPr>
        <p:txBody>
          <a:bodyPr anchor="t" rtlCol="false" tIns="0" lIns="0" bIns="0" rIns="0">
            <a:spAutoFit/>
          </a:bodyPr>
          <a:lstStyle/>
          <a:p>
            <a:pPr algn="l" marL="0" indent="0" lvl="0">
              <a:lnSpc>
                <a:spcPts val="2394"/>
              </a:lnSpc>
              <a:spcBef>
                <a:spcPct val="0"/>
              </a:spcBef>
            </a:pPr>
            <a:r>
              <a:rPr lang="en-US" b="true" sz="2100">
                <a:solidFill>
                  <a:srgbClr val="FFFFFF"/>
                </a:solidFill>
                <a:latin typeface="Poppins Bold"/>
                <a:ea typeface="Poppins Bold"/>
                <a:cs typeface="Poppins Bold"/>
                <a:sym typeface="Poppins Bold"/>
              </a:rPr>
              <a:t>Lĩnh vực hoạt động</a:t>
            </a:r>
          </a:p>
        </p:txBody>
      </p:sp>
      <p:sp>
        <p:nvSpPr>
          <p:cNvPr name="TextBox 18" id="18"/>
          <p:cNvSpPr txBox="true"/>
          <p:nvPr/>
        </p:nvSpPr>
        <p:spPr>
          <a:xfrm rot="0">
            <a:off x="11056388" y="1792741"/>
            <a:ext cx="6586108" cy="476870"/>
          </a:xfrm>
          <a:prstGeom prst="rect">
            <a:avLst/>
          </a:prstGeom>
        </p:spPr>
        <p:txBody>
          <a:bodyPr anchor="t" rtlCol="false" tIns="0" lIns="0" bIns="0" rIns="0">
            <a:spAutoFit/>
          </a:bodyPr>
          <a:lstStyle/>
          <a:p>
            <a:pPr algn="just">
              <a:lnSpc>
                <a:spcPts val="1837"/>
              </a:lnSpc>
            </a:pPr>
            <a:r>
              <a:rPr lang="en-US" sz="1597">
                <a:solidFill>
                  <a:srgbClr val="FFFFFF"/>
                </a:solidFill>
                <a:latin typeface="Poppins"/>
                <a:ea typeface="Poppins"/>
                <a:cs typeface="Poppins"/>
                <a:sym typeface="Poppins"/>
              </a:rPr>
              <a:t>Chuyển phát trong nước và quốc tế, logistics, fulfillment và hỗ trợ thương mại điện tử.</a:t>
            </a:r>
          </a:p>
        </p:txBody>
      </p:sp>
      <p:sp>
        <p:nvSpPr>
          <p:cNvPr name="TextBox 19" id="19"/>
          <p:cNvSpPr txBox="true"/>
          <p:nvPr/>
        </p:nvSpPr>
        <p:spPr>
          <a:xfrm rot="0">
            <a:off x="9337052" y="1397501"/>
            <a:ext cx="1119727" cy="710935"/>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01</a:t>
            </a:r>
          </a:p>
        </p:txBody>
      </p:sp>
      <p:sp>
        <p:nvSpPr>
          <p:cNvPr name="TextBox 20" id="20"/>
          <p:cNvSpPr txBox="true"/>
          <p:nvPr/>
        </p:nvSpPr>
        <p:spPr>
          <a:xfrm rot="0">
            <a:off x="9296255" y="5029624"/>
            <a:ext cx="1246507" cy="710797"/>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02</a:t>
            </a:r>
          </a:p>
        </p:txBody>
      </p:sp>
      <p:sp>
        <p:nvSpPr>
          <p:cNvPr name="TextBox 21" id="21"/>
          <p:cNvSpPr txBox="true"/>
          <p:nvPr/>
        </p:nvSpPr>
        <p:spPr>
          <a:xfrm rot="0">
            <a:off x="11056388" y="8051837"/>
            <a:ext cx="4732769" cy="311277"/>
          </a:xfrm>
          <a:prstGeom prst="rect">
            <a:avLst/>
          </a:prstGeom>
        </p:spPr>
        <p:txBody>
          <a:bodyPr anchor="t" rtlCol="false" tIns="0" lIns="0" bIns="0" rIns="0">
            <a:spAutoFit/>
          </a:bodyPr>
          <a:lstStyle/>
          <a:p>
            <a:pPr algn="l">
              <a:lnSpc>
                <a:spcPts val="2394"/>
              </a:lnSpc>
            </a:pPr>
            <a:r>
              <a:rPr lang="en-US" sz="2100" b="true">
                <a:solidFill>
                  <a:srgbClr val="FFFFFF"/>
                </a:solidFill>
                <a:latin typeface="Poppins Bold"/>
                <a:ea typeface="Poppins Bold"/>
                <a:cs typeface="Poppins Bold"/>
                <a:sym typeface="Poppins Bold"/>
              </a:rPr>
              <a:t>Vị thế</a:t>
            </a:r>
          </a:p>
        </p:txBody>
      </p:sp>
      <p:sp>
        <p:nvSpPr>
          <p:cNvPr name="TextBox 22" id="22"/>
          <p:cNvSpPr txBox="true"/>
          <p:nvPr/>
        </p:nvSpPr>
        <p:spPr>
          <a:xfrm rot="0">
            <a:off x="11056388" y="8483959"/>
            <a:ext cx="6586108" cy="476870"/>
          </a:xfrm>
          <a:prstGeom prst="rect">
            <a:avLst/>
          </a:prstGeom>
        </p:spPr>
        <p:txBody>
          <a:bodyPr anchor="t" rtlCol="false" tIns="0" lIns="0" bIns="0" rIns="0">
            <a:spAutoFit/>
          </a:bodyPr>
          <a:lstStyle/>
          <a:p>
            <a:pPr algn="just">
              <a:lnSpc>
                <a:spcPts val="1837"/>
              </a:lnSpc>
            </a:pPr>
            <a:r>
              <a:rPr lang="en-US" sz="1597">
                <a:solidFill>
                  <a:srgbClr val="FFFFFF"/>
                </a:solidFill>
                <a:latin typeface="Poppins"/>
                <a:ea typeface="Poppins"/>
                <a:cs typeface="Poppins"/>
                <a:sym typeface="Poppins"/>
              </a:rPr>
              <a:t>Một trong những doanh nghiệp chuyển phát và logistics hàng đầu tại Việt Nam, đẩy mạnh ứng dụng AI và nền tảng số.</a:t>
            </a:r>
          </a:p>
        </p:txBody>
      </p:sp>
      <p:sp>
        <p:nvSpPr>
          <p:cNvPr name="TextBox 23" id="23"/>
          <p:cNvSpPr txBox="true"/>
          <p:nvPr/>
        </p:nvSpPr>
        <p:spPr>
          <a:xfrm rot="0">
            <a:off x="11056388" y="4987862"/>
            <a:ext cx="5168577" cy="311277"/>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Mạng lưới hoạt động</a:t>
            </a:r>
          </a:p>
        </p:txBody>
      </p:sp>
      <p:sp>
        <p:nvSpPr>
          <p:cNvPr name="TextBox 24" id="24"/>
          <p:cNvSpPr txBox="true"/>
          <p:nvPr/>
        </p:nvSpPr>
        <p:spPr>
          <a:xfrm rot="0">
            <a:off x="11056388" y="5404072"/>
            <a:ext cx="6586108" cy="4768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Phủ sóng 100% tỉnh, thành phố, với mạng lưới mở rộng đến xã và khu vực hải đảo.</a:t>
            </a:r>
          </a:p>
        </p:txBody>
      </p:sp>
      <p:sp>
        <p:nvSpPr>
          <p:cNvPr name="TextBox 25" id="25"/>
          <p:cNvSpPr txBox="true"/>
          <p:nvPr/>
        </p:nvSpPr>
        <p:spPr>
          <a:xfrm rot="0">
            <a:off x="9321204" y="8104381"/>
            <a:ext cx="1151422" cy="710797"/>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03</a:t>
            </a:r>
          </a:p>
        </p:txBody>
      </p:sp>
      <p:sp>
        <p:nvSpPr>
          <p:cNvPr name="TextBox 26" id="26"/>
          <p:cNvSpPr txBox="true"/>
          <p:nvPr/>
        </p:nvSpPr>
        <p:spPr>
          <a:xfrm rot="0">
            <a:off x="1395184" y="6885249"/>
            <a:ext cx="6281592" cy="4768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Thành lập: 01/07/1997</a:t>
            </a:r>
          </a:p>
          <a:p>
            <a:pPr algn="l">
              <a:lnSpc>
                <a:spcPts val="1837"/>
              </a:lnSpc>
            </a:pPr>
            <a:r>
              <a:rPr lang="en-US" sz="1597">
                <a:solidFill>
                  <a:srgbClr val="100643"/>
                </a:solidFill>
                <a:latin typeface="Poppins"/>
                <a:ea typeface="Poppins"/>
                <a:cs typeface="Poppins"/>
                <a:sym typeface="Poppins"/>
              </a:rPr>
              <a:t>Chủ tịch HĐQT: Ông Nguyễn Việt Dũng</a:t>
            </a:r>
          </a:p>
        </p:txBody>
      </p:sp>
      <p:sp>
        <p:nvSpPr>
          <p:cNvPr name="Freeform 27" id="2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8" id="28"/>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7940170" y="3164584"/>
            <a:ext cx="10057293" cy="5493796"/>
          </a:xfrm>
          <a:custGeom>
            <a:avLst/>
            <a:gdLst/>
            <a:ahLst/>
            <a:cxnLst/>
            <a:rect r="r" b="b" t="t" l="l"/>
            <a:pathLst>
              <a:path h="5493796" w="10057293">
                <a:moveTo>
                  <a:pt x="0" y="0"/>
                </a:moveTo>
                <a:lnTo>
                  <a:pt x="10057293" y="0"/>
                </a:lnTo>
                <a:lnTo>
                  <a:pt x="10057293" y="5493796"/>
                </a:lnTo>
                <a:lnTo>
                  <a:pt x="0" y="5493796"/>
                </a:lnTo>
                <a:lnTo>
                  <a:pt x="0" y="0"/>
                </a:lnTo>
                <a:close/>
              </a:path>
            </a:pathLst>
          </a:custGeom>
          <a:blipFill>
            <a:blip r:embed="rId10"/>
            <a:stretch>
              <a:fillRect l="0" t="0" r="0" b="0"/>
            </a:stretch>
          </a:blipFill>
        </p:spPr>
      </p:sp>
      <p:sp>
        <p:nvSpPr>
          <p:cNvPr name="TextBox 7" id="7"/>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2</a:t>
            </a:r>
          </a:p>
        </p:txBody>
      </p:sp>
      <p:sp>
        <p:nvSpPr>
          <p:cNvPr name="TextBox 8" id="8"/>
          <p:cNvSpPr txBox="true"/>
          <p:nvPr/>
        </p:nvSpPr>
        <p:spPr>
          <a:xfrm rot="0">
            <a:off x="2384092" y="1952248"/>
            <a:ext cx="3065209" cy="262632"/>
          </a:xfrm>
          <a:prstGeom prst="rect">
            <a:avLst/>
          </a:prstGeom>
        </p:spPr>
        <p:txBody>
          <a:bodyPr anchor="t" rtlCol="false" tIns="0" lIns="0" bIns="0" rIns="0">
            <a:spAutoFit/>
          </a:bodyPr>
          <a:lstStyle/>
          <a:p>
            <a:pPr algn="l" marL="0" indent="0" lvl="0">
              <a:lnSpc>
                <a:spcPts val="1987"/>
              </a:lnSpc>
              <a:spcBef>
                <a:spcPct val="0"/>
              </a:spcBef>
            </a:pPr>
            <a:r>
              <a:rPr lang="en-US" sz="1743" strike="noStrike" u="none">
                <a:solidFill>
                  <a:srgbClr val="100643"/>
                </a:solidFill>
                <a:latin typeface="Poppins"/>
                <a:ea typeface="Poppins"/>
                <a:cs typeface="Poppins"/>
                <a:sym typeface="Poppins"/>
              </a:rPr>
              <a:t>TỔNG QUAN VIETTEL POST</a:t>
            </a:r>
          </a:p>
        </p:txBody>
      </p:sp>
      <p:sp>
        <p:nvSpPr>
          <p:cNvPr name="TextBox 9" id="9"/>
          <p:cNvSpPr txBox="true"/>
          <p:nvPr/>
        </p:nvSpPr>
        <p:spPr>
          <a:xfrm rot="0">
            <a:off x="1395184" y="3018402"/>
            <a:ext cx="7818678" cy="1749171"/>
          </a:xfrm>
          <a:prstGeom prst="rect">
            <a:avLst/>
          </a:prstGeom>
        </p:spPr>
        <p:txBody>
          <a:bodyPr anchor="t" rtlCol="false" tIns="0" lIns="0" bIns="0" rIns="0">
            <a:spAutoFit/>
          </a:bodyPr>
          <a:lstStyle/>
          <a:p>
            <a:pPr algn="l" marL="0" indent="0" lvl="0">
              <a:lnSpc>
                <a:spcPts val="6612"/>
              </a:lnSpc>
              <a:spcBef>
                <a:spcPct val="0"/>
              </a:spcBef>
            </a:pPr>
            <a:r>
              <a:rPr lang="en-US" b="true" sz="5800" strike="noStrike" u="none">
                <a:solidFill>
                  <a:srgbClr val="100643"/>
                </a:solidFill>
                <a:latin typeface="Poppins Bold"/>
                <a:ea typeface="Poppins Bold"/>
                <a:cs typeface="Poppins Bold"/>
                <a:sym typeface="Poppins Bold"/>
              </a:rPr>
              <a:t>Hệ sinh thái dịch vụ logistics</a:t>
            </a:r>
          </a:p>
        </p:txBody>
      </p:sp>
      <p:sp>
        <p:nvSpPr>
          <p:cNvPr name="TextBox 10" id="10"/>
          <p:cNvSpPr txBox="true"/>
          <p:nvPr/>
        </p:nvSpPr>
        <p:spPr>
          <a:xfrm rot="0">
            <a:off x="1395184" y="5133975"/>
            <a:ext cx="5093921" cy="4768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Khách hàng truy cập website viettelpost.com.vn để sử dụng dịch vụ logistics của Viettel Post.</a:t>
            </a:r>
          </a:p>
        </p:txBody>
      </p:sp>
      <p:sp>
        <p:nvSpPr>
          <p:cNvPr name="TextBox 11" id="11"/>
          <p:cNvSpPr txBox="true"/>
          <p:nvPr/>
        </p:nvSpPr>
        <p:spPr>
          <a:xfrm rot="0">
            <a:off x="2288840" y="8474434"/>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2" id="12"/>
          <p:cNvSpPr txBox="true"/>
          <p:nvPr/>
        </p:nvSpPr>
        <p:spPr>
          <a:xfrm rot="0">
            <a:off x="2288840" y="8140004"/>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3" id="13"/>
          <p:cNvSpPr txBox="true"/>
          <p:nvPr/>
        </p:nvSpPr>
        <p:spPr>
          <a:xfrm rot="0">
            <a:off x="1395184" y="5901957"/>
            <a:ext cx="5093921" cy="4768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4 dịch vụ vận tải &amp; kho: vận tải nguyên chuyến, vận tải theo kiện, kho Fulfillment, vận tải hàng gom.</a:t>
            </a:r>
          </a:p>
        </p:txBody>
      </p:sp>
      <p:sp>
        <p:nvSpPr>
          <p:cNvPr name="TextBox 14" id="14"/>
          <p:cNvSpPr txBox="true"/>
          <p:nvPr/>
        </p:nvSpPr>
        <p:spPr>
          <a:xfrm rot="0">
            <a:off x="1395184" y="6740777"/>
            <a:ext cx="5093921" cy="4768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Dịch vụ Forwarding và Hải quan hỗ trợ song song, phối hợp trong xử lý đơn hàng xuất nhập khẩu.</a:t>
            </a:r>
          </a:p>
        </p:txBody>
      </p:sp>
      <p:sp>
        <p:nvSpPr>
          <p:cNvPr name="TextBox 15" id="1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533543" y="1019175"/>
            <a:ext cx="12122517" cy="8675176"/>
          </a:xfrm>
          <a:custGeom>
            <a:avLst/>
            <a:gdLst/>
            <a:ahLst/>
            <a:cxnLst/>
            <a:rect r="r" b="b" t="t" l="l"/>
            <a:pathLst>
              <a:path h="8675176" w="12122517">
                <a:moveTo>
                  <a:pt x="0" y="0"/>
                </a:moveTo>
                <a:lnTo>
                  <a:pt x="12122517" y="0"/>
                </a:lnTo>
                <a:lnTo>
                  <a:pt x="12122517" y="8675176"/>
                </a:lnTo>
                <a:lnTo>
                  <a:pt x="0" y="8675176"/>
                </a:lnTo>
                <a:lnTo>
                  <a:pt x="0" y="0"/>
                </a:lnTo>
                <a:close/>
              </a:path>
            </a:pathLst>
          </a:custGeom>
          <a:blipFill>
            <a:blip r:embed="rId8"/>
            <a:stretch>
              <a:fillRect l="0" t="0" r="0" b="0"/>
            </a:stretch>
          </a:blipFill>
        </p:spPr>
      </p:sp>
      <p:sp>
        <p:nvSpPr>
          <p:cNvPr name="TextBox 6" id="6"/>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2</a:t>
            </a:r>
          </a:p>
        </p:txBody>
      </p:sp>
      <p:sp>
        <p:nvSpPr>
          <p:cNvPr name="TextBox 7" id="7"/>
          <p:cNvSpPr txBox="true"/>
          <p:nvPr/>
        </p:nvSpPr>
        <p:spPr>
          <a:xfrm rot="0">
            <a:off x="2384092" y="1952248"/>
            <a:ext cx="3138297" cy="262632"/>
          </a:xfrm>
          <a:prstGeom prst="rect">
            <a:avLst/>
          </a:prstGeom>
        </p:spPr>
        <p:txBody>
          <a:bodyPr anchor="t" rtlCol="false" tIns="0" lIns="0" bIns="0" rIns="0">
            <a:spAutoFit/>
          </a:bodyPr>
          <a:lstStyle/>
          <a:p>
            <a:pPr algn="l" marL="0" indent="0" lvl="0">
              <a:lnSpc>
                <a:spcPts val="1987"/>
              </a:lnSpc>
              <a:spcBef>
                <a:spcPct val="0"/>
              </a:spcBef>
            </a:pPr>
            <a:r>
              <a:rPr lang="en-US" sz="1743" strike="noStrike" u="none">
                <a:solidFill>
                  <a:srgbClr val="100643"/>
                </a:solidFill>
                <a:latin typeface="Poppins"/>
                <a:ea typeface="Poppins"/>
                <a:cs typeface="Poppins"/>
                <a:sym typeface="Poppins"/>
              </a:rPr>
              <a:t>TỔNG QUAN VIETTEL POST</a:t>
            </a:r>
          </a:p>
        </p:txBody>
      </p:sp>
      <p:sp>
        <p:nvSpPr>
          <p:cNvPr name="TextBox 8" id="8"/>
          <p:cNvSpPr txBox="true"/>
          <p:nvPr/>
        </p:nvSpPr>
        <p:spPr>
          <a:xfrm rot="0">
            <a:off x="1325322" y="3027236"/>
            <a:ext cx="6079521" cy="941070"/>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Cơ cấu tổ chức</a:t>
            </a:r>
          </a:p>
        </p:txBody>
      </p:sp>
      <p:sp>
        <p:nvSpPr>
          <p:cNvPr name="TextBox 9" id="9"/>
          <p:cNvSpPr txBox="true"/>
          <p:nvPr/>
        </p:nvSpPr>
        <p:spPr>
          <a:xfrm rot="0">
            <a:off x="1395184" y="4275628"/>
            <a:ext cx="5247990" cy="9340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Viettel Post được tổ chức thành nhiều cấp quản lý:</a:t>
            </a:r>
          </a:p>
          <a:p>
            <a:pPr algn="l">
              <a:lnSpc>
                <a:spcPts val="1837"/>
              </a:lnSpc>
            </a:pPr>
            <a:r>
              <a:rPr lang="en-US" sz="1597">
                <a:solidFill>
                  <a:srgbClr val="100643"/>
                </a:solidFill>
                <a:latin typeface="Poppins"/>
                <a:ea typeface="Poppins"/>
                <a:cs typeface="Poppins"/>
                <a:sym typeface="Poppins"/>
              </a:rPr>
              <a:t>ĐHĐCĐ, HĐQT/BKS, Ban Tổng Giám đốc và các khối vận hành.</a:t>
            </a:r>
          </a:p>
          <a:p>
            <a:pPr algn="l">
              <a:lnSpc>
                <a:spcPts val="1837"/>
              </a:lnSpc>
            </a:pPr>
          </a:p>
        </p:txBody>
      </p:sp>
      <p:sp>
        <p:nvSpPr>
          <p:cNvPr name="TextBox 10" id="10"/>
          <p:cNvSpPr txBox="true"/>
          <p:nvPr/>
        </p:nvSpPr>
        <p:spPr>
          <a:xfrm rot="0">
            <a:off x="2288840" y="8474434"/>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2288840" y="8140004"/>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Freeform 12" id="12"/>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3" id="13"/>
          <p:cNvSpPr txBox="true"/>
          <p:nvPr/>
        </p:nvSpPr>
        <p:spPr>
          <a:xfrm rot="0">
            <a:off x="1406279" y="5200173"/>
            <a:ext cx="5093921" cy="7054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Khối tham mưu: 8 phòng/ban tham mưu cho Ban TGĐ (quan hệ tư vấn, nét đứt).</a:t>
            </a:r>
          </a:p>
          <a:p>
            <a:pPr algn="l">
              <a:lnSpc>
                <a:spcPts val="1837"/>
              </a:lnSpc>
            </a:pPr>
          </a:p>
        </p:txBody>
      </p:sp>
      <p:sp>
        <p:nvSpPr>
          <p:cNvPr name="TextBox 14" id="14"/>
          <p:cNvSpPr txBox="true"/>
          <p:nvPr/>
        </p:nvSpPr>
        <p:spPr>
          <a:xfrm rot="0">
            <a:off x="1406279" y="5915169"/>
            <a:ext cx="5093921" cy="7054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Khối kinh doanh: 3 SBU vận hành theo lĩnh vực - chuyển phát, logistics, thương mại số.</a:t>
            </a:r>
          </a:p>
          <a:p>
            <a:pPr algn="l">
              <a:lnSpc>
                <a:spcPts val="1837"/>
              </a:lnSpc>
            </a:pPr>
          </a:p>
        </p:txBody>
      </p:sp>
      <p:sp>
        <p:nvSpPr>
          <p:cNvPr name="TextBox 15" id="15"/>
          <p:cNvSpPr txBox="true"/>
          <p:nvPr/>
        </p:nvSpPr>
        <p:spPr>
          <a:xfrm rot="0">
            <a:off x="1406279" y="6630164"/>
            <a:ext cx="5093921" cy="705470"/>
          </a:xfrm>
          <a:prstGeom prst="rect">
            <a:avLst/>
          </a:prstGeom>
        </p:spPr>
        <p:txBody>
          <a:bodyPr anchor="t" rtlCol="false" tIns="0" lIns="0" bIns="0" rIns="0">
            <a:spAutoFit/>
          </a:bodyPr>
          <a:lstStyle/>
          <a:p>
            <a:pPr algn="l">
              <a:lnSpc>
                <a:spcPts val="1837"/>
              </a:lnSpc>
            </a:pPr>
            <a:r>
              <a:rPr lang="en-US" sz="1597">
                <a:solidFill>
                  <a:srgbClr val="100643"/>
                </a:solidFill>
                <a:latin typeface="Poppins"/>
                <a:ea typeface="Poppins"/>
                <a:cs typeface="Poppins"/>
                <a:sym typeface="Poppins"/>
              </a:rPr>
              <a:t>Khối triển khai: 63 chi nhánh và 5 công ty thành viên phục vụ khách hàng toàn quốc.</a:t>
            </a:r>
          </a:p>
          <a:p>
            <a:pPr algn="l">
              <a:lnSpc>
                <a:spcPts val="1837"/>
              </a:lnSpc>
            </a:pP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3571756" y="7527012"/>
            <a:ext cx="14298683" cy="8543463"/>
          </a:xfrm>
          <a:custGeom>
            <a:avLst/>
            <a:gdLst/>
            <a:ahLst/>
            <a:cxnLst/>
            <a:rect r="r" b="b" t="t" l="l"/>
            <a:pathLst>
              <a:path h="8543463" w="14298683">
                <a:moveTo>
                  <a:pt x="0" y="8543463"/>
                </a:moveTo>
                <a:lnTo>
                  <a:pt x="14298683" y="8543463"/>
                </a:lnTo>
                <a:lnTo>
                  <a:pt x="14298683" y="0"/>
                </a:lnTo>
                <a:lnTo>
                  <a:pt x="0" y="0"/>
                </a:lnTo>
                <a:lnTo>
                  <a:pt x="0" y="854346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9360625" y="3386933"/>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grpSp>
        <p:nvGrpSpPr>
          <p:cNvPr name="Group 6" id="6"/>
          <p:cNvGrpSpPr/>
          <p:nvPr/>
        </p:nvGrpSpPr>
        <p:grpSpPr>
          <a:xfrm rot="0">
            <a:off x="9153108" y="1573211"/>
            <a:ext cx="3184903" cy="1933837"/>
            <a:chOff x="0" y="0"/>
            <a:chExt cx="543425" cy="329961"/>
          </a:xfrm>
        </p:grpSpPr>
        <p:sp>
          <p:nvSpPr>
            <p:cNvPr name="Freeform 7" id="7"/>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E8E8E8"/>
            </a:solidFill>
          </p:spPr>
        </p:sp>
        <p:sp>
          <p:nvSpPr>
            <p:cNvPr name="TextBox 8" id="8"/>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9" id="9"/>
          <p:cNvSpPr/>
          <p:nvPr/>
        </p:nvSpPr>
        <p:spPr>
          <a:xfrm flipH="false" flipV="false" rot="0">
            <a:off x="10126733" y="1341978"/>
            <a:ext cx="1219436" cy="1132552"/>
          </a:xfrm>
          <a:custGeom>
            <a:avLst/>
            <a:gdLst/>
            <a:ahLst/>
            <a:cxnLst/>
            <a:rect r="r" b="b" t="t" l="l"/>
            <a:pathLst>
              <a:path h="1132552" w="1219436">
                <a:moveTo>
                  <a:pt x="0" y="0"/>
                </a:moveTo>
                <a:lnTo>
                  <a:pt x="1219437" y="0"/>
                </a:lnTo>
                <a:lnTo>
                  <a:pt x="1219437" y="1132552"/>
                </a:lnTo>
                <a:lnTo>
                  <a:pt x="0" y="11325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508388" y="3419572"/>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grpSp>
        <p:nvGrpSpPr>
          <p:cNvPr name="Group 11" id="11"/>
          <p:cNvGrpSpPr/>
          <p:nvPr/>
        </p:nvGrpSpPr>
        <p:grpSpPr>
          <a:xfrm rot="0">
            <a:off x="13309978" y="1605850"/>
            <a:ext cx="3184903" cy="1933837"/>
            <a:chOff x="0" y="0"/>
            <a:chExt cx="543425" cy="329961"/>
          </a:xfrm>
        </p:grpSpPr>
        <p:sp>
          <p:nvSpPr>
            <p:cNvPr name="Freeform 12" id="12"/>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100643"/>
            </a:solidFill>
          </p:spPr>
        </p:sp>
        <p:sp>
          <p:nvSpPr>
            <p:cNvPr name="TextBox 13" id="13"/>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14" id="14"/>
          <p:cNvSpPr/>
          <p:nvPr/>
        </p:nvSpPr>
        <p:spPr>
          <a:xfrm flipH="false" flipV="false" rot="0">
            <a:off x="14292712" y="1341978"/>
            <a:ext cx="1219436" cy="1132552"/>
          </a:xfrm>
          <a:custGeom>
            <a:avLst/>
            <a:gdLst/>
            <a:ahLst/>
            <a:cxnLst/>
            <a:rect r="r" b="b" t="t" l="l"/>
            <a:pathLst>
              <a:path h="1132552" w="1219436">
                <a:moveTo>
                  <a:pt x="0" y="0"/>
                </a:moveTo>
                <a:lnTo>
                  <a:pt x="1219436" y="0"/>
                </a:lnTo>
                <a:lnTo>
                  <a:pt x="1219436" y="1132552"/>
                </a:lnTo>
                <a:lnTo>
                  <a:pt x="0" y="113255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5" id="15"/>
          <p:cNvSpPr/>
          <p:nvPr/>
        </p:nvSpPr>
        <p:spPr>
          <a:xfrm flipH="false" flipV="false" rot="0">
            <a:off x="9360625" y="6113772"/>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sp>
        <p:nvSpPr>
          <p:cNvPr name="Freeform 16" id="16"/>
          <p:cNvSpPr/>
          <p:nvPr/>
        </p:nvSpPr>
        <p:spPr>
          <a:xfrm flipH="false" flipV="false" rot="0">
            <a:off x="13508388" y="6146410"/>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grpSp>
        <p:nvGrpSpPr>
          <p:cNvPr name="Group 17" id="17"/>
          <p:cNvGrpSpPr/>
          <p:nvPr/>
        </p:nvGrpSpPr>
        <p:grpSpPr>
          <a:xfrm rot="0">
            <a:off x="9153108" y="4275879"/>
            <a:ext cx="3184903" cy="1933837"/>
            <a:chOff x="0" y="0"/>
            <a:chExt cx="543425" cy="329961"/>
          </a:xfrm>
        </p:grpSpPr>
        <p:sp>
          <p:nvSpPr>
            <p:cNvPr name="Freeform 18" id="18"/>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BD0016"/>
            </a:solidFill>
          </p:spPr>
        </p:sp>
        <p:sp>
          <p:nvSpPr>
            <p:cNvPr name="TextBox 19" id="19"/>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20" id="20"/>
          <p:cNvSpPr/>
          <p:nvPr/>
        </p:nvSpPr>
        <p:spPr>
          <a:xfrm flipH="false" flipV="false" rot="0">
            <a:off x="10126733" y="4044646"/>
            <a:ext cx="1219436" cy="1132552"/>
          </a:xfrm>
          <a:custGeom>
            <a:avLst/>
            <a:gdLst/>
            <a:ahLst/>
            <a:cxnLst/>
            <a:rect r="r" b="b" t="t" l="l"/>
            <a:pathLst>
              <a:path h="1132552" w="1219436">
                <a:moveTo>
                  <a:pt x="0" y="0"/>
                </a:moveTo>
                <a:lnTo>
                  <a:pt x="1219437" y="0"/>
                </a:lnTo>
                <a:lnTo>
                  <a:pt x="1219437" y="1132551"/>
                </a:lnTo>
                <a:lnTo>
                  <a:pt x="0" y="113255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21" id="21"/>
          <p:cNvGrpSpPr/>
          <p:nvPr/>
        </p:nvGrpSpPr>
        <p:grpSpPr>
          <a:xfrm rot="0">
            <a:off x="13309978" y="4308517"/>
            <a:ext cx="3184903" cy="1933837"/>
            <a:chOff x="0" y="0"/>
            <a:chExt cx="543425" cy="329961"/>
          </a:xfrm>
        </p:grpSpPr>
        <p:sp>
          <p:nvSpPr>
            <p:cNvPr name="Freeform 22" id="22"/>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E8E8E8"/>
            </a:solidFill>
          </p:spPr>
        </p:sp>
        <p:sp>
          <p:nvSpPr>
            <p:cNvPr name="TextBox 23" id="23"/>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24" id="24"/>
          <p:cNvSpPr/>
          <p:nvPr/>
        </p:nvSpPr>
        <p:spPr>
          <a:xfrm flipH="false" flipV="false" rot="0">
            <a:off x="14292712" y="4044646"/>
            <a:ext cx="1219436" cy="1132552"/>
          </a:xfrm>
          <a:custGeom>
            <a:avLst/>
            <a:gdLst/>
            <a:ahLst/>
            <a:cxnLst/>
            <a:rect r="r" b="b" t="t" l="l"/>
            <a:pathLst>
              <a:path h="1132552" w="1219436">
                <a:moveTo>
                  <a:pt x="0" y="0"/>
                </a:moveTo>
                <a:lnTo>
                  <a:pt x="1219436" y="0"/>
                </a:lnTo>
                <a:lnTo>
                  <a:pt x="1219436" y="1132551"/>
                </a:lnTo>
                <a:lnTo>
                  <a:pt x="0" y="113255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5" id="25"/>
          <p:cNvSpPr/>
          <p:nvPr/>
        </p:nvSpPr>
        <p:spPr>
          <a:xfrm flipH="false" flipV="false" rot="0">
            <a:off x="9351517" y="8829632"/>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sp>
        <p:nvSpPr>
          <p:cNvPr name="Freeform 26" id="26"/>
          <p:cNvSpPr/>
          <p:nvPr/>
        </p:nvSpPr>
        <p:spPr>
          <a:xfrm flipH="false" flipV="false" rot="0">
            <a:off x="13508388" y="8829632"/>
            <a:ext cx="2788084" cy="428668"/>
          </a:xfrm>
          <a:custGeom>
            <a:avLst/>
            <a:gdLst/>
            <a:ahLst/>
            <a:cxnLst/>
            <a:rect r="r" b="b" t="t" l="l"/>
            <a:pathLst>
              <a:path h="428668" w="2788084">
                <a:moveTo>
                  <a:pt x="0" y="0"/>
                </a:moveTo>
                <a:lnTo>
                  <a:pt x="2788084" y="0"/>
                </a:lnTo>
                <a:lnTo>
                  <a:pt x="2788084" y="428668"/>
                </a:lnTo>
                <a:lnTo>
                  <a:pt x="0" y="428668"/>
                </a:lnTo>
                <a:lnTo>
                  <a:pt x="0" y="0"/>
                </a:lnTo>
                <a:close/>
              </a:path>
            </a:pathLst>
          </a:custGeom>
          <a:blipFill>
            <a:blip r:embed="rId8">
              <a:alphaModFix amt="34000"/>
            </a:blip>
            <a:stretch>
              <a:fillRect l="0" t="0" r="0" b="0"/>
            </a:stretch>
          </a:blipFill>
        </p:spPr>
      </p:sp>
      <p:grpSp>
        <p:nvGrpSpPr>
          <p:cNvPr name="Group 27" id="27"/>
          <p:cNvGrpSpPr/>
          <p:nvPr/>
        </p:nvGrpSpPr>
        <p:grpSpPr>
          <a:xfrm rot="0">
            <a:off x="9153108" y="6978547"/>
            <a:ext cx="3184903" cy="1933837"/>
            <a:chOff x="0" y="0"/>
            <a:chExt cx="543425" cy="329961"/>
          </a:xfrm>
        </p:grpSpPr>
        <p:sp>
          <p:nvSpPr>
            <p:cNvPr name="Freeform 28" id="28"/>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100643"/>
            </a:solidFill>
          </p:spPr>
        </p:sp>
        <p:sp>
          <p:nvSpPr>
            <p:cNvPr name="TextBox 29" id="29"/>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30" id="30"/>
          <p:cNvSpPr/>
          <p:nvPr/>
        </p:nvSpPr>
        <p:spPr>
          <a:xfrm flipH="false" flipV="false" rot="0">
            <a:off x="10126733" y="6747314"/>
            <a:ext cx="1219436" cy="1132552"/>
          </a:xfrm>
          <a:custGeom>
            <a:avLst/>
            <a:gdLst/>
            <a:ahLst/>
            <a:cxnLst/>
            <a:rect r="r" b="b" t="t" l="l"/>
            <a:pathLst>
              <a:path h="1132552" w="1219436">
                <a:moveTo>
                  <a:pt x="0" y="0"/>
                </a:moveTo>
                <a:lnTo>
                  <a:pt x="1219437" y="0"/>
                </a:lnTo>
                <a:lnTo>
                  <a:pt x="1219437" y="1132551"/>
                </a:lnTo>
                <a:lnTo>
                  <a:pt x="0" y="113255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1" id="31"/>
          <p:cNvGrpSpPr/>
          <p:nvPr/>
        </p:nvGrpSpPr>
        <p:grpSpPr>
          <a:xfrm rot="0">
            <a:off x="13309978" y="7011185"/>
            <a:ext cx="3184903" cy="1933837"/>
            <a:chOff x="0" y="0"/>
            <a:chExt cx="543425" cy="329961"/>
          </a:xfrm>
        </p:grpSpPr>
        <p:sp>
          <p:nvSpPr>
            <p:cNvPr name="Freeform 32" id="32"/>
            <p:cNvSpPr/>
            <p:nvPr/>
          </p:nvSpPr>
          <p:spPr>
            <a:xfrm flipH="false" flipV="false" rot="0">
              <a:off x="0" y="0"/>
              <a:ext cx="543425" cy="329961"/>
            </a:xfrm>
            <a:custGeom>
              <a:avLst/>
              <a:gdLst/>
              <a:ahLst/>
              <a:cxnLst/>
              <a:rect r="r" b="b" t="t" l="l"/>
              <a:pathLst>
                <a:path h="329961" w="543425">
                  <a:moveTo>
                    <a:pt x="46186" y="0"/>
                  </a:moveTo>
                  <a:lnTo>
                    <a:pt x="497240" y="0"/>
                  </a:lnTo>
                  <a:cubicBezTo>
                    <a:pt x="522747" y="0"/>
                    <a:pt x="543425" y="20678"/>
                    <a:pt x="543425" y="46186"/>
                  </a:cubicBezTo>
                  <a:lnTo>
                    <a:pt x="543425" y="283776"/>
                  </a:lnTo>
                  <a:cubicBezTo>
                    <a:pt x="543425" y="296025"/>
                    <a:pt x="538559" y="307773"/>
                    <a:pt x="529898" y="316434"/>
                  </a:cubicBezTo>
                  <a:cubicBezTo>
                    <a:pt x="521236" y="325096"/>
                    <a:pt x="509489" y="329961"/>
                    <a:pt x="497240" y="329961"/>
                  </a:cubicBezTo>
                  <a:lnTo>
                    <a:pt x="46186" y="329961"/>
                  </a:lnTo>
                  <a:cubicBezTo>
                    <a:pt x="20678" y="329961"/>
                    <a:pt x="0" y="309284"/>
                    <a:pt x="0" y="283776"/>
                  </a:cubicBezTo>
                  <a:lnTo>
                    <a:pt x="0" y="46186"/>
                  </a:lnTo>
                  <a:cubicBezTo>
                    <a:pt x="0" y="20678"/>
                    <a:pt x="20678" y="0"/>
                    <a:pt x="46186" y="0"/>
                  </a:cubicBezTo>
                  <a:close/>
                </a:path>
              </a:pathLst>
            </a:custGeom>
            <a:solidFill>
              <a:srgbClr val="BD0016"/>
            </a:solidFill>
          </p:spPr>
        </p:sp>
        <p:sp>
          <p:nvSpPr>
            <p:cNvPr name="TextBox 33" id="33"/>
            <p:cNvSpPr txBox="true"/>
            <p:nvPr/>
          </p:nvSpPr>
          <p:spPr>
            <a:xfrm>
              <a:off x="0" y="9525"/>
              <a:ext cx="543425" cy="320436"/>
            </a:xfrm>
            <a:prstGeom prst="rect">
              <a:avLst/>
            </a:prstGeom>
          </p:spPr>
          <p:txBody>
            <a:bodyPr anchor="ctr" rtlCol="false" tIns="50800" lIns="50800" bIns="50800" rIns="50800"/>
            <a:lstStyle/>
            <a:p>
              <a:pPr algn="ctr">
                <a:lnSpc>
                  <a:spcPts val="2921"/>
                </a:lnSpc>
              </a:pPr>
            </a:p>
          </p:txBody>
        </p:sp>
      </p:grpSp>
      <p:sp>
        <p:nvSpPr>
          <p:cNvPr name="Freeform 34" id="34"/>
          <p:cNvSpPr/>
          <p:nvPr/>
        </p:nvSpPr>
        <p:spPr>
          <a:xfrm flipH="false" flipV="false" rot="0">
            <a:off x="14292712" y="6747314"/>
            <a:ext cx="1219436" cy="1132552"/>
          </a:xfrm>
          <a:custGeom>
            <a:avLst/>
            <a:gdLst/>
            <a:ahLst/>
            <a:cxnLst/>
            <a:rect r="r" b="b" t="t" l="l"/>
            <a:pathLst>
              <a:path h="1132552" w="1219436">
                <a:moveTo>
                  <a:pt x="0" y="0"/>
                </a:moveTo>
                <a:lnTo>
                  <a:pt x="1219436" y="0"/>
                </a:lnTo>
                <a:lnTo>
                  <a:pt x="1219436" y="1132551"/>
                </a:lnTo>
                <a:lnTo>
                  <a:pt x="0" y="113255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5" id="35"/>
          <p:cNvSpPr txBox="true"/>
          <p:nvPr/>
        </p:nvSpPr>
        <p:spPr>
          <a:xfrm rot="0">
            <a:off x="2288840" y="8474434"/>
            <a:ext cx="5350210" cy="348841"/>
          </a:xfrm>
          <a:prstGeom prst="rect">
            <a:avLst/>
          </a:prstGeom>
        </p:spPr>
        <p:txBody>
          <a:bodyPr anchor="t" rtlCol="false" tIns="0" lIns="0" bIns="0" rIns="0">
            <a:spAutoFit/>
          </a:bodyPr>
          <a:lstStyle/>
          <a:p>
            <a:pPr algn="l">
              <a:lnSpc>
                <a:spcPts val="2518"/>
              </a:lnSpc>
            </a:pPr>
            <a:r>
              <a:rPr lang="en-US" sz="2189" b="true">
                <a:solidFill>
                  <a:srgbClr val="FFFFFF"/>
                </a:solidFill>
                <a:latin typeface="Poppins Bold"/>
                <a:ea typeface="Poppins Bold"/>
                <a:cs typeface="Poppins Bold"/>
                <a:sym typeface="Poppins Bold"/>
              </a:rPr>
              <a:t>Hệ thống quản trị quy trình nghiệp vụ</a:t>
            </a:r>
          </a:p>
        </p:txBody>
      </p:sp>
      <p:sp>
        <p:nvSpPr>
          <p:cNvPr name="TextBox 36" id="36"/>
          <p:cNvSpPr txBox="true"/>
          <p:nvPr/>
        </p:nvSpPr>
        <p:spPr>
          <a:xfrm rot="0">
            <a:off x="2288840" y="8140004"/>
            <a:ext cx="2670504" cy="329300"/>
          </a:xfrm>
          <a:prstGeom prst="rect">
            <a:avLst/>
          </a:prstGeom>
        </p:spPr>
        <p:txBody>
          <a:bodyPr anchor="t" rtlCol="false" tIns="0" lIns="0" bIns="0" rIns="0">
            <a:spAutoFit/>
          </a:bodyPr>
          <a:lstStyle/>
          <a:p>
            <a:pPr algn="l">
              <a:lnSpc>
                <a:spcPts val="2438"/>
              </a:lnSpc>
            </a:pPr>
            <a:r>
              <a:rPr lang="en-US" sz="2120">
                <a:solidFill>
                  <a:srgbClr val="FFFFFF"/>
                </a:solidFill>
                <a:latin typeface="Poppins"/>
                <a:ea typeface="Poppins"/>
                <a:cs typeface="Poppins"/>
                <a:sym typeface="Poppins"/>
              </a:rPr>
              <a:t>VIETTEL POST </a:t>
            </a:r>
          </a:p>
        </p:txBody>
      </p:sp>
      <p:sp>
        <p:nvSpPr>
          <p:cNvPr name="TextBox 37" id="37"/>
          <p:cNvSpPr txBox="true"/>
          <p:nvPr/>
        </p:nvSpPr>
        <p:spPr>
          <a:xfrm rot="0">
            <a:off x="1395184" y="4917938"/>
            <a:ext cx="5881499"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Các chỉ số được tổng hợp năm 2025 cho thấy Viettel Post sở hữu mạng lưới vận hành với quy mô lớn và phủ rộng trên khắp toàn quốc.</a:t>
            </a:r>
          </a:p>
        </p:txBody>
      </p:sp>
      <p:sp>
        <p:nvSpPr>
          <p:cNvPr name="TextBox 38" id="38"/>
          <p:cNvSpPr txBox="true"/>
          <p:nvPr/>
        </p:nvSpPr>
        <p:spPr>
          <a:xfrm rot="0">
            <a:off x="9504237" y="2615879"/>
            <a:ext cx="2482644" cy="901827"/>
          </a:xfrm>
          <a:prstGeom prst="rect">
            <a:avLst/>
          </a:prstGeom>
        </p:spPr>
        <p:txBody>
          <a:bodyPr anchor="t" rtlCol="false" tIns="0" lIns="0" bIns="0" rIns="0">
            <a:spAutoFit/>
          </a:bodyPr>
          <a:lstStyle/>
          <a:p>
            <a:pPr algn="ctr">
              <a:lnSpc>
                <a:spcPts val="2394"/>
              </a:lnSpc>
            </a:pPr>
            <a:r>
              <a:rPr lang="en-US" sz="2100">
                <a:solidFill>
                  <a:srgbClr val="100643"/>
                </a:solidFill>
                <a:latin typeface="Poppins"/>
                <a:ea typeface="Poppins"/>
                <a:cs typeface="Poppins"/>
                <a:sym typeface="Poppins"/>
              </a:rPr>
              <a:t>Chi nhánh trên toàn quốc</a:t>
            </a:r>
          </a:p>
          <a:p>
            <a:pPr algn="ctr">
              <a:lnSpc>
                <a:spcPts val="2394"/>
              </a:lnSpc>
            </a:pPr>
          </a:p>
        </p:txBody>
      </p:sp>
      <p:sp>
        <p:nvSpPr>
          <p:cNvPr name="TextBox 39" id="39"/>
          <p:cNvSpPr txBox="true"/>
          <p:nvPr/>
        </p:nvSpPr>
        <p:spPr>
          <a:xfrm rot="0">
            <a:off x="13637421" y="2648518"/>
            <a:ext cx="2530018" cy="606552"/>
          </a:xfrm>
          <a:prstGeom prst="rect">
            <a:avLst/>
          </a:prstGeom>
        </p:spPr>
        <p:txBody>
          <a:bodyPr anchor="t" rtlCol="false" tIns="0" lIns="0" bIns="0" rIns="0">
            <a:spAutoFit/>
          </a:bodyPr>
          <a:lstStyle/>
          <a:p>
            <a:pPr algn="ctr">
              <a:lnSpc>
                <a:spcPts val="2394"/>
              </a:lnSpc>
            </a:pPr>
            <a:r>
              <a:rPr lang="en-US" sz="2100">
                <a:solidFill>
                  <a:srgbClr val="FFFFFF"/>
                </a:solidFill>
                <a:latin typeface="Poppins"/>
                <a:ea typeface="Poppins"/>
                <a:cs typeface="Poppins"/>
                <a:sym typeface="Poppins"/>
              </a:rPr>
              <a:t>Bưu cục trên toàn quốc</a:t>
            </a:r>
          </a:p>
        </p:txBody>
      </p:sp>
      <p:sp>
        <p:nvSpPr>
          <p:cNvPr name="TextBox 40" id="40"/>
          <p:cNvSpPr txBox="true"/>
          <p:nvPr/>
        </p:nvSpPr>
        <p:spPr>
          <a:xfrm rot="0">
            <a:off x="9480551" y="5316009"/>
            <a:ext cx="2530018" cy="311277"/>
          </a:xfrm>
          <a:prstGeom prst="rect">
            <a:avLst/>
          </a:prstGeom>
        </p:spPr>
        <p:txBody>
          <a:bodyPr anchor="t" rtlCol="false" tIns="0" lIns="0" bIns="0" rIns="0">
            <a:spAutoFit/>
          </a:bodyPr>
          <a:lstStyle/>
          <a:p>
            <a:pPr algn="ctr">
              <a:lnSpc>
                <a:spcPts val="2394"/>
              </a:lnSpc>
            </a:pPr>
            <a:r>
              <a:rPr lang="en-US" sz="2100">
                <a:solidFill>
                  <a:srgbClr val="FFFFFF"/>
                </a:solidFill>
                <a:latin typeface="Poppins"/>
                <a:ea typeface="Poppins"/>
                <a:cs typeface="Poppins"/>
                <a:sym typeface="Poppins"/>
              </a:rPr>
              <a:t>Đại lý thu gom</a:t>
            </a:r>
          </a:p>
        </p:txBody>
      </p:sp>
      <p:sp>
        <p:nvSpPr>
          <p:cNvPr name="TextBox 41" id="41"/>
          <p:cNvSpPr txBox="true"/>
          <p:nvPr/>
        </p:nvSpPr>
        <p:spPr>
          <a:xfrm rot="0">
            <a:off x="13890715" y="5348647"/>
            <a:ext cx="2276724" cy="901827"/>
          </a:xfrm>
          <a:prstGeom prst="rect">
            <a:avLst/>
          </a:prstGeom>
        </p:spPr>
        <p:txBody>
          <a:bodyPr anchor="t" rtlCol="false" tIns="0" lIns="0" bIns="0" rIns="0">
            <a:spAutoFit/>
          </a:bodyPr>
          <a:lstStyle/>
          <a:p>
            <a:pPr algn="ctr">
              <a:lnSpc>
                <a:spcPts val="2394"/>
              </a:lnSpc>
            </a:pPr>
            <a:r>
              <a:rPr lang="en-US" sz="2100">
                <a:solidFill>
                  <a:srgbClr val="100643"/>
                </a:solidFill>
                <a:latin typeface="Poppins"/>
                <a:ea typeface="Poppins"/>
                <a:cs typeface="Poppins"/>
                <a:sym typeface="Poppins"/>
              </a:rPr>
              <a:t>Tuyến phát đến tận hộ gia đình</a:t>
            </a:r>
          </a:p>
          <a:p>
            <a:pPr algn="ctr">
              <a:lnSpc>
                <a:spcPts val="2394"/>
              </a:lnSpc>
            </a:pPr>
          </a:p>
        </p:txBody>
      </p:sp>
      <p:sp>
        <p:nvSpPr>
          <p:cNvPr name="TextBox 42" id="42"/>
          <p:cNvSpPr txBox="true"/>
          <p:nvPr/>
        </p:nvSpPr>
        <p:spPr>
          <a:xfrm rot="0">
            <a:off x="9534482" y="8055477"/>
            <a:ext cx="2422155" cy="606552"/>
          </a:xfrm>
          <a:prstGeom prst="rect">
            <a:avLst/>
          </a:prstGeom>
        </p:spPr>
        <p:txBody>
          <a:bodyPr anchor="t" rtlCol="false" tIns="0" lIns="0" bIns="0" rIns="0">
            <a:spAutoFit/>
          </a:bodyPr>
          <a:lstStyle/>
          <a:p>
            <a:pPr algn="ctr">
              <a:lnSpc>
                <a:spcPts val="2394"/>
              </a:lnSpc>
            </a:pPr>
            <a:r>
              <a:rPr lang="en-US" sz="2100">
                <a:solidFill>
                  <a:srgbClr val="FFFFFF"/>
                </a:solidFill>
                <a:latin typeface="Poppins"/>
                <a:ea typeface="Poppins"/>
                <a:cs typeface="Poppins"/>
                <a:sym typeface="Poppins"/>
              </a:rPr>
              <a:t>Phủ sóng dịch vụ toàn quốc</a:t>
            </a:r>
          </a:p>
        </p:txBody>
      </p:sp>
      <p:sp>
        <p:nvSpPr>
          <p:cNvPr name="TextBox 43" id="43"/>
          <p:cNvSpPr txBox="true"/>
          <p:nvPr/>
        </p:nvSpPr>
        <p:spPr>
          <a:xfrm rot="0">
            <a:off x="13454866" y="8088115"/>
            <a:ext cx="2895128" cy="901827"/>
          </a:xfrm>
          <a:prstGeom prst="rect">
            <a:avLst/>
          </a:prstGeom>
        </p:spPr>
        <p:txBody>
          <a:bodyPr anchor="t" rtlCol="false" tIns="0" lIns="0" bIns="0" rIns="0">
            <a:spAutoFit/>
          </a:bodyPr>
          <a:lstStyle/>
          <a:p>
            <a:pPr algn="ctr">
              <a:lnSpc>
                <a:spcPts val="2394"/>
              </a:lnSpc>
            </a:pPr>
            <a:r>
              <a:rPr lang="en-US" sz="2100">
                <a:solidFill>
                  <a:srgbClr val="FFFFFF"/>
                </a:solidFill>
                <a:latin typeface="Poppins"/>
                <a:ea typeface="Poppins"/>
                <a:cs typeface="Poppins"/>
                <a:sym typeface="Poppins"/>
              </a:rPr>
              <a:t>Doanh thu hợp nhất 6 tháng đầu 2025</a:t>
            </a:r>
          </a:p>
          <a:p>
            <a:pPr algn="ctr">
              <a:lnSpc>
                <a:spcPts val="2394"/>
              </a:lnSpc>
            </a:pPr>
          </a:p>
        </p:txBody>
      </p:sp>
      <p:sp>
        <p:nvSpPr>
          <p:cNvPr name="Freeform 44" id="44"/>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45" id="45"/>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2</a:t>
            </a:r>
          </a:p>
        </p:txBody>
      </p:sp>
      <p:sp>
        <p:nvSpPr>
          <p:cNvPr name="TextBox 46" id="46"/>
          <p:cNvSpPr txBox="true"/>
          <p:nvPr/>
        </p:nvSpPr>
        <p:spPr>
          <a:xfrm rot="0">
            <a:off x="2384092" y="1952248"/>
            <a:ext cx="3159458"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TỔNG QUAN VIETTEL POST</a:t>
            </a:r>
          </a:p>
        </p:txBody>
      </p:sp>
      <p:sp>
        <p:nvSpPr>
          <p:cNvPr name="TextBox 47" id="47"/>
          <p:cNvSpPr txBox="true"/>
          <p:nvPr/>
        </p:nvSpPr>
        <p:spPr>
          <a:xfrm rot="0">
            <a:off x="10541138" y="1743023"/>
            <a:ext cx="371577" cy="248270"/>
          </a:xfrm>
          <a:prstGeom prst="rect">
            <a:avLst/>
          </a:prstGeom>
        </p:spPr>
        <p:txBody>
          <a:bodyPr anchor="t" rtlCol="false" tIns="0" lIns="0" bIns="0" rIns="0">
            <a:spAutoFit/>
          </a:bodyPr>
          <a:lstStyle/>
          <a:p>
            <a:pPr algn="ctr">
              <a:lnSpc>
                <a:spcPts val="1837"/>
              </a:lnSpc>
              <a:spcBef>
                <a:spcPct val="0"/>
              </a:spcBef>
            </a:pPr>
            <a:r>
              <a:rPr lang="en-US" b="true" sz="1597">
                <a:solidFill>
                  <a:srgbClr val="FFFFFF"/>
                </a:solidFill>
                <a:latin typeface="Poppins Bold"/>
                <a:ea typeface="Poppins Bold"/>
                <a:cs typeface="Poppins Bold"/>
                <a:sym typeface="Poppins Bold"/>
              </a:rPr>
              <a:t>63</a:t>
            </a:r>
          </a:p>
        </p:txBody>
      </p:sp>
      <p:sp>
        <p:nvSpPr>
          <p:cNvPr name="TextBox 48" id="48"/>
          <p:cNvSpPr txBox="true"/>
          <p:nvPr/>
        </p:nvSpPr>
        <p:spPr>
          <a:xfrm rot="0">
            <a:off x="14514202" y="1743023"/>
            <a:ext cx="795507" cy="248270"/>
          </a:xfrm>
          <a:prstGeom prst="rect">
            <a:avLst/>
          </a:prstGeom>
        </p:spPr>
        <p:txBody>
          <a:bodyPr anchor="t" rtlCol="false" tIns="0" lIns="0" bIns="0" rIns="0">
            <a:spAutoFit/>
          </a:bodyPr>
          <a:lstStyle/>
          <a:p>
            <a:pPr algn="ctr" marL="0" indent="0" lvl="0">
              <a:lnSpc>
                <a:spcPts val="1837"/>
              </a:lnSpc>
              <a:spcBef>
                <a:spcPct val="0"/>
              </a:spcBef>
            </a:pPr>
            <a:r>
              <a:rPr lang="en-US" b="true" sz="1597">
                <a:solidFill>
                  <a:srgbClr val="FFFFFF"/>
                </a:solidFill>
                <a:latin typeface="Poppins Bold"/>
                <a:ea typeface="Poppins Bold"/>
                <a:cs typeface="Poppins Bold"/>
                <a:sym typeface="Poppins Bold"/>
              </a:rPr>
              <a:t>1.300+</a:t>
            </a:r>
          </a:p>
        </p:txBody>
      </p:sp>
      <p:sp>
        <p:nvSpPr>
          <p:cNvPr name="TextBox 49" id="49"/>
          <p:cNvSpPr txBox="true"/>
          <p:nvPr/>
        </p:nvSpPr>
        <p:spPr>
          <a:xfrm rot="0">
            <a:off x="10347806" y="4482024"/>
            <a:ext cx="795507" cy="248270"/>
          </a:xfrm>
          <a:prstGeom prst="rect">
            <a:avLst/>
          </a:prstGeom>
        </p:spPr>
        <p:txBody>
          <a:bodyPr anchor="t" rtlCol="false" tIns="0" lIns="0" bIns="0" rIns="0">
            <a:spAutoFit/>
          </a:bodyPr>
          <a:lstStyle/>
          <a:p>
            <a:pPr algn="ctr">
              <a:lnSpc>
                <a:spcPts val="1837"/>
              </a:lnSpc>
              <a:spcBef>
                <a:spcPct val="0"/>
              </a:spcBef>
            </a:pPr>
            <a:r>
              <a:rPr lang="en-US" b="true" sz="1597">
                <a:solidFill>
                  <a:srgbClr val="000000"/>
                </a:solidFill>
                <a:latin typeface="Poppins Bold"/>
                <a:ea typeface="Poppins Bold"/>
                <a:cs typeface="Poppins Bold"/>
                <a:sym typeface="Poppins Bold"/>
              </a:rPr>
              <a:t>6.000</a:t>
            </a:r>
          </a:p>
        </p:txBody>
      </p:sp>
      <p:sp>
        <p:nvSpPr>
          <p:cNvPr name="TextBox 50" id="50"/>
          <p:cNvSpPr txBox="true"/>
          <p:nvPr/>
        </p:nvSpPr>
        <p:spPr>
          <a:xfrm rot="0">
            <a:off x="14428477" y="4482024"/>
            <a:ext cx="1011093" cy="248270"/>
          </a:xfrm>
          <a:prstGeom prst="rect">
            <a:avLst/>
          </a:prstGeom>
        </p:spPr>
        <p:txBody>
          <a:bodyPr anchor="t" rtlCol="false" tIns="0" lIns="0" bIns="0" rIns="0">
            <a:spAutoFit/>
          </a:bodyPr>
          <a:lstStyle/>
          <a:p>
            <a:pPr algn="ctr">
              <a:lnSpc>
                <a:spcPts val="1837"/>
              </a:lnSpc>
              <a:spcBef>
                <a:spcPct val="0"/>
              </a:spcBef>
            </a:pPr>
            <a:r>
              <a:rPr lang="en-US" b="true" sz="1597">
                <a:solidFill>
                  <a:srgbClr val="FFFFFF"/>
                </a:solidFill>
                <a:latin typeface="Poppins Bold"/>
                <a:ea typeface="Poppins Bold"/>
                <a:cs typeface="Poppins Bold"/>
                <a:sym typeface="Poppins Bold"/>
              </a:rPr>
              <a:t>4.000+</a:t>
            </a:r>
          </a:p>
        </p:txBody>
      </p:sp>
      <p:sp>
        <p:nvSpPr>
          <p:cNvPr name="TextBox 51" id="51"/>
          <p:cNvSpPr txBox="true"/>
          <p:nvPr/>
        </p:nvSpPr>
        <p:spPr>
          <a:xfrm rot="0">
            <a:off x="10347806" y="7184678"/>
            <a:ext cx="795507" cy="248270"/>
          </a:xfrm>
          <a:prstGeom prst="rect">
            <a:avLst/>
          </a:prstGeom>
        </p:spPr>
        <p:txBody>
          <a:bodyPr anchor="t" rtlCol="false" tIns="0" lIns="0" bIns="0" rIns="0">
            <a:spAutoFit/>
          </a:bodyPr>
          <a:lstStyle/>
          <a:p>
            <a:pPr algn="ctr">
              <a:lnSpc>
                <a:spcPts val="1837"/>
              </a:lnSpc>
              <a:spcBef>
                <a:spcPct val="0"/>
              </a:spcBef>
            </a:pPr>
            <a:r>
              <a:rPr lang="en-US" b="true" sz="1597">
                <a:solidFill>
                  <a:srgbClr val="FFFFFF"/>
                </a:solidFill>
                <a:latin typeface="Poppins Bold"/>
                <a:ea typeface="Poppins Bold"/>
                <a:cs typeface="Poppins Bold"/>
                <a:sym typeface="Poppins Bold"/>
              </a:rPr>
              <a:t>100%</a:t>
            </a:r>
          </a:p>
        </p:txBody>
      </p:sp>
      <p:sp>
        <p:nvSpPr>
          <p:cNvPr name="TextBox 52" id="52"/>
          <p:cNvSpPr txBox="true"/>
          <p:nvPr/>
        </p:nvSpPr>
        <p:spPr>
          <a:xfrm rot="0">
            <a:off x="14514202" y="7047909"/>
            <a:ext cx="795507" cy="705470"/>
          </a:xfrm>
          <a:prstGeom prst="rect">
            <a:avLst/>
          </a:prstGeom>
        </p:spPr>
        <p:txBody>
          <a:bodyPr anchor="t" rtlCol="false" tIns="0" lIns="0" bIns="0" rIns="0">
            <a:spAutoFit/>
          </a:bodyPr>
          <a:lstStyle/>
          <a:p>
            <a:pPr algn="ctr">
              <a:lnSpc>
                <a:spcPts val="1837"/>
              </a:lnSpc>
              <a:spcBef>
                <a:spcPct val="0"/>
              </a:spcBef>
            </a:pPr>
            <a:r>
              <a:rPr lang="en-US" b="true" sz="1597">
                <a:solidFill>
                  <a:srgbClr val="000000"/>
                </a:solidFill>
                <a:latin typeface="Poppins Bold"/>
                <a:ea typeface="Poppins Bold"/>
                <a:cs typeface="Poppins Bold"/>
                <a:sym typeface="Poppins Bold"/>
              </a:rPr>
              <a:t>1</a:t>
            </a:r>
            <a:r>
              <a:rPr lang="en-US" b="true" sz="1597">
                <a:solidFill>
                  <a:srgbClr val="000000"/>
                </a:solidFill>
                <a:latin typeface="Poppins Bold"/>
                <a:ea typeface="Poppins Bold"/>
                <a:cs typeface="Poppins Bold"/>
                <a:sym typeface="Poppins Bold"/>
              </a:rPr>
              <a:t>0.066 tỷ đồng</a:t>
            </a:r>
          </a:p>
          <a:p>
            <a:pPr algn="ctr">
              <a:lnSpc>
                <a:spcPts val="1837"/>
              </a:lnSpc>
              <a:spcBef>
                <a:spcPct val="0"/>
              </a:spcBef>
            </a:pPr>
          </a:p>
        </p:txBody>
      </p:sp>
      <p:sp>
        <p:nvSpPr>
          <p:cNvPr name="Freeform 53" id="53"/>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54" id="54"/>
          <p:cNvSpPr txBox="true"/>
          <p:nvPr/>
        </p:nvSpPr>
        <p:spPr>
          <a:xfrm rot="0">
            <a:off x="1325322" y="3027236"/>
            <a:ext cx="5504103"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Một số chỉ số nổi bật</a:t>
            </a:r>
          </a:p>
        </p:txBody>
      </p:sp>
      <p:sp>
        <p:nvSpPr>
          <p:cNvPr name="TextBox 55" id="5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7</a:t>
            </a:r>
          </a:p>
        </p:txBody>
      </p:sp>
      <p:sp>
        <p:nvSpPr>
          <p:cNvPr name="TextBox 56" id="56"/>
          <p:cNvSpPr txBox="true"/>
          <p:nvPr/>
        </p:nvSpPr>
        <p:spPr>
          <a:xfrm rot="0">
            <a:off x="9384557" y="9343405"/>
            <a:ext cx="6911915"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Nguồn: Viettel Post và các tài liệu công bố, tổng hợp đến năm 2025.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975373" y="1991314"/>
            <a:ext cx="11312627" cy="6020011"/>
          </a:xfrm>
          <a:custGeom>
            <a:avLst/>
            <a:gdLst/>
            <a:ahLst/>
            <a:cxnLst/>
            <a:rect r="r" b="b" t="t" l="l"/>
            <a:pathLst>
              <a:path h="6020011" w="11312627">
                <a:moveTo>
                  <a:pt x="0" y="0"/>
                </a:moveTo>
                <a:lnTo>
                  <a:pt x="11312627" y="0"/>
                </a:lnTo>
                <a:lnTo>
                  <a:pt x="11312627" y="6020011"/>
                </a:lnTo>
                <a:lnTo>
                  <a:pt x="0" y="6020011"/>
                </a:lnTo>
                <a:lnTo>
                  <a:pt x="0" y="0"/>
                </a:lnTo>
                <a:close/>
              </a:path>
            </a:pathLst>
          </a:custGeom>
          <a:blipFill>
            <a:blip r:embed="rId8"/>
            <a:stretch>
              <a:fillRect l="-5488" t="-10738" r="-5536" b="-6618"/>
            </a:stretch>
          </a:blipFill>
        </p:spPr>
      </p:sp>
      <p:sp>
        <p:nvSpPr>
          <p:cNvPr name="TextBox 6" id="6"/>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7" id="7"/>
          <p:cNvSpPr txBox="true"/>
          <p:nvPr/>
        </p:nvSpPr>
        <p:spPr>
          <a:xfrm rot="0">
            <a:off x="2384092" y="1952248"/>
            <a:ext cx="2862768" cy="262632"/>
          </a:xfrm>
          <a:prstGeom prst="rect">
            <a:avLst/>
          </a:prstGeom>
        </p:spPr>
        <p:txBody>
          <a:bodyPr anchor="t" rtlCol="false" tIns="0" lIns="0" bIns="0" rIns="0">
            <a:spAutoFit/>
          </a:bodyPr>
          <a:lstStyle/>
          <a:p>
            <a:pPr algn="l" marL="0" indent="0" lvl="0">
              <a:lnSpc>
                <a:spcPts val="1987"/>
              </a:lnSpc>
              <a:spcBef>
                <a:spcPct val="0"/>
              </a:spcBef>
            </a:pPr>
            <a:r>
              <a:rPr lang="en-US" sz="1743" strike="noStrike" u="none">
                <a:solidFill>
                  <a:srgbClr val="100643"/>
                </a:solidFill>
                <a:latin typeface="Poppins"/>
                <a:ea typeface="Poppins"/>
                <a:cs typeface="Poppins"/>
                <a:sym typeface="Poppins"/>
              </a:rPr>
              <a:t>KIẾN TRÚC </a:t>
            </a:r>
            <a:r>
              <a:rPr lang="en-US" sz="1743" strike="noStrike" u="none">
                <a:solidFill>
                  <a:srgbClr val="100643"/>
                </a:solidFill>
                <a:latin typeface="Poppins"/>
                <a:ea typeface="Poppins"/>
                <a:cs typeface="Poppins"/>
                <a:sym typeface="Poppins"/>
              </a:rPr>
              <a:t>CÁC </a:t>
            </a:r>
            <a:r>
              <a:rPr lang="en-US" sz="1743" strike="noStrike" u="none">
                <a:solidFill>
                  <a:srgbClr val="100643"/>
                </a:solidFill>
                <a:latin typeface="Poppins"/>
                <a:ea typeface="Poppins"/>
                <a:cs typeface="Poppins"/>
                <a:sym typeface="Poppins"/>
              </a:rPr>
              <a:t>QUY TRÌNH</a:t>
            </a:r>
          </a:p>
        </p:txBody>
      </p:sp>
      <p:sp>
        <p:nvSpPr>
          <p:cNvPr name="TextBox 8" id="8"/>
          <p:cNvSpPr txBox="true"/>
          <p:nvPr/>
        </p:nvSpPr>
        <p:spPr>
          <a:xfrm rot="0">
            <a:off x="1325322" y="3027236"/>
            <a:ext cx="6079521"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Sơ đồ kiến trúc quy trình</a:t>
            </a:r>
          </a:p>
        </p:txBody>
      </p:sp>
      <p:sp>
        <p:nvSpPr>
          <p:cNvPr name="TextBox 9" id="9"/>
          <p:cNvSpPr txBox="true"/>
          <p:nvPr/>
        </p:nvSpPr>
        <p:spPr>
          <a:xfrm rot="0">
            <a:off x="2288840" y="8474434"/>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0" id="10"/>
          <p:cNvSpPr txBox="true"/>
          <p:nvPr/>
        </p:nvSpPr>
        <p:spPr>
          <a:xfrm rot="0">
            <a:off x="2288840" y="8140004"/>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Freeform 11" id="11"/>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2" id="12"/>
          <p:cNvSpPr txBox="true"/>
          <p:nvPr/>
        </p:nvSpPr>
        <p:spPr>
          <a:xfrm rot="0">
            <a:off x="1511888" y="5772602"/>
            <a:ext cx="4621750"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Quản lý: Quy trình định hướng &amp; kiểm soát</a:t>
            </a:r>
          </a:p>
        </p:txBody>
      </p:sp>
      <p:sp>
        <p:nvSpPr>
          <p:cNvPr name="TextBox 13" id="13"/>
          <p:cNvSpPr txBox="true"/>
          <p:nvPr/>
        </p:nvSpPr>
        <p:spPr>
          <a:xfrm rot="0">
            <a:off x="1511888" y="6211372"/>
            <a:ext cx="4621750"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Cốt lõi: Quy trình tạo giá trị trực tiếp</a:t>
            </a:r>
          </a:p>
        </p:txBody>
      </p:sp>
      <p:sp>
        <p:nvSpPr>
          <p:cNvPr name="TextBox 14" id="14"/>
          <p:cNvSpPr txBox="true"/>
          <p:nvPr/>
        </p:nvSpPr>
        <p:spPr>
          <a:xfrm rot="0">
            <a:off x="1511888" y="6653032"/>
            <a:ext cx="4621750"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Hỗ trợ: Quy trình nền tảng vận hành</a:t>
            </a:r>
          </a:p>
        </p:txBody>
      </p:sp>
      <p:sp>
        <p:nvSpPr>
          <p:cNvPr name="TextBox 15" id="1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8</a:t>
            </a:r>
          </a:p>
        </p:txBody>
      </p:sp>
      <p:sp>
        <p:nvSpPr>
          <p:cNvPr name="TextBox 16" id="16"/>
          <p:cNvSpPr txBox="true"/>
          <p:nvPr/>
        </p:nvSpPr>
        <p:spPr>
          <a:xfrm rot="0">
            <a:off x="1395184" y="5133975"/>
            <a:ext cx="5270463" cy="4768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Từ hoạt động của doanh nghiệp, nhóm xây dựng kiến trúc quy trình thành 3 tầng:</a:t>
            </a:r>
          </a:p>
        </p:txBody>
      </p:sp>
      <p:sp>
        <p:nvSpPr>
          <p:cNvPr name="TextBox 17" id="17"/>
          <p:cNvSpPr txBox="true"/>
          <p:nvPr/>
        </p:nvSpPr>
        <p:spPr>
          <a:xfrm rot="0">
            <a:off x="8001291" y="8267095"/>
            <a:ext cx="9324684" cy="236782"/>
          </a:xfrm>
          <a:prstGeom prst="rect">
            <a:avLst/>
          </a:prstGeom>
        </p:spPr>
        <p:txBody>
          <a:bodyPr anchor="t" rtlCol="false" tIns="0" lIns="0" bIns="0" rIns="0">
            <a:spAutoFit/>
          </a:bodyPr>
          <a:lstStyle/>
          <a:p>
            <a:pPr algn="just">
              <a:lnSpc>
                <a:spcPts val="1748"/>
              </a:lnSpc>
            </a:pPr>
            <a:r>
              <a:rPr lang="en-US" sz="1520">
                <a:solidFill>
                  <a:srgbClr val="100643"/>
                </a:solidFill>
                <a:latin typeface="Poppins"/>
                <a:ea typeface="Poppins"/>
                <a:cs typeface="Poppins"/>
                <a:sym typeface="Poppins"/>
              </a:rPr>
              <a:t>Nhóm xác định 3 quy trình quản lý, 8 quy trình cốt lõi và 3 quy trình hỗ trợ để thực hiện phân tích.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595629" y="684937"/>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10" id="10"/>
          <p:cNvSpPr txBox="true"/>
          <p:nvPr/>
        </p:nvSpPr>
        <p:spPr>
          <a:xfrm rot="0">
            <a:off x="1595629" y="1054449"/>
            <a:ext cx="3048901"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KIẾN TRÚC CÁC QUY TRÌNH</a:t>
            </a:r>
          </a:p>
        </p:txBody>
      </p:sp>
      <p:sp>
        <p:nvSpPr>
          <p:cNvPr name="TextBox 11" id="11"/>
          <p:cNvSpPr txBox="true"/>
          <p:nvPr/>
        </p:nvSpPr>
        <p:spPr>
          <a:xfrm rot="0">
            <a:off x="401126" y="2589676"/>
            <a:ext cx="4837402" cy="1680972"/>
          </a:xfrm>
          <a:prstGeom prst="rect">
            <a:avLst/>
          </a:prstGeom>
        </p:spPr>
        <p:txBody>
          <a:bodyPr anchor="t" rtlCol="false" tIns="0" lIns="0" bIns="0" rIns="0">
            <a:spAutoFit/>
          </a:bodyPr>
          <a:lstStyle/>
          <a:p>
            <a:pPr algn="l" marL="0" indent="0" lvl="0">
              <a:lnSpc>
                <a:spcPts val="6384"/>
              </a:lnSpc>
              <a:spcBef>
                <a:spcPct val="0"/>
              </a:spcBef>
            </a:pPr>
            <a:r>
              <a:rPr lang="en-US" b="true" sz="5600" strike="noStrike" u="none">
                <a:solidFill>
                  <a:srgbClr val="100643"/>
                </a:solidFill>
                <a:latin typeface="Poppins Bold"/>
                <a:ea typeface="Poppins Bold"/>
                <a:cs typeface="Poppins Bold"/>
                <a:sym typeface="Poppins Bold"/>
              </a:rPr>
              <a:t>Nhóm quy trình quản lý</a:t>
            </a:r>
          </a:p>
        </p:txBody>
      </p:sp>
      <p:sp>
        <p:nvSpPr>
          <p:cNvPr name="TextBox 12" id="12"/>
          <p:cNvSpPr txBox="true"/>
          <p:nvPr/>
        </p:nvSpPr>
        <p:spPr>
          <a:xfrm rot="0">
            <a:off x="536860" y="5360284"/>
            <a:ext cx="4107670" cy="4768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Định hướng nguồn lực, hoạch định kế hoạch và kiểm soát hiệu suất vận hành</a:t>
            </a:r>
          </a:p>
        </p:txBody>
      </p:sp>
      <p:sp>
        <p:nvSpPr>
          <p:cNvPr name="TextBox 13" id="13"/>
          <p:cNvSpPr txBox="true"/>
          <p:nvPr/>
        </p:nvSpPr>
        <p:spPr>
          <a:xfrm rot="0">
            <a:off x="1430516" y="9505290"/>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4" id="14"/>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5" id="15"/>
          <p:cNvSpPr txBox="true"/>
          <p:nvPr/>
        </p:nvSpPr>
        <p:spPr>
          <a:xfrm rot="0">
            <a:off x="4943639" y="684937"/>
            <a:ext cx="13007473"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KIẾN TRÚC CÁC QUY TRÌNH </a:t>
            </a:r>
          </a:p>
        </p:txBody>
      </p:sp>
      <p:grpSp>
        <p:nvGrpSpPr>
          <p:cNvPr name="Group 16" id="16"/>
          <p:cNvGrpSpPr/>
          <p:nvPr/>
        </p:nvGrpSpPr>
        <p:grpSpPr>
          <a:xfrm rot="0">
            <a:off x="5576074" y="2114095"/>
            <a:ext cx="2413178" cy="1206589"/>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18" id="1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19" id="19"/>
          <p:cNvGrpSpPr/>
          <p:nvPr/>
        </p:nvGrpSpPr>
        <p:grpSpPr>
          <a:xfrm rot="0">
            <a:off x="7666276" y="2114095"/>
            <a:ext cx="2413178" cy="120658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1" id="2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2" id="22"/>
          <p:cNvGrpSpPr/>
          <p:nvPr/>
        </p:nvGrpSpPr>
        <p:grpSpPr>
          <a:xfrm rot="0">
            <a:off x="9771541" y="2114095"/>
            <a:ext cx="2413178" cy="1206589"/>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4" id="2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5" id="25"/>
          <p:cNvGrpSpPr/>
          <p:nvPr/>
        </p:nvGrpSpPr>
        <p:grpSpPr>
          <a:xfrm rot="0">
            <a:off x="11828960" y="2114095"/>
            <a:ext cx="2413178" cy="1206589"/>
            <a:chOff x="0" y="0"/>
            <a:chExt cx="812800" cy="406400"/>
          </a:xfrm>
        </p:grpSpPr>
        <p:sp>
          <p:nvSpPr>
            <p:cNvPr name="Freeform 26" id="2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7" id="2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8" id="28"/>
          <p:cNvGrpSpPr/>
          <p:nvPr/>
        </p:nvGrpSpPr>
        <p:grpSpPr>
          <a:xfrm rot="0">
            <a:off x="13965895" y="2114095"/>
            <a:ext cx="2413735" cy="1206589"/>
            <a:chOff x="0" y="0"/>
            <a:chExt cx="812988" cy="406400"/>
          </a:xfrm>
        </p:grpSpPr>
        <p:sp>
          <p:nvSpPr>
            <p:cNvPr name="Freeform 29" id="29"/>
            <p:cNvSpPr/>
            <p:nvPr/>
          </p:nvSpPr>
          <p:spPr>
            <a:xfrm flipH="false" flipV="false" rot="0">
              <a:off x="0" y="0"/>
              <a:ext cx="812987" cy="406400"/>
            </a:xfrm>
            <a:custGeom>
              <a:avLst/>
              <a:gdLst/>
              <a:ahLst/>
              <a:cxnLst/>
              <a:rect r="r" b="b" t="t" l="l"/>
              <a:pathLst>
                <a:path h="406400" w="812987">
                  <a:moveTo>
                    <a:pt x="0" y="0"/>
                  </a:moveTo>
                  <a:lnTo>
                    <a:pt x="609788" y="0"/>
                  </a:lnTo>
                  <a:lnTo>
                    <a:pt x="812987" y="203200"/>
                  </a:lnTo>
                  <a:lnTo>
                    <a:pt x="609788" y="406400"/>
                  </a:lnTo>
                  <a:lnTo>
                    <a:pt x="0" y="406400"/>
                  </a:lnTo>
                  <a:lnTo>
                    <a:pt x="203200" y="203200"/>
                  </a:lnTo>
                  <a:lnTo>
                    <a:pt x="0" y="0"/>
                  </a:lnTo>
                  <a:close/>
                </a:path>
              </a:pathLst>
            </a:custGeom>
            <a:solidFill>
              <a:srgbClr val="BD0016"/>
            </a:solidFill>
          </p:spPr>
        </p:sp>
        <p:sp>
          <p:nvSpPr>
            <p:cNvPr name="TextBox 30" id="30"/>
            <p:cNvSpPr txBox="true"/>
            <p:nvPr/>
          </p:nvSpPr>
          <p:spPr>
            <a:xfrm>
              <a:off x="177800" y="-57150"/>
              <a:ext cx="558988"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1" id="31"/>
          <p:cNvGrpSpPr/>
          <p:nvPr/>
        </p:nvGrpSpPr>
        <p:grpSpPr>
          <a:xfrm rot="0">
            <a:off x="5575517" y="4756803"/>
            <a:ext cx="2413178" cy="1206589"/>
            <a:chOff x="0" y="0"/>
            <a:chExt cx="812800" cy="406400"/>
          </a:xfrm>
        </p:grpSpPr>
        <p:sp>
          <p:nvSpPr>
            <p:cNvPr name="Freeform 32" id="3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3" id="33"/>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4" id="34"/>
          <p:cNvGrpSpPr/>
          <p:nvPr/>
        </p:nvGrpSpPr>
        <p:grpSpPr>
          <a:xfrm rot="0">
            <a:off x="7665719" y="4756803"/>
            <a:ext cx="2413178" cy="1206589"/>
            <a:chOff x="0" y="0"/>
            <a:chExt cx="812800" cy="406400"/>
          </a:xfrm>
        </p:grpSpPr>
        <p:sp>
          <p:nvSpPr>
            <p:cNvPr name="Freeform 35" id="3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6" id="36"/>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7" id="37"/>
          <p:cNvGrpSpPr/>
          <p:nvPr/>
        </p:nvGrpSpPr>
        <p:grpSpPr>
          <a:xfrm rot="0">
            <a:off x="9770984" y="4756803"/>
            <a:ext cx="2413178" cy="1206589"/>
            <a:chOff x="0" y="0"/>
            <a:chExt cx="812800" cy="406400"/>
          </a:xfrm>
        </p:grpSpPr>
        <p:sp>
          <p:nvSpPr>
            <p:cNvPr name="Freeform 38" id="3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9" id="39"/>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0" id="40"/>
          <p:cNvGrpSpPr/>
          <p:nvPr/>
        </p:nvGrpSpPr>
        <p:grpSpPr>
          <a:xfrm rot="0">
            <a:off x="11828403" y="4756803"/>
            <a:ext cx="2413178" cy="1206589"/>
            <a:chOff x="0" y="0"/>
            <a:chExt cx="812800" cy="406400"/>
          </a:xfrm>
        </p:grpSpPr>
        <p:sp>
          <p:nvSpPr>
            <p:cNvPr name="Freeform 41" id="4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2" id="42"/>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3" id="43"/>
          <p:cNvGrpSpPr/>
          <p:nvPr/>
        </p:nvGrpSpPr>
        <p:grpSpPr>
          <a:xfrm rot="0">
            <a:off x="13965338" y="4756803"/>
            <a:ext cx="2413178" cy="1206589"/>
            <a:chOff x="0" y="0"/>
            <a:chExt cx="812800" cy="406400"/>
          </a:xfrm>
        </p:grpSpPr>
        <p:sp>
          <p:nvSpPr>
            <p:cNvPr name="Freeform 44" id="44"/>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5" id="45"/>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6" id="46"/>
          <p:cNvGrpSpPr/>
          <p:nvPr/>
        </p:nvGrpSpPr>
        <p:grpSpPr>
          <a:xfrm rot="0">
            <a:off x="5576631" y="7547093"/>
            <a:ext cx="2413178" cy="1206589"/>
            <a:chOff x="0" y="0"/>
            <a:chExt cx="812800" cy="406400"/>
          </a:xfrm>
        </p:grpSpPr>
        <p:sp>
          <p:nvSpPr>
            <p:cNvPr name="Freeform 47" id="4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8" id="4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9" id="49"/>
          <p:cNvGrpSpPr/>
          <p:nvPr/>
        </p:nvGrpSpPr>
        <p:grpSpPr>
          <a:xfrm rot="0">
            <a:off x="7666832" y="7547093"/>
            <a:ext cx="2413178" cy="1206589"/>
            <a:chOff x="0" y="0"/>
            <a:chExt cx="812800" cy="406400"/>
          </a:xfrm>
        </p:grpSpPr>
        <p:sp>
          <p:nvSpPr>
            <p:cNvPr name="Freeform 50" id="5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1" id="5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2" id="52"/>
          <p:cNvGrpSpPr/>
          <p:nvPr/>
        </p:nvGrpSpPr>
        <p:grpSpPr>
          <a:xfrm rot="0">
            <a:off x="9772098" y="7547093"/>
            <a:ext cx="2413178" cy="1206589"/>
            <a:chOff x="0" y="0"/>
            <a:chExt cx="812800" cy="406400"/>
          </a:xfrm>
        </p:grpSpPr>
        <p:sp>
          <p:nvSpPr>
            <p:cNvPr name="Freeform 53" id="5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4" id="5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5" id="55"/>
          <p:cNvGrpSpPr/>
          <p:nvPr/>
        </p:nvGrpSpPr>
        <p:grpSpPr>
          <a:xfrm rot="0">
            <a:off x="11829517" y="7547093"/>
            <a:ext cx="2413178" cy="1206589"/>
            <a:chOff x="0" y="0"/>
            <a:chExt cx="812800" cy="406400"/>
          </a:xfrm>
        </p:grpSpPr>
        <p:sp>
          <p:nvSpPr>
            <p:cNvPr name="Freeform 56" id="5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7" id="5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8" id="58"/>
          <p:cNvGrpSpPr/>
          <p:nvPr/>
        </p:nvGrpSpPr>
        <p:grpSpPr>
          <a:xfrm rot="0">
            <a:off x="13966451" y="7547093"/>
            <a:ext cx="2413178" cy="1206589"/>
            <a:chOff x="0" y="0"/>
            <a:chExt cx="812800" cy="406400"/>
          </a:xfrm>
        </p:grpSpPr>
        <p:sp>
          <p:nvSpPr>
            <p:cNvPr name="Freeform 59" id="5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60" id="6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61" id="61"/>
          <p:cNvGrpSpPr/>
          <p:nvPr/>
        </p:nvGrpSpPr>
        <p:grpSpPr>
          <a:xfrm rot="0">
            <a:off x="5575517" y="1343309"/>
            <a:ext cx="573423" cy="573423"/>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3" id="63"/>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4" id="64"/>
          <p:cNvGrpSpPr/>
          <p:nvPr/>
        </p:nvGrpSpPr>
        <p:grpSpPr>
          <a:xfrm rot="0">
            <a:off x="5575517" y="4075636"/>
            <a:ext cx="573423" cy="573423"/>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6" id="66"/>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7" id="67"/>
          <p:cNvGrpSpPr/>
          <p:nvPr/>
        </p:nvGrpSpPr>
        <p:grpSpPr>
          <a:xfrm rot="0">
            <a:off x="5576074" y="6718345"/>
            <a:ext cx="573423" cy="573423"/>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9" id="69"/>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70" id="70"/>
          <p:cNvSpPr txBox="true"/>
          <p:nvPr/>
        </p:nvSpPr>
        <p:spPr>
          <a:xfrm rot="0">
            <a:off x="6369027" y="1397442"/>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QUẢN TRỊ VÒNG ĐỜI ĐỐI TÁC CUNG ỨNG PHƯƠNG TIỆN VẬN TẢI</a:t>
            </a:r>
          </a:p>
        </p:txBody>
      </p:sp>
      <p:sp>
        <p:nvSpPr>
          <p:cNvPr name="TextBox 71" id="71"/>
          <p:cNvSpPr txBox="true"/>
          <p:nvPr/>
        </p:nvSpPr>
        <p:spPr>
          <a:xfrm rot="0">
            <a:off x="6369027" y="4078376"/>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QUẢN LÝ KẾ HOẠCH KINH DOANH DỊCH VỤ CHUYỂN PHÁT</a:t>
            </a:r>
          </a:p>
        </p:txBody>
      </p:sp>
      <p:sp>
        <p:nvSpPr>
          <p:cNvPr name="TextBox 72" id="72"/>
          <p:cNvSpPr txBox="true"/>
          <p:nvPr/>
        </p:nvSpPr>
        <p:spPr>
          <a:xfrm rot="0">
            <a:off x="6369027" y="6759311"/>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QUẢN LÝ HIỆU SUẤT HOẠT ĐỘNG VẬN HÀNH</a:t>
            </a:r>
          </a:p>
        </p:txBody>
      </p:sp>
      <p:sp>
        <p:nvSpPr>
          <p:cNvPr name="TextBox 73" id="73"/>
          <p:cNvSpPr txBox="true"/>
          <p:nvPr/>
        </p:nvSpPr>
        <p:spPr>
          <a:xfrm rot="0">
            <a:off x="6340452" y="2398234"/>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Xác định nhu cầu</a:t>
            </a:r>
          </a:p>
        </p:txBody>
      </p:sp>
      <p:sp>
        <p:nvSpPr>
          <p:cNvPr name="TextBox 74" id="74"/>
          <p:cNvSpPr txBox="true"/>
          <p:nvPr/>
        </p:nvSpPr>
        <p:spPr>
          <a:xfrm rot="0">
            <a:off x="12641920" y="2429349"/>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Phê duyệt đối tác</a:t>
            </a:r>
          </a:p>
        </p:txBody>
      </p:sp>
      <p:sp>
        <p:nvSpPr>
          <p:cNvPr name="TextBox 75" id="75"/>
          <p:cNvSpPr txBox="true"/>
          <p:nvPr/>
        </p:nvSpPr>
        <p:spPr>
          <a:xfrm rot="0">
            <a:off x="10502023" y="2429349"/>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Thẩm định phương tiện</a:t>
            </a:r>
          </a:p>
        </p:txBody>
      </p:sp>
      <p:sp>
        <p:nvSpPr>
          <p:cNvPr name="TextBox 76" id="76"/>
          <p:cNvSpPr txBox="true"/>
          <p:nvPr/>
        </p:nvSpPr>
        <p:spPr>
          <a:xfrm rot="0">
            <a:off x="8444604" y="2429349"/>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Mời &amp; nhận hồ sơ</a:t>
            </a:r>
          </a:p>
        </p:txBody>
      </p:sp>
      <p:sp>
        <p:nvSpPr>
          <p:cNvPr name="TextBox 77" id="77"/>
          <p:cNvSpPr txBox="true"/>
          <p:nvPr/>
        </p:nvSpPr>
        <p:spPr>
          <a:xfrm rot="0">
            <a:off x="14661238" y="2429349"/>
            <a:ext cx="1650603"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Ký HĐ &amp; Kích hoạt TMS</a:t>
            </a:r>
          </a:p>
        </p:txBody>
      </p:sp>
      <p:sp>
        <p:nvSpPr>
          <p:cNvPr name="TextBox 78" id="78"/>
          <p:cNvSpPr txBox="true"/>
          <p:nvPr/>
        </p:nvSpPr>
        <p:spPr>
          <a:xfrm rot="0">
            <a:off x="14727913" y="499896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Theo dõi &amp; điều chỉnh</a:t>
            </a:r>
          </a:p>
        </p:txBody>
      </p:sp>
      <p:sp>
        <p:nvSpPr>
          <p:cNvPr name="TextBox 79" id="79"/>
          <p:cNvSpPr txBox="true"/>
          <p:nvPr/>
        </p:nvSpPr>
        <p:spPr>
          <a:xfrm rot="0">
            <a:off x="8495097" y="499896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Lập kế hoạch</a:t>
            </a:r>
          </a:p>
        </p:txBody>
      </p:sp>
      <p:sp>
        <p:nvSpPr>
          <p:cNvPr name="TextBox 80" id="80"/>
          <p:cNvSpPr txBox="true"/>
          <p:nvPr/>
        </p:nvSpPr>
        <p:spPr>
          <a:xfrm rot="0">
            <a:off x="12574688" y="5133975"/>
            <a:ext cx="1297806" cy="30924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Phê duyệt</a:t>
            </a:r>
          </a:p>
        </p:txBody>
      </p:sp>
      <p:sp>
        <p:nvSpPr>
          <p:cNvPr name="TextBox 81" id="81"/>
          <p:cNvSpPr txBox="true"/>
          <p:nvPr/>
        </p:nvSpPr>
        <p:spPr>
          <a:xfrm rot="0">
            <a:off x="10530598" y="4881625"/>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Thẩm định nguồn lực/KPI</a:t>
            </a:r>
          </a:p>
        </p:txBody>
      </p:sp>
      <p:sp>
        <p:nvSpPr>
          <p:cNvPr name="TextBox 82" id="82"/>
          <p:cNvSpPr txBox="true"/>
          <p:nvPr/>
        </p:nvSpPr>
        <p:spPr>
          <a:xfrm rot="0">
            <a:off x="6329724" y="5038974"/>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Thu thập dữ liệu</a:t>
            </a:r>
          </a:p>
        </p:txBody>
      </p:sp>
      <p:sp>
        <p:nvSpPr>
          <p:cNvPr name="TextBox 83" id="83"/>
          <p:cNvSpPr txBox="true"/>
          <p:nvPr/>
        </p:nvSpPr>
        <p:spPr>
          <a:xfrm rot="0">
            <a:off x="6369027"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Thu thập KPI</a:t>
            </a:r>
          </a:p>
        </p:txBody>
      </p:sp>
      <p:sp>
        <p:nvSpPr>
          <p:cNvPr name="TextBox 84" id="84"/>
          <p:cNvSpPr txBox="true"/>
          <p:nvPr/>
        </p:nvSpPr>
        <p:spPr>
          <a:xfrm rot="0">
            <a:off x="14727913"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Theo dõi kết quả</a:t>
            </a:r>
          </a:p>
        </p:txBody>
      </p:sp>
      <p:sp>
        <p:nvSpPr>
          <p:cNvPr name="TextBox 85" id="85"/>
          <p:cNvSpPr txBox="true"/>
          <p:nvPr/>
        </p:nvSpPr>
        <p:spPr>
          <a:xfrm rot="0">
            <a:off x="12574688"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a:t>
            </a:r>
            <a:r>
              <a:rPr lang="en-US" sz="1700">
                <a:solidFill>
                  <a:srgbClr val="FFFFFF"/>
                </a:solidFill>
                <a:latin typeface="Poppins"/>
                <a:ea typeface="Poppins"/>
                <a:cs typeface="Poppins"/>
                <a:sym typeface="Poppins"/>
              </a:rPr>
              <a:t>ề xuất cải tiến</a:t>
            </a:r>
          </a:p>
        </p:txBody>
      </p:sp>
      <p:sp>
        <p:nvSpPr>
          <p:cNvPr name="TextBox 86" id="86"/>
          <p:cNvSpPr txBox="true"/>
          <p:nvPr/>
        </p:nvSpPr>
        <p:spPr>
          <a:xfrm rot="0">
            <a:off x="10436461"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Phân t ích chênh lệch</a:t>
            </a:r>
          </a:p>
        </p:txBody>
      </p:sp>
      <p:sp>
        <p:nvSpPr>
          <p:cNvPr name="TextBox 87" id="87"/>
          <p:cNvSpPr txBox="true"/>
          <p:nvPr/>
        </p:nvSpPr>
        <p:spPr>
          <a:xfrm rot="0">
            <a:off x="8381469"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Tổng hợp &amp; đối chiếu</a:t>
            </a:r>
          </a:p>
        </p:txBody>
      </p:sp>
      <p:sp>
        <p:nvSpPr>
          <p:cNvPr name="Freeform 88" id="88"/>
          <p:cNvSpPr/>
          <p:nvPr/>
        </p:nvSpPr>
        <p:spPr>
          <a:xfrm flipH="false" flipV="false" rot="0">
            <a:off x="1727835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89" id="89"/>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595629" y="684937"/>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10" id="10"/>
          <p:cNvSpPr txBox="true"/>
          <p:nvPr/>
        </p:nvSpPr>
        <p:spPr>
          <a:xfrm rot="0">
            <a:off x="1595629" y="1054449"/>
            <a:ext cx="3048901"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KIẾN TRÚC CÁC QUY TRÌNH</a:t>
            </a:r>
          </a:p>
        </p:txBody>
      </p:sp>
      <p:sp>
        <p:nvSpPr>
          <p:cNvPr name="TextBox 11" id="11"/>
          <p:cNvSpPr txBox="true"/>
          <p:nvPr/>
        </p:nvSpPr>
        <p:spPr>
          <a:xfrm rot="0">
            <a:off x="420763" y="2475376"/>
            <a:ext cx="4798129" cy="1680972"/>
          </a:xfrm>
          <a:prstGeom prst="rect">
            <a:avLst/>
          </a:prstGeom>
        </p:spPr>
        <p:txBody>
          <a:bodyPr anchor="t" rtlCol="false" tIns="0" lIns="0" bIns="0" rIns="0">
            <a:spAutoFit/>
          </a:bodyPr>
          <a:lstStyle/>
          <a:p>
            <a:pPr algn="l" marL="0" indent="0" lvl="0">
              <a:lnSpc>
                <a:spcPts val="6384"/>
              </a:lnSpc>
              <a:spcBef>
                <a:spcPct val="0"/>
              </a:spcBef>
            </a:pPr>
            <a:r>
              <a:rPr lang="en-US" b="true" sz="5600" strike="noStrike" u="none">
                <a:solidFill>
                  <a:srgbClr val="100643"/>
                </a:solidFill>
                <a:latin typeface="Poppins Bold"/>
                <a:ea typeface="Poppins Bold"/>
                <a:cs typeface="Poppins Bold"/>
                <a:sym typeface="Poppins Bold"/>
              </a:rPr>
              <a:t>Quy trình cốt lõi đầu vào</a:t>
            </a:r>
          </a:p>
        </p:txBody>
      </p:sp>
      <p:sp>
        <p:nvSpPr>
          <p:cNvPr name="TextBox 12" id="12"/>
          <p:cNvSpPr txBox="true"/>
          <p:nvPr/>
        </p:nvSpPr>
        <p:spPr>
          <a:xfrm rot="0">
            <a:off x="536860" y="5131684"/>
            <a:ext cx="4107670"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HÌNH THÀNH ĐƠN HÀNG, TIẾP NHẬN BƯU GỬI VÀ TỔ CHỨC KHAI THÁC TẠI TRUNG TÂM</a:t>
            </a:r>
          </a:p>
        </p:txBody>
      </p:sp>
      <p:sp>
        <p:nvSpPr>
          <p:cNvPr name="TextBox 13" id="13"/>
          <p:cNvSpPr txBox="true"/>
          <p:nvPr/>
        </p:nvSpPr>
        <p:spPr>
          <a:xfrm rot="0">
            <a:off x="1430516" y="9505290"/>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4" id="14"/>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5" id="15"/>
          <p:cNvSpPr txBox="true"/>
          <p:nvPr/>
        </p:nvSpPr>
        <p:spPr>
          <a:xfrm rot="0">
            <a:off x="4943639" y="684937"/>
            <a:ext cx="13007473"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KIẾN TRÚC QUY TRÌNH VÀ LỰA CHỌN QUY TRÌNH PHÂN TÍCH</a:t>
            </a:r>
          </a:p>
        </p:txBody>
      </p:sp>
      <p:grpSp>
        <p:nvGrpSpPr>
          <p:cNvPr name="Group 16" id="16"/>
          <p:cNvGrpSpPr/>
          <p:nvPr/>
        </p:nvGrpSpPr>
        <p:grpSpPr>
          <a:xfrm rot="0">
            <a:off x="5576074" y="2114095"/>
            <a:ext cx="2413178" cy="1206589"/>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18" id="1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19" id="19"/>
          <p:cNvGrpSpPr/>
          <p:nvPr/>
        </p:nvGrpSpPr>
        <p:grpSpPr>
          <a:xfrm rot="0">
            <a:off x="7666276" y="2114095"/>
            <a:ext cx="2413178" cy="120658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1" id="2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2" id="22"/>
          <p:cNvGrpSpPr/>
          <p:nvPr/>
        </p:nvGrpSpPr>
        <p:grpSpPr>
          <a:xfrm rot="0">
            <a:off x="9771541" y="2114095"/>
            <a:ext cx="2413178" cy="1206589"/>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4" id="2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5" id="25"/>
          <p:cNvGrpSpPr/>
          <p:nvPr/>
        </p:nvGrpSpPr>
        <p:grpSpPr>
          <a:xfrm rot="0">
            <a:off x="11828960" y="2114095"/>
            <a:ext cx="2413178" cy="1206589"/>
            <a:chOff x="0" y="0"/>
            <a:chExt cx="812800" cy="406400"/>
          </a:xfrm>
        </p:grpSpPr>
        <p:sp>
          <p:nvSpPr>
            <p:cNvPr name="Freeform 26" id="2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7" id="2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8" id="28"/>
          <p:cNvGrpSpPr/>
          <p:nvPr/>
        </p:nvGrpSpPr>
        <p:grpSpPr>
          <a:xfrm rot="0">
            <a:off x="13965895" y="2114095"/>
            <a:ext cx="2413178" cy="1206589"/>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0" id="3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1" id="31"/>
          <p:cNvGrpSpPr/>
          <p:nvPr/>
        </p:nvGrpSpPr>
        <p:grpSpPr>
          <a:xfrm rot="0">
            <a:off x="5575517" y="4756803"/>
            <a:ext cx="2207545" cy="1206589"/>
            <a:chOff x="0" y="0"/>
            <a:chExt cx="743539" cy="406400"/>
          </a:xfrm>
        </p:grpSpPr>
        <p:sp>
          <p:nvSpPr>
            <p:cNvPr name="Freeform 32" id="32"/>
            <p:cNvSpPr/>
            <p:nvPr/>
          </p:nvSpPr>
          <p:spPr>
            <a:xfrm flipH="false" flipV="false" rot="0">
              <a:off x="0" y="0"/>
              <a:ext cx="743539" cy="406400"/>
            </a:xfrm>
            <a:custGeom>
              <a:avLst/>
              <a:gdLst/>
              <a:ahLst/>
              <a:cxnLst/>
              <a:rect r="r" b="b" t="t" l="l"/>
              <a:pathLst>
                <a:path h="406400" w="743539">
                  <a:moveTo>
                    <a:pt x="0" y="0"/>
                  </a:moveTo>
                  <a:lnTo>
                    <a:pt x="540339" y="0"/>
                  </a:lnTo>
                  <a:lnTo>
                    <a:pt x="743539" y="203200"/>
                  </a:lnTo>
                  <a:lnTo>
                    <a:pt x="540339" y="406400"/>
                  </a:lnTo>
                  <a:lnTo>
                    <a:pt x="0" y="406400"/>
                  </a:lnTo>
                  <a:lnTo>
                    <a:pt x="203200" y="203200"/>
                  </a:lnTo>
                  <a:lnTo>
                    <a:pt x="0" y="0"/>
                  </a:lnTo>
                  <a:close/>
                </a:path>
              </a:pathLst>
            </a:custGeom>
            <a:solidFill>
              <a:srgbClr val="BD0016"/>
            </a:solidFill>
          </p:spPr>
        </p:sp>
        <p:sp>
          <p:nvSpPr>
            <p:cNvPr name="TextBox 33" id="33"/>
            <p:cNvSpPr txBox="true"/>
            <p:nvPr/>
          </p:nvSpPr>
          <p:spPr>
            <a:xfrm>
              <a:off x="177800" y="-57150"/>
              <a:ext cx="48953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4" id="34"/>
          <p:cNvGrpSpPr/>
          <p:nvPr/>
        </p:nvGrpSpPr>
        <p:grpSpPr>
          <a:xfrm rot="0">
            <a:off x="7487607" y="4756803"/>
            <a:ext cx="2207545" cy="1206589"/>
            <a:chOff x="0" y="0"/>
            <a:chExt cx="743539" cy="406400"/>
          </a:xfrm>
        </p:grpSpPr>
        <p:sp>
          <p:nvSpPr>
            <p:cNvPr name="Freeform 35" id="35"/>
            <p:cNvSpPr/>
            <p:nvPr/>
          </p:nvSpPr>
          <p:spPr>
            <a:xfrm flipH="false" flipV="false" rot="0">
              <a:off x="0" y="0"/>
              <a:ext cx="743539" cy="406400"/>
            </a:xfrm>
            <a:custGeom>
              <a:avLst/>
              <a:gdLst/>
              <a:ahLst/>
              <a:cxnLst/>
              <a:rect r="r" b="b" t="t" l="l"/>
              <a:pathLst>
                <a:path h="406400" w="743539">
                  <a:moveTo>
                    <a:pt x="0" y="0"/>
                  </a:moveTo>
                  <a:lnTo>
                    <a:pt x="540339" y="0"/>
                  </a:lnTo>
                  <a:lnTo>
                    <a:pt x="743539" y="203200"/>
                  </a:lnTo>
                  <a:lnTo>
                    <a:pt x="540339" y="406400"/>
                  </a:lnTo>
                  <a:lnTo>
                    <a:pt x="0" y="406400"/>
                  </a:lnTo>
                  <a:lnTo>
                    <a:pt x="203200" y="203200"/>
                  </a:lnTo>
                  <a:lnTo>
                    <a:pt x="0" y="0"/>
                  </a:lnTo>
                  <a:close/>
                </a:path>
              </a:pathLst>
            </a:custGeom>
            <a:solidFill>
              <a:srgbClr val="BD0016"/>
            </a:solidFill>
          </p:spPr>
        </p:sp>
        <p:sp>
          <p:nvSpPr>
            <p:cNvPr name="TextBox 36" id="36"/>
            <p:cNvSpPr txBox="true"/>
            <p:nvPr/>
          </p:nvSpPr>
          <p:spPr>
            <a:xfrm>
              <a:off x="177800" y="-57150"/>
              <a:ext cx="48953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7" id="37"/>
          <p:cNvGrpSpPr/>
          <p:nvPr/>
        </p:nvGrpSpPr>
        <p:grpSpPr>
          <a:xfrm rot="0">
            <a:off x="9413478" y="4756803"/>
            <a:ext cx="2207545" cy="1206589"/>
            <a:chOff x="0" y="0"/>
            <a:chExt cx="743539" cy="406400"/>
          </a:xfrm>
        </p:grpSpPr>
        <p:sp>
          <p:nvSpPr>
            <p:cNvPr name="Freeform 38" id="38"/>
            <p:cNvSpPr/>
            <p:nvPr/>
          </p:nvSpPr>
          <p:spPr>
            <a:xfrm flipH="false" flipV="false" rot="0">
              <a:off x="0" y="0"/>
              <a:ext cx="743539" cy="406400"/>
            </a:xfrm>
            <a:custGeom>
              <a:avLst/>
              <a:gdLst/>
              <a:ahLst/>
              <a:cxnLst/>
              <a:rect r="r" b="b" t="t" l="l"/>
              <a:pathLst>
                <a:path h="406400" w="743539">
                  <a:moveTo>
                    <a:pt x="0" y="0"/>
                  </a:moveTo>
                  <a:lnTo>
                    <a:pt x="540339" y="0"/>
                  </a:lnTo>
                  <a:lnTo>
                    <a:pt x="743539" y="203200"/>
                  </a:lnTo>
                  <a:lnTo>
                    <a:pt x="540339" y="406400"/>
                  </a:lnTo>
                  <a:lnTo>
                    <a:pt x="0" y="406400"/>
                  </a:lnTo>
                  <a:lnTo>
                    <a:pt x="203200" y="203200"/>
                  </a:lnTo>
                  <a:lnTo>
                    <a:pt x="0" y="0"/>
                  </a:lnTo>
                  <a:close/>
                </a:path>
              </a:pathLst>
            </a:custGeom>
            <a:solidFill>
              <a:srgbClr val="BD0016"/>
            </a:solidFill>
          </p:spPr>
        </p:sp>
        <p:sp>
          <p:nvSpPr>
            <p:cNvPr name="TextBox 39" id="39"/>
            <p:cNvSpPr txBox="true"/>
            <p:nvPr/>
          </p:nvSpPr>
          <p:spPr>
            <a:xfrm>
              <a:off x="177800" y="-57150"/>
              <a:ext cx="48953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0" id="40"/>
          <p:cNvGrpSpPr/>
          <p:nvPr/>
        </p:nvGrpSpPr>
        <p:grpSpPr>
          <a:xfrm rot="0">
            <a:off x="11295579" y="4756803"/>
            <a:ext cx="2207545" cy="1206589"/>
            <a:chOff x="0" y="0"/>
            <a:chExt cx="743539" cy="406400"/>
          </a:xfrm>
        </p:grpSpPr>
        <p:sp>
          <p:nvSpPr>
            <p:cNvPr name="Freeform 41" id="41"/>
            <p:cNvSpPr/>
            <p:nvPr/>
          </p:nvSpPr>
          <p:spPr>
            <a:xfrm flipH="false" flipV="false" rot="0">
              <a:off x="0" y="0"/>
              <a:ext cx="743539" cy="406400"/>
            </a:xfrm>
            <a:custGeom>
              <a:avLst/>
              <a:gdLst/>
              <a:ahLst/>
              <a:cxnLst/>
              <a:rect r="r" b="b" t="t" l="l"/>
              <a:pathLst>
                <a:path h="406400" w="743539">
                  <a:moveTo>
                    <a:pt x="0" y="0"/>
                  </a:moveTo>
                  <a:lnTo>
                    <a:pt x="540339" y="0"/>
                  </a:lnTo>
                  <a:lnTo>
                    <a:pt x="743539" y="203200"/>
                  </a:lnTo>
                  <a:lnTo>
                    <a:pt x="540339" y="406400"/>
                  </a:lnTo>
                  <a:lnTo>
                    <a:pt x="0" y="406400"/>
                  </a:lnTo>
                  <a:lnTo>
                    <a:pt x="203200" y="203200"/>
                  </a:lnTo>
                  <a:lnTo>
                    <a:pt x="0" y="0"/>
                  </a:lnTo>
                  <a:close/>
                </a:path>
              </a:pathLst>
            </a:custGeom>
            <a:solidFill>
              <a:srgbClr val="BD0016"/>
            </a:solidFill>
          </p:spPr>
        </p:sp>
        <p:sp>
          <p:nvSpPr>
            <p:cNvPr name="TextBox 42" id="42"/>
            <p:cNvSpPr txBox="true"/>
            <p:nvPr/>
          </p:nvSpPr>
          <p:spPr>
            <a:xfrm>
              <a:off x="177800" y="-57150"/>
              <a:ext cx="48953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3" id="43"/>
          <p:cNvGrpSpPr/>
          <p:nvPr/>
        </p:nvGrpSpPr>
        <p:grpSpPr>
          <a:xfrm rot="0">
            <a:off x="13250420" y="4756803"/>
            <a:ext cx="2207545" cy="1206589"/>
            <a:chOff x="0" y="0"/>
            <a:chExt cx="743539" cy="406400"/>
          </a:xfrm>
        </p:grpSpPr>
        <p:sp>
          <p:nvSpPr>
            <p:cNvPr name="Freeform 44" id="44"/>
            <p:cNvSpPr/>
            <p:nvPr/>
          </p:nvSpPr>
          <p:spPr>
            <a:xfrm flipH="false" flipV="false" rot="0">
              <a:off x="0" y="0"/>
              <a:ext cx="743539" cy="406400"/>
            </a:xfrm>
            <a:custGeom>
              <a:avLst/>
              <a:gdLst/>
              <a:ahLst/>
              <a:cxnLst/>
              <a:rect r="r" b="b" t="t" l="l"/>
              <a:pathLst>
                <a:path h="406400" w="743539">
                  <a:moveTo>
                    <a:pt x="0" y="0"/>
                  </a:moveTo>
                  <a:lnTo>
                    <a:pt x="540339" y="0"/>
                  </a:lnTo>
                  <a:lnTo>
                    <a:pt x="743539" y="203200"/>
                  </a:lnTo>
                  <a:lnTo>
                    <a:pt x="540339" y="406400"/>
                  </a:lnTo>
                  <a:lnTo>
                    <a:pt x="0" y="406400"/>
                  </a:lnTo>
                  <a:lnTo>
                    <a:pt x="203200" y="203200"/>
                  </a:lnTo>
                  <a:lnTo>
                    <a:pt x="0" y="0"/>
                  </a:lnTo>
                  <a:close/>
                </a:path>
              </a:pathLst>
            </a:custGeom>
            <a:solidFill>
              <a:srgbClr val="BD0016"/>
            </a:solidFill>
          </p:spPr>
        </p:sp>
        <p:sp>
          <p:nvSpPr>
            <p:cNvPr name="TextBox 45" id="45"/>
            <p:cNvSpPr txBox="true"/>
            <p:nvPr/>
          </p:nvSpPr>
          <p:spPr>
            <a:xfrm>
              <a:off x="177800" y="-57150"/>
              <a:ext cx="48953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6" id="46"/>
          <p:cNvGrpSpPr/>
          <p:nvPr/>
        </p:nvGrpSpPr>
        <p:grpSpPr>
          <a:xfrm rot="0">
            <a:off x="5576631" y="7547093"/>
            <a:ext cx="2413178" cy="1206589"/>
            <a:chOff x="0" y="0"/>
            <a:chExt cx="812800" cy="406400"/>
          </a:xfrm>
        </p:grpSpPr>
        <p:sp>
          <p:nvSpPr>
            <p:cNvPr name="Freeform 47" id="4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8" id="4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9" id="49"/>
          <p:cNvGrpSpPr/>
          <p:nvPr/>
        </p:nvGrpSpPr>
        <p:grpSpPr>
          <a:xfrm rot="0">
            <a:off x="7666832" y="7547093"/>
            <a:ext cx="2413178" cy="1206589"/>
            <a:chOff x="0" y="0"/>
            <a:chExt cx="812800" cy="406400"/>
          </a:xfrm>
        </p:grpSpPr>
        <p:sp>
          <p:nvSpPr>
            <p:cNvPr name="Freeform 50" id="5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1" id="5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2" id="52"/>
          <p:cNvGrpSpPr/>
          <p:nvPr/>
        </p:nvGrpSpPr>
        <p:grpSpPr>
          <a:xfrm rot="0">
            <a:off x="9772098" y="7547093"/>
            <a:ext cx="2413178" cy="1206589"/>
            <a:chOff x="0" y="0"/>
            <a:chExt cx="812800" cy="406400"/>
          </a:xfrm>
        </p:grpSpPr>
        <p:sp>
          <p:nvSpPr>
            <p:cNvPr name="Freeform 53" id="5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4" id="5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5" id="55"/>
          <p:cNvGrpSpPr/>
          <p:nvPr/>
        </p:nvGrpSpPr>
        <p:grpSpPr>
          <a:xfrm rot="0">
            <a:off x="11829517" y="7547093"/>
            <a:ext cx="2413178" cy="1206589"/>
            <a:chOff x="0" y="0"/>
            <a:chExt cx="812800" cy="406400"/>
          </a:xfrm>
        </p:grpSpPr>
        <p:sp>
          <p:nvSpPr>
            <p:cNvPr name="Freeform 56" id="5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7" id="5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58" id="58"/>
          <p:cNvGrpSpPr/>
          <p:nvPr/>
        </p:nvGrpSpPr>
        <p:grpSpPr>
          <a:xfrm rot="0">
            <a:off x="13966451" y="7547093"/>
            <a:ext cx="2413178" cy="1206589"/>
            <a:chOff x="0" y="0"/>
            <a:chExt cx="812800" cy="406400"/>
          </a:xfrm>
        </p:grpSpPr>
        <p:sp>
          <p:nvSpPr>
            <p:cNvPr name="Freeform 59" id="5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60" id="6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61" id="61"/>
          <p:cNvGrpSpPr/>
          <p:nvPr/>
        </p:nvGrpSpPr>
        <p:grpSpPr>
          <a:xfrm rot="0">
            <a:off x="5575517" y="1343309"/>
            <a:ext cx="573423" cy="573423"/>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3" id="63"/>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4" id="64"/>
          <p:cNvGrpSpPr/>
          <p:nvPr/>
        </p:nvGrpSpPr>
        <p:grpSpPr>
          <a:xfrm rot="0">
            <a:off x="5575517" y="4075636"/>
            <a:ext cx="573423" cy="573423"/>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6" id="66"/>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7" id="67"/>
          <p:cNvGrpSpPr/>
          <p:nvPr/>
        </p:nvGrpSpPr>
        <p:grpSpPr>
          <a:xfrm rot="0">
            <a:off x="5576074" y="6718345"/>
            <a:ext cx="573423" cy="573423"/>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9" id="69"/>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70" id="70"/>
          <p:cNvSpPr txBox="true"/>
          <p:nvPr/>
        </p:nvSpPr>
        <p:spPr>
          <a:xfrm rot="0">
            <a:off x="6369027" y="1397442"/>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TIẾP NHẬN ĐƠN HÀNG</a:t>
            </a:r>
          </a:p>
        </p:txBody>
      </p:sp>
      <p:sp>
        <p:nvSpPr>
          <p:cNvPr name="TextBox 71" id="71"/>
          <p:cNvSpPr txBox="true"/>
          <p:nvPr/>
        </p:nvSpPr>
        <p:spPr>
          <a:xfrm rot="0">
            <a:off x="6369027" y="4078376"/>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THU GOM &amp; TẬP KẾT</a:t>
            </a:r>
          </a:p>
        </p:txBody>
      </p:sp>
      <p:sp>
        <p:nvSpPr>
          <p:cNvPr name="TextBox 72" id="72"/>
          <p:cNvSpPr txBox="true"/>
          <p:nvPr/>
        </p:nvSpPr>
        <p:spPr>
          <a:xfrm rot="0">
            <a:off x="6369027" y="6759311"/>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PHÂN LOẠI &amp; CHUYỂN PHÁT TRUNG TÂM</a:t>
            </a:r>
          </a:p>
        </p:txBody>
      </p:sp>
      <p:sp>
        <p:nvSpPr>
          <p:cNvPr name="TextBox 73" id="73"/>
          <p:cNvSpPr txBox="true"/>
          <p:nvPr/>
        </p:nvSpPr>
        <p:spPr>
          <a:xfrm rot="0">
            <a:off x="6329724" y="2314664"/>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Khai thác &amp; chọn dịch vụ</a:t>
            </a:r>
          </a:p>
        </p:txBody>
      </p:sp>
      <p:sp>
        <p:nvSpPr>
          <p:cNvPr name="TextBox 74" id="74"/>
          <p:cNvSpPr txBox="true"/>
          <p:nvPr/>
        </p:nvSpPr>
        <p:spPr>
          <a:xfrm rot="0">
            <a:off x="12574688" y="2314664"/>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Ghi nhận đơn điện tử</a:t>
            </a:r>
          </a:p>
        </p:txBody>
      </p:sp>
      <p:sp>
        <p:nvSpPr>
          <p:cNvPr name="TextBox 75" id="75"/>
          <p:cNvSpPr txBox="true"/>
          <p:nvPr/>
        </p:nvSpPr>
        <p:spPr>
          <a:xfrm rot="0">
            <a:off x="10530598" y="2238917"/>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&amp; chuẩn hóa OMS/API</a:t>
            </a:r>
          </a:p>
        </p:txBody>
      </p:sp>
      <p:sp>
        <p:nvSpPr>
          <p:cNvPr name="TextBox 76" id="76"/>
          <p:cNvSpPr txBox="true"/>
          <p:nvPr/>
        </p:nvSpPr>
        <p:spPr>
          <a:xfrm rot="0">
            <a:off x="8378486" y="2349906"/>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yêu cầu</a:t>
            </a:r>
          </a:p>
        </p:txBody>
      </p:sp>
      <p:sp>
        <p:nvSpPr>
          <p:cNvPr name="TextBox 77" id="77"/>
          <p:cNvSpPr txBox="true"/>
          <p:nvPr/>
        </p:nvSpPr>
        <p:spPr>
          <a:xfrm rot="0">
            <a:off x="14632663" y="2238917"/>
            <a:ext cx="1650603"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Tạo mã vận đơn &amp; xác nhận</a:t>
            </a:r>
          </a:p>
        </p:txBody>
      </p:sp>
      <p:sp>
        <p:nvSpPr>
          <p:cNvPr name="TextBox 78" id="78"/>
          <p:cNvSpPr txBox="true"/>
          <p:nvPr/>
        </p:nvSpPr>
        <p:spPr>
          <a:xfrm rot="0">
            <a:off x="13879263" y="4879429"/>
            <a:ext cx="118721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Vận chuyển về bưu cục</a:t>
            </a:r>
          </a:p>
        </p:txBody>
      </p:sp>
      <p:sp>
        <p:nvSpPr>
          <p:cNvPr name="TextBox 79" id="79"/>
          <p:cNvSpPr txBox="true"/>
          <p:nvPr/>
        </p:nvSpPr>
        <p:spPr>
          <a:xfrm rot="0">
            <a:off x="8142367" y="5027067"/>
            <a:ext cx="118721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thông tin</a:t>
            </a:r>
          </a:p>
        </p:txBody>
      </p:sp>
      <p:sp>
        <p:nvSpPr>
          <p:cNvPr name="TextBox 80" id="80"/>
          <p:cNvSpPr txBox="true"/>
          <p:nvPr/>
        </p:nvSpPr>
        <p:spPr>
          <a:xfrm rot="0">
            <a:off x="11981080" y="4879429"/>
            <a:ext cx="118721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Thu gom &amp; kiểm tra hàng</a:t>
            </a:r>
          </a:p>
        </p:txBody>
      </p:sp>
      <p:sp>
        <p:nvSpPr>
          <p:cNvPr name="TextBox 81" id="81"/>
          <p:cNvSpPr txBox="true"/>
          <p:nvPr/>
        </p:nvSpPr>
        <p:spPr>
          <a:xfrm rot="0">
            <a:off x="10109381" y="5029263"/>
            <a:ext cx="118721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Điều phối shipper</a:t>
            </a:r>
          </a:p>
        </p:txBody>
      </p:sp>
      <p:sp>
        <p:nvSpPr>
          <p:cNvPr name="TextBox 82" id="82"/>
          <p:cNvSpPr txBox="true"/>
          <p:nvPr/>
        </p:nvSpPr>
        <p:spPr>
          <a:xfrm rot="0">
            <a:off x="6208662" y="5070926"/>
            <a:ext cx="114911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Tạo yêu cầu</a:t>
            </a:r>
          </a:p>
        </p:txBody>
      </p:sp>
      <p:sp>
        <p:nvSpPr>
          <p:cNvPr name="TextBox 83" id="83"/>
          <p:cNvSpPr txBox="true"/>
          <p:nvPr/>
        </p:nvSpPr>
        <p:spPr>
          <a:xfrm rot="0">
            <a:off x="6329724"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&amp; đổi chiều</a:t>
            </a:r>
          </a:p>
        </p:txBody>
      </p:sp>
      <p:sp>
        <p:nvSpPr>
          <p:cNvPr name="TextBox 84" id="84"/>
          <p:cNvSpPr txBox="true"/>
          <p:nvPr/>
        </p:nvSpPr>
        <p:spPr>
          <a:xfrm rot="0">
            <a:off x="14595120" y="7819552"/>
            <a:ext cx="1555353"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Bàn giao vận tải liên tỉnh</a:t>
            </a:r>
          </a:p>
        </p:txBody>
      </p:sp>
      <p:sp>
        <p:nvSpPr>
          <p:cNvPr name="TextBox 85" id="85"/>
          <p:cNvSpPr txBox="true"/>
          <p:nvPr/>
        </p:nvSpPr>
        <p:spPr>
          <a:xfrm rot="0">
            <a:off x="12480730" y="7819552"/>
            <a:ext cx="1391764"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a:t>
            </a:r>
            <a:r>
              <a:rPr lang="en-US" sz="1700">
                <a:solidFill>
                  <a:srgbClr val="FFFFFF"/>
                </a:solidFill>
                <a:latin typeface="Poppins"/>
                <a:ea typeface="Poppins"/>
                <a:cs typeface="Poppins"/>
                <a:sym typeface="Poppins"/>
              </a:rPr>
              <a:t>óng bao &amp; lặp manifest</a:t>
            </a:r>
          </a:p>
        </p:txBody>
      </p:sp>
      <p:sp>
        <p:nvSpPr>
          <p:cNvPr name="TextBox 86" id="86"/>
          <p:cNvSpPr txBox="true"/>
          <p:nvPr/>
        </p:nvSpPr>
        <p:spPr>
          <a:xfrm rot="0">
            <a:off x="10436461" y="7671915"/>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Chia chọn theo tuyến đích</a:t>
            </a:r>
          </a:p>
        </p:txBody>
      </p:sp>
      <p:sp>
        <p:nvSpPr>
          <p:cNvPr name="TextBox 87" id="87"/>
          <p:cNvSpPr txBox="true"/>
          <p:nvPr/>
        </p:nvSpPr>
        <p:spPr>
          <a:xfrm rot="0">
            <a:off x="8381469"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Quét, cân, đo DWS</a:t>
            </a:r>
          </a:p>
        </p:txBody>
      </p:sp>
      <p:sp>
        <p:nvSpPr>
          <p:cNvPr name="Freeform 88" id="8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89" id="89"/>
          <p:cNvGrpSpPr/>
          <p:nvPr/>
        </p:nvGrpSpPr>
        <p:grpSpPr>
          <a:xfrm rot="0">
            <a:off x="15066479" y="4798467"/>
            <a:ext cx="2257939" cy="1206589"/>
            <a:chOff x="0" y="0"/>
            <a:chExt cx="760513" cy="406400"/>
          </a:xfrm>
        </p:grpSpPr>
        <p:sp>
          <p:nvSpPr>
            <p:cNvPr name="Freeform 90" id="90"/>
            <p:cNvSpPr/>
            <p:nvPr/>
          </p:nvSpPr>
          <p:spPr>
            <a:xfrm flipH="false" flipV="false" rot="0">
              <a:off x="0" y="0"/>
              <a:ext cx="760513" cy="406400"/>
            </a:xfrm>
            <a:custGeom>
              <a:avLst/>
              <a:gdLst/>
              <a:ahLst/>
              <a:cxnLst/>
              <a:rect r="r" b="b" t="t" l="l"/>
              <a:pathLst>
                <a:path h="406400" w="760513">
                  <a:moveTo>
                    <a:pt x="0" y="0"/>
                  </a:moveTo>
                  <a:lnTo>
                    <a:pt x="557313" y="0"/>
                  </a:lnTo>
                  <a:lnTo>
                    <a:pt x="760513" y="203200"/>
                  </a:lnTo>
                  <a:lnTo>
                    <a:pt x="557313" y="406400"/>
                  </a:lnTo>
                  <a:lnTo>
                    <a:pt x="0" y="406400"/>
                  </a:lnTo>
                  <a:lnTo>
                    <a:pt x="203200" y="203200"/>
                  </a:lnTo>
                  <a:lnTo>
                    <a:pt x="0" y="0"/>
                  </a:lnTo>
                  <a:close/>
                </a:path>
              </a:pathLst>
            </a:custGeom>
            <a:solidFill>
              <a:srgbClr val="BD0016"/>
            </a:solidFill>
          </p:spPr>
        </p:sp>
        <p:sp>
          <p:nvSpPr>
            <p:cNvPr name="TextBox 91" id="91"/>
            <p:cNvSpPr txBox="true"/>
            <p:nvPr/>
          </p:nvSpPr>
          <p:spPr>
            <a:xfrm>
              <a:off x="177800" y="-57150"/>
              <a:ext cx="506513" cy="463550"/>
            </a:xfrm>
            <a:prstGeom prst="rect">
              <a:avLst/>
            </a:prstGeom>
          </p:spPr>
          <p:txBody>
            <a:bodyPr anchor="ctr" rtlCol="false" tIns="50800" lIns="50800" bIns="50800" rIns="50800"/>
            <a:lstStyle/>
            <a:p>
              <a:pPr algn="ctr">
                <a:lnSpc>
                  <a:spcPts val="2380"/>
                </a:lnSpc>
                <a:spcBef>
                  <a:spcPct val="0"/>
                </a:spcBef>
              </a:pPr>
            </a:p>
          </p:txBody>
        </p:sp>
      </p:grpSp>
      <p:sp>
        <p:nvSpPr>
          <p:cNvPr name="TextBox 92" id="92"/>
          <p:cNvSpPr txBox="true"/>
          <p:nvPr/>
        </p:nvSpPr>
        <p:spPr>
          <a:xfrm rot="0">
            <a:off x="15712250" y="4963955"/>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Quét, cân &amp; phân loại sơ bộ</a:t>
            </a:r>
          </a:p>
        </p:txBody>
      </p:sp>
      <p:sp>
        <p:nvSpPr>
          <p:cNvPr name="TextBox 93" id="93"/>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595629" y="684937"/>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10" id="10"/>
          <p:cNvSpPr txBox="true"/>
          <p:nvPr/>
        </p:nvSpPr>
        <p:spPr>
          <a:xfrm rot="0">
            <a:off x="1595629" y="1054449"/>
            <a:ext cx="3048901"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KIẾN TRÚC CÁC QUY TRÌNH</a:t>
            </a:r>
          </a:p>
        </p:txBody>
      </p:sp>
      <p:sp>
        <p:nvSpPr>
          <p:cNvPr name="TextBox 11" id="11"/>
          <p:cNvSpPr txBox="true"/>
          <p:nvPr/>
        </p:nvSpPr>
        <p:spPr>
          <a:xfrm rot="0">
            <a:off x="536860" y="2411999"/>
            <a:ext cx="5531565" cy="1680972"/>
          </a:xfrm>
          <a:prstGeom prst="rect">
            <a:avLst/>
          </a:prstGeom>
        </p:spPr>
        <p:txBody>
          <a:bodyPr anchor="t" rtlCol="false" tIns="0" lIns="0" bIns="0" rIns="0">
            <a:spAutoFit/>
          </a:bodyPr>
          <a:lstStyle/>
          <a:p>
            <a:pPr algn="l" marL="0" indent="0" lvl="0">
              <a:lnSpc>
                <a:spcPts val="6384"/>
              </a:lnSpc>
              <a:spcBef>
                <a:spcPct val="0"/>
              </a:spcBef>
            </a:pPr>
            <a:r>
              <a:rPr lang="en-US" b="true" sz="5600" strike="noStrike" u="none">
                <a:solidFill>
                  <a:srgbClr val="100643"/>
                </a:solidFill>
                <a:latin typeface="Poppins Bold"/>
                <a:ea typeface="Poppins Bold"/>
                <a:cs typeface="Poppins Bold"/>
                <a:sym typeface="Poppins Bold"/>
              </a:rPr>
              <a:t>Quy trình cốt lõi vận chuyển</a:t>
            </a:r>
          </a:p>
        </p:txBody>
      </p:sp>
      <p:sp>
        <p:nvSpPr>
          <p:cNvPr name="TextBox 12" id="12"/>
          <p:cNvSpPr txBox="true"/>
          <p:nvPr/>
        </p:nvSpPr>
        <p:spPr>
          <a:xfrm rot="0">
            <a:off x="536860" y="5131684"/>
            <a:ext cx="4107670"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TIẾP NHẬN TẠI ĐIỂM ĐÍCH, LUÂN CHUYỂN GIỮA CÁC TỈNH VÀ HOÀN TẤT GIAO HÀNG TẬN NƠI</a:t>
            </a:r>
          </a:p>
        </p:txBody>
      </p:sp>
      <p:sp>
        <p:nvSpPr>
          <p:cNvPr name="TextBox 13" id="13"/>
          <p:cNvSpPr txBox="true"/>
          <p:nvPr/>
        </p:nvSpPr>
        <p:spPr>
          <a:xfrm rot="0">
            <a:off x="1430516" y="9505290"/>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4" id="14"/>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5" id="15"/>
          <p:cNvSpPr txBox="true"/>
          <p:nvPr/>
        </p:nvSpPr>
        <p:spPr>
          <a:xfrm rot="0">
            <a:off x="4943639" y="684937"/>
            <a:ext cx="13007473"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KIẾN TRÚC QUY TRÌNH VÀ LỰA CHỌN QUY TRÌNH PHÂN TÍCH</a:t>
            </a:r>
          </a:p>
        </p:txBody>
      </p:sp>
      <p:grpSp>
        <p:nvGrpSpPr>
          <p:cNvPr name="Group 16" id="16"/>
          <p:cNvGrpSpPr/>
          <p:nvPr/>
        </p:nvGrpSpPr>
        <p:grpSpPr>
          <a:xfrm rot="0">
            <a:off x="5862786" y="1998248"/>
            <a:ext cx="2413178" cy="1206589"/>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18" id="1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19" id="19"/>
          <p:cNvGrpSpPr/>
          <p:nvPr/>
        </p:nvGrpSpPr>
        <p:grpSpPr>
          <a:xfrm rot="0">
            <a:off x="7952987" y="1998248"/>
            <a:ext cx="2413178" cy="120658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1" id="2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2" id="22"/>
          <p:cNvGrpSpPr/>
          <p:nvPr/>
        </p:nvGrpSpPr>
        <p:grpSpPr>
          <a:xfrm rot="0">
            <a:off x="10058253" y="1998248"/>
            <a:ext cx="2413178" cy="1206589"/>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4" id="2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5" id="25"/>
          <p:cNvGrpSpPr/>
          <p:nvPr/>
        </p:nvGrpSpPr>
        <p:grpSpPr>
          <a:xfrm rot="0">
            <a:off x="12115671" y="1998248"/>
            <a:ext cx="2413178" cy="1206589"/>
            <a:chOff x="0" y="0"/>
            <a:chExt cx="812800" cy="406400"/>
          </a:xfrm>
        </p:grpSpPr>
        <p:sp>
          <p:nvSpPr>
            <p:cNvPr name="Freeform 26" id="2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7" id="2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8" id="28"/>
          <p:cNvGrpSpPr/>
          <p:nvPr/>
        </p:nvGrpSpPr>
        <p:grpSpPr>
          <a:xfrm rot="0">
            <a:off x="14252606" y="1998248"/>
            <a:ext cx="2413178" cy="1206589"/>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0" id="3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1" id="31"/>
          <p:cNvGrpSpPr/>
          <p:nvPr/>
        </p:nvGrpSpPr>
        <p:grpSpPr>
          <a:xfrm rot="0">
            <a:off x="5576631" y="7547093"/>
            <a:ext cx="2413178" cy="1206589"/>
            <a:chOff x="0" y="0"/>
            <a:chExt cx="812800" cy="406400"/>
          </a:xfrm>
        </p:grpSpPr>
        <p:sp>
          <p:nvSpPr>
            <p:cNvPr name="Freeform 32" id="3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3" id="33"/>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4" id="34"/>
          <p:cNvGrpSpPr/>
          <p:nvPr/>
        </p:nvGrpSpPr>
        <p:grpSpPr>
          <a:xfrm rot="0">
            <a:off x="7666832" y="7547093"/>
            <a:ext cx="2413178" cy="1206589"/>
            <a:chOff x="0" y="0"/>
            <a:chExt cx="812800" cy="406400"/>
          </a:xfrm>
        </p:grpSpPr>
        <p:sp>
          <p:nvSpPr>
            <p:cNvPr name="Freeform 35" id="3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6" id="36"/>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7" id="37"/>
          <p:cNvGrpSpPr/>
          <p:nvPr/>
        </p:nvGrpSpPr>
        <p:grpSpPr>
          <a:xfrm rot="0">
            <a:off x="9772098" y="7547093"/>
            <a:ext cx="2413178" cy="1206589"/>
            <a:chOff x="0" y="0"/>
            <a:chExt cx="812800" cy="406400"/>
          </a:xfrm>
        </p:grpSpPr>
        <p:sp>
          <p:nvSpPr>
            <p:cNvPr name="Freeform 38" id="3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9" id="39"/>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0" id="40"/>
          <p:cNvGrpSpPr/>
          <p:nvPr/>
        </p:nvGrpSpPr>
        <p:grpSpPr>
          <a:xfrm rot="0">
            <a:off x="11829517" y="7547093"/>
            <a:ext cx="2413178" cy="1206589"/>
            <a:chOff x="0" y="0"/>
            <a:chExt cx="812800" cy="406400"/>
          </a:xfrm>
        </p:grpSpPr>
        <p:sp>
          <p:nvSpPr>
            <p:cNvPr name="Freeform 41" id="4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2" id="42"/>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3" id="43"/>
          <p:cNvGrpSpPr/>
          <p:nvPr/>
        </p:nvGrpSpPr>
        <p:grpSpPr>
          <a:xfrm rot="0">
            <a:off x="13966451" y="7547093"/>
            <a:ext cx="2647308" cy="1206589"/>
            <a:chOff x="0" y="0"/>
            <a:chExt cx="891659" cy="406400"/>
          </a:xfrm>
        </p:grpSpPr>
        <p:sp>
          <p:nvSpPr>
            <p:cNvPr name="Freeform 44" id="44"/>
            <p:cNvSpPr/>
            <p:nvPr/>
          </p:nvSpPr>
          <p:spPr>
            <a:xfrm flipH="false" flipV="false" rot="0">
              <a:off x="0" y="0"/>
              <a:ext cx="891659" cy="406400"/>
            </a:xfrm>
            <a:custGeom>
              <a:avLst/>
              <a:gdLst/>
              <a:ahLst/>
              <a:cxnLst/>
              <a:rect r="r" b="b" t="t" l="l"/>
              <a:pathLst>
                <a:path h="406400" w="891659">
                  <a:moveTo>
                    <a:pt x="0" y="0"/>
                  </a:moveTo>
                  <a:lnTo>
                    <a:pt x="688459" y="0"/>
                  </a:lnTo>
                  <a:lnTo>
                    <a:pt x="891659" y="203200"/>
                  </a:lnTo>
                  <a:lnTo>
                    <a:pt x="688459" y="406400"/>
                  </a:lnTo>
                  <a:lnTo>
                    <a:pt x="0" y="406400"/>
                  </a:lnTo>
                  <a:lnTo>
                    <a:pt x="203200" y="203200"/>
                  </a:lnTo>
                  <a:lnTo>
                    <a:pt x="0" y="0"/>
                  </a:lnTo>
                  <a:close/>
                </a:path>
              </a:pathLst>
            </a:custGeom>
            <a:solidFill>
              <a:srgbClr val="BD0016"/>
            </a:solidFill>
          </p:spPr>
        </p:sp>
        <p:sp>
          <p:nvSpPr>
            <p:cNvPr name="TextBox 45" id="45"/>
            <p:cNvSpPr txBox="true"/>
            <p:nvPr/>
          </p:nvSpPr>
          <p:spPr>
            <a:xfrm>
              <a:off x="177800" y="-57150"/>
              <a:ext cx="637659"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6" id="46"/>
          <p:cNvGrpSpPr/>
          <p:nvPr/>
        </p:nvGrpSpPr>
        <p:grpSpPr>
          <a:xfrm rot="0">
            <a:off x="5862786" y="1317081"/>
            <a:ext cx="573423" cy="573423"/>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48" id="48"/>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49" id="49"/>
          <p:cNvGrpSpPr/>
          <p:nvPr/>
        </p:nvGrpSpPr>
        <p:grpSpPr>
          <a:xfrm rot="0">
            <a:off x="5576074" y="6718345"/>
            <a:ext cx="573423" cy="573423"/>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51" id="51"/>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52" id="52"/>
          <p:cNvSpPr txBox="true"/>
          <p:nvPr/>
        </p:nvSpPr>
        <p:spPr>
          <a:xfrm rot="0">
            <a:off x="6656295" y="1319821"/>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VẬN CHUYỂN LIÊN TỈNH</a:t>
            </a:r>
          </a:p>
        </p:txBody>
      </p:sp>
      <p:sp>
        <p:nvSpPr>
          <p:cNvPr name="TextBox 53" id="53"/>
          <p:cNvSpPr txBox="true"/>
          <p:nvPr/>
        </p:nvSpPr>
        <p:spPr>
          <a:xfrm rot="0">
            <a:off x="6369027" y="6759311"/>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GIAO HÀNG TẬN NƠI &amp; XÁC NHẬN</a:t>
            </a:r>
          </a:p>
        </p:txBody>
      </p:sp>
      <p:sp>
        <p:nvSpPr>
          <p:cNvPr name="TextBox 54" id="54"/>
          <p:cNvSpPr txBox="true"/>
          <p:nvPr/>
        </p:nvSpPr>
        <p:spPr>
          <a:xfrm rot="0">
            <a:off x="14947950" y="2092769"/>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tại trung tâm đến</a:t>
            </a:r>
          </a:p>
        </p:txBody>
      </p:sp>
      <p:sp>
        <p:nvSpPr>
          <p:cNvPr name="TextBox 55" id="55"/>
          <p:cNvSpPr txBox="true"/>
          <p:nvPr/>
        </p:nvSpPr>
        <p:spPr>
          <a:xfrm rot="0">
            <a:off x="8668738" y="2268511"/>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phân loại</a:t>
            </a:r>
          </a:p>
        </p:txBody>
      </p:sp>
      <p:sp>
        <p:nvSpPr>
          <p:cNvPr name="TextBox 56" id="56"/>
          <p:cNvSpPr txBox="true"/>
          <p:nvPr/>
        </p:nvSpPr>
        <p:spPr>
          <a:xfrm rot="0">
            <a:off x="12792571" y="2240407"/>
            <a:ext cx="1513117"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Vận chuyển liên tỉnh</a:t>
            </a:r>
          </a:p>
        </p:txBody>
      </p:sp>
      <p:sp>
        <p:nvSpPr>
          <p:cNvPr name="TextBox 57" id="57"/>
          <p:cNvSpPr txBox="true"/>
          <p:nvPr/>
        </p:nvSpPr>
        <p:spPr>
          <a:xfrm rot="0">
            <a:off x="10789291" y="2123070"/>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Lập bảng kê &amp; bàn giao xe</a:t>
            </a:r>
          </a:p>
        </p:txBody>
      </p:sp>
      <p:sp>
        <p:nvSpPr>
          <p:cNvPr name="TextBox 58" id="58"/>
          <p:cNvSpPr txBox="true"/>
          <p:nvPr/>
        </p:nvSpPr>
        <p:spPr>
          <a:xfrm rot="0">
            <a:off x="6487525" y="2240407"/>
            <a:ext cx="1533513"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&amp; tập kết hàng</a:t>
            </a:r>
          </a:p>
        </p:txBody>
      </p:sp>
      <p:sp>
        <p:nvSpPr>
          <p:cNvPr name="TextBox 59" id="59"/>
          <p:cNvSpPr txBox="true"/>
          <p:nvPr/>
        </p:nvSpPr>
        <p:spPr>
          <a:xfrm rot="0">
            <a:off x="6222068" y="7819552"/>
            <a:ext cx="1513117"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thông tin giao</a:t>
            </a:r>
          </a:p>
        </p:txBody>
      </p:sp>
      <p:sp>
        <p:nvSpPr>
          <p:cNvPr name="TextBox 60" id="60"/>
          <p:cNvSpPr txBox="true"/>
          <p:nvPr/>
        </p:nvSpPr>
        <p:spPr>
          <a:xfrm rot="0">
            <a:off x="14626068" y="7708001"/>
            <a:ext cx="178339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Ghi nhận OTP/POD &amp; cập nhật</a:t>
            </a:r>
          </a:p>
        </p:txBody>
      </p:sp>
      <p:sp>
        <p:nvSpPr>
          <p:cNvPr name="TextBox 61" id="61"/>
          <p:cNvSpPr txBox="true"/>
          <p:nvPr/>
        </p:nvSpPr>
        <p:spPr>
          <a:xfrm rot="0">
            <a:off x="12609127" y="7819552"/>
            <a:ext cx="120037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Thu COD nếu có</a:t>
            </a:r>
          </a:p>
        </p:txBody>
      </p:sp>
      <p:sp>
        <p:nvSpPr>
          <p:cNvPr name="TextBox 62" id="62"/>
          <p:cNvSpPr txBox="true"/>
          <p:nvPr/>
        </p:nvSpPr>
        <p:spPr>
          <a:xfrm rot="0">
            <a:off x="10478079" y="781955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Liên hệ &amp; giao hàng</a:t>
            </a:r>
          </a:p>
        </p:txBody>
      </p:sp>
      <p:sp>
        <p:nvSpPr>
          <p:cNvPr name="TextBox 63" id="63"/>
          <p:cNvSpPr txBox="true"/>
          <p:nvPr/>
        </p:nvSpPr>
        <p:spPr>
          <a:xfrm rot="0">
            <a:off x="8286219" y="7708001"/>
            <a:ext cx="1390629"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Phân công tuyến &amp; bàn giao</a:t>
            </a:r>
          </a:p>
        </p:txBody>
      </p:sp>
      <p:sp>
        <p:nvSpPr>
          <p:cNvPr name="Freeform 64" id="64"/>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65" id="65"/>
          <p:cNvGrpSpPr/>
          <p:nvPr/>
        </p:nvGrpSpPr>
        <p:grpSpPr>
          <a:xfrm rot="0">
            <a:off x="5737327" y="4823347"/>
            <a:ext cx="2413178" cy="1206589"/>
            <a:chOff x="0" y="0"/>
            <a:chExt cx="812800" cy="406400"/>
          </a:xfrm>
        </p:grpSpPr>
        <p:sp>
          <p:nvSpPr>
            <p:cNvPr name="Freeform 66" id="6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67" id="6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68" id="68"/>
          <p:cNvGrpSpPr/>
          <p:nvPr/>
        </p:nvGrpSpPr>
        <p:grpSpPr>
          <a:xfrm rot="0">
            <a:off x="7827528" y="4823347"/>
            <a:ext cx="2413178" cy="1206589"/>
            <a:chOff x="0" y="0"/>
            <a:chExt cx="812800" cy="406400"/>
          </a:xfrm>
        </p:grpSpPr>
        <p:sp>
          <p:nvSpPr>
            <p:cNvPr name="Freeform 69" id="6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70" id="7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71" id="71"/>
          <p:cNvGrpSpPr/>
          <p:nvPr/>
        </p:nvGrpSpPr>
        <p:grpSpPr>
          <a:xfrm rot="0">
            <a:off x="9932793" y="4823347"/>
            <a:ext cx="2413178" cy="1206589"/>
            <a:chOff x="0" y="0"/>
            <a:chExt cx="812800" cy="406400"/>
          </a:xfrm>
        </p:grpSpPr>
        <p:sp>
          <p:nvSpPr>
            <p:cNvPr name="Freeform 72" id="7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73" id="73"/>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74" id="74"/>
          <p:cNvGrpSpPr/>
          <p:nvPr/>
        </p:nvGrpSpPr>
        <p:grpSpPr>
          <a:xfrm rot="0">
            <a:off x="11990212" y="4823347"/>
            <a:ext cx="2413178" cy="1206589"/>
            <a:chOff x="0" y="0"/>
            <a:chExt cx="812800" cy="406400"/>
          </a:xfrm>
        </p:grpSpPr>
        <p:sp>
          <p:nvSpPr>
            <p:cNvPr name="Freeform 75" id="7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76" id="76"/>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77" id="77"/>
          <p:cNvGrpSpPr/>
          <p:nvPr/>
        </p:nvGrpSpPr>
        <p:grpSpPr>
          <a:xfrm rot="0">
            <a:off x="14127147" y="4823347"/>
            <a:ext cx="2413178" cy="1206589"/>
            <a:chOff x="0" y="0"/>
            <a:chExt cx="812800" cy="406400"/>
          </a:xfrm>
        </p:grpSpPr>
        <p:sp>
          <p:nvSpPr>
            <p:cNvPr name="Freeform 78" id="7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79" id="79"/>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80" id="80"/>
          <p:cNvGrpSpPr/>
          <p:nvPr/>
        </p:nvGrpSpPr>
        <p:grpSpPr>
          <a:xfrm rot="0">
            <a:off x="5736770" y="4052562"/>
            <a:ext cx="573423" cy="573423"/>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82" id="82"/>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83" id="83"/>
          <p:cNvSpPr txBox="true"/>
          <p:nvPr/>
        </p:nvSpPr>
        <p:spPr>
          <a:xfrm rot="0">
            <a:off x="6530279" y="4106694"/>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TIẾP NHẬN TẠI BƯU CỤC ĐÍCH &amp; PHÂN BỔ TUYẾN GIAO</a:t>
            </a:r>
          </a:p>
        </p:txBody>
      </p:sp>
      <p:sp>
        <p:nvSpPr>
          <p:cNvPr name="TextBox 84" id="84"/>
          <p:cNvSpPr txBox="true"/>
          <p:nvPr/>
        </p:nvSpPr>
        <p:spPr>
          <a:xfrm rot="0">
            <a:off x="6371076" y="5095807"/>
            <a:ext cx="1457009"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&amp; kiểm tra seal</a:t>
            </a:r>
          </a:p>
        </p:txBody>
      </p:sp>
      <p:sp>
        <p:nvSpPr>
          <p:cNvPr name="TextBox 85" id="85"/>
          <p:cNvSpPr txBox="true"/>
          <p:nvPr/>
        </p:nvSpPr>
        <p:spPr>
          <a:xfrm rot="0">
            <a:off x="12664170" y="5055032"/>
            <a:ext cx="144134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Cân bằng tải &amp; khóa tuyến</a:t>
            </a:r>
          </a:p>
        </p:txBody>
      </p:sp>
      <p:sp>
        <p:nvSpPr>
          <p:cNvPr name="TextBox 86" id="86"/>
          <p:cNvSpPr txBox="true"/>
          <p:nvPr/>
        </p:nvSpPr>
        <p:spPr>
          <a:xfrm rot="0">
            <a:off x="10597713" y="4948169"/>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điều kiện phân tuyến</a:t>
            </a:r>
          </a:p>
        </p:txBody>
      </p:sp>
      <p:sp>
        <p:nvSpPr>
          <p:cNvPr name="TextBox 87" id="87"/>
          <p:cNvSpPr txBox="true"/>
          <p:nvPr/>
        </p:nvSpPr>
        <p:spPr>
          <a:xfrm rot="0">
            <a:off x="8634431" y="5055032"/>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Mở bao &amp; quét nhập</a:t>
            </a:r>
          </a:p>
        </p:txBody>
      </p:sp>
      <p:sp>
        <p:nvSpPr>
          <p:cNvPr name="TextBox 88" id="88"/>
          <p:cNvSpPr txBox="true"/>
          <p:nvPr/>
        </p:nvSpPr>
        <p:spPr>
          <a:xfrm rot="0">
            <a:off x="14879641" y="5055032"/>
            <a:ext cx="1276251"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Bàn giao cho bưu tá</a:t>
            </a:r>
          </a:p>
        </p:txBody>
      </p:sp>
      <p:sp>
        <p:nvSpPr>
          <p:cNvPr name="TextBox 89" id="89"/>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595629" y="684937"/>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10" id="10"/>
          <p:cNvSpPr txBox="true"/>
          <p:nvPr/>
        </p:nvSpPr>
        <p:spPr>
          <a:xfrm rot="0">
            <a:off x="1595629" y="1054449"/>
            <a:ext cx="3048901"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KIẾN TRÚC CÁC QUY TRÌNH</a:t>
            </a:r>
          </a:p>
        </p:txBody>
      </p:sp>
      <p:sp>
        <p:nvSpPr>
          <p:cNvPr name="TextBox 11" id="11"/>
          <p:cNvSpPr txBox="true"/>
          <p:nvPr/>
        </p:nvSpPr>
        <p:spPr>
          <a:xfrm rot="0">
            <a:off x="536860" y="2402474"/>
            <a:ext cx="5199910"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Quy trình cốt lõi sau giao</a:t>
            </a:r>
          </a:p>
        </p:txBody>
      </p:sp>
      <p:sp>
        <p:nvSpPr>
          <p:cNvPr name="TextBox 12" id="12"/>
          <p:cNvSpPr txBox="true"/>
          <p:nvPr/>
        </p:nvSpPr>
        <p:spPr>
          <a:xfrm rot="0">
            <a:off x="536860" y="5131684"/>
            <a:ext cx="4107670"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HOÀN TẤT NGHĨA VỤ TÀI CHÍNH VÀ XỬ LÝ CÁC TRƯỜNG HỢP KHÔNG THỂ KẾT THÚC THEO LUỒNG GIAO THÔNG THƯỜNG</a:t>
            </a:r>
          </a:p>
        </p:txBody>
      </p:sp>
      <p:sp>
        <p:nvSpPr>
          <p:cNvPr name="TextBox 13" id="13"/>
          <p:cNvSpPr txBox="true"/>
          <p:nvPr/>
        </p:nvSpPr>
        <p:spPr>
          <a:xfrm rot="0">
            <a:off x="1430516" y="9505290"/>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4" id="14"/>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5" id="15"/>
          <p:cNvSpPr txBox="true"/>
          <p:nvPr/>
        </p:nvSpPr>
        <p:spPr>
          <a:xfrm rot="0">
            <a:off x="4943639" y="684937"/>
            <a:ext cx="13007473"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KIẾN TRÚC QUY TRÌNH VÀ LỰA CHỌN QUY TRÌNH PHÂN TÍCH</a:t>
            </a:r>
          </a:p>
        </p:txBody>
      </p:sp>
      <p:grpSp>
        <p:nvGrpSpPr>
          <p:cNvPr name="Group 16" id="16"/>
          <p:cNvGrpSpPr/>
          <p:nvPr/>
        </p:nvGrpSpPr>
        <p:grpSpPr>
          <a:xfrm rot="0">
            <a:off x="5769669" y="2936759"/>
            <a:ext cx="2582780" cy="1206589"/>
            <a:chOff x="0" y="0"/>
            <a:chExt cx="869925" cy="406400"/>
          </a:xfrm>
        </p:grpSpPr>
        <p:sp>
          <p:nvSpPr>
            <p:cNvPr name="Freeform 17" id="17"/>
            <p:cNvSpPr/>
            <p:nvPr/>
          </p:nvSpPr>
          <p:spPr>
            <a:xfrm flipH="false" flipV="false" rot="0">
              <a:off x="0" y="0"/>
              <a:ext cx="869925" cy="406400"/>
            </a:xfrm>
            <a:custGeom>
              <a:avLst/>
              <a:gdLst/>
              <a:ahLst/>
              <a:cxnLst/>
              <a:rect r="r" b="b" t="t" l="l"/>
              <a:pathLst>
                <a:path h="406400" w="869925">
                  <a:moveTo>
                    <a:pt x="0" y="0"/>
                  </a:moveTo>
                  <a:lnTo>
                    <a:pt x="666725" y="0"/>
                  </a:lnTo>
                  <a:lnTo>
                    <a:pt x="869925" y="203200"/>
                  </a:lnTo>
                  <a:lnTo>
                    <a:pt x="666725" y="406400"/>
                  </a:lnTo>
                  <a:lnTo>
                    <a:pt x="0" y="406400"/>
                  </a:lnTo>
                  <a:lnTo>
                    <a:pt x="203200" y="203200"/>
                  </a:lnTo>
                  <a:lnTo>
                    <a:pt x="0" y="0"/>
                  </a:lnTo>
                  <a:close/>
                </a:path>
              </a:pathLst>
            </a:custGeom>
            <a:solidFill>
              <a:srgbClr val="BD0016"/>
            </a:solidFill>
          </p:spPr>
        </p:sp>
        <p:sp>
          <p:nvSpPr>
            <p:cNvPr name="TextBox 18" id="18"/>
            <p:cNvSpPr txBox="true"/>
            <p:nvPr/>
          </p:nvSpPr>
          <p:spPr>
            <a:xfrm>
              <a:off x="177800" y="-57150"/>
              <a:ext cx="615925"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19" id="19"/>
          <p:cNvGrpSpPr/>
          <p:nvPr/>
        </p:nvGrpSpPr>
        <p:grpSpPr>
          <a:xfrm rot="0">
            <a:off x="7985035" y="2936759"/>
            <a:ext cx="2413178" cy="120658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1" id="2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2" id="22"/>
          <p:cNvGrpSpPr/>
          <p:nvPr/>
        </p:nvGrpSpPr>
        <p:grpSpPr>
          <a:xfrm rot="0">
            <a:off x="9965136" y="2936759"/>
            <a:ext cx="2413178" cy="1206589"/>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4" id="2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5" id="25"/>
          <p:cNvGrpSpPr/>
          <p:nvPr/>
        </p:nvGrpSpPr>
        <p:grpSpPr>
          <a:xfrm rot="0">
            <a:off x="12022555" y="2936759"/>
            <a:ext cx="2413178" cy="1206589"/>
            <a:chOff x="0" y="0"/>
            <a:chExt cx="812800" cy="406400"/>
          </a:xfrm>
        </p:grpSpPr>
        <p:sp>
          <p:nvSpPr>
            <p:cNvPr name="Freeform 26" id="2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7" id="2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8" id="28"/>
          <p:cNvGrpSpPr/>
          <p:nvPr/>
        </p:nvGrpSpPr>
        <p:grpSpPr>
          <a:xfrm rot="0">
            <a:off x="14159490" y="2936759"/>
            <a:ext cx="2413178" cy="1206589"/>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0" id="3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1" id="31"/>
          <p:cNvGrpSpPr/>
          <p:nvPr/>
        </p:nvGrpSpPr>
        <p:grpSpPr>
          <a:xfrm rot="0">
            <a:off x="5736770" y="5844542"/>
            <a:ext cx="2413178" cy="1206589"/>
            <a:chOff x="0" y="0"/>
            <a:chExt cx="812800" cy="406400"/>
          </a:xfrm>
        </p:grpSpPr>
        <p:sp>
          <p:nvSpPr>
            <p:cNvPr name="Freeform 32" id="3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3" id="33"/>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4" id="34"/>
          <p:cNvGrpSpPr/>
          <p:nvPr/>
        </p:nvGrpSpPr>
        <p:grpSpPr>
          <a:xfrm rot="0">
            <a:off x="7826971" y="5844542"/>
            <a:ext cx="2413178" cy="1206589"/>
            <a:chOff x="0" y="0"/>
            <a:chExt cx="812800" cy="406400"/>
          </a:xfrm>
        </p:grpSpPr>
        <p:sp>
          <p:nvSpPr>
            <p:cNvPr name="Freeform 35" id="3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6" id="36"/>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7" id="37"/>
          <p:cNvGrpSpPr/>
          <p:nvPr/>
        </p:nvGrpSpPr>
        <p:grpSpPr>
          <a:xfrm rot="0">
            <a:off x="9932237" y="5844542"/>
            <a:ext cx="2413178" cy="1206589"/>
            <a:chOff x="0" y="0"/>
            <a:chExt cx="812800" cy="406400"/>
          </a:xfrm>
        </p:grpSpPr>
        <p:sp>
          <p:nvSpPr>
            <p:cNvPr name="Freeform 38" id="3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9" id="39"/>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0" id="40"/>
          <p:cNvGrpSpPr/>
          <p:nvPr/>
        </p:nvGrpSpPr>
        <p:grpSpPr>
          <a:xfrm rot="0">
            <a:off x="11989655" y="5844542"/>
            <a:ext cx="2413178" cy="1206589"/>
            <a:chOff x="0" y="0"/>
            <a:chExt cx="812800" cy="406400"/>
          </a:xfrm>
        </p:grpSpPr>
        <p:sp>
          <p:nvSpPr>
            <p:cNvPr name="Freeform 41" id="4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2" id="42"/>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3" id="43"/>
          <p:cNvGrpSpPr/>
          <p:nvPr/>
        </p:nvGrpSpPr>
        <p:grpSpPr>
          <a:xfrm rot="0">
            <a:off x="14126590" y="5844542"/>
            <a:ext cx="2413178" cy="1206589"/>
            <a:chOff x="0" y="0"/>
            <a:chExt cx="812800" cy="406400"/>
          </a:xfrm>
        </p:grpSpPr>
        <p:sp>
          <p:nvSpPr>
            <p:cNvPr name="Freeform 44" id="44"/>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5" id="45"/>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6" id="46"/>
          <p:cNvGrpSpPr/>
          <p:nvPr/>
        </p:nvGrpSpPr>
        <p:grpSpPr>
          <a:xfrm rot="0">
            <a:off x="5769113" y="2165974"/>
            <a:ext cx="573423" cy="573423"/>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48" id="48"/>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49" id="49"/>
          <p:cNvGrpSpPr/>
          <p:nvPr/>
        </p:nvGrpSpPr>
        <p:grpSpPr>
          <a:xfrm rot="0">
            <a:off x="5736770" y="5163376"/>
            <a:ext cx="573423" cy="573423"/>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51" id="51"/>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52" id="52"/>
          <p:cNvSpPr txBox="true"/>
          <p:nvPr/>
        </p:nvSpPr>
        <p:spPr>
          <a:xfrm rot="0">
            <a:off x="6562622" y="2220107"/>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XỬ LÝ THU HỘ COD &amp; CHUYỂN TIỀN</a:t>
            </a:r>
          </a:p>
        </p:txBody>
      </p:sp>
      <p:sp>
        <p:nvSpPr>
          <p:cNvPr name="TextBox 53" id="53"/>
          <p:cNvSpPr txBox="true"/>
          <p:nvPr/>
        </p:nvSpPr>
        <p:spPr>
          <a:xfrm rot="0">
            <a:off x="6530279" y="5166116"/>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QUẢN LÝ HOÀN TRẢ</a:t>
            </a:r>
          </a:p>
        </p:txBody>
      </p:sp>
      <p:sp>
        <p:nvSpPr>
          <p:cNvPr name="TextBox 54" id="54"/>
          <p:cNvSpPr txBox="true"/>
          <p:nvPr/>
        </p:nvSpPr>
        <p:spPr>
          <a:xfrm rot="0">
            <a:off x="6403419" y="3209219"/>
            <a:ext cx="1596605"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Tạo &amp; tiếp nhận đơn COD</a:t>
            </a:r>
          </a:p>
        </p:txBody>
      </p:sp>
      <p:sp>
        <p:nvSpPr>
          <p:cNvPr name="TextBox 55" id="55"/>
          <p:cNvSpPr txBox="true"/>
          <p:nvPr/>
        </p:nvSpPr>
        <p:spPr>
          <a:xfrm rot="0">
            <a:off x="12825990" y="3164410"/>
            <a:ext cx="1441346" cy="604520"/>
          </a:xfrm>
          <a:prstGeom prst="rect">
            <a:avLst/>
          </a:prstGeom>
        </p:spPr>
        <p:txBody>
          <a:bodyPr anchor="t" rtlCol="false" tIns="0" lIns="0" bIns="0" rIns="0">
            <a:spAutoFit/>
          </a:bodyPr>
          <a:lstStyle/>
          <a:p>
            <a:pPr algn="l">
              <a:lnSpc>
                <a:spcPts val="2380"/>
              </a:lnSpc>
            </a:pPr>
            <a:r>
              <a:rPr lang="en-US" sz="1700">
                <a:solidFill>
                  <a:srgbClr val="FFFFFF"/>
                </a:solidFill>
                <a:latin typeface="Poppins"/>
                <a:ea typeface="Poppins"/>
                <a:cs typeface="Poppins"/>
                <a:sym typeface="Poppins"/>
              </a:rPr>
              <a:t>Nộp chứng từ &amp; đối soát</a:t>
            </a:r>
          </a:p>
        </p:txBody>
      </p:sp>
      <p:sp>
        <p:nvSpPr>
          <p:cNvPr name="TextBox 56" id="56"/>
          <p:cNvSpPr txBox="true"/>
          <p:nvPr/>
        </p:nvSpPr>
        <p:spPr>
          <a:xfrm rot="0">
            <a:off x="10639331" y="3168444"/>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Giao hàng &amp; thu COD</a:t>
            </a:r>
          </a:p>
        </p:txBody>
      </p:sp>
      <p:sp>
        <p:nvSpPr>
          <p:cNvPr name="TextBox 57" id="57"/>
          <p:cNvSpPr txBox="true"/>
          <p:nvPr/>
        </p:nvSpPr>
        <p:spPr>
          <a:xfrm rot="0">
            <a:off x="8666774" y="3168444"/>
            <a:ext cx="1524882"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Lấy &amp; luân chuyển hàng</a:t>
            </a:r>
          </a:p>
        </p:txBody>
      </p:sp>
      <p:sp>
        <p:nvSpPr>
          <p:cNvPr name="TextBox 58" id="58"/>
          <p:cNvSpPr txBox="true"/>
          <p:nvPr/>
        </p:nvSpPr>
        <p:spPr>
          <a:xfrm rot="0">
            <a:off x="14786338" y="3209219"/>
            <a:ext cx="1443715"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Chuyển tiền / xử lý ngoại lệ</a:t>
            </a:r>
          </a:p>
        </p:txBody>
      </p:sp>
      <p:sp>
        <p:nvSpPr>
          <p:cNvPr name="TextBox 59" id="59"/>
          <p:cNvSpPr txBox="true"/>
          <p:nvPr/>
        </p:nvSpPr>
        <p:spPr>
          <a:xfrm rot="0">
            <a:off x="14764784" y="6117680"/>
            <a:ext cx="1465270"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Bồi thường nếu phát sinh</a:t>
            </a:r>
          </a:p>
        </p:txBody>
      </p:sp>
      <p:sp>
        <p:nvSpPr>
          <p:cNvPr name="TextBox 60" id="60"/>
          <p:cNvSpPr txBox="true"/>
          <p:nvPr/>
        </p:nvSpPr>
        <p:spPr>
          <a:xfrm rot="0">
            <a:off x="8542722" y="6114806"/>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a:t>
            </a:r>
            <a:r>
              <a:rPr lang="en-US" sz="1700">
                <a:solidFill>
                  <a:srgbClr val="FFFFFF"/>
                </a:solidFill>
                <a:latin typeface="Poppins"/>
                <a:ea typeface="Poppins"/>
                <a:cs typeface="Poppins"/>
                <a:sym typeface="Poppins"/>
              </a:rPr>
              <a:t>iều phối thu hồi</a:t>
            </a:r>
          </a:p>
        </p:txBody>
      </p:sp>
      <p:sp>
        <p:nvSpPr>
          <p:cNvPr name="TextBox 61" id="61"/>
          <p:cNvSpPr txBox="true"/>
          <p:nvPr/>
        </p:nvSpPr>
        <p:spPr>
          <a:xfrm rot="0">
            <a:off x="12680842" y="6117680"/>
            <a:ext cx="1513117"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Nhập kho hoặc xuất trả</a:t>
            </a:r>
          </a:p>
        </p:txBody>
      </p:sp>
      <p:sp>
        <p:nvSpPr>
          <p:cNvPr name="TextBox 62" id="62"/>
          <p:cNvSpPr txBox="true"/>
          <p:nvPr/>
        </p:nvSpPr>
        <p:spPr>
          <a:xfrm rot="0">
            <a:off x="10606431" y="6114806"/>
            <a:ext cx="1383224"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Kiểm tra hàng tại kho</a:t>
            </a:r>
          </a:p>
        </p:txBody>
      </p:sp>
      <p:sp>
        <p:nvSpPr>
          <p:cNvPr name="TextBox 63" id="63"/>
          <p:cNvSpPr txBox="true"/>
          <p:nvPr/>
        </p:nvSpPr>
        <p:spPr>
          <a:xfrm rot="0">
            <a:off x="6403419" y="5970043"/>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&amp; kiểm tra hồ sơ</a:t>
            </a:r>
          </a:p>
        </p:txBody>
      </p:sp>
      <p:sp>
        <p:nvSpPr>
          <p:cNvPr name="Freeform 64" id="64"/>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65" id="6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595629" y="684937"/>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3</a:t>
            </a:r>
          </a:p>
        </p:txBody>
      </p:sp>
      <p:sp>
        <p:nvSpPr>
          <p:cNvPr name="TextBox 10" id="10"/>
          <p:cNvSpPr txBox="true"/>
          <p:nvPr/>
        </p:nvSpPr>
        <p:spPr>
          <a:xfrm rot="0">
            <a:off x="1595629" y="1054449"/>
            <a:ext cx="3048901"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KIẾN TRÚC CÁC QUY TRÌNH</a:t>
            </a:r>
          </a:p>
        </p:txBody>
      </p:sp>
      <p:sp>
        <p:nvSpPr>
          <p:cNvPr name="TextBox 11" id="11"/>
          <p:cNvSpPr txBox="true"/>
          <p:nvPr/>
        </p:nvSpPr>
        <p:spPr>
          <a:xfrm rot="0">
            <a:off x="536860" y="2402474"/>
            <a:ext cx="5199910"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Quy trình hỗ trợ</a:t>
            </a:r>
          </a:p>
        </p:txBody>
      </p:sp>
      <p:sp>
        <p:nvSpPr>
          <p:cNvPr name="TextBox 12" id="12"/>
          <p:cNvSpPr txBox="true"/>
          <p:nvPr/>
        </p:nvSpPr>
        <p:spPr>
          <a:xfrm rot="0">
            <a:off x="536860" y="5131684"/>
            <a:ext cx="4107670"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BẢO ĐẢM NGUỒN NHÂN LỰC, DUY TRÌ TRẢI NGHIỆM KHÁCH HÀNG VÀ HỖ TRỢ NỀN TẢNG CÔNG NGHỆ.</a:t>
            </a:r>
          </a:p>
        </p:txBody>
      </p:sp>
      <p:sp>
        <p:nvSpPr>
          <p:cNvPr name="TextBox 13" id="13"/>
          <p:cNvSpPr txBox="true"/>
          <p:nvPr/>
        </p:nvSpPr>
        <p:spPr>
          <a:xfrm rot="0">
            <a:off x="1430516" y="9505290"/>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4" id="14"/>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5" id="15"/>
          <p:cNvSpPr txBox="true"/>
          <p:nvPr/>
        </p:nvSpPr>
        <p:spPr>
          <a:xfrm rot="0">
            <a:off x="4943639" y="684937"/>
            <a:ext cx="13007473"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KIẾN TRÚC QUY TRÌNH VÀ LỰA CHỌN QUY TRÌNH PHÂN TÍCH</a:t>
            </a:r>
          </a:p>
        </p:txBody>
      </p:sp>
      <p:grpSp>
        <p:nvGrpSpPr>
          <p:cNvPr name="Group 16" id="16"/>
          <p:cNvGrpSpPr/>
          <p:nvPr/>
        </p:nvGrpSpPr>
        <p:grpSpPr>
          <a:xfrm rot="0">
            <a:off x="5576074" y="2114095"/>
            <a:ext cx="2413178" cy="1206589"/>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18" id="1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19" id="19"/>
          <p:cNvGrpSpPr/>
          <p:nvPr/>
        </p:nvGrpSpPr>
        <p:grpSpPr>
          <a:xfrm rot="0">
            <a:off x="7666276" y="2114095"/>
            <a:ext cx="2413178" cy="120658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1" id="2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2" id="22"/>
          <p:cNvGrpSpPr/>
          <p:nvPr/>
        </p:nvGrpSpPr>
        <p:grpSpPr>
          <a:xfrm rot="0">
            <a:off x="9771541" y="2114095"/>
            <a:ext cx="2413178" cy="1206589"/>
            <a:chOff x="0" y="0"/>
            <a:chExt cx="812800" cy="406400"/>
          </a:xfrm>
        </p:grpSpPr>
        <p:sp>
          <p:nvSpPr>
            <p:cNvPr name="Freeform 23" id="2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4" id="2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5" id="25"/>
          <p:cNvGrpSpPr/>
          <p:nvPr/>
        </p:nvGrpSpPr>
        <p:grpSpPr>
          <a:xfrm rot="0">
            <a:off x="11828960" y="2114095"/>
            <a:ext cx="2413178" cy="1206589"/>
            <a:chOff x="0" y="0"/>
            <a:chExt cx="812800" cy="406400"/>
          </a:xfrm>
        </p:grpSpPr>
        <p:sp>
          <p:nvSpPr>
            <p:cNvPr name="Freeform 26" id="2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27" id="2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28" id="28"/>
          <p:cNvGrpSpPr/>
          <p:nvPr/>
        </p:nvGrpSpPr>
        <p:grpSpPr>
          <a:xfrm rot="0">
            <a:off x="13965895" y="2114095"/>
            <a:ext cx="2413178" cy="1206589"/>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0" id="30"/>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1" id="31"/>
          <p:cNvGrpSpPr/>
          <p:nvPr/>
        </p:nvGrpSpPr>
        <p:grpSpPr>
          <a:xfrm rot="0">
            <a:off x="5575517" y="4756803"/>
            <a:ext cx="2413178" cy="1206589"/>
            <a:chOff x="0" y="0"/>
            <a:chExt cx="812800" cy="406400"/>
          </a:xfrm>
        </p:grpSpPr>
        <p:sp>
          <p:nvSpPr>
            <p:cNvPr name="Freeform 32" id="3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3" id="33"/>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4" id="34"/>
          <p:cNvGrpSpPr/>
          <p:nvPr/>
        </p:nvGrpSpPr>
        <p:grpSpPr>
          <a:xfrm rot="0">
            <a:off x="7665719" y="4756803"/>
            <a:ext cx="2580643" cy="1206589"/>
            <a:chOff x="0" y="0"/>
            <a:chExt cx="869205" cy="406400"/>
          </a:xfrm>
        </p:grpSpPr>
        <p:sp>
          <p:nvSpPr>
            <p:cNvPr name="Freeform 35" id="35"/>
            <p:cNvSpPr/>
            <p:nvPr/>
          </p:nvSpPr>
          <p:spPr>
            <a:xfrm flipH="false" flipV="false" rot="0">
              <a:off x="0" y="0"/>
              <a:ext cx="869205" cy="406400"/>
            </a:xfrm>
            <a:custGeom>
              <a:avLst/>
              <a:gdLst/>
              <a:ahLst/>
              <a:cxnLst/>
              <a:rect r="r" b="b" t="t" l="l"/>
              <a:pathLst>
                <a:path h="406400" w="869205">
                  <a:moveTo>
                    <a:pt x="0" y="0"/>
                  </a:moveTo>
                  <a:lnTo>
                    <a:pt x="666005" y="0"/>
                  </a:lnTo>
                  <a:lnTo>
                    <a:pt x="869205" y="203200"/>
                  </a:lnTo>
                  <a:lnTo>
                    <a:pt x="666005" y="406400"/>
                  </a:lnTo>
                  <a:lnTo>
                    <a:pt x="0" y="406400"/>
                  </a:lnTo>
                  <a:lnTo>
                    <a:pt x="203200" y="203200"/>
                  </a:lnTo>
                  <a:lnTo>
                    <a:pt x="0" y="0"/>
                  </a:lnTo>
                  <a:close/>
                </a:path>
              </a:pathLst>
            </a:custGeom>
            <a:solidFill>
              <a:srgbClr val="BD0016"/>
            </a:solidFill>
          </p:spPr>
        </p:sp>
        <p:sp>
          <p:nvSpPr>
            <p:cNvPr name="TextBox 36" id="36"/>
            <p:cNvSpPr txBox="true"/>
            <p:nvPr/>
          </p:nvSpPr>
          <p:spPr>
            <a:xfrm>
              <a:off x="177800" y="-57150"/>
              <a:ext cx="615205"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37" id="37"/>
          <p:cNvGrpSpPr/>
          <p:nvPr/>
        </p:nvGrpSpPr>
        <p:grpSpPr>
          <a:xfrm rot="0">
            <a:off x="9770984" y="4756803"/>
            <a:ext cx="2413178" cy="1206589"/>
            <a:chOff x="0" y="0"/>
            <a:chExt cx="812800" cy="406400"/>
          </a:xfrm>
        </p:grpSpPr>
        <p:sp>
          <p:nvSpPr>
            <p:cNvPr name="Freeform 38" id="3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39" id="39"/>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0" id="40"/>
          <p:cNvGrpSpPr/>
          <p:nvPr/>
        </p:nvGrpSpPr>
        <p:grpSpPr>
          <a:xfrm rot="0">
            <a:off x="11828403" y="4756803"/>
            <a:ext cx="2413178" cy="1206589"/>
            <a:chOff x="0" y="0"/>
            <a:chExt cx="812800" cy="406400"/>
          </a:xfrm>
        </p:grpSpPr>
        <p:sp>
          <p:nvSpPr>
            <p:cNvPr name="Freeform 41" id="4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2" id="42"/>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3" id="43"/>
          <p:cNvGrpSpPr/>
          <p:nvPr/>
        </p:nvGrpSpPr>
        <p:grpSpPr>
          <a:xfrm rot="0">
            <a:off x="13965338" y="4756803"/>
            <a:ext cx="2413178" cy="1206589"/>
            <a:chOff x="0" y="0"/>
            <a:chExt cx="812800" cy="406400"/>
          </a:xfrm>
        </p:grpSpPr>
        <p:sp>
          <p:nvSpPr>
            <p:cNvPr name="Freeform 44" id="44"/>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5" id="45"/>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p>
          </p:txBody>
        </p:sp>
      </p:grpSp>
      <p:grpSp>
        <p:nvGrpSpPr>
          <p:cNvPr name="Group 46" id="46"/>
          <p:cNvGrpSpPr/>
          <p:nvPr/>
        </p:nvGrpSpPr>
        <p:grpSpPr>
          <a:xfrm rot="0">
            <a:off x="5576631" y="7547093"/>
            <a:ext cx="2413178" cy="1206589"/>
            <a:chOff x="0" y="0"/>
            <a:chExt cx="812800" cy="406400"/>
          </a:xfrm>
        </p:grpSpPr>
        <p:sp>
          <p:nvSpPr>
            <p:cNvPr name="Freeform 47" id="4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48" id="48"/>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r>
                <a:rPr lang="en-US" sz="1700">
                  <a:solidFill>
                    <a:srgbClr val="FFFFFF"/>
                  </a:solidFill>
                  <a:latin typeface="Poppins"/>
                  <a:ea typeface="Poppins"/>
                  <a:cs typeface="Poppins"/>
                  <a:sym typeface="Poppins"/>
                </a:rPr>
                <a:t>Tiếp nhận sự cố</a:t>
              </a:r>
            </a:p>
          </p:txBody>
        </p:sp>
      </p:grpSp>
      <p:grpSp>
        <p:nvGrpSpPr>
          <p:cNvPr name="Group 49" id="49"/>
          <p:cNvGrpSpPr/>
          <p:nvPr/>
        </p:nvGrpSpPr>
        <p:grpSpPr>
          <a:xfrm rot="0">
            <a:off x="7666832" y="7547093"/>
            <a:ext cx="2413178" cy="1206589"/>
            <a:chOff x="0" y="0"/>
            <a:chExt cx="812800" cy="406400"/>
          </a:xfrm>
        </p:grpSpPr>
        <p:sp>
          <p:nvSpPr>
            <p:cNvPr name="Freeform 50" id="50"/>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1" id="51"/>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r>
                <a:rPr lang="en-US" sz="1700">
                  <a:solidFill>
                    <a:srgbClr val="FFFFFF"/>
                  </a:solidFill>
                  <a:latin typeface="Poppins"/>
                  <a:ea typeface="Poppins"/>
                  <a:cs typeface="Poppins"/>
                  <a:sym typeface="Poppins"/>
                </a:rPr>
                <a:t>Phân loại</a:t>
              </a:r>
            </a:p>
          </p:txBody>
        </p:sp>
      </p:grpSp>
      <p:grpSp>
        <p:nvGrpSpPr>
          <p:cNvPr name="Group 52" id="52"/>
          <p:cNvGrpSpPr/>
          <p:nvPr/>
        </p:nvGrpSpPr>
        <p:grpSpPr>
          <a:xfrm rot="0">
            <a:off x="9772098" y="7547093"/>
            <a:ext cx="2413178" cy="1206589"/>
            <a:chOff x="0" y="0"/>
            <a:chExt cx="812800" cy="406400"/>
          </a:xfrm>
        </p:grpSpPr>
        <p:sp>
          <p:nvSpPr>
            <p:cNvPr name="Freeform 53" id="5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4" id="54"/>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r>
                <a:rPr lang="en-US" sz="1700">
                  <a:solidFill>
                    <a:srgbClr val="FFFFFF"/>
                  </a:solidFill>
                  <a:latin typeface="Poppins"/>
                  <a:ea typeface="Poppins"/>
                  <a:cs typeface="Poppins"/>
                  <a:sym typeface="Poppins"/>
                </a:rPr>
                <a:t>Chẩn đoán</a:t>
              </a:r>
            </a:p>
          </p:txBody>
        </p:sp>
      </p:grpSp>
      <p:grpSp>
        <p:nvGrpSpPr>
          <p:cNvPr name="Group 55" id="55"/>
          <p:cNvGrpSpPr/>
          <p:nvPr/>
        </p:nvGrpSpPr>
        <p:grpSpPr>
          <a:xfrm rot="0">
            <a:off x="11829517" y="7547093"/>
            <a:ext cx="2413178" cy="1206589"/>
            <a:chOff x="0" y="0"/>
            <a:chExt cx="812800" cy="406400"/>
          </a:xfrm>
        </p:grpSpPr>
        <p:sp>
          <p:nvSpPr>
            <p:cNvPr name="Freeform 56" id="5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BD0016"/>
            </a:solidFill>
          </p:spPr>
        </p:sp>
        <p:sp>
          <p:nvSpPr>
            <p:cNvPr name="TextBox 57" id="57"/>
            <p:cNvSpPr txBox="true"/>
            <p:nvPr/>
          </p:nvSpPr>
          <p:spPr>
            <a:xfrm>
              <a:off x="177800" y="-57150"/>
              <a:ext cx="558800" cy="463550"/>
            </a:xfrm>
            <a:prstGeom prst="rect">
              <a:avLst/>
            </a:prstGeom>
          </p:spPr>
          <p:txBody>
            <a:bodyPr anchor="ctr" rtlCol="false" tIns="50800" lIns="50800" bIns="50800" rIns="50800"/>
            <a:lstStyle/>
            <a:p>
              <a:pPr algn="ctr">
                <a:lnSpc>
                  <a:spcPts val="2380"/>
                </a:lnSpc>
                <a:spcBef>
                  <a:spcPct val="0"/>
                </a:spcBef>
              </a:pPr>
              <a:r>
                <a:rPr lang="en-US" sz="1700">
                  <a:solidFill>
                    <a:srgbClr val="FFFFFF"/>
                  </a:solidFill>
                  <a:latin typeface="Poppins"/>
                  <a:ea typeface="Poppins"/>
                  <a:cs typeface="Poppins"/>
                  <a:sym typeface="Poppins"/>
                </a:rPr>
                <a:t>Khắc phục</a:t>
              </a:r>
            </a:p>
          </p:txBody>
        </p:sp>
      </p:grpSp>
      <p:grpSp>
        <p:nvGrpSpPr>
          <p:cNvPr name="Group 58" id="58"/>
          <p:cNvGrpSpPr/>
          <p:nvPr/>
        </p:nvGrpSpPr>
        <p:grpSpPr>
          <a:xfrm rot="0">
            <a:off x="13966451" y="7547093"/>
            <a:ext cx="2647308" cy="1206589"/>
            <a:chOff x="0" y="0"/>
            <a:chExt cx="891659" cy="406400"/>
          </a:xfrm>
        </p:grpSpPr>
        <p:sp>
          <p:nvSpPr>
            <p:cNvPr name="Freeform 59" id="59"/>
            <p:cNvSpPr/>
            <p:nvPr/>
          </p:nvSpPr>
          <p:spPr>
            <a:xfrm flipH="false" flipV="false" rot="0">
              <a:off x="0" y="0"/>
              <a:ext cx="891659" cy="406400"/>
            </a:xfrm>
            <a:custGeom>
              <a:avLst/>
              <a:gdLst/>
              <a:ahLst/>
              <a:cxnLst/>
              <a:rect r="r" b="b" t="t" l="l"/>
              <a:pathLst>
                <a:path h="406400" w="891659">
                  <a:moveTo>
                    <a:pt x="0" y="0"/>
                  </a:moveTo>
                  <a:lnTo>
                    <a:pt x="688459" y="0"/>
                  </a:lnTo>
                  <a:lnTo>
                    <a:pt x="891659" y="203200"/>
                  </a:lnTo>
                  <a:lnTo>
                    <a:pt x="688459" y="406400"/>
                  </a:lnTo>
                  <a:lnTo>
                    <a:pt x="0" y="406400"/>
                  </a:lnTo>
                  <a:lnTo>
                    <a:pt x="203200" y="203200"/>
                  </a:lnTo>
                  <a:lnTo>
                    <a:pt x="0" y="0"/>
                  </a:lnTo>
                  <a:close/>
                </a:path>
              </a:pathLst>
            </a:custGeom>
            <a:solidFill>
              <a:srgbClr val="BD0016"/>
            </a:solidFill>
          </p:spPr>
        </p:sp>
        <p:sp>
          <p:nvSpPr>
            <p:cNvPr name="TextBox 60" id="60"/>
            <p:cNvSpPr txBox="true"/>
            <p:nvPr/>
          </p:nvSpPr>
          <p:spPr>
            <a:xfrm>
              <a:off x="177800" y="-57150"/>
              <a:ext cx="637659" cy="463550"/>
            </a:xfrm>
            <a:prstGeom prst="rect">
              <a:avLst/>
            </a:prstGeom>
          </p:spPr>
          <p:txBody>
            <a:bodyPr anchor="ctr" rtlCol="false" tIns="50800" lIns="50800" bIns="50800" rIns="50800"/>
            <a:lstStyle/>
            <a:p>
              <a:pPr algn="ctr">
                <a:lnSpc>
                  <a:spcPts val="2380"/>
                </a:lnSpc>
                <a:spcBef>
                  <a:spcPct val="0"/>
                </a:spcBef>
              </a:pPr>
              <a:r>
                <a:rPr lang="en-US" sz="1700">
                  <a:solidFill>
                    <a:srgbClr val="FFFFFF"/>
                  </a:solidFill>
                  <a:latin typeface="Poppins"/>
                  <a:ea typeface="Poppins"/>
                  <a:cs typeface="Poppins"/>
                  <a:sym typeface="Poppins"/>
                </a:rPr>
                <a:t>Đóng yêu cầu</a:t>
              </a:r>
            </a:p>
          </p:txBody>
        </p:sp>
      </p:grpSp>
      <p:grpSp>
        <p:nvGrpSpPr>
          <p:cNvPr name="Group 61" id="61"/>
          <p:cNvGrpSpPr/>
          <p:nvPr/>
        </p:nvGrpSpPr>
        <p:grpSpPr>
          <a:xfrm rot="0">
            <a:off x="5575517" y="1343309"/>
            <a:ext cx="573423" cy="573423"/>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3" id="63"/>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4" id="64"/>
          <p:cNvGrpSpPr/>
          <p:nvPr/>
        </p:nvGrpSpPr>
        <p:grpSpPr>
          <a:xfrm rot="0">
            <a:off x="5575517" y="4075636"/>
            <a:ext cx="573423" cy="573423"/>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6" id="66"/>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67" id="67"/>
          <p:cNvGrpSpPr/>
          <p:nvPr/>
        </p:nvGrpSpPr>
        <p:grpSpPr>
          <a:xfrm rot="0">
            <a:off x="5576074" y="6718345"/>
            <a:ext cx="573423" cy="573423"/>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69" id="69"/>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TextBox 70" id="70"/>
          <p:cNvSpPr txBox="true"/>
          <p:nvPr/>
        </p:nvSpPr>
        <p:spPr>
          <a:xfrm rot="0">
            <a:off x="6369027" y="1397442"/>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QUY TRÌNH BÁO CÁO VÀ TUYỂN DỤNG</a:t>
            </a:r>
          </a:p>
        </p:txBody>
      </p:sp>
      <p:sp>
        <p:nvSpPr>
          <p:cNvPr name="TextBox 71" id="71"/>
          <p:cNvSpPr txBox="true"/>
          <p:nvPr/>
        </p:nvSpPr>
        <p:spPr>
          <a:xfrm rot="0">
            <a:off x="6369027" y="4078376"/>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CHĂM SÓC KHÁCH HÀNG</a:t>
            </a:r>
          </a:p>
        </p:txBody>
      </p:sp>
      <p:sp>
        <p:nvSpPr>
          <p:cNvPr name="TextBox 72" id="72"/>
          <p:cNvSpPr txBox="true"/>
          <p:nvPr/>
        </p:nvSpPr>
        <p:spPr>
          <a:xfrm rot="0">
            <a:off x="6325009" y="6759311"/>
            <a:ext cx="10244733" cy="424815"/>
          </a:xfrm>
          <a:prstGeom prst="rect">
            <a:avLst/>
          </a:prstGeom>
        </p:spPr>
        <p:txBody>
          <a:bodyPr anchor="t" rtlCol="false" tIns="0" lIns="0" bIns="0" rIns="0">
            <a:spAutoFit/>
          </a:bodyPr>
          <a:lstStyle/>
          <a:p>
            <a:pPr algn="l">
              <a:lnSpc>
                <a:spcPts val="3359"/>
              </a:lnSpc>
              <a:spcBef>
                <a:spcPct val="0"/>
              </a:spcBef>
            </a:pPr>
            <a:r>
              <a:rPr lang="en-US" sz="2399">
                <a:solidFill>
                  <a:srgbClr val="100643"/>
                </a:solidFill>
                <a:latin typeface="Poppins"/>
                <a:ea typeface="Poppins"/>
                <a:cs typeface="Poppins"/>
                <a:sym typeface="Poppins"/>
              </a:rPr>
              <a:t>QUẢN LÝ VÀ HỖ TRỢ HỆ THỐNG CNTT</a:t>
            </a:r>
          </a:p>
        </p:txBody>
      </p:sp>
      <p:sp>
        <p:nvSpPr>
          <p:cNvPr name="TextBox 73" id="73"/>
          <p:cNvSpPr txBox="true"/>
          <p:nvPr/>
        </p:nvSpPr>
        <p:spPr>
          <a:xfrm rot="0">
            <a:off x="6329724" y="2238917"/>
            <a:ext cx="1104027"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Đề xuất &amp; phê duyệt nhu cầu</a:t>
            </a:r>
          </a:p>
        </p:txBody>
      </p:sp>
      <p:sp>
        <p:nvSpPr>
          <p:cNvPr name="TextBox 74" id="74"/>
          <p:cNvSpPr txBox="true"/>
          <p:nvPr/>
        </p:nvSpPr>
        <p:spPr>
          <a:xfrm rot="0">
            <a:off x="12479995" y="2238917"/>
            <a:ext cx="144134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Đào tạo hội nhập &amp; đánh giá</a:t>
            </a:r>
          </a:p>
        </p:txBody>
      </p:sp>
      <p:sp>
        <p:nvSpPr>
          <p:cNvPr name="TextBox 75" id="75"/>
          <p:cNvSpPr txBox="true"/>
          <p:nvPr/>
        </p:nvSpPr>
        <p:spPr>
          <a:xfrm rot="0">
            <a:off x="10531711" y="2238917"/>
            <a:ext cx="1297806"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Ký HĐ thử việc 2 tháng</a:t>
            </a:r>
          </a:p>
        </p:txBody>
      </p:sp>
      <p:sp>
        <p:nvSpPr>
          <p:cNvPr name="TextBox 76" id="76"/>
          <p:cNvSpPr txBox="true"/>
          <p:nvPr/>
        </p:nvSpPr>
        <p:spPr>
          <a:xfrm rot="0">
            <a:off x="8320779" y="2238917"/>
            <a:ext cx="1393612" cy="899795"/>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Tuyển dụng, sàng lọc &amp; phỏng vấn</a:t>
            </a:r>
          </a:p>
        </p:txBody>
      </p:sp>
      <p:sp>
        <p:nvSpPr>
          <p:cNvPr name="TextBox 77" id="77"/>
          <p:cNvSpPr txBox="true"/>
          <p:nvPr/>
        </p:nvSpPr>
        <p:spPr>
          <a:xfrm rot="0">
            <a:off x="14699338" y="2355304"/>
            <a:ext cx="1276251"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Tuyển dụng chính thức</a:t>
            </a:r>
          </a:p>
        </p:txBody>
      </p:sp>
      <p:sp>
        <p:nvSpPr>
          <p:cNvPr name="TextBox 78" id="78"/>
          <p:cNvSpPr txBox="true"/>
          <p:nvPr/>
        </p:nvSpPr>
        <p:spPr>
          <a:xfrm rot="0">
            <a:off x="14641203" y="5027067"/>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Phản hồi &amp; đóng hồ sơ</a:t>
            </a:r>
          </a:p>
        </p:txBody>
      </p:sp>
      <p:sp>
        <p:nvSpPr>
          <p:cNvPr name="TextBox 79" id="79"/>
          <p:cNvSpPr txBox="true"/>
          <p:nvPr/>
        </p:nvSpPr>
        <p:spPr>
          <a:xfrm rot="0">
            <a:off x="8285487" y="4998962"/>
            <a:ext cx="1610834"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Tra cứu &amp; kiểm tra chứng từ</a:t>
            </a:r>
          </a:p>
        </p:txBody>
      </p:sp>
      <p:sp>
        <p:nvSpPr>
          <p:cNvPr name="TextBox 80" id="80"/>
          <p:cNvSpPr txBox="true"/>
          <p:nvPr/>
        </p:nvSpPr>
        <p:spPr>
          <a:xfrm rot="0">
            <a:off x="12502917" y="4998962"/>
            <a:ext cx="1513117"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Tư vấn hoặc đền bù</a:t>
            </a:r>
          </a:p>
        </p:txBody>
      </p:sp>
      <p:sp>
        <p:nvSpPr>
          <p:cNvPr name="TextBox 81" id="81"/>
          <p:cNvSpPr txBox="true"/>
          <p:nvPr/>
        </p:nvSpPr>
        <p:spPr>
          <a:xfrm rot="0">
            <a:off x="10408998" y="4998962"/>
            <a:ext cx="1465270"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Xác minh nguyên nhân</a:t>
            </a:r>
          </a:p>
        </p:txBody>
      </p:sp>
      <p:sp>
        <p:nvSpPr>
          <p:cNvPr name="TextBox 82" id="82"/>
          <p:cNvSpPr txBox="true"/>
          <p:nvPr/>
        </p:nvSpPr>
        <p:spPr>
          <a:xfrm rot="0">
            <a:off x="6329724" y="5038974"/>
            <a:ext cx="1297806" cy="604520"/>
          </a:xfrm>
          <a:prstGeom prst="rect">
            <a:avLst/>
          </a:prstGeom>
        </p:spPr>
        <p:txBody>
          <a:bodyPr anchor="t" rtlCol="false" tIns="0" lIns="0" bIns="0" rIns="0">
            <a:spAutoFit/>
          </a:bodyPr>
          <a:lstStyle/>
          <a:p>
            <a:pPr algn="l">
              <a:lnSpc>
                <a:spcPts val="2380"/>
              </a:lnSpc>
              <a:spcBef>
                <a:spcPct val="0"/>
              </a:spcBef>
            </a:pPr>
            <a:r>
              <a:rPr lang="en-US" sz="1700">
                <a:solidFill>
                  <a:srgbClr val="FFFFFF"/>
                </a:solidFill>
                <a:latin typeface="Poppins"/>
                <a:ea typeface="Poppins"/>
                <a:cs typeface="Poppins"/>
                <a:sym typeface="Poppins"/>
              </a:rPr>
              <a:t>Tiếp nhận yêu cầu</a:t>
            </a:r>
          </a:p>
        </p:txBody>
      </p:sp>
      <p:sp>
        <p:nvSpPr>
          <p:cNvPr name="Freeform 83" id="83"/>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84" id="84"/>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71725" cy="1333500"/>
          </a:xfrm>
          <a:custGeom>
            <a:avLst/>
            <a:gdLst/>
            <a:ahLst/>
            <a:cxnLst/>
            <a:rect r="r" b="b" t="t" l="l"/>
            <a:pathLst>
              <a:path h="1333500" w="2371725">
                <a:moveTo>
                  <a:pt x="0" y="0"/>
                </a:moveTo>
                <a:lnTo>
                  <a:pt x="2371725" y="0"/>
                </a:lnTo>
                <a:lnTo>
                  <a:pt x="2371725" y="1333500"/>
                </a:lnTo>
                <a:lnTo>
                  <a:pt x="0" y="1333500"/>
                </a:lnTo>
                <a:lnTo>
                  <a:pt x="0" y="0"/>
                </a:lnTo>
                <a:close/>
              </a:path>
            </a:pathLst>
          </a:custGeom>
          <a:blipFill>
            <a:blip r:embed="rId2"/>
            <a:stretch>
              <a:fillRect l="0" t="0" r="-1204" b="-12857"/>
            </a:stretch>
          </a:blipFill>
        </p:spPr>
      </p:sp>
      <p:sp>
        <p:nvSpPr>
          <p:cNvPr name="Freeform 3" id="3"/>
          <p:cNvSpPr/>
          <p:nvPr/>
        </p:nvSpPr>
        <p:spPr>
          <a:xfrm flipH="false" flipV="false" rot="0">
            <a:off x="428625" y="42862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3"/>
            <a:stretch>
              <a:fillRect l="0" t="0" r="0" b="0"/>
            </a:stretch>
          </a:blipFill>
        </p:spPr>
      </p:sp>
      <p:sp>
        <p:nvSpPr>
          <p:cNvPr name="TextBox 4" id="4"/>
          <p:cNvSpPr txBox="true"/>
          <p:nvPr/>
        </p:nvSpPr>
        <p:spPr>
          <a:xfrm rot="0">
            <a:off x="1591056" y="689801"/>
            <a:ext cx="1572768" cy="381000"/>
          </a:xfrm>
          <a:prstGeom prst="rect">
            <a:avLst/>
          </a:prstGeom>
        </p:spPr>
        <p:txBody>
          <a:bodyPr anchor="t" rtlCol="false" tIns="0" lIns="0" bIns="0" rIns="0">
            <a:spAutoFit/>
          </a:bodyPr>
          <a:lstStyle/>
          <a:p>
            <a:pPr algn="l">
              <a:lnSpc>
                <a:spcPts val="2889"/>
              </a:lnSpc>
            </a:pPr>
            <a:r>
              <a:rPr lang="en-US" b="true" sz="2407">
                <a:solidFill>
                  <a:srgbClr val="100643"/>
                </a:solidFill>
                <a:latin typeface="Poppins Bold"/>
                <a:ea typeface="Poppins Bold"/>
                <a:cs typeface="Poppins Bold"/>
                <a:sym typeface="Poppins Bold"/>
              </a:rPr>
              <a:t>Chương 4</a:t>
            </a:r>
          </a:p>
        </p:txBody>
      </p:sp>
      <p:sp>
        <p:nvSpPr>
          <p:cNvPr name="TextBox 5" id="5"/>
          <p:cNvSpPr txBox="true"/>
          <p:nvPr/>
        </p:nvSpPr>
        <p:spPr>
          <a:xfrm rot="0">
            <a:off x="629935" y="2379726"/>
            <a:ext cx="5230368" cy="1828800"/>
          </a:xfrm>
          <a:prstGeom prst="rect">
            <a:avLst/>
          </a:prstGeom>
        </p:spPr>
        <p:txBody>
          <a:bodyPr anchor="t" rtlCol="false" tIns="0" lIns="0" bIns="0" rIns="0">
            <a:spAutoFit/>
          </a:bodyPr>
          <a:lstStyle/>
          <a:p>
            <a:pPr algn="l">
              <a:lnSpc>
                <a:spcPts val="7006"/>
              </a:lnSpc>
            </a:pPr>
            <a:r>
              <a:rPr lang="en-US" b="true" sz="5838">
                <a:solidFill>
                  <a:srgbClr val="100643"/>
                </a:solidFill>
                <a:latin typeface="Poppins Bold"/>
                <a:ea typeface="Poppins Bold"/>
                <a:cs typeface="Poppins Bold"/>
                <a:sym typeface="Poppins Bold"/>
              </a:rPr>
              <a:t>Phương pháp</a:t>
            </a:r>
          </a:p>
          <a:p>
            <a:pPr algn="l">
              <a:lnSpc>
                <a:spcPts val="7006"/>
              </a:lnSpc>
            </a:pPr>
            <a:r>
              <a:rPr lang="en-US" b="true" sz="5838">
                <a:solidFill>
                  <a:srgbClr val="100643"/>
                </a:solidFill>
                <a:latin typeface="Poppins Bold"/>
                <a:ea typeface="Poppins Bold"/>
                <a:cs typeface="Poppins Bold"/>
                <a:sym typeface="Poppins Bold"/>
              </a:rPr>
              <a:t>thực hiện</a:t>
            </a:r>
          </a:p>
        </p:txBody>
      </p:sp>
      <p:sp>
        <p:nvSpPr>
          <p:cNvPr name="TextBox 6" id="6"/>
          <p:cNvSpPr txBox="true"/>
          <p:nvPr/>
        </p:nvSpPr>
        <p:spPr>
          <a:xfrm rot="0">
            <a:off x="1453515" y="6057900"/>
            <a:ext cx="3090672" cy="871047"/>
          </a:xfrm>
          <a:prstGeom prst="rect">
            <a:avLst/>
          </a:prstGeom>
        </p:spPr>
        <p:txBody>
          <a:bodyPr anchor="t" rtlCol="false" tIns="0" lIns="0" bIns="0" rIns="0">
            <a:spAutoFit/>
          </a:bodyPr>
          <a:lstStyle/>
          <a:p>
            <a:pPr algn="l">
              <a:lnSpc>
                <a:spcPts val="3439"/>
              </a:lnSpc>
            </a:pPr>
            <a:r>
              <a:rPr lang="en-US" sz="2456">
                <a:solidFill>
                  <a:srgbClr val="100643"/>
                </a:solidFill>
                <a:latin typeface="Poppins"/>
                <a:ea typeface="Poppins"/>
                <a:cs typeface="Poppins"/>
                <a:sym typeface="Poppins"/>
              </a:rPr>
              <a:t>Các phương pháp</a:t>
            </a:r>
          </a:p>
          <a:p>
            <a:pPr algn="l">
              <a:lnSpc>
                <a:spcPts val="3439"/>
              </a:lnSpc>
            </a:pPr>
            <a:r>
              <a:rPr lang="en-US" sz="2456">
                <a:solidFill>
                  <a:srgbClr val="100643"/>
                </a:solidFill>
                <a:latin typeface="Poppins"/>
                <a:ea typeface="Poppins"/>
                <a:cs typeface="Poppins"/>
                <a:sym typeface="Poppins"/>
              </a:rPr>
              <a:t>khám phá quy trình</a:t>
            </a:r>
          </a:p>
        </p:txBody>
      </p:sp>
      <p:sp>
        <p:nvSpPr>
          <p:cNvPr name="TextBox 7" id="7"/>
          <p:cNvSpPr txBox="true"/>
          <p:nvPr/>
        </p:nvSpPr>
        <p:spPr>
          <a:xfrm rot="0">
            <a:off x="9144000" y="2408301"/>
            <a:ext cx="5102352" cy="514350"/>
          </a:xfrm>
          <a:prstGeom prst="rect">
            <a:avLst/>
          </a:prstGeom>
        </p:spPr>
        <p:txBody>
          <a:bodyPr anchor="t" rtlCol="false" tIns="0" lIns="0" bIns="0" rIns="0">
            <a:spAutoFit/>
          </a:bodyPr>
          <a:lstStyle/>
          <a:p>
            <a:pPr algn="l">
              <a:lnSpc>
                <a:spcPts val="3867"/>
              </a:lnSpc>
            </a:pPr>
            <a:r>
              <a:rPr lang="en-US" b="true" sz="3223">
                <a:solidFill>
                  <a:srgbClr val="100643"/>
                </a:solidFill>
                <a:latin typeface="Poppins Bold"/>
                <a:ea typeface="Poppins Bold"/>
                <a:cs typeface="Poppins Bold"/>
                <a:sym typeface="Poppins Bold"/>
              </a:rPr>
              <a:t>Dựa trên bằng chứng</a:t>
            </a:r>
          </a:p>
        </p:txBody>
      </p:sp>
      <p:sp>
        <p:nvSpPr>
          <p:cNvPr name="TextBox 8" id="8"/>
          <p:cNvSpPr txBox="true"/>
          <p:nvPr/>
        </p:nvSpPr>
        <p:spPr>
          <a:xfrm rot="0">
            <a:off x="9144000" y="3520440"/>
            <a:ext cx="1993392" cy="295275"/>
          </a:xfrm>
          <a:prstGeom prst="rect">
            <a:avLst/>
          </a:prstGeom>
        </p:spPr>
        <p:txBody>
          <a:bodyPr anchor="t" rtlCol="false" tIns="0" lIns="0" bIns="0" rIns="0">
            <a:spAutoFit/>
          </a:bodyPr>
          <a:lstStyle/>
          <a:p>
            <a:pPr algn="l">
              <a:lnSpc>
                <a:spcPts val="2289"/>
              </a:lnSpc>
            </a:pPr>
            <a:r>
              <a:rPr lang="en-US" sz="1908">
                <a:solidFill>
                  <a:srgbClr val="100643"/>
                </a:solidFill>
                <a:latin typeface="Poppins"/>
                <a:ea typeface="Poppins"/>
                <a:cs typeface="Poppins"/>
                <a:sym typeface="Poppins"/>
              </a:rPr>
              <a:t>Phân tích tài liệu</a:t>
            </a:r>
          </a:p>
        </p:txBody>
      </p:sp>
      <p:sp>
        <p:nvSpPr>
          <p:cNvPr name="TextBox 9" id="9"/>
          <p:cNvSpPr txBox="true"/>
          <p:nvPr/>
        </p:nvSpPr>
        <p:spPr>
          <a:xfrm rot="0">
            <a:off x="9144000" y="5453253"/>
            <a:ext cx="2450592" cy="514350"/>
          </a:xfrm>
          <a:prstGeom prst="rect">
            <a:avLst/>
          </a:prstGeom>
        </p:spPr>
        <p:txBody>
          <a:bodyPr anchor="t" rtlCol="false" tIns="0" lIns="0" bIns="0" rIns="0">
            <a:spAutoFit/>
          </a:bodyPr>
          <a:lstStyle/>
          <a:p>
            <a:pPr algn="l">
              <a:lnSpc>
                <a:spcPts val="3867"/>
              </a:lnSpc>
            </a:pPr>
            <a:r>
              <a:rPr lang="en-US" b="true" sz="3223">
                <a:solidFill>
                  <a:srgbClr val="100643"/>
                </a:solidFill>
                <a:latin typeface="Poppins Bold"/>
                <a:ea typeface="Poppins Bold"/>
                <a:cs typeface="Poppins Bold"/>
                <a:sym typeface="Poppins Bold"/>
              </a:rPr>
              <a:t>Phỏng vấn</a:t>
            </a:r>
          </a:p>
        </p:txBody>
      </p:sp>
      <p:sp>
        <p:nvSpPr>
          <p:cNvPr name="TextBox 10" id="10"/>
          <p:cNvSpPr txBox="true"/>
          <p:nvPr/>
        </p:nvSpPr>
        <p:spPr>
          <a:xfrm rot="0">
            <a:off x="9144000" y="6494145"/>
            <a:ext cx="1097280" cy="314325"/>
          </a:xfrm>
          <a:prstGeom prst="rect">
            <a:avLst/>
          </a:prstGeom>
        </p:spPr>
        <p:txBody>
          <a:bodyPr anchor="t" rtlCol="false" tIns="0" lIns="0" bIns="0" rIns="0">
            <a:spAutoFit/>
          </a:bodyPr>
          <a:lstStyle/>
          <a:p>
            <a:pPr algn="l">
              <a:lnSpc>
                <a:spcPts val="2334"/>
              </a:lnSpc>
            </a:pPr>
            <a:r>
              <a:rPr lang="en-US" sz="1945">
                <a:solidFill>
                  <a:srgbClr val="100643"/>
                </a:solidFill>
                <a:latin typeface="Poppins"/>
                <a:ea typeface="Poppins"/>
                <a:cs typeface="Poppins"/>
                <a:sym typeface="Poppins"/>
              </a:rPr>
              <a:t>Định tính</a:t>
            </a:r>
          </a:p>
        </p:txBody>
      </p:sp>
      <p:sp>
        <p:nvSpPr>
          <p:cNvPr name="Freeform 11" id="11"/>
          <p:cNvSpPr/>
          <p:nvPr/>
        </p:nvSpPr>
        <p:spPr>
          <a:xfrm flipH="false" flipV="false" rot="0">
            <a:off x="11315700" y="6336982"/>
            <a:ext cx="447675" cy="647700"/>
          </a:xfrm>
          <a:custGeom>
            <a:avLst/>
            <a:gdLst/>
            <a:ahLst/>
            <a:cxnLst/>
            <a:rect r="r" b="b" t="t" l="l"/>
            <a:pathLst>
              <a:path h="647700" w="447675">
                <a:moveTo>
                  <a:pt x="0" y="0"/>
                </a:moveTo>
                <a:lnTo>
                  <a:pt x="447675" y="0"/>
                </a:lnTo>
                <a:lnTo>
                  <a:pt x="447675" y="647700"/>
                </a:lnTo>
                <a:lnTo>
                  <a:pt x="0" y="647700"/>
                </a:lnTo>
                <a:lnTo>
                  <a:pt x="0" y="0"/>
                </a:lnTo>
                <a:close/>
              </a:path>
            </a:pathLst>
          </a:custGeom>
          <a:blipFill>
            <a:blip r:embed="rId4"/>
            <a:stretch>
              <a:fillRect l="0" t="0" r="0" b="0"/>
            </a:stretch>
          </a:blipFill>
        </p:spPr>
      </p:sp>
      <p:sp>
        <p:nvSpPr>
          <p:cNvPr name="TextBox 12" id="12"/>
          <p:cNvSpPr txBox="true"/>
          <p:nvPr/>
        </p:nvSpPr>
        <p:spPr>
          <a:xfrm rot="0">
            <a:off x="11960352" y="6494145"/>
            <a:ext cx="1335024" cy="314325"/>
          </a:xfrm>
          <a:prstGeom prst="rect">
            <a:avLst/>
          </a:prstGeom>
        </p:spPr>
        <p:txBody>
          <a:bodyPr anchor="t" rtlCol="false" tIns="0" lIns="0" bIns="0" rIns="0">
            <a:spAutoFit/>
          </a:bodyPr>
          <a:lstStyle/>
          <a:p>
            <a:pPr algn="l">
              <a:lnSpc>
                <a:spcPts val="2334"/>
              </a:lnSpc>
            </a:pPr>
            <a:r>
              <a:rPr lang="en-US" sz="1945">
                <a:solidFill>
                  <a:srgbClr val="100643"/>
                </a:solidFill>
                <a:latin typeface="Poppins"/>
                <a:ea typeface="Poppins"/>
                <a:cs typeface="Poppins"/>
                <a:sym typeface="Poppins"/>
              </a:rPr>
              <a:t>Định lượng</a:t>
            </a:r>
          </a:p>
        </p:txBody>
      </p:sp>
      <p:sp>
        <p:nvSpPr>
          <p:cNvPr name="Freeform 13" id="13"/>
          <p:cNvSpPr/>
          <p:nvPr/>
        </p:nvSpPr>
        <p:spPr>
          <a:xfrm flipH="false" flipV="false" rot="0">
            <a:off x="16116300" y="7477125"/>
            <a:ext cx="2171700" cy="2809875"/>
          </a:xfrm>
          <a:custGeom>
            <a:avLst/>
            <a:gdLst/>
            <a:ahLst/>
            <a:cxnLst/>
            <a:rect r="r" b="b" t="t" l="l"/>
            <a:pathLst>
              <a:path h="2809875" w="2171700">
                <a:moveTo>
                  <a:pt x="0" y="0"/>
                </a:moveTo>
                <a:lnTo>
                  <a:pt x="2171700" y="0"/>
                </a:lnTo>
                <a:lnTo>
                  <a:pt x="2171700" y="2809875"/>
                </a:lnTo>
                <a:lnTo>
                  <a:pt x="0" y="2809875"/>
                </a:lnTo>
                <a:lnTo>
                  <a:pt x="0" y="0"/>
                </a:lnTo>
                <a:close/>
              </a:path>
            </a:pathLst>
          </a:custGeom>
          <a:blipFill>
            <a:blip r:embed="rId5"/>
            <a:stretch>
              <a:fillRect l="-10526" t="-6779" r="0" b="0"/>
            </a:stretch>
          </a:blipFill>
        </p:spPr>
      </p:sp>
      <p:sp>
        <p:nvSpPr>
          <p:cNvPr name="Freeform 14" id="14"/>
          <p:cNvSpPr/>
          <p:nvPr/>
        </p:nvSpPr>
        <p:spPr>
          <a:xfrm flipH="false" flipV="false" rot="0">
            <a:off x="16764000" y="9363075"/>
            <a:ext cx="1524000" cy="923925"/>
          </a:xfrm>
          <a:custGeom>
            <a:avLst/>
            <a:gdLst/>
            <a:ahLst/>
            <a:cxnLst/>
            <a:rect r="r" b="b" t="t" l="l"/>
            <a:pathLst>
              <a:path h="923925" w="1524000">
                <a:moveTo>
                  <a:pt x="0" y="0"/>
                </a:moveTo>
                <a:lnTo>
                  <a:pt x="1524000" y="0"/>
                </a:lnTo>
                <a:lnTo>
                  <a:pt x="1524000" y="923925"/>
                </a:lnTo>
                <a:lnTo>
                  <a:pt x="0" y="923925"/>
                </a:lnTo>
                <a:lnTo>
                  <a:pt x="0" y="0"/>
                </a:lnTo>
                <a:close/>
              </a:path>
            </a:pathLst>
          </a:custGeom>
          <a:blipFill>
            <a:blip r:embed="rId6"/>
            <a:stretch>
              <a:fillRect l="0" t="-16494" r="0" b="0"/>
            </a:stretch>
          </a:blipFill>
        </p:spPr>
      </p:sp>
      <p:sp>
        <p:nvSpPr>
          <p:cNvPr name="TextBox 15" id="15"/>
          <p:cNvSpPr txBox="true"/>
          <p:nvPr/>
        </p:nvSpPr>
        <p:spPr>
          <a:xfrm rot="0">
            <a:off x="1591056" y="1051179"/>
            <a:ext cx="3154671" cy="285750"/>
          </a:xfrm>
          <a:prstGeom prst="rect">
            <a:avLst/>
          </a:prstGeom>
        </p:spPr>
        <p:txBody>
          <a:bodyPr anchor="t" rtlCol="false" tIns="0" lIns="0" bIns="0" rIns="0">
            <a:spAutoFit/>
          </a:bodyPr>
          <a:lstStyle/>
          <a:p>
            <a:pPr algn="l">
              <a:lnSpc>
                <a:spcPts val="2166"/>
              </a:lnSpc>
            </a:pPr>
            <a:r>
              <a:rPr lang="en-US" sz="1805">
                <a:solidFill>
                  <a:srgbClr val="100643"/>
                </a:solidFill>
                <a:latin typeface="Poppins"/>
                <a:ea typeface="Poppins"/>
                <a:cs typeface="Poppins"/>
                <a:sym typeface="Poppins"/>
              </a:rPr>
              <a:t>PHƯƠNG PHÁP THỰC HIỆN</a:t>
            </a:r>
          </a:p>
        </p:txBody>
      </p:sp>
      <p:sp>
        <p:nvSpPr>
          <p:cNvPr name="Freeform 16" id="1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7" id="1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8" id="18"/>
          <p:cNvSpPr txBox="true"/>
          <p:nvPr/>
        </p:nvSpPr>
        <p:spPr>
          <a:xfrm rot="0">
            <a:off x="1430516" y="9506850"/>
            <a:ext cx="5340896" cy="347281"/>
          </a:xfrm>
          <a:prstGeom prst="rect">
            <a:avLst/>
          </a:prstGeom>
        </p:spPr>
        <p:txBody>
          <a:bodyPr anchor="t" rtlCol="false" tIns="0" lIns="0" bIns="0" rIns="0">
            <a:spAutoFit/>
          </a:bodyPr>
          <a:lstStyle/>
          <a:p>
            <a:pPr algn="l">
              <a:lnSpc>
                <a:spcPts val="2518"/>
              </a:lnSpc>
            </a:pPr>
            <a:r>
              <a:rPr lang="en-US" b="true" sz="2189">
                <a:solidFill>
                  <a:srgbClr val="100643"/>
                </a:solidFill>
                <a:latin typeface="Poppins Bold"/>
                <a:ea typeface="Poppins Bold"/>
                <a:cs typeface="Poppins Bold"/>
                <a:sym typeface="Poppins Bold"/>
              </a:rPr>
              <a:t>Hệ thống quản trị quy trình nghiệp vụ</a:t>
            </a:r>
          </a:p>
        </p:txBody>
      </p:sp>
      <p:sp>
        <p:nvSpPr>
          <p:cNvPr name="TextBox 19" id="19"/>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grpSp>
        <p:nvGrpSpPr>
          <p:cNvPr name="Group 20" id="20"/>
          <p:cNvGrpSpPr/>
          <p:nvPr/>
        </p:nvGrpSpPr>
        <p:grpSpPr>
          <a:xfrm rot="0">
            <a:off x="8343900" y="2436876"/>
            <a:ext cx="573423" cy="57342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22" id="22"/>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grpSp>
        <p:nvGrpSpPr>
          <p:cNvPr name="Group 23" id="23"/>
          <p:cNvGrpSpPr/>
          <p:nvPr/>
        </p:nvGrpSpPr>
        <p:grpSpPr>
          <a:xfrm rot="0">
            <a:off x="8343900" y="5584490"/>
            <a:ext cx="573423" cy="57342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D0016"/>
            </a:solidFill>
          </p:spPr>
        </p:sp>
        <p:sp>
          <p:nvSpPr>
            <p:cNvPr name="TextBox 25" id="25"/>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AutoShape 26" id="26"/>
          <p:cNvSpPr/>
          <p:nvPr/>
        </p:nvSpPr>
        <p:spPr>
          <a:xfrm>
            <a:off x="1200150" y="6010275"/>
            <a:ext cx="0" cy="1076325"/>
          </a:xfrm>
          <a:prstGeom prst="line">
            <a:avLst/>
          </a:prstGeom>
          <a:ln cap="flat" w="114300">
            <a:solidFill>
              <a:srgbClr val="100643"/>
            </a:solidFill>
            <a:prstDash val="solid"/>
            <a:headEnd type="none" len="sm" w="sm"/>
            <a:tailEnd type="none" len="sm" w="sm"/>
          </a:ln>
        </p:spPr>
      </p:sp>
      <p:sp>
        <p:nvSpPr>
          <p:cNvPr name="AutoShape 27" id="27"/>
          <p:cNvSpPr/>
          <p:nvPr/>
        </p:nvSpPr>
        <p:spPr>
          <a:xfrm>
            <a:off x="9144000" y="3105150"/>
            <a:ext cx="7839075" cy="0"/>
          </a:xfrm>
          <a:prstGeom prst="line">
            <a:avLst/>
          </a:prstGeom>
          <a:ln cap="flat" w="66675">
            <a:solidFill>
              <a:srgbClr val="100643"/>
            </a:solidFill>
            <a:prstDash val="solid"/>
            <a:headEnd type="none" len="sm" w="sm"/>
            <a:tailEnd type="none" len="sm" w="sm"/>
          </a:ln>
        </p:spPr>
      </p:sp>
      <p:sp>
        <p:nvSpPr>
          <p:cNvPr name="AutoShape 28" id="28"/>
          <p:cNvSpPr/>
          <p:nvPr/>
        </p:nvSpPr>
        <p:spPr>
          <a:xfrm>
            <a:off x="9144000" y="6105525"/>
            <a:ext cx="7839075" cy="0"/>
          </a:xfrm>
          <a:prstGeom prst="line">
            <a:avLst/>
          </a:prstGeom>
          <a:ln cap="flat" w="66675">
            <a:solidFill>
              <a:srgbClr val="100643"/>
            </a:solidFill>
            <a:prstDash val="solid"/>
            <a:headEnd type="none" len="sm" w="sm"/>
            <a:tailEnd type="none" len="sm" w="sm"/>
          </a:ln>
        </p:spPr>
      </p:sp>
      <p:sp>
        <p:nvSpPr>
          <p:cNvPr name="Freeform 29" id="29"/>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0" id="30"/>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1" id="3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057400" cy="1076325"/>
          </a:xfrm>
          <a:custGeom>
            <a:avLst/>
            <a:gdLst/>
            <a:ahLst/>
            <a:cxnLst/>
            <a:rect r="r" b="b" t="t" l="l"/>
            <a:pathLst>
              <a:path h="1076325" w="2057400">
                <a:moveTo>
                  <a:pt x="0" y="0"/>
                </a:moveTo>
                <a:lnTo>
                  <a:pt x="2057400" y="0"/>
                </a:lnTo>
                <a:lnTo>
                  <a:pt x="2057400" y="1076325"/>
                </a:lnTo>
                <a:lnTo>
                  <a:pt x="0" y="1076325"/>
                </a:lnTo>
                <a:lnTo>
                  <a:pt x="0" y="0"/>
                </a:lnTo>
                <a:close/>
              </a:path>
            </a:pathLst>
          </a:custGeom>
          <a:blipFill>
            <a:blip r:embed="rId2"/>
            <a:stretch>
              <a:fillRect l="0" t="0" r="-6018" b="0"/>
            </a:stretch>
          </a:blipFill>
        </p:spPr>
      </p:sp>
      <p:sp>
        <p:nvSpPr>
          <p:cNvPr name="TextBox 3" id="3"/>
          <p:cNvSpPr txBox="true"/>
          <p:nvPr/>
        </p:nvSpPr>
        <p:spPr>
          <a:xfrm rot="0">
            <a:off x="1115568" y="1579817"/>
            <a:ext cx="4462272" cy="565785"/>
          </a:xfrm>
          <a:prstGeom prst="rect">
            <a:avLst/>
          </a:prstGeom>
        </p:spPr>
        <p:txBody>
          <a:bodyPr anchor="t" rtlCol="false" tIns="0" lIns="0" bIns="0" rIns="0">
            <a:spAutoFit/>
          </a:bodyPr>
          <a:lstStyle/>
          <a:p>
            <a:pPr algn="l">
              <a:lnSpc>
                <a:spcPts val="3900"/>
              </a:lnSpc>
            </a:pPr>
            <a:r>
              <a:rPr lang="en-US" b="true" sz="3900">
                <a:solidFill>
                  <a:srgbClr val="100643"/>
                </a:solidFill>
                <a:latin typeface="Poppins Bold"/>
                <a:ea typeface="Poppins Bold"/>
                <a:cs typeface="Poppins Bold"/>
                <a:sym typeface="Poppins Bold"/>
              </a:rPr>
              <a:t>Phân tích tài liệu</a:t>
            </a:r>
          </a:p>
        </p:txBody>
      </p:sp>
      <p:sp>
        <p:nvSpPr>
          <p:cNvPr name="TextBox 4" id="4"/>
          <p:cNvSpPr txBox="true"/>
          <p:nvPr/>
        </p:nvSpPr>
        <p:spPr>
          <a:xfrm rot="0">
            <a:off x="1115568" y="2382203"/>
            <a:ext cx="10826496" cy="238125"/>
          </a:xfrm>
          <a:prstGeom prst="rect">
            <a:avLst/>
          </a:prstGeom>
        </p:spPr>
        <p:txBody>
          <a:bodyPr anchor="t" rtlCol="false" tIns="0" lIns="0" bIns="0" rIns="0">
            <a:spAutoFit/>
          </a:bodyPr>
          <a:lstStyle/>
          <a:p>
            <a:pPr algn="l">
              <a:lnSpc>
                <a:spcPts val="1860"/>
              </a:lnSpc>
            </a:pPr>
            <a:r>
              <a:rPr lang="en-US" sz="1550">
                <a:solidFill>
                  <a:srgbClr val="100643"/>
                </a:solidFill>
                <a:latin typeface="Poppins"/>
                <a:ea typeface="Poppins"/>
                <a:cs typeface="Poppins"/>
                <a:sym typeface="Poppins"/>
              </a:rPr>
              <a:t>Các nhóm tài liệu được sử dụng để mô tả hoạt động, trách nhiệm, quy tắc và kết quả của quy trình hiện có.</a:t>
            </a:r>
          </a:p>
        </p:txBody>
      </p:sp>
      <p:sp>
        <p:nvSpPr>
          <p:cNvPr name="Freeform 5" id="5"/>
          <p:cNvSpPr/>
          <p:nvPr/>
        </p:nvSpPr>
        <p:spPr>
          <a:xfrm flipH="false" flipV="false" rot="0">
            <a:off x="1143000" y="2933700"/>
            <a:ext cx="76200" cy="1162050"/>
          </a:xfrm>
          <a:custGeom>
            <a:avLst/>
            <a:gdLst/>
            <a:ahLst/>
            <a:cxnLst/>
            <a:rect r="r" b="b" t="t" l="l"/>
            <a:pathLst>
              <a:path h="1162050" w="76200">
                <a:moveTo>
                  <a:pt x="0" y="0"/>
                </a:moveTo>
                <a:lnTo>
                  <a:pt x="76200" y="0"/>
                </a:lnTo>
                <a:lnTo>
                  <a:pt x="76200" y="1162050"/>
                </a:lnTo>
                <a:lnTo>
                  <a:pt x="0" y="1162050"/>
                </a:lnTo>
                <a:lnTo>
                  <a:pt x="0" y="0"/>
                </a:lnTo>
                <a:close/>
              </a:path>
            </a:pathLst>
          </a:custGeom>
          <a:blipFill>
            <a:blip r:embed="rId3"/>
            <a:stretch>
              <a:fillRect l="-75000" t="-13114" r="-125000" b="-16393"/>
            </a:stretch>
          </a:blipFill>
        </p:spPr>
      </p:sp>
      <p:sp>
        <p:nvSpPr>
          <p:cNvPr name="Freeform 6" id="6"/>
          <p:cNvSpPr/>
          <p:nvPr/>
        </p:nvSpPr>
        <p:spPr>
          <a:xfrm flipH="false" flipV="false" rot="0">
            <a:off x="1200150" y="2933700"/>
            <a:ext cx="7858125" cy="1162050"/>
          </a:xfrm>
          <a:custGeom>
            <a:avLst/>
            <a:gdLst/>
            <a:ahLst/>
            <a:cxnLst/>
            <a:rect r="r" b="b" t="t" l="l"/>
            <a:pathLst>
              <a:path h="1162050" w="7858125">
                <a:moveTo>
                  <a:pt x="0" y="0"/>
                </a:moveTo>
                <a:lnTo>
                  <a:pt x="7858125" y="0"/>
                </a:lnTo>
                <a:lnTo>
                  <a:pt x="7858125" y="1162050"/>
                </a:lnTo>
                <a:lnTo>
                  <a:pt x="0" y="1162050"/>
                </a:lnTo>
                <a:lnTo>
                  <a:pt x="0" y="0"/>
                </a:lnTo>
                <a:close/>
              </a:path>
            </a:pathLst>
          </a:custGeom>
          <a:blipFill>
            <a:blip r:embed="rId4"/>
            <a:stretch>
              <a:fillRect l="-1454" t="-13114" r="-1090" b="-16393"/>
            </a:stretch>
          </a:blipFill>
        </p:spPr>
      </p:sp>
      <p:sp>
        <p:nvSpPr>
          <p:cNvPr name="TextBox 7" id="7"/>
          <p:cNvSpPr txBox="true"/>
          <p:nvPr/>
        </p:nvSpPr>
        <p:spPr>
          <a:xfrm rot="0">
            <a:off x="1508760" y="3558540"/>
            <a:ext cx="6498311"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Kiến trúc, các bước thực hiện, tác nhân và kết quả có thể xảy ra.</a:t>
            </a:r>
          </a:p>
        </p:txBody>
      </p:sp>
      <p:sp>
        <p:nvSpPr>
          <p:cNvPr name="Freeform 8" id="8"/>
          <p:cNvSpPr/>
          <p:nvPr/>
        </p:nvSpPr>
        <p:spPr>
          <a:xfrm flipH="false" flipV="false" rot="0">
            <a:off x="1143000" y="4162425"/>
            <a:ext cx="76200" cy="1171575"/>
          </a:xfrm>
          <a:custGeom>
            <a:avLst/>
            <a:gdLst/>
            <a:ahLst/>
            <a:cxnLst/>
            <a:rect r="r" b="b" t="t" l="l"/>
            <a:pathLst>
              <a:path h="1171575" w="76200">
                <a:moveTo>
                  <a:pt x="0" y="0"/>
                </a:moveTo>
                <a:lnTo>
                  <a:pt x="76200" y="0"/>
                </a:lnTo>
                <a:lnTo>
                  <a:pt x="76200" y="1171575"/>
                </a:lnTo>
                <a:lnTo>
                  <a:pt x="0" y="1171575"/>
                </a:lnTo>
                <a:lnTo>
                  <a:pt x="0" y="0"/>
                </a:lnTo>
                <a:close/>
              </a:path>
            </a:pathLst>
          </a:custGeom>
          <a:blipFill>
            <a:blip r:embed="rId5"/>
            <a:stretch>
              <a:fillRect l="-75000" t="-8130" r="-125000" b="-2439"/>
            </a:stretch>
          </a:blipFill>
        </p:spPr>
      </p:sp>
      <p:sp>
        <p:nvSpPr>
          <p:cNvPr name="Freeform 9" id="9"/>
          <p:cNvSpPr/>
          <p:nvPr/>
        </p:nvSpPr>
        <p:spPr>
          <a:xfrm flipH="false" flipV="false" rot="0">
            <a:off x="1200150" y="4162425"/>
            <a:ext cx="7858125" cy="1171575"/>
          </a:xfrm>
          <a:custGeom>
            <a:avLst/>
            <a:gdLst/>
            <a:ahLst/>
            <a:cxnLst/>
            <a:rect r="r" b="b" t="t" l="l"/>
            <a:pathLst>
              <a:path h="1171575" w="7858125">
                <a:moveTo>
                  <a:pt x="0" y="0"/>
                </a:moveTo>
                <a:lnTo>
                  <a:pt x="7858125" y="0"/>
                </a:lnTo>
                <a:lnTo>
                  <a:pt x="7858125" y="1171575"/>
                </a:lnTo>
                <a:lnTo>
                  <a:pt x="0" y="1171575"/>
                </a:lnTo>
                <a:lnTo>
                  <a:pt x="0" y="0"/>
                </a:lnTo>
                <a:close/>
              </a:path>
            </a:pathLst>
          </a:custGeom>
          <a:blipFill>
            <a:blip r:embed="rId6"/>
            <a:stretch>
              <a:fillRect l="-1454" t="-8130" r="-1090" b="-2439"/>
            </a:stretch>
          </a:blipFill>
        </p:spPr>
      </p:sp>
      <p:sp>
        <p:nvSpPr>
          <p:cNvPr name="TextBox 10" id="10"/>
          <p:cNvSpPr txBox="true"/>
          <p:nvPr/>
        </p:nvSpPr>
        <p:spPr>
          <a:xfrm rot="0">
            <a:off x="1508760" y="4792028"/>
            <a:ext cx="4666466"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Các phòng ban, vị trí và mối quan hệ phối hợp.</a:t>
            </a:r>
          </a:p>
        </p:txBody>
      </p:sp>
      <p:sp>
        <p:nvSpPr>
          <p:cNvPr name="Freeform 11" id="11"/>
          <p:cNvSpPr/>
          <p:nvPr/>
        </p:nvSpPr>
        <p:spPr>
          <a:xfrm flipH="false" flipV="false" rot="0">
            <a:off x="1143000" y="5391150"/>
            <a:ext cx="76200" cy="1162050"/>
          </a:xfrm>
          <a:custGeom>
            <a:avLst/>
            <a:gdLst/>
            <a:ahLst/>
            <a:cxnLst/>
            <a:rect r="r" b="b" t="t" l="l"/>
            <a:pathLst>
              <a:path h="1162050" w="76200">
                <a:moveTo>
                  <a:pt x="0" y="0"/>
                </a:moveTo>
                <a:lnTo>
                  <a:pt x="76200" y="0"/>
                </a:lnTo>
                <a:lnTo>
                  <a:pt x="76200" y="1162050"/>
                </a:lnTo>
                <a:lnTo>
                  <a:pt x="0" y="1162050"/>
                </a:lnTo>
                <a:lnTo>
                  <a:pt x="0" y="0"/>
                </a:lnTo>
                <a:close/>
              </a:path>
            </a:pathLst>
          </a:custGeom>
          <a:blipFill>
            <a:blip r:embed="rId7"/>
            <a:stretch>
              <a:fillRect l="-75000" t="-3278" r="-125000" b="-8196"/>
            </a:stretch>
          </a:blipFill>
        </p:spPr>
      </p:sp>
      <p:sp>
        <p:nvSpPr>
          <p:cNvPr name="Freeform 12" id="12"/>
          <p:cNvSpPr/>
          <p:nvPr/>
        </p:nvSpPr>
        <p:spPr>
          <a:xfrm flipH="false" flipV="false" rot="0">
            <a:off x="1200150" y="5391150"/>
            <a:ext cx="7858125" cy="1171575"/>
          </a:xfrm>
          <a:custGeom>
            <a:avLst/>
            <a:gdLst/>
            <a:ahLst/>
            <a:cxnLst/>
            <a:rect r="r" b="b" t="t" l="l"/>
            <a:pathLst>
              <a:path h="1171575" w="7858125">
                <a:moveTo>
                  <a:pt x="0" y="0"/>
                </a:moveTo>
                <a:lnTo>
                  <a:pt x="7858125" y="0"/>
                </a:lnTo>
                <a:lnTo>
                  <a:pt x="7858125" y="1171575"/>
                </a:lnTo>
                <a:lnTo>
                  <a:pt x="0" y="1171575"/>
                </a:lnTo>
                <a:lnTo>
                  <a:pt x="0" y="0"/>
                </a:lnTo>
                <a:close/>
              </a:path>
            </a:pathLst>
          </a:custGeom>
          <a:blipFill>
            <a:blip r:embed="rId8"/>
            <a:stretch>
              <a:fillRect l="-1454" t="-3252" r="-1090" b="-7317"/>
            </a:stretch>
          </a:blipFill>
        </p:spPr>
      </p:sp>
      <p:sp>
        <p:nvSpPr>
          <p:cNvPr name="TextBox 13" id="13"/>
          <p:cNvSpPr txBox="true"/>
          <p:nvPr/>
        </p:nvSpPr>
        <p:spPr>
          <a:xfrm rot="0">
            <a:off x="1508760" y="5996940"/>
            <a:ext cx="4548111"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Tỷ lệ đúng hạn, sai lịch, hoàn tất và khiếu nại</a:t>
            </a:r>
          </a:p>
        </p:txBody>
      </p:sp>
      <p:sp>
        <p:nvSpPr>
          <p:cNvPr name="Freeform 14" id="14"/>
          <p:cNvSpPr/>
          <p:nvPr/>
        </p:nvSpPr>
        <p:spPr>
          <a:xfrm flipH="false" flipV="false" rot="0">
            <a:off x="1085850" y="6429375"/>
            <a:ext cx="228600" cy="1504950"/>
          </a:xfrm>
          <a:custGeom>
            <a:avLst/>
            <a:gdLst/>
            <a:ahLst/>
            <a:cxnLst/>
            <a:rect r="r" b="b" t="t" l="l"/>
            <a:pathLst>
              <a:path h="1504950" w="228600">
                <a:moveTo>
                  <a:pt x="0" y="0"/>
                </a:moveTo>
                <a:lnTo>
                  <a:pt x="228600" y="0"/>
                </a:lnTo>
                <a:lnTo>
                  <a:pt x="228600" y="1504950"/>
                </a:lnTo>
                <a:lnTo>
                  <a:pt x="0" y="1504950"/>
                </a:lnTo>
                <a:lnTo>
                  <a:pt x="0" y="0"/>
                </a:lnTo>
                <a:close/>
              </a:path>
            </a:pathLst>
          </a:custGeom>
          <a:blipFill>
            <a:blip r:embed="rId9"/>
            <a:stretch>
              <a:fillRect l="0" t="0" r="0" b="0"/>
            </a:stretch>
          </a:blipFill>
        </p:spPr>
      </p:sp>
      <p:sp>
        <p:nvSpPr>
          <p:cNvPr name="Freeform 15" id="15"/>
          <p:cNvSpPr/>
          <p:nvPr/>
        </p:nvSpPr>
        <p:spPr>
          <a:xfrm flipH="false" flipV="false" rot="0">
            <a:off x="1200150" y="6619875"/>
            <a:ext cx="7858125" cy="1171575"/>
          </a:xfrm>
          <a:custGeom>
            <a:avLst/>
            <a:gdLst/>
            <a:ahLst/>
            <a:cxnLst/>
            <a:rect r="r" b="b" t="t" l="l"/>
            <a:pathLst>
              <a:path h="1171575" w="7858125">
                <a:moveTo>
                  <a:pt x="0" y="0"/>
                </a:moveTo>
                <a:lnTo>
                  <a:pt x="7858125" y="0"/>
                </a:lnTo>
                <a:lnTo>
                  <a:pt x="7858125" y="1171575"/>
                </a:lnTo>
                <a:lnTo>
                  <a:pt x="0" y="1171575"/>
                </a:lnTo>
                <a:lnTo>
                  <a:pt x="0" y="0"/>
                </a:lnTo>
                <a:close/>
              </a:path>
            </a:pathLst>
          </a:custGeom>
          <a:blipFill>
            <a:blip r:embed="rId10"/>
            <a:stretch>
              <a:fillRect l="-1454" t="-16260" r="-1090" b="-12195"/>
            </a:stretch>
          </a:blipFill>
        </p:spPr>
      </p:sp>
      <p:sp>
        <p:nvSpPr>
          <p:cNvPr name="Freeform 16" id="16"/>
          <p:cNvSpPr/>
          <p:nvPr/>
        </p:nvSpPr>
        <p:spPr>
          <a:xfrm flipH="false" flipV="false" rot="0">
            <a:off x="1085850" y="7924800"/>
            <a:ext cx="228600" cy="866775"/>
          </a:xfrm>
          <a:custGeom>
            <a:avLst/>
            <a:gdLst/>
            <a:ahLst/>
            <a:cxnLst/>
            <a:rect r="r" b="b" t="t" l="l"/>
            <a:pathLst>
              <a:path h="866775" w="228600">
                <a:moveTo>
                  <a:pt x="0" y="0"/>
                </a:moveTo>
                <a:lnTo>
                  <a:pt x="228600" y="0"/>
                </a:lnTo>
                <a:lnTo>
                  <a:pt x="228600" y="866775"/>
                </a:lnTo>
                <a:lnTo>
                  <a:pt x="0" y="866775"/>
                </a:lnTo>
                <a:lnTo>
                  <a:pt x="0" y="0"/>
                </a:lnTo>
                <a:close/>
              </a:path>
            </a:pathLst>
          </a:custGeom>
          <a:blipFill>
            <a:blip r:embed="rId11"/>
            <a:stretch>
              <a:fillRect l="0" t="0" r="0" b="0"/>
            </a:stretch>
          </a:blipFill>
        </p:spPr>
      </p:sp>
      <p:sp>
        <p:nvSpPr>
          <p:cNvPr name="Freeform 17" id="17"/>
          <p:cNvSpPr/>
          <p:nvPr/>
        </p:nvSpPr>
        <p:spPr>
          <a:xfrm flipH="false" flipV="false" rot="0">
            <a:off x="1200150" y="7972425"/>
            <a:ext cx="15782925" cy="657225"/>
          </a:xfrm>
          <a:custGeom>
            <a:avLst/>
            <a:gdLst/>
            <a:ahLst/>
            <a:cxnLst/>
            <a:rect r="r" b="b" t="t" l="l"/>
            <a:pathLst>
              <a:path h="657225" w="15782925">
                <a:moveTo>
                  <a:pt x="0" y="0"/>
                </a:moveTo>
                <a:lnTo>
                  <a:pt x="15782925" y="0"/>
                </a:lnTo>
                <a:lnTo>
                  <a:pt x="15782925" y="657225"/>
                </a:lnTo>
                <a:lnTo>
                  <a:pt x="0" y="657225"/>
                </a:lnTo>
                <a:lnTo>
                  <a:pt x="0" y="0"/>
                </a:lnTo>
                <a:close/>
              </a:path>
            </a:pathLst>
          </a:custGeom>
          <a:blipFill>
            <a:blip r:embed="rId12"/>
            <a:stretch>
              <a:fillRect l="-724" t="-7246" r="0" b="-24637"/>
            </a:stretch>
          </a:blipFill>
        </p:spPr>
      </p:sp>
      <p:sp>
        <p:nvSpPr>
          <p:cNvPr name="Freeform 18" id="18"/>
          <p:cNvSpPr/>
          <p:nvPr/>
        </p:nvSpPr>
        <p:spPr>
          <a:xfrm flipH="false" flipV="false" rot="0">
            <a:off x="9144000" y="2781300"/>
            <a:ext cx="219075" cy="1504950"/>
          </a:xfrm>
          <a:custGeom>
            <a:avLst/>
            <a:gdLst/>
            <a:ahLst/>
            <a:cxnLst/>
            <a:rect r="r" b="b" t="t" l="l"/>
            <a:pathLst>
              <a:path h="1504950" w="219075">
                <a:moveTo>
                  <a:pt x="0" y="0"/>
                </a:moveTo>
                <a:lnTo>
                  <a:pt x="219075" y="0"/>
                </a:lnTo>
                <a:lnTo>
                  <a:pt x="219075" y="1504950"/>
                </a:lnTo>
                <a:lnTo>
                  <a:pt x="0" y="1504950"/>
                </a:lnTo>
                <a:lnTo>
                  <a:pt x="0" y="0"/>
                </a:lnTo>
                <a:close/>
              </a:path>
            </a:pathLst>
          </a:custGeom>
          <a:blipFill>
            <a:blip r:embed="rId13"/>
            <a:stretch>
              <a:fillRect l="0" t="0" r="0" b="0"/>
            </a:stretch>
          </a:blipFill>
        </p:spPr>
      </p:sp>
      <p:sp>
        <p:nvSpPr>
          <p:cNvPr name="Freeform 19" id="19"/>
          <p:cNvSpPr/>
          <p:nvPr/>
        </p:nvSpPr>
        <p:spPr>
          <a:xfrm flipH="false" flipV="false" rot="0">
            <a:off x="9191625" y="2933700"/>
            <a:ext cx="8010525" cy="1162050"/>
          </a:xfrm>
          <a:custGeom>
            <a:avLst/>
            <a:gdLst/>
            <a:ahLst/>
            <a:cxnLst/>
            <a:rect r="r" b="b" t="t" l="l"/>
            <a:pathLst>
              <a:path h="1162050" w="8010525">
                <a:moveTo>
                  <a:pt x="0" y="0"/>
                </a:moveTo>
                <a:lnTo>
                  <a:pt x="8010525" y="0"/>
                </a:lnTo>
                <a:lnTo>
                  <a:pt x="8010525" y="1162050"/>
                </a:lnTo>
                <a:lnTo>
                  <a:pt x="0" y="1162050"/>
                </a:lnTo>
                <a:lnTo>
                  <a:pt x="0" y="0"/>
                </a:lnTo>
                <a:close/>
              </a:path>
            </a:pathLst>
          </a:custGeom>
          <a:blipFill>
            <a:blip r:embed="rId14"/>
            <a:stretch>
              <a:fillRect l="-594" t="-13114" r="0" b="-16393"/>
            </a:stretch>
          </a:blipFill>
        </p:spPr>
      </p:sp>
      <p:sp>
        <p:nvSpPr>
          <p:cNvPr name="TextBox 20" id="20"/>
          <p:cNvSpPr txBox="true"/>
          <p:nvPr/>
        </p:nvSpPr>
        <p:spPr>
          <a:xfrm rot="0">
            <a:off x="9483090" y="3563303"/>
            <a:ext cx="4864608"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Quy định, tiêu chuẩn dịch vụ và điều kiện xử lý.</a:t>
            </a:r>
          </a:p>
        </p:txBody>
      </p:sp>
      <p:sp>
        <p:nvSpPr>
          <p:cNvPr name="Freeform 21" id="21"/>
          <p:cNvSpPr/>
          <p:nvPr/>
        </p:nvSpPr>
        <p:spPr>
          <a:xfrm flipH="false" flipV="false" rot="0">
            <a:off x="9144000" y="4067175"/>
            <a:ext cx="219075" cy="1295400"/>
          </a:xfrm>
          <a:custGeom>
            <a:avLst/>
            <a:gdLst/>
            <a:ahLst/>
            <a:cxnLst/>
            <a:rect r="r" b="b" t="t" l="l"/>
            <a:pathLst>
              <a:path h="1295400" w="219075">
                <a:moveTo>
                  <a:pt x="0" y="0"/>
                </a:moveTo>
                <a:lnTo>
                  <a:pt x="219075" y="0"/>
                </a:lnTo>
                <a:lnTo>
                  <a:pt x="219075" y="1295400"/>
                </a:lnTo>
                <a:lnTo>
                  <a:pt x="0" y="1295400"/>
                </a:lnTo>
                <a:lnTo>
                  <a:pt x="0" y="0"/>
                </a:lnTo>
                <a:close/>
              </a:path>
            </a:pathLst>
          </a:custGeom>
          <a:blipFill>
            <a:blip r:embed="rId15"/>
            <a:stretch>
              <a:fillRect l="0" t="0" r="0" b="0"/>
            </a:stretch>
          </a:blipFill>
        </p:spPr>
      </p:sp>
      <p:sp>
        <p:nvSpPr>
          <p:cNvPr name="Freeform 22" id="22"/>
          <p:cNvSpPr/>
          <p:nvPr/>
        </p:nvSpPr>
        <p:spPr>
          <a:xfrm flipH="false" flipV="false" rot="0">
            <a:off x="9201150" y="4162425"/>
            <a:ext cx="8001000" cy="1171575"/>
          </a:xfrm>
          <a:custGeom>
            <a:avLst/>
            <a:gdLst/>
            <a:ahLst/>
            <a:cxnLst/>
            <a:rect r="r" b="b" t="t" l="l"/>
            <a:pathLst>
              <a:path h="1171575" w="8001000">
                <a:moveTo>
                  <a:pt x="0" y="0"/>
                </a:moveTo>
                <a:lnTo>
                  <a:pt x="8001000" y="0"/>
                </a:lnTo>
                <a:lnTo>
                  <a:pt x="8001000" y="1171575"/>
                </a:lnTo>
                <a:lnTo>
                  <a:pt x="0" y="1171575"/>
                </a:lnTo>
                <a:lnTo>
                  <a:pt x="0" y="0"/>
                </a:lnTo>
                <a:close/>
              </a:path>
            </a:pathLst>
          </a:custGeom>
          <a:blipFill>
            <a:blip r:embed="rId16"/>
            <a:stretch>
              <a:fillRect l="-714" t="-8130" r="0" b="-2439"/>
            </a:stretch>
          </a:blipFill>
        </p:spPr>
      </p:sp>
      <p:sp>
        <p:nvSpPr>
          <p:cNvPr name="TextBox 23" id="23"/>
          <p:cNvSpPr txBox="true"/>
          <p:nvPr/>
        </p:nvSpPr>
        <p:spPr>
          <a:xfrm rot="0">
            <a:off x="9483090" y="4811078"/>
            <a:ext cx="4864608"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Ca làm việc, lịch phân công và thời hạn xử lý.</a:t>
            </a:r>
          </a:p>
        </p:txBody>
      </p:sp>
      <p:sp>
        <p:nvSpPr>
          <p:cNvPr name="Freeform 24" id="24"/>
          <p:cNvSpPr/>
          <p:nvPr/>
        </p:nvSpPr>
        <p:spPr>
          <a:xfrm flipH="false" flipV="false" rot="0">
            <a:off x="9144000" y="5353050"/>
            <a:ext cx="219075" cy="1295400"/>
          </a:xfrm>
          <a:custGeom>
            <a:avLst/>
            <a:gdLst/>
            <a:ahLst/>
            <a:cxnLst/>
            <a:rect r="r" b="b" t="t" l="l"/>
            <a:pathLst>
              <a:path h="1295400" w="219075">
                <a:moveTo>
                  <a:pt x="0" y="0"/>
                </a:moveTo>
                <a:lnTo>
                  <a:pt x="219075" y="0"/>
                </a:lnTo>
                <a:lnTo>
                  <a:pt x="219075" y="1295400"/>
                </a:lnTo>
                <a:lnTo>
                  <a:pt x="0" y="1295400"/>
                </a:lnTo>
                <a:lnTo>
                  <a:pt x="0" y="0"/>
                </a:lnTo>
                <a:close/>
              </a:path>
            </a:pathLst>
          </a:custGeom>
          <a:blipFill>
            <a:blip r:embed="rId17"/>
            <a:stretch>
              <a:fillRect l="0" t="0" r="0" b="0"/>
            </a:stretch>
          </a:blipFill>
        </p:spPr>
      </p:sp>
      <p:sp>
        <p:nvSpPr>
          <p:cNvPr name="Freeform 25" id="25"/>
          <p:cNvSpPr/>
          <p:nvPr/>
        </p:nvSpPr>
        <p:spPr>
          <a:xfrm flipH="false" flipV="false" rot="0">
            <a:off x="9201150" y="5391150"/>
            <a:ext cx="8001000" cy="1171575"/>
          </a:xfrm>
          <a:custGeom>
            <a:avLst/>
            <a:gdLst/>
            <a:ahLst/>
            <a:cxnLst/>
            <a:rect r="r" b="b" t="t" l="l"/>
            <a:pathLst>
              <a:path h="1171575" w="8001000">
                <a:moveTo>
                  <a:pt x="0" y="0"/>
                </a:moveTo>
                <a:lnTo>
                  <a:pt x="8001000" y="0"/>
                </a:lnTo>
                <a:lnTo>
                  <a:pt x="8001000" y="1171575"/>
                </a:lnTo>
                <a:lnTo>
                  <a:pt x="0" y="1171575"/>
                </a:lnTo>
                <a:lnTo>
                  <a:pt x="0" y="0"/>
                </a:lnTo>
                <a:close/>
              </a:path>
            </a:pathLst>
          </a:custGeom>
          <a:blipFill>
            <a:blip r:embed="rId18"/>
            <a:stretch>
              <a:fillRect l="-714" t="-3252" r="0" b="-7317"/>
            </a:stretch>
          </a:blipFill>
        </p:spPr>
      </p:sp>
      <p:sp>
        <p:nvSpPr>
          <p:cNvPr name="TextBox 26" id="26"/>
          <p:cNvSpPr txBox="true"/>
          <p:nvPr/>
        </p:nvSpPr>
        <p:spPr>
          <a:xfrm rot="0">
            <a:off x="9483090" y="6001703"/>
            <a:ext cx="6722842"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Định nghĩa nghiệp vụ, quy chuẩn kỹ thuật và hướng dẫn thao tác.</a:t>
            </a:r>
          </a:p>
        </p:txBody>
      </p:sp>
      <p:sp>
        <p:nvSpPr>
          <p:cNvPr name="Freeform 27" id="27"/>
          <p:cNvSpPr/>
          <p:nvPr/>
        </p:nvSpPr>
        <p:spPr>
          <a:xfrm flipH="false" flipV="false" rot="0">
            <a:off x="9144000" y="6619875"/>
            <a:ext cx="85725" cy="1171575"/>
          </a:xfrm>
          <a:custGeom>
            <a:avLst/>
            <a:gdLst/>
            <a:ahLst/>
            <a:cxnLst/>
            <a:rect r="r" b="b" t="t" l="l"/>
            <a:pathLst>
              <a:path h="1171575" w="85725">
                <a:moveTo>
                  <a:pt x="0" y="0"/>
                </a:moveTo>
                <a:lnTo>
                  <a:pt x="85725" y="0"/>
                </a:lnTo>
                <a:lnTo>
                  <a:pt x="85725" y="1171575"/>
                </a:lnTo>
                <a:lnTo>
                  <a:pt x="0" y="1171575"/>
                </a:lnTo>
                <a:lnTo>
                  <a:pt x="0" y="0"/>
                </a:lnTo>
                <a:close/>
              </a:path>
            </a:pathLst>
          </a:custGeom>
          <a:blipFill>
            <a:blip r:embed="rId19"/>
            <a:stretch>
              <a:fillRect l="0" t="-16260" r="-155555" b="-12195"/>
            </a:stretch>
          </a:blipFill>
        </p:spPr>
      </p:sp>
      <p:sp>
        <p:nvSpPr>
          <p:cNvPr name="Freeform 28" id="28"/>
          <p:cNvSpPr/>
          <p:nvPr/>
        </p:nvSpPr>
        <p:spPr>
          <a:xfrm flipH="false" flipV="false" rot="0">
            <a:off x="9144000" y="6619875"/>
            <a:ext cx="8058150" cy="1171575"/>
          </a:xfrm>
          <a:custGeom>
            <a:avLst/>
            <a:gdLst/>
            <a:ahLst/>
            <a:cxnLst/>
            <a:rect r="r" b="b" t="t" l="l"/>
            <a:pathLst>
              <a:path h="1171575" w="8058150">
                <a:moveTo>
                  <a:pt x="0" y="0"/>
                </a:moveTo>
                <a:lnTo>
                  <a:pt x="8058150" y="0"/>
                </a:lnTo>
                <a:lnTo>
                  <a:pt x="8058150" y="1171575"/>
                </a:lnTo>
                <a:lnTo>
                  <a:pt x="0" y="1171575"/>
                </a:lnTo>
                <a:lnTo>
                  <a:pt x="0" y="0"/>
                </a:lnTo>
                <a:close/>
              </a:path>
            </a:pathLst>
          </a:custGeom>
          <a:blipFill>
            <a:blip r:embed="rId20"/>
            <a:stretch>
              <a:fillRect l="0" t="-16260" r="0" b="-12195"/>
            </a:stretch>
          </a:blipFill>
        </p:spPr>
      </p:sp>
      <p:sp>
        <p:nvSpPr>
          <p:cNvPr name="TextBox 29" id="29"/>
          <p:cNvSpPr txBox="true"/>
          <p:nvPr/>
        </p:nvSpPr>
        <p:spPr>
          <a:xfrm rot="0">
            <a:off x="9482709" y="6924675"/>
            <a:ext cx="2011680" cy="228600"/>
          </a:xfrm>
          <a:prstGeom prst="rect">
            <a:avLst/>
          </a:prstGeom>
        </p:spPr>
        <p:txBody>
          <a:bodyPr anchor="t" rtlCol="false" tIns="0" lIns="0" bIns="0" rIns="0">
            <a:spAutoFit/>
          </a:bodyPr>
          <a:lstStyle/>
          <a:p>
            <a:pPr algn="l">
              <a:lnSpc>
                <a:spcPts val="1790"/>
              </a:lnSpc>
            </a:pPr>
            <a:r>
              <a:rPr lang="en-US" sz="1491">
                <a:solidFill>
                  <a:srgbClr val="100643"/>
                </a:solidFill>
                <a:latin typeface="Poppins"/>
                <a:ea typeface="Poppins"/>
                <a:cs typeface="Poppins"/>
                <a:sym typeface="Poppins"/>
              </a:rPr>
              <a:t>Hướng dẫn công việc</a:t>
            </a:r>
          </a:p>
        </p:txBody>
      </p:sp>
      <p:sp>
        <p:nvSpPr>
          <p:cNvPr name="TextBox 30" id="30"/>
          <p:cNvSpPr txBox="true"/>
          <p:nvPr/>
        </p:nvSpPr>
        <p:spPr>
          <a:xfrm rot="0">
            <a:off x="9483090" y="7217093"/>
            <a:ext cx="5632704"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Cách thực hiện, điều kiện ngoại lệ và yêu cầu bàn giao.</a:t>
            </a:r>
          </a:p>
        </p:txBody>
      </p:sp>
      <p:sp>
        <p:nvSpPr>
          <p:cNvPr name="Freeform 31" id="31"/>
          <p:cNvSpPr/>
          <p:nvPr/>
        </p:nvSpPr>
        <p:spPr>
          <a:xfrm flipH="false" flipV="false" rot="0">
            <a:off x="15030450" y="7877175"/>
            <a:ext cx="3257550" cy="2409825"/>
          </a:xfrm>
          <a:custGeom>
            <a:avLst/>
            <a:gdLst/>
            <a:ahLst/>
            <a:cxnLst/>
            <a:rect r="r" b="b" t="t" l="l"/>
            <a:pathLst>
              <a:path h="2409825" w="3257550">
                <a:moveTo>
                  <a:pt x="0" y="0"/>
                </a:moveTo>
                <a:lnTo>
                  <a:pt x="3257550" y="0"/>
                </a:lnTo>
                <a:lnTo>
                  <a:pt x="3257550" y="2409825"/>
                </a:lnTo>
                <a:lnTo>
                  <a:pt x="0" y="2409825"/>
                </a:lnTo>
                <a:lnTo>
                  <a:pt x="0" y="0"/>
                </a:lnTo>
                <a:close/>
              </a:path>
            </a:pathLst>
          </a:custGeom>
          <a:blipFill>
            <a:blip r:embed="rId21"/>
            <a:stretch>
              <a:fillRect l="-7017" t="-6719" r="0" b="0"/>
            </a:stretch>
          </a:blipFill>
        </p:spPr>
      </p:sp>
      <p:sp>
        <p:nvSpPr>
          <p:cNvPr name="Freeform 32" id="32"/>
          <p:cNvSpPr/>
          <p:nvPr/>
        </p:nvSpPr>
        <p:spPr>
          <a:xfrm flipH="false" flipV="false" rot="0">
            <a:off x="15668625" y="9429750"/>
            <a:ext cx="2619375" cy="857250"/>
          </a:xfrm>
          <a:custGeom>
            <a:avLst/>
            <a:gdLst/>
            <a:ahLst/>
            <a:cxnLst/>
            <a:rect r="r" b="b" t="t" l="l"/>
            <a:pathLst>
              <a:path h="857250" w="2619375">
                <a:moveTo>
                  <a:pt x="0" y="0"/>
                </a:moveTo>
                <a:lnTo>
                  <a:pt x="2619375" y="0"/>
                </a:lnTo>
                <a:lnTo>
                  <a:pt x="2619375" y="857250"/>
                </a:lnTo>
                <a:lnTo>
                  <a:pt x="0" y="857250"/>
                </a:lnTo>
                <a:lnTo>
                  <a:pt x="0" y="0"/>
                </a:lnTo>
                <a:close/>
              </a:path>
            </a:pathLst>
          </a:custGeom>
          <a:blipFill>
            <a:blip r:embed="rId22"/>
            <a:stretch>
              <a:fillRect l="0" t="0" r="0" b="0"/>
            </a:stretch>
          </a:blipFill>
        </p:spPr>
      </p:sp>
      <p:sp>
        <p:nvSpPr>
          <p:cNvPr name="TextBox 33" id="33"/>
          <p:cNvSpPr txBox="true"/>
          <p:nvPr/>
        </p:nvSpPr>
        <p:spPr>
          <a:xfrm rot="0">
            <a:off x="1509141" y="3271075"/>
            <a:ext cx="2139696" cy="228600"/>
          </a:xfrm>
          <a:prstGeom prst="rect">
            <a:avLst/>
          </a:prstGeom>
        </p:spPr>
        <p:txBody>
          <a:bodyPr anchor="t" rtlCol="false" tIns="0" lIns="0" bIns="0" rIns="0">
            <a:spAutoFit/>
          </a:bodyPr>
          <a:lstStyle/>
          <a:p>
            <a:pPr algn="l">
              <a:lnSpc>
                <a:spcPts val="1790"/>
              </a:lnSpc>
            </a:pPr>
            <a:r>
              <a:rPr lang="en-US" sz="1491">
                <a:solidFill>
                  <a:srgbClr val="100643"/>
                </a:solidFill>
                <a:latin typeface="Poppins"/>
                <a:ea typeface="Poppins"/>
                <a:cs typeface="Poppins"/>
                <a:sym typeface="Poppins"/>
              </a:rPr>
              <a:t>Mô tả quy trình hiện có</a:t>
            </a:r>
          </a:p>
        </p:txBody>
      </p:sp>
      <p:sp>
        <p:nvSpPr>
          <p:cNvPr name="TextBox 34" id="34"/>
          <p:cNvSpPr txBox="true"/>
          <p:nvPr/>
        </p:nvSpPr>
        <p:spPr>
          <a:xfrm rot="0">
            <a:off x="1509141" y="4485132"/>
            <a:ext cx="1261872" cy="228600"/>
          </a:xfrm>
          <a:prstGeom prst="rect">
            <a:avLst/>
          </a:prstGeom>
        </p:spPr>
        <p:txBody>
          <a:bodyPr anchor="t" rtlCol="false" tIns="0" lIns="0" bIns="0" rIns="0">
            <a:spAutoFit/>
          </a:bodyPr>
          <a:lstStyle/>
          <a:p>
            <a:pPr algn="l">
              <a:lnSpc>
                <a:spcPts val="1743"/>
              </a:lnSpc>
            </a:pPr>
            <a:r>
              <a:rPr lang="en-US" sz="1453">
                <a:solidFill>
                  <a:srgbClr val="100643"/>
                </a:solidFill>
                <a:latin typeface="Poppins"/>
                <a:ea typeface="Poppins"/>
                <a:cs typeface="Poppins"/>
                <a:sym typeface="Poppins"/>
              </a:rPr>
              <a:t>Sơ đồ tổ chức</a:t>
            </a:r>
          </a:p>
        </p:txBody>
      </p:sp>
      <p:sp>
        <p:nvSpPr>
          <p:cNvPr name="TextBox 35" id="35"/>
          <p:cNvSpPr txBox="true"/>
          <p:nvPr/>
        </p:nvSpPr>
        <p:spPr>
          <a:xfrm rot="0">
            <a:off x="1509141" y="5704713"/>
            <a:ext cx="1938528" cy="228600"/>
          </a:xfrm>
          <a:prstGeom prst="rect">
            <a:avLst/>
          </a:prstGeom>
        </p:spPr>
        <p:txBody>
          <a:bodyPr anchor="t" rtlCol="false" tIns="0" lIns="0" bIns="0" rIns="0">
            <a:spAutoFit/>
          </a:bodyPr>
          <a:lstStyle/>
          <a:p>
            <a:pPr algn="l">
              <a:lnSpc>
                <a:spcPts val="1767"/>
              </a:lnSpc>
            </a:pPr>
            <a:r>
              <a:rPr lang="en-US" sz="1472">
                <a:solidFill>
                  <a:srgbClr val="100643"/>
                </a:solidFill>
                <a:latin typeface="Poppins"/>
                <a:ea typeface="Poppins"/>
                <a:cs typeface="Poppins"/>
                <a:sym typeface="Poppins"/>
              </a:rPr>
              <a:t>Báo cáo chất lượng</a:t>
            </a:r>
          </a:p>
        </p:txBody>
      </p:sp>
      <p:sp>
        <p:nvSpPr>
          <p:cNvPr name="TextBox 36" id="36"/>
          <p:cNvSpPr txBox="true"/>
          <p:nvPr/>
        </p:nvSpPr>
        <p:spPr>
          <a:xfrm rot="0">
            <a:off x="1509141" y="6907244"/>
            <a:ext cx="1883664" cy="247650"/>
          </a:xfrm>
          <a:prstGeom prst="rect">
            <a:avLst/>
          </a:prstGeom>
        </p:spPr>
        <p:txBody>
          <a:bodyPr anchor="t" rtlCol="false" tIns="0" lIns="0" bIns="0" rIns="0">
            <a:spAutoFit/>
          </a:bodyPr>
          <a:lstStyle/>
          <a:p>
            <a:pPr algn="l">
              <a:lnSpc>
                <a:spcPts val="1825"/>
              </a:lnSpc>
            </a:pPr>
            <a:r>
              <a:rPr lang="en-US" sz="1520">
                <a:solidFill>
                  <a:srgbClr val="100643"/>
                </a:solidFill>
                <a:latin typeface="Poppins"/>
                <a:ea typeface="Poppins"/>
                <a:cs typeface="Poppins"/>
                <a:sym typeface="Poppins"/>
              </a:rPr>
              <a:t>Biểu mẫu nghiệp vụ</a:t>
            </a:r>
          </a:p>
        </p:txBody>
      </p:sp>
      <p:sp>
        <p:nvSpPr>
          <p:cNvPr name="TextBox 37" id="37"/>
          <p:cNvSpPr txBox="true"/>
          <p:nvPr/>
        </p:nvSpPr>
        <p:spPr>
          <a:xfrm rot="0">
            <a:off x="1508760" y="7208520"/>
            <a:ext cx="4666466" cy="256540"/>
          </a:xfrm>
          <a:prstGeom prst="rect">
            <a:avLst/>
          </a:prstGeom>
        </p:spPr>
        <p:txBody>
          <a:bodyPr anchor="t" rtlCol="false" tIns="0" lIns="0" bIns="0" rIns="0">
            <a:spAutoFit/>
          </a:bodyPr>
          <a:lstStyle/>
          <a:p>
            <a:pPr algn="l">
              <a:lnSpc>
                <a:spcPts val="2015"/>
              </a:lnSpc>
            </a:pPr>
            <a:r>
              <a:rPr lang="en-US" sz="1550">
                <a:solidFill>
                  <a:srgbClr val="7D7B7B"/>
                </a:solidFill>
                <a:latin typeface="Poppins"/>
                <a:ea typeface="Poppins"/>
                <a:cs typeface="Poppins"/>
                <a:sym typeface="Poppins"/>
              </a:rPr>
              <a:t>Phiếu, checklist, biên bản, tờ trình và chứng từ.</a:t>
            </a:r>
          </a:p>
        </p:txBody>
      </p:sp>
      <p:sp>
        <p:nvSpPr>
          <p:cNvPr name="TextBox 38" id="38"/>
          <p:cNvSpPr txBox="true"/>
          <p:nvPr/>
        </p:nvSpPr>
        <p:spPr>
          <a:xfrm rot="0">
            <a:off x="9482709" y="3266313"/>
            <a:ext cx="1682496" cy="228600"/>
          </a:xfrm>
          <a:prstGeom prst="rect">
            <a:avLst/>
          </a:prstGeom>
        </p:spPr>
        <p:txBody>
          <a:bodyPr anchor="t" rtlCol="false" tIns="0" lIns="0" bIns="0" rIns="0">
            <a:spAutoFit/>
          </a:bodyPr>
          <a:lstStyle/>
          <a:p>
            <a:pPr algn="l">
              <a:lnSpc>
                <a:spcPts val="1767"/>
              </a:lnSpc>
            </a:pPr>
            <a:r>
              <a:rPr lang="en-US" sz="1472">
                <a:solidFill>
                  <a:srgbClr val="100643"/>
                </a:solidFill>
                <a:latin typeface="Poppins"/>
                <a:ea typeface="Poppins"/>
                <a:cs typeface="Poppins"/>
                <a:sym typeface="Poppins"/>
              </a:rPr>
              <a:t>Chính sách nội bộ</a:t>
            </a:r>
          </a:p>
        </p:txBody>
      </p:sp>
      <p:sp>
        <p:nvSpPr>
          <p:cNvPr name="TextBox 39" id="39"/>
          <p:cNvSpPr txBox="true"/>
          <p:nvPr/>
        </p:nvSpPr>
        <p:spPr>
          <a:xfrm rot="0">
            <a:off x="9482709" y="4504182"/>
            <a:ext cx="1700784" cy="228600"/>
          </a:xfrm>
          <a:prstGeom prst="rect">
            <a:avLst/>
          </a:prstGeom>
        </p:spPr>
        <p:txBody>
          <a:bodyPr anchor="t" rtlCol="false" tIns="0" lIns="0" bIns="0" rIns="0">
            <a:spAutoFit/>
          </a:bodyPr>
          <a:lstStyle/>
          <a:p>
            <a:pPr algn="l">
              <a:lnSpc>
                <a:spcPts val="1778"/>
              </a:lnSpc>
            </a:pPr>
            <a:r>
              <a:rPr lang="en-US" sz="1482">
                <a:solidFill>
                  <a:srgbClr val="100643"/>
                </a:solidFill>
                <a:latin typeface="Poppins"/>
                <a:ea typeface="Poppins"/>
                <a:cs typeface="Poppins"/>
                <a:sym typeface="Poppins"/>
              </a:rPr>
              <a:t>Kế hoạch làm việc</a:t>
            </a:r>
          </a:p>
        </p:txBody>
      </p:sp>
      <p:sp>
        <p:nvSpPr>
          <p:cNvPr name="TextBox 40" id="40"/>
          <p:cNvSpPr txBox="true"/>
          <p:nvPr/>
        </p:nvSpPr>
        <p:spPr>
          <a:xfrm rot="0">
            <a:off x="9482709" y="5704713"/>
            <a:ext cx="1901952" cy="238125"/>
          </a:xfrm>
          <a:prstGeom prst="rect">
            <a:avLst/>
          </a:prstGeom>
        </p:spPr>
        <p:txBody>
          <a:bodyPr anchor="t" rtlCol="false" tIns="0" lIns="0" bIns="0" rIns="0">
            <a:spAutoFit/>
          </a:bodyPr>
          <a:lstStyle/>
          <a:p>
            <a:pPr algn="l">
              <a:lnSpc>
                <a:spcPts val="1836"/>
              </a:lnSpc>
            </a:pPr>
            <a:r>
              <a:rPr lang="en-US" sz="1530">
                <a:solidFill>
                  <a:srgbClr val="100643"/>
                </a:solidFill>
                <a:latin typeface="Poppins"/>
                <a:ea typeface="Poppins"/>
                <a:cs typeface="Poppins"/>
                <a:sym typeface="Poppins"/>
              </a:rPr>
              <a:t>Thuật ngữ và sổ tay</a:t>
            </a:r>
          </a:p>
        </p:txBody>
      </p:sp>
      <p:sp>
        <p:nvSpPr>
          <p:cNvPr name="TextBox 41" id="41"/>
          <p:cNvSpPr txBox="true"/>
          <p:nvPr/>
        </p:nvSpPr>
        <p:spPr>
          <a:xfrm rot="0">
            <a:off x="1499616" y="8188452"/>
            <a:ext cx="1847088" cy="238125"/>
          </a:xfrm>
          <a:prstGeom prst="rect">
            <a:avLst/>
          </a:prstGeom>
        </p:spPr>
        <p:txBody>
          <a:bodyPr anchor="t" rtlCol="false" tIns="0" lIns="0" bIns="0" rIns="0">
            <a:spAutoFit/>
          </a:bodyPr>
          <a:lstStyle/>
          <a:p>
            <a:pPr algn="l">
              <a:lnSpc>
                <a:spcPts val="1860"/>
              </a:lnSpc>
            </a:pPr>
            <a:r>
              <a:rPr lang="en-US" b="true" sz="1550">
                <a:solidFill>
                  <a:srgbClr val="BD0016"/>
                </a:solidFill>
                <a:latin typeface="Poppins Bold"/>
                <a:ea typeface="Poppins Bold"/>
                <a:cs typeface="Poppins Bold"/>
                <a:sym typeface="Poppins Bold"/>
              </a:rPr>
              <a:t>Kết quả sử dụng:</a:t>
            </a:r>
          </a:p>
        </p:txBody>
      </p:sp>
      <p:sp>
        <p:nvSpPr>
          <p:cNvPr name="TextBox 42" id="42"/>
          <p:cNvSpPr txBox="true"/>
          <p:nvPr/>
        </p:nvSpPr>
        <p:spPr>
          <a:xfrm rot="0">
            <a:off x="3290369" y="8169402"/>
            <a:ext cx="10932171" cy="504190"/>
          </a:xfrm>
          <a:prstGeom prst="rect">
            <a:avLst/>
          </a:prstGeom>
        </p:spPr>
        <p:txBody>
          <a:bodyPr anchor="t" rtlCol="false" tIns="0" lIns="0" bIns="0" rIns="0">
            <a:spAutoFit/>
          </a:bodyPr>
          <a:lstStyle/>
          <a:p>
            <a:pPr algn="l" marL="0" indent="0" lvl="0">
              <a:lnSpc>
                <a:spcPts val="2015"/>
              </a:lnSpc>
              <a:spcBef>
                <a:spcPct val="0"/>
              </a:spcBef>
            </a:pPr>
            <a:r>
              <a:rPr lang="en-US" sz="1550">
                <a:solidFill>
                  <a:srgbClr val="100643"/>
                </a:solidFill>
                <a:latin typeface="Poppins"/>
                <a:ea typeface="Poppins"/>
                <a:cs typeface="Poppins"/>
                <a:sym typeface="Poppins"/>
              </a:rPr>
              <a:t>Mục tiêu là </a:t>
            </a:r>
            <a:r>
              <a:rPr lang="en-US" sz="1550" strike="noStrike" u="none">
                <a:solidFill>
                  <a:srgbClr val="100643"/>
                </a:solidFill>
                <a:latin typeface="Poppins"/>
                <a:ea typeface="Poppins"/>
                <a:cs typeface="Poppins"/>
                <a:sym typeface="Poppins"/>
              </a:rPr>
              <a:t>xác định </a:t>
            </a:r>
            <a:r>
              <a:rPr lang="en-US" sz="1550" strike="noStrike" u="none">
                <a:solidFill>
                  <a:srgbClr val="100643"/>
                </a:solidFill>
                <a:latin typeface="Poppins"/>
                <a:ea typeface="Poppins"/>
                <a:cs typeface="Poppins"/>
                <a:sym typeface="Poppins"/>
              </a:rPr>
              <a:t>rõ </a:t>
            </a:r>
            <a:r>
              <a:rPr lang="en-US" sz="1550" strike="noStrike" u="none">
                <a:solidFill>
                  <a:srgbClr val="100643"/>
                </a:solidFill>
                <a:latin typeface="Poppins"/>
                <a:ea typeface="Poppins"/>
                <a:cs typeface="Poppins"/>
                <a:sym typeface="Poppins"/>
              </a:rPr>
              <a:t>các bước</a:t>
            </a:r>
            <a:r>
              <a:rPr lang="en-US" sz="1550" strike="noStrike" u="none">
                <a:solidFill>
                  <a:srgbClr val="100643"/>
                </a:solidFill>
                <a:latin typeface="Poppins"/>
                <a:ea typeface="Poppins"/>
                <a:cs typeface="Poppins"/>
                <a:sym typeface="Poppins"/>
              </a:rPr>
              <a:t> thực hiện</a:t>
            </a:r>
            <a:r>
              <a:rPr lang="en-US" sz="1550" strike="noStrike" u="none">
                <a:solidFill>
                  <a:srgbClr val="100643"/>
                </a:solidFill>
                <a:latin typeface="Poppins"/>
                <a:ea typeface="Poppins"/>
                <a:cs typeface="Poppins"/>
                <a:sym typeface="Poppins"/>
              </a:rPr>
              <a:t>, tác nhân, đầu vào, đầu ra và thông tin trao đổi trong </a:t>
            </a:r>
            <a:r>
              <a:rPr lang="en-US" sz="1550" strike="noStrike" u="none">
                <a:solidFill>
                  <a:srgbClr val="100643"/>
                </a:solidFill>
                <a:latin typeface="Poppins"/>
                <a:ea typeface="Poppins"/>
                <a:cs typeface="Poppins"/>
                <a:sym typeface="Poppins"/>
              </a:rPr>
              <a:t>từ</a:t>
            </a:r>
            <a:r>
              <a:rPr lang="en-US" sz="1550" strike="noStrike" u="none">
                <a:solidFill>
                  <a:srgbClr val="100643"/>
                </a:solidFill>
                <a:latin typeface="Poppins"/>
                <a:ea typeface="Poppins"/>
                <a:cs typeface="Poppins"/>
                <a:sym typeface="Poppins"/>
              </a:rPr>
              <a:t>ng </a:t>
            </a:r>
            <a:r>
              <a:rPr lang="en-US" sz="1550" strike="noStrike" u="none">
                <a:solidFill>
                  <a:srgbClr val="100643"/>
                </a:solidFill>
                <a:latin typeface="Poppins"/>
                <a:ea typeface="Poppins"/>
                <a:cs typeface="Poppins"/>
                <a:sym typeface="Poppins"/>
              </a:rPr>
              <a:t>quy</a:t>
            </a:r>
            <a:r>
              <a:rPr lang="en-US" sz="1550" strike="noStrike" u="none">
                <a:solidFill>
                  <a:srgbClr val="100643"/>
                </a:solidFill>
                <a:latin typeface="Poppins"/>
                <a:ea typeface="Poppins"/>
                <a:cs typeface="Poppins"/>
                <a:sym typeface="Poppins"/>
              </a:rPr>
              <a:t> </a:t>
            </a:r>
            <a:r>
              <a:rPr lang="en-US" sz="1550" strike="noStrike" u="none">
                <a:solidFill>
                  <a:srgbClr val="100643"/>
                </a:solidFill>
                <a:latin typeface="Poppins"/>
                <a:ea typeface="Poppins"/>
                <a:cs typeface="Poppins"/>
                <a:sym typeface="Poppins"/>
              </a:rPr>
              <a:t>trì</a:t>
            </a:r>
            <a:r>
              <a:rPr lang="en-US" sz="1550" strike="noStrike" u="none">
                <a:solidFill>
                  <a:srgbClr val="100643"/>
                </a:solidFill>
                <a:latin typeface="Poppins"/>
                <a:ea typeface="Poppins"/>
                <a:cs typeface="Poppins"/>
                <a:sym typeface="Poppins"/>
              </a:rPr>
              <a:t>nh.</a:t>
            </a:r>
          </a:p>
          <a:p>
            <a:pPr algn="l" marL="0" indent="0" lvl="0">
              <a:lnSpc>
                <a:spcPts val="2015"/>
              </a:lnSpc>
              <a:spcBef>
                <a:spcPct val="0"/>
              </a:spcBef>
            </a:pPr>
          </a:p>
        </p:txBody>
      </p:sp>
      <p:sp>
        <p:nvSpPr>
          <p:cNvPr name="Freeform 43" id="43"/>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44" id="44"/>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45" id="45"/>
          <p:cNvSpPr txBox="true"/>
          <p:nvPr/>
        </p:nvSpPr>
        <p:spPr>
          <a:xfrm rot="0">
            <a:off x="1430516" y="9505516"/>
            <a:ext cx="5340896" cy="348615"/>
          </a:xfrm>
          <a:prstGeom prst="rect">
            <a:avLst/>
          </a:prstGeom>
        </p:spPr>
        <p:txBody>
          <a:bodyPr anchor="t" rtlCol="false" tIns="0" lIns="0" bIns="0" rIns="0">
            <a:spAutoFit/>
          </a:bodyPr>
          <a:lstStyle/>
          <a:p>
            <a:pPr algn="l">
              <a:lnSpc>
                <a:spcPts val="2625"/>
              </a:lnSpc>
            </a:pPr>
            <a:r>
              <a:rPr lang="en-US" b="true" sz="2100">
                <a:solidFill>
                  <a:srgbClr val="100643"/>
                </a:solidFill>
                <a:latin typeface="Poppins Bold"/>
                <a:ea typeface="Poppins Bold"/>
                <a:cs typeface="Poppins Bold"/>
                <a:sym typeface="Poppins Bold"/>
              </a:rPr>
              <a:t>Dựa trên bằng chứng</a:t>
            </a:r>
          </a:p>
        </p:txBody>
      </p:sp>
      <p:sp>
        <p:nvSpPr>
          <p:cNvPr name="TextBox 46" id="46"/>
          <p:cNvSpPr txBox="true"/>
          <p:nvPr/>
        </p:nvSpPr>
        <p:spPr>
          <a:xfrm rot="0">
            <a:off x="1430516" y="9188375"/>
            <a:ext cx="2331008" cy="311785"/>
          </a:xfrm>
          <a:prstGeom prst="rect">
            <a:avLst/>
          </a:prstGeom>
        </p:spPr>
        <p:txBody>
          <a:bodyPr anchor="t" rtlCol="false" tIns="0" lIns="0" bIns="0" rIns="0">
            <a:spAutoFit/>
          </a:bodyPr>
          <a:lstStyle/>
          <a:p>
            <a:pPr algn="l">
              <a:lnSpc>
                <a:spcPts val="2375"/>
              </a:lnSpc>
            </a:pPr>
            <a:r>
              <a:rPr lang="en-US" sz="1900">
                <a:solidFill>
                  <a:srgbClr val="100643"/>
                </a:solidFill>
                <a:latin typeface="Poppins"/>
                <a:ea typeface="Poppins"/>
                <a:cs typeface="Poppins"/>
                <a:sym typeface="Poppins"/>
              </a:rPr>
              <a:t>VIETTEL POST </a:t>
            </a:r>
          </a:p>
        </p:txBody>
      </p:sp>
      <p:sp>
        <p:nvSpPr>
          <p:cNvPr name="Freeform 47" id="47"/>
          <p:cNvSpPr/>
          <p:nvPr/>
        </p:nvSpPr>
        <p:spPr>
          <a:xfrm flipH="false" flipV="false" rot="0">
            <a:off x="428625" y="42862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27"/>
            <a:stretch>
              <a:fillRect l="0" t="0" r="0" b="0"/>
            </a:stretch>
          </a:blipFill>
        </p:spPr>
      </p:sp>
      <p:sp>
        <p:nvSpPr>
          <p:cNvPr name="TextBox 48" id="48"/>
          <p:cNvSpPr txBox="true"/>
          <p:nvPr/>
        </p:nvSpPr>
        <p:spPr>
          <a:xfrm rot="0">
            <a:off x="1591056" y="689801"/>
            <a:ext cx="1572768" cy="381000"/>
          </a:xfrm>
          <a:prstGeom prst="rect">
            <a:avLst/>
          </a:prstGeom>
        </p:spPr>
        <p:txBody>
          <a:bodyPr anchor="t" rtlCol="false" tIns="0" lIns="0" bIns="0" rIns="0">
            <a:spAutoFit/>
          </a:bodyPr>
          <a:lstStyle/>
          <a:p>
            <a:pPr algn="l">
              <a:lnSpc>
                <a:spcPts val="2889"/>
              </a:lnSpc>
            </a:pPr>
            <a:r>
              <a:rPr lang="en-US" b="true" sz="2407">
                <a:solidFill>
                  <a:srgbClr val="100643"/>
                </a:solidFill>
                <a:latin typeface="Poppins Bold"/>
                <a:ea typeface="Poppins Bold"/>
                <a:cs typeface="Poppins Bold"/>
                <a:sym typeface="Poppins Bold"/>
              </a:rPr>
              <a:t>Chương 4</a:t>
            </a:r>
          </a:p>
        </p:txBody>
      </p:sp>
      <p:sp>
        <p:nvSpPr>
          <p:cNvPr name="TextBox 49" id="49"/>
          <p:cNvSpPr txBox="true"/>
          <p:nvPr/>
        </p:nvSpPr>
        <p:spPr>
          <a:xfrm rot="0">
            <a:off x="1591056" y="1051179"/>
            <a:ext cx="3154671" cy="285750"/>
          </a:xfrm>
          <a:prstGeom prst="rect">
            <a:avLst/>
          </a:prstGeom>
        </p:spPr>
        <p:txBody>
          <a:bodyPr anchor="t" rtlCol="false" tIns="0" lIns="0" bIns="0" rIns="0">
            <a:spAutoFit/>
          </a:bodyPr>
          <a:lstStyle/>
          <a:p>
            <a:pPr algn="l">
              <a:lnSpc>
                <a:spcPts val="2166"/>
              </a:lnSpc>
            </a:pPr>
            <a:r>
              <a:rPr lang="en-US" sz="1805">
                <a:solidFill>
                  <a:srgbClr val="100643"/>
                </a:solidFill>
                <a:latin typeface="Poppins"/>
                <a:ea typeface="Poppins"/>
                <a:cs typeface="Poppins"/>
                <a:sym typeface="Poppins"/>
              </a:rPr>
              <a:t>PHƯƠNG PHÁP THỰC HIỆN</a:t>
            </a:r>
          </a:p>
        </p:txBody>
      </p:sp>
      <p:sp>
        <p:nvSpPr>
          <p:cNvPr name="Freeform 50" id="50"/>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51" id="5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900000">
            <a:off x="781050" y="361950"/>
            <a:ext cx="228600" cy="190500"/>
            <a:chOff x="0" y="0"/>
            <a:chExt cx="304800" cy="254000"/>
          </a:xfrm>
        </p:grpSpPr>
        <p:sp>
          <p:nvSpPr>
            <p:cNvPr name="Freeform 3" id="3"/>
            <p:cNvSpPr/>
            <p:nvPr/>
          </p:nvSpPr>
          <p:spPr>
            <a:xfrm flipH="false" flipV="false" rot="0">
              <a:off x="0" y="0"/>
              <a:ext cx="304800" cy="254000"/>
            </a:xfrm>
            <a:custGeom>
              <a:avLst/>
              <a:gdLst/>
              <a:ahLst/>
              <a:cxnLst/>
              <a:rect r="r" b="b" t="t" l="l"/>
              <a:pathLst>
                <a:path h="254000" w="304800">
                  <a:moveTo>
                    <a:pt x="152400" y="0"/>
                  </a:moveTo>
                  <a:lnTo>
                    <a:pt x="304800" y="127000"/>
                  </a:lnTo>
                  <a:lnTo>
                    <a:pt x="152400" y="254000"/>
                  </a:lnTo>
                  <a:lnTo>
                    <a:pt x="0" y="127000"/>
                  </a:lnTo>
                  <a:close/>
                </a:path>
              </a:pathLst>
            </a:custGeom>
            <a:solidFill>
              <a:srgbClr val="C90117"/>
            </a:solidFill>
          </p:spPr>
        </p:sp>
        <p:sp>
          <p:nvSpPr>
            <p:cNvPr name="TextBox 4" id="4"/>
            <p:cNvSpPr txBox="true"/>
            <p:nvPr/>
          </p:nvSpPr>
          <p:spPr>
            <a:xfrm>
              <a:off x="0" y="-28575"/>
              <a:ext cx="304800" cy="282575"/>
            </a:xfrm>
            <a:prstGeom prst="rect">
              <a:avLst/>
            </a:prstGeom>
          </p:spPr>
          <p:txBody>
            <a:bodyPr anchor="ctr" rtlCol="false" tIns="50800" lIns="50800" bIns="50800" rIns="50800"/>
            <a:lstStyle/>
            <a:p>
              <a:pPr algn="l">
                <a:lnSpc>
                  <a:spcPts val="1679"/>
                </a:lnSpc>
              </a:pPr>
            </a:p>
          </p:txBody>
        </p:sp>
      </p:grpSp>
      <p:sp>
        <p:nvSpPr>
          <p:cNvPr name="AutoShape 5" id="5"/>
          <p:cNvSpPr/>
          <p:nvPr/>
        </p:nvSpPr>
        <p:spPr>
          <a:xfrm>
            <a:off x="601360" y="5408485"/>
            <a:ext cx="3810000" cy="0"/>
          </a:xfrm>
          <a:prstGeom prst="line">
            <a:avLst/>
          </a:prstGeom>
          <a:ln cap="flat" w="57150">
            <a:solidFill>
              <a:srgbClr val="100643"/>
            </a:solidFill>
            <a:prstDash val="solid"/>
            <a:headEnd type="none" len="sm" w="sm"/>
            <a:tailEnd type="none" len="sm" w="sm"/>
          </a:ln>
        </p:spPr>
      </p:sp>
      <p:sp>
        <p:nvSpPr>
          <p:cNvPr name="TextBox 6" id="6"/>
          <p:cNvSpPr txBox="true"/>
          <p:nvPr/>
        </p:nvSpPr>
        <p:spPr>
          <a:xfrm rot="0">
            <a:off x="601360" y="5758625"/>
            <a:ext cx="4256390" cy="57785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Tổng hợp cách phân bố thời gian và trách nhiệm trong các quy trình.</a:t>
            </a:r>
          </a:p>
        </p:txBody>
      </p:sp>
      <p:sp>
        <p:nvSpPr>
          <p:cNvPr name="TextBox 7" id="7"/>
          <p:cNvSpPr txBox="true"/>
          <p:nvPr/>
        </p:nvSpPr>
        <p:spPr>
          <a:xfrm rot="0">
            <a:off x="601360" y="6429375"/>
            <a:ext cx="1386929"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(tham khảo)</a:t>
            </a:r>
          </a:p>
        </p:txBody>
      </p:sp>
      <p:grpSp>
        <p:nvGrpSpPr>
          <p:cNvPr name="Group 8" id="8"/>
          <p:cNvGrpSpPr/>
          <p:nvPr/>
        </p:nvGrpSpPr>
        <p:grpSpPr>
          <a:xfrm rot="0">
            <a:off x="5524500" y="742950"/>
            <a:ext cx="285750" cy="285750"/>
            <a:chOff x="0" y="0"/>
            <a:chExt cx="381000" cy="381000"/>
          </a:xfrm>
        </p:grpSpPr>
        <p:sp>
          <p:nvSpPr>
            <p:cNvPr name="Freeform 9" id="9"/>
            <p:cNvSpPr/>
            <p:nvPr/>
          </p:nvSpPr>
          <p:spPr>
            <a:xfrm flipH="false" flipV="false" rot="0">
              <a:off x="0" y="0"/>
              <a:ext cx="381000" cy="381000"/>
            </a:xfrm>
            <a:custGeom>
              <a:avLst/>
              <a:gdLst/>
              <a:ahLst/>
              <a:cxnLst/>
              <a:rect r="r" b="b" t="t" l="l"/>
              <a:pathLst>
                <a:path h="381000" w="381000">
                  <a:moveTo>
                    <a:pt x="0" y="190500"/>
                  </a:moveTo>
                  <a:cubicBezTo>
                    <a:pt x="0" y="295710"/>
                    <a:pt x="85290" y="381000"/>
                    <a:pt x="190500" y="381000"/>
                  </a:cubicBezTo>
                  <a:cubicBezTo>
                    <a:pt x="295710" y="381000"/>
                    <a:pt x="381000" y="295710"/>
                    <a:pt x="381000" y="190500"/>
                  </a:cubicBezTo>
                  <a:cubicBezTo>
                    <a:pt x="381000" y="85290"/>
                    <a:pt x="295710" y="0"/>
                    <a:pt x="190500" y="0"/>
                  </a:cubicBezTo>
                  <a:cubicBezTo>
                    <a:pt x="85290" y="0"/>
                    <a:pt x="0" y="85290"/>
                    <a:pt x="0" y="190500"/>
                  </a:cubicBezTo>
                  <a:close/>
                </a:path>
              </a:pathLst>
            </a:custGeom>
            <a:solidFill>
              <a:srgbClr val="BD0016"/>
            </a:solidFill>
          </p:spPr>
        </p:sp>
        <p:sp>
          <p:nvSpPr>
            <p:cNvPr name="TextBox 10" id="10"/>
            <p:cNvSpPr txBox="true"/>
            <p:nvPr/>
          </p:nvSpPr>
          <p:spPr>
            <a:xfrm>
              <a:off x="0" y="-57150"/>
              <a:ext cx="381000" cy="438150"/>
            </a:xfrm>
            <a:prstGeom prst="rect">
              <a:avLst/>
            </a:prstGeom>
          </p:spPr>
          <p:txBody>
            <a:bodyPr anchor="ctr" rtlCol="false" tIns="50800" lIns="50800" bIns="50800" rIns="50800"/>
            <a:lstStyle/>
            <a:p>
              <a:pPr algn="l">
                <a:lnSpc>
                  <a:spcPts val="2379"/>
                </a:lnSpc>
              </a:pPr>
            </a:p>
          </p:txBody>
        </p:sp>
      </p:grpSp>
      <p:sp>
        <p:nvSpPr>
          <p:cNvPr name="TextBox 11" id="11"/>
          <p:cNvSpPr txBox="true"/>
          <p:nvPr/>
        </p:nvSpPr>
        <p:spPr>
          <a:xfrm rot="0">
            <a:off x="6048375" y="723900"/>
            <a:ext cx="1439614" cy="385445"/>
          </a:xfrm>
          <a:prstGeom prst="rect">
            <a:avLst/>
          </a:prstGeom>
        </p:spPr>
        <p:txBody>
          <a:bodyPr anchor="t" rtlCol="false" tIns="0" lIns="0" bIns="0" rIns="0">
            <a:spAutoFit/>
          </a:bodyPr>
          <a:lstStyle/>
          <a:p>
            <a:pPr algn="l">
              <a:lnSpc>
                <a:spcPts val="2860"/>
              </a:lnSpc>
            </a:pPr>
            <a:r>
              <a:rPr lang="en-US" b="true" sz="2600">
                <a:solidFill>
                  <a:srgbClr val="110442"/>
                </a:solidFill>
                <a:latin typeface="Poppins Bold"/>
                <a:ea typeface="Poppins Bold"/>
                <a:cs typeface="Poppins Bold"/>
                <a:sym typeface="Poppins Bold"/>
              </a:rPr>
              <a:t>THEO CA</a:t>
            </a:r>
          </a:p>
        </p:txBody>
      </p:sp>
      <p:sp>
        <p:nvSpPr>
          <p:cNvPr name="AutoShape 12" id="12"/>
          <p:cNvSpPr/>
          <p:nvPr/>
        </p:nvSpPr>
        <p:spPr>
          <a:xfrm>
            <a:off x="5524500" y="1276350"/>
            <a:ext cx="12144375" cy="0"/>
          </a:xfrm>
          <a:prstGeom prst="line">
            <a:avLst/>
          </a:prstGeom>
          <a:ln cap="flat" w="28575">
            <a:solidFill>
              <a:srgbClr val="110442"/>
            </a:solidFill>
            <a:prstDash val="solid"/>
            <a:headEnd type="none" len="sm" w="sm"/>
            <a:tailEnd type="none" len="sm" w="sm"/>
          </a:ln>
        </p:spPr>
      </p:sp>
      <p:sp>
        <p:nvSpPr>
          <p:cNvPr name="AutoShape 13" id="13"/>
          <p:cNvSpPr/>
          <p:nvPr/>
        </p:nvSpPr>
        <p:spPr>
          <a:xfrm>
            <a:off x="7010909" y="1562100"/>
            <a:ext cx="0" cy="1285875"/>
          </a:xfrm>
          <a:prstGeom prst="line">
            <a:avLst/>
          </a:prstGeom>
          <a:ln cap="flat" w="19050">
            <a:solidFill>
              <a:srgbClr val="100643"/>
            </a:solidFill>
            <a:prstDash val="solid"/>
            <a:headEnd type="none" len="sm" w="sm"/>
            <a:tailEnd type="none" len="sm" w="sm"/>
          </a:ln>
        </p:spPr>
      </p:sp>
      <p:sp>
        <p:nvSpPr>
          <p:cNvPr name="AutoShape 14" id="14"/>
          <p:cNvSpPr/>
          <p:nvPr/>
        </p:nvSpPr>
        <p:spPr>
          <a:xfrm>
            <a:off x="7048500" y="3325368"/>
            <a:ext cx="0" cy="666750"/>
          </a:xfrm>
          <a:prstGeom prst="line">
            <a:avLst/>
          </a:prstGeom>
          <a:ln cap="flat" w="19050">
            <a:solidFill>
              <a:srgbClr val="100643"/>
            </a:solidFill>
            <a:prstDash val="solid"/>
            <a:headEnd type="none" len="sm" w="sm"/>
            <a:tailEnd type="none" len="sm" w="sm"/>
          </a:ln>
        </p:spPr>
      </p:sp>
      <p:sp>
        <p:nvSpPr>
          <p:cNvPr name="AutoShape 15" id="15"/>
          <p:cNvSpPr/>
          <p:nvPr/>
        </p:nvSpPr>
        <p:spPr>
          <a:xfrm>
            <a:off x="9515475" y="3315843"/>
            <a:ext cx="0" cy="666750"/>
          </a:xfrm>
          <a:prstGeom prst="line">
            <a:avLst/>
          </a:prstGeom>
          <a:ln cap="flat" w="19050">
            <a:solidFill>
              <a:srgbClr val="100643"/>
            </a:solidFill>
            <a:prstDash val="solid"/>
            <a:headEnd type="none" len="sm" w="sm"/>
            <a:tailEnd type="none" len="sm" w="sm"/>
          </a:ln>
        </p:spPr>
      </p:sp>
      <p:sp>
        <p:nvSpPr>
          <p:cNvPr name="AutoShape 16" id="16"/>
          <p:cNvSpPr/>
          <p:nvPr/>
        </p:nvSpPr>
        <p:spPr>
          <a:xfrm>
            <a:off x="12687300" y="3325368"/>
            <a:ext cx="0" cy="666750"/>
          </a:xfrm>
          <a:prstGeom prst="line">
            <a:avLst/>
          </a:prstGeom>
          <a:ln cap="flat" w="19050">
            <a:solidFill>
              <a:srgbClr val="100643"/>
            </a:solidFill>
            <a:prstDash val="solid"/>
            <a:headEnd type="none" len="sm" w="sm"/>
            <a:tailEnd type="none" len="sm" w="sm"/>
          </a:ln>
        </p:spPr>
      </p:sp>
      <p:sp>
        <p:nvSpPr>
          <p:cNvPr name="AutoShape 17" id="17"/>
          <p:cNvSpPr/>
          <p:nvPr/>
        </p:nvSpPr>
        <p:spPr>
          <a:xfrm>
            <a:off x="15420975" y="3325368"/>
            <a:ext cx="0" cy="666750"/>
          </a:xfrm>
          <a:prstGeom prst="line">
            <a:avLst/>
          </a:prstGeom>
          <a:ln cap="flat" w="19050">
            <a:solidFill>
              <a:srgbClr val="100643"/>
            </a:solidFill>
            <a:prstDash val="solid"/>
            <a:headEnd type="none" len="sm" w="sm"/>
            <a:tailEnd type="none" len="sm" w="sm"/>
          </a:ln>
        </p:spPr>
      </p:sp>
      <p:sp>
        <p:nvSpPr>
          <p:cNvPr name="AutoShape 18" id="18"/>
          <p:cNvSpPr/>
          <p:nvPr/>
        </p:nvSpPr>
        <p:spPr>
          <a:xfrm>
            <a:off x="5524500" y="3172968"/>
            <a:ext cx="12144375" cy="0"/>
          </a:xfrm>
          <a:prstGeom prst="line">
            <a:avLst/>
          </a:prstGeom>
          <a:ln cap="flat" w="19050">
            <a:solidFill>
              <a:srgbClr val="100643"/>
            </a:solidFill>
            <a:prstDash val="solid"/>
            <a:headEnd type="none" len="sm" w="sm"/>
            <a:tailEnd type="none" len="sm" w="sm"/>
          </a:ln>
        </p:spPr>
      </p:sp>
      <p:grpSp>
        <p:nvGrpSpPr>
          <p:cNvPr name="Group 19" id="19"/>
          <p:cNvGrpSpPr/>
          <p:nvPr/>
        </p:nvGrpSpPr>
        <p:grpSpPr>
          <a:xfrm rot="0">
            <a:off x="5524500" y="4743450"/>
            <a:ext cx="285750" cy="285750"/>
            <a:chOff x="0" y="0"/>
            <a:chExt cx="381000" cy="381000"/>
          </a:xfrm>
        </p:grpSpPr>
        <p:sp>
          <p:nvSpPr>
            <p:cNvPr name="Freeform 20" id="20"/>
            <p:cNvSpPr/>
            <p:nvPr/>
          </p:nvSpPr>
          <p:spPr>
            <a:xfrm flipH="false" flipV="false" rot="0">
              <a:off x="0" y="0"/>
              <a:ext cx="381000" cy="381000"/>
            </a:xfrm>
            <a:custGeom>
              <a:avLst/>
              <a:gdLst/>
              <a:ahLst/>
              <a:cxnLst/>
              <a:rect r="r" b="b" t="t" l="l"/>
              <a:pathLst>
                <a:path h="381000" w="381000">
                  <a:moveTo>
                    <a:pt x="0" y="190500"/>
                  </a:moveTo>
                  <a:cubicBezTo>
                    <a:pt x="0" y="295710"/>
                    <a:pt x="85290" y="381000"/>
                    <a:pt x="190500" y="381000"/>
                  </a:cubicBezTo>
                  <a:cubicBezTo>
                    <a:pt x="295710" y="381000"/>
                    <a:pt x="381000" y="295710"/>
                    <a:pt x="381000" y="190500"/>
                  </a:cubicBezTo>
                  <a:cubicBezTo>
                    <a:pt x="381000" y="85290"/>
                    <a:pt x="295710" y="0"/>
                    <a:pt x="190500" y="0"/>
                  </a:cubicBezTo>
                  <a:cubicBezTo>
                    <a:pt x="85290" y="0"/>
                    <a:pt x="0" y="85290"/>
                    <a:pt x="0" y="190500"/>
                  </a:cubicBezTo>
                  <a:close/>
                </a:path>
              </a:pathLst>
            </a:custGeom>
            <a:solidFill>
              <a:srgbClr val="BD0016"/>
            </a:solidFill>
          </p:spPr>
        </p:sp>
        <p:sp>
          <p:nvSpPr>
            <p:cNvPr name="TextBox 21" id="21"/>
            <p:cNvSpPr txBox="true"/>
            <p:nvPr/>
          </p:nvSpPr>
          <p:spPr>
            <a:xfrm>
              <a:off x="0" y="-57150"/>
              <a:ext cx="381000" cy="438150"/>
            </a:xfrm>
            <a:prstGeom prst="rect">
              <a:avLst/>
            </a:prstGeom>
          </p:spPr>
          <p:txBody>
            <a:bodyPr anchor="ctr" rtlCol="false" tIns="50800" lIns="50800" bIns="50800" rIns="50800"/>
            <a:lstStyle/>
            <a:p>
              <a:pPr algn="l">
                <a:lnSpc>
                  <a:spcPts val="2379"/>
                </a:lnSpc>
              </a:pPr>
            </a:p>
          </p:txBody>
        </p:sp>
      </p:grpSp>
      <p:sp>
        <p:nvSpPr>
          <p:cNvPr name="TextBox 22" id="22"/>
          <p:cNvSpPr txBox="true"/>
          <p:nvPr/>
        </p:nvSpPr>
        <p:spPr>
          <a:xfrm rot="0">
            <a:off x="6048375" y="4724400"/>
            <a:ext cx="3689152" cy="385445"/>
          </a:xfrm>
          <a:prstGeom prst="rect">
            <a:avLst/>
          </a:prstGeom>
        </p:spPr>
        <p:txBody>
          <a:bodyPr anchor="t" rtlCol="false" tIns="0" lIns="0" bIns="0" rIns="0">
            <a:spAutoFit/>
          </a:bodyPr>
          <a:lstStyle/>
          <a:p>
            <a:pPr algn="l">
              <a:lnSpc>
                <a:spcPts val="2860"/>
              </a:lnSpc>
            </a:pPr>
            <a:r>
              <a:rPr lang="en-US" b="true" sz="2600">
                <a:solidFill>
                  <a:srgbClr val="110442"/>
                </a:solidFill>
                <a:latin typeface="Poppins Bold"/>
                <a:ea typeface="Poppins Bold"/>
                <a:cs typeface="Poppins Bold"/>
                <a:sym typeface="Poppins Bold"/>
              </a:rPr>
              <a:t>THEO GIAI ĐOẠN &amp; SLA</a:t>
            </a:r>
          </a:p>
        </p:txBody>
      </p:sp>
      <p:sp>
        <p:nvSpPr>
          <p:cNvPr name="AutoShape 23" id="23"/>
          <p:cNvSpPr/>
          <p:nvPr/>
        </p:nvSpPr>
        <p:spPr>
          <a:xfrm>
            <a:off x="5524500" y="5276850"/>
            <a:ext cx="12144375" cy="0"/>
          </a:xfrm>
          <a:prstGeom prst="line">
            <a:avLst/>
          </a:prstGeom>
          <a:ln cap="flat" w="28575">
            <a:solidFill>
              <a:srgbClr val="100643"/>
            </a:solidFill>
            <a:prstDash val="solid"/>
            <a:headEnd type="none" len="sm" w="sm"/>
            <a:tailEnd type="none" len="sm" w="sm"/>
          </a:ln>
        </p:spPr>
      </p:sp>
      <p:sp>
        <p:nvSpPr>
          <p:cNvPr name="TextBox 24" id="24"/>
          <p:cNvSpPr txBox="true"/>
          <p:nvPr/>
        </p:nvSpPr>
        <p:spPr>
          <a:xfrm rot="0">
            <a:off x="5572125" y="5648325"/>
            <a:ext cx="2193801"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Tiếp nhận đơn hàng</a:t>
            </a:r>
          </a:p>
        </p:txBody>
      </p:sp>
      <p:sp>
        <p:nvSpPr>
          <p:cNvPr name="TextBox 25" id="25"/>
          <p:cNvSpPr txBox="true"/>
          <p:nvPr/>
        </p:nvSpPr>
        <p:spPr>
          <a:xfrm rot="0">
            <a:off x="7934325" y="5648325"/>
            <a:ext cx="276225" cy="292100"/>
          </a:xfrm>
          <a:prstGeom prst="rect">
            <a:avLst/>
          </a:prstGeom>
        </p:spPr>
        <p:txBody>
          <a:bodyPr anchor="t" rtlCol="false" tIns="0" lIns="0" bIns="0" rIns="0">
            <a:spAutoFit/>
          </a:bodyPr>
          <a:lstStyle/>
          <a:p>
            <a:pPr algn="l">
              <a:lnSpc>
                <a:spcPts val="2274"/>
              </a:lnSpc>
            </a:pPr>
            <a:r>
              <a:rPr lang="en-US" b="true" sz="1749">
                <a:solidFill>
                  <a:srgbClr val="E61730"/>
                </a:solidFill>
                <a:latin typeface="Poppins Bold"/>
                <a:ea typeface="Poppins Bold"/>
                <a:cs typeface="Poppins Bold"/>
                <a:sym typeface="Poppins Bold"/>
              </a:rPr>
              <a:t>T0</a:t>
            </a:r>
          </a:p>
        </p:txBody>
      </p:sp>
      <p:sp>
        <p:nvSpPr>
          <p:cNvPr name="TextBox 26" id="26"/>
          <p:cNvSpPr txBox="true"/>
          <p:nvPr/>
        </p:nvSpPr>
        <p:spPr>
          <a:xfrm rot="0">
            <a:off x="9715500" y="5648325"/>
            <a:ext cx="276225"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T0</a:t>
            </a:r>
          </a:p>
        </p:txBody>
      </p:sp>
      <p:sp>
        <p:nvSpPr>
          <p:cNvPr name="TextBox 27" id="27"/>
          <p:cNvSpPr txBox="true"/>
          <p:nvPr/>
        </p:nvSpPr>
        <p:spPr>
          <a:xfrm rot="0">
            <a:off x="11306175" y="5648325"/>
            <a:ext cx="1513582"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Ngày sau gửi</a:t>
            </a:r>
          </a:p>
        </p:txBody>
      </p:sp>
      <p:sp>
        <p:nvSpPr>
          <p:cNvPr name="TextBox 28" id="28"/>
          <p:cNvSpPr txBox="true"/>
          <p:nvPr/>
        </p:nvSpPr>
        <p:spPr>
          <a:xfrm rot="0">
            <a:off x="13763625" y="5648325"/>
            <a:ext cx="1347118"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WT tham số</a:t>
            </a:r>
          </a:p>
        </p:txBody>
      </p:sp>
      <p:sp>
        <p:nvSpPr>
          <p:cNvPr name="TextBox 29" id="29"/>
          <p:cNvSpPr txBox="true"/>
          <p:nvPr/>
        </p:nvSpPr>
        <p:spPr>
          <a:xfrm rot="0">
            <a:off x="16240125" y="5648325"/>
            <a:ext cx="1579811"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Sau khi hợp lệ</a:t>
            </a:r>
          </a:p>
        </p:txBody>
      </p:sp>
      <p:sp>
        <p:nvSpPr>
          <p:cNvPr name="TextBox 30" id="30"/>
          <p:cNvSpPr txBox="true"/>
          <p:nvPr/>
        </p:nvSpPr>
        <p:spPr>
          <a:xfrm rot="0">
            <a:off x="9147200" y="56769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31" id="31"/>
          <p:cNvSpPr txBox="true"/>
          <p:nvPr/>
        </p:nvSpPr>
        <p:spPr>
          <a:xfrm rot="0">
            <a:off x="10871188" y="56769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32" id="32"/>
          <p:cNvSpPr txBox="true"/>
          <p:nvPr/>
        </p:nvSpPr>
        <p:spPr>
          <a:xfrm rot="0">
            <a:off x="13382625" y="56769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33" id="33"/>
          <p:cNvSpPr txBox="true"/>
          <p:nvPr/>
        </p:nvSpPr>
        <p:spPr>
          <a:xfrm rot="0">
            <a:off x="15668625" y="56769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34" id="34"/>
          <p:cNvSpPr txBox="true"/>
          <p:nvPr/>
        </p:nvSpPr>
        <p:spPr>
          <a:xfrm rot="0">
            <a:off x="5572125" y="6143625"/>
            <a:ext cx="1546027"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Đối tác vận tải</a:t>
            </a:r>
          </a:p>
        </p:txBody>
      </p:sp>
      <p:sp>
        <p:nvSpPr>
          <p:cNvPr name="TextBox 35" id="35"/>
          <p:cNvSpPr txBox="true"/>
          <p:nvPr/>
        </p:nvSpPr>
        <p:spPr>
          <a:xfrm rot="0">
            <a:off x="7934325" y="6143625"/>
            <a:ext cx="1003995"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1–2 ngày</a:t>
            </a:r>
          </a:p>
        </p:txBody>
      </p:sp>
      <p:sp>
        <p:nvSpPr>
          <p:cNvPr name="TextBox 36" id="36"/>
          <p:cNvSpPr txBox="true"/>
          <p:nvPr/>
        </p:nvSpPr>
        <p:spPr>
          <a:xfrm rot="0">
            <a:off x="9715500" y="6143625"/>
            <a:ext cx="722709"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1 ngày</a:t>
            </a:r>
          </a:p>
        </p:txBody>
      </p:sp>
      <p:sp>
        <p:nvSpPr>
          <p:cNvPr name="TextBox 37" id="37"/>
          <p:cNvSpPr txBox="true"/>
          <p:nvPr/>
        </p:nvSpPr>
        <p:spPr>
          <a:xfrm rot="0">
            <a:off x="11306175" y="6143625"/>
            <a:ext cx="766018"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2 ngày</a:t>
            </a:r>
          </a:p>
        </p:txBody>
      </p:sp>
      <p:sp>
        <p:nvSpPr>
          <p:cNvPr name="TextBox 38" id="38"/>
          <p:cNvSpPr txBox="true"/>
          <p:nvPr/>
        </p:nvSpPr>
        <p:spPr>
          <a:xfrm rot="0">
            <a:off x="13763625" y="6143625"/>
            <a:ext cx="1003995"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1–2 ngày</a:t>
            </a:r>
          </a:p>
        </p:txBody>
      </p:sp>
      <p:sp>
        <p:nvSpPr>
          <p:cNvPr name="TextBox 39" id="39"/>
          <p:cNvSpPr txBox="true"/>
          <p:nvPr/>
        </p:nvSpPr>
        <p:spPr>
          <a:xfrm rot="0">
            <a:off x="16240125" y="6143625"/>
            <a:ext cx="722709" cy="292100"/>
          </a:xfrm>
          <a:prstGeom prst="rect">
            <a:avLst/>
          </a:prstGeom>
        </p:spPr>
        <p:txBody>
          <a:bodyPr anchor="t" rtlCol="false" tIns="0" lIns="0" bIns="0" rIns="0">
            <a:spAutoFit/>
          </a:bodyPr>
          <a:lstStyle/>
          <a:p>
            <a:pPr algn="l" marL="0" indent="0" lvl="0">
              <a:lnSpc>
                <a:spcPts val="2274"/>
              </a:lnSpc>
              <a:spcBef>
                <a:spcPct val="0"/>
              </a:spcBef>
            </a:pPr>
            <a:r>
              <a:rPr lang="en-US" b="true" sz="1749" strike="noStrike" u="none">
                <a:solidFill>
                  <a:srgbClr val="E61730"/>
                </a:solidFill>
                <a:latin typeface="Poppins Bold"/>
                <a:ea typeface="Poppins Bold"/>
                <a:cs typeface="Poppins Bold"/>
                <a:sym typeface="Poppins Bold"/>
              </a:rPr>
              <a:t>1 ngày</a:t>
            </a:r>
          </a:p>
        </p:txBody>
      </p:sp>
      <p:sp>
        <p:nvSpPr>
          <p:cNvPr name="TextBox 40" id="40"/>
          <p:cNvSpPr txBox="true"/>
          <p:nvPr/>
        </p:nvSpPr>
        <p:spPr>
          <a:xfrm rot="0">
            <a:off x="9135442" y="61722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41" id="41"/>
          <p:cNvSpPr txBox="true"/>
          <p:nvPr/>
        </p:nvSpPr>
        <p:spPr>
          <a:xfrm rot="0">
            <a:off x="10871188" y="615315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42" id="42"/>
          <p:cNvSpPr txBox="true"/>
          <p:nvPr/>
        </p:nvSpPr>
        <p:spPr>
          <a:xfrm rot="0">
            <a:off x="13382625" y="61722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sp>
        <p:nvSpPr>
          <p:cNvPr name="TextBox 43" id="43"/>
          <p:cNvSpPr txBox="true"/>
          <p:nvPr/>
        </p:nvSpPr>
        <p:spPr>
          <a:xfrm rot="0">
            <a:off x="15668625" y="6172200"/>
            <a:ext cx="241325"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a:t>
            </a:r>
          </a:p>
        </p:txBody>
      </p:sp>
      <p:grpSp>
        <p:nvGrpSpPr>
          <p:cNvPr name="Group 44" id="44"/>
          <p:cNvGrpSpPr/>
          <p:nvPr/>
        </p:nvGrpSpPr>
        <p:grpSpPr>
          <a:xfrm rot="0">
            <a:off x="5524500" y="7000875"/>
            <a:ext cx="285750" cy="285750"/>
            <a:chOff x="0" y="0"/>
            <a:chExt cx="381000" cy="381000"/>
          </a:xfrm>
        </p:grpSpPr>
        <p:sp>
          <p:nvSpPr>
            <p:cNvPr name="Freeform 45" id="45"/>
            <p:cNvSpPr/>
            <p:nvPr/>
          </p:nvSpPr>
          <p:spPr>
            <a:xfrm flipH="false" flipV="false" rot="0">
              <a:off x="0" y="0"/>
              <a:ext cx="381000" cy="381000"/>
            </a:xfrm>
            <a:custGeom>
              <a:avLst/>
              <a:gdLst/>
              <a:ahLst/>
              <a:cxnLst/>
              <a:rect r="r" b="b" t="t" l="l"/>
              <a:pathLst>
                <a:path h="381000" w="381000">
                  <a:moveTo>
                    <a:pt x="0" y="190500"/>
                  </a:moveTo>
                  <a:cubicBezTo>
                    <a:pt x="0" y="295710"/>
                    <a:pt x="85290" y="381000"/>
                    <a:pt x="190500" y="381000"/>
                  </a:cubicBezTo>
                  <a:cubicBezTo>
                    <a:pt x="295710" y="381000"/>
                    <a:pt x="381000" y="295710"/>
                    <a:pt x="381000" y="190500"/>
                  </a:cubicBezTo>
                  <a:cubicBezTo>
                    <a:pt x="381000" y="85290"/>
                    <a:pt x="295710" y="0"/>
                    <a:pt x="190500" y="0"/>
                  </a:cubicBezTo>
                  <a:cubicBezTo>
                    <a:pt x="85290" y="0"/>
                    <a:pt x="0" y="85290"/>
                    <a:pt x="0" y="190500"/>
                  </a:cubicBezTo>
                  <a:close/>
                </a:path>
              </a:pathLst>
            </a:custGeom>
            <a:solidFill>
              <a:srgbClr val="BD0016"/>
            </a:solidFill>
          </p:spPr>
        </p:sp>
        <p:sp>
          <p:nvSpPr>
            <p:cNvPr name="TextBox 46" id="46"/>
            <p:cNvSpPr txBox="true"/>
            <p:nvPr/>
          </p:nvSpPr>
          <p:spPr>
            <a:xfrm>
              <a:off x="0" y="-57150"/>
              <a:ext cx="381000" cy="438150"/>
            </a:xfrm>
            <a:prstGeom prst="rect">
              <a:avLst/>
            </a:prstGeom>
          </p:spPr>
          <p:txBody>
            <a:bodyPr anchor="ctr" rtlCol="false" tIns="50800" lIns="50800" bIns="50800" rIns="50800"/>
            <a:lstStyle/>
            <a:p>
              <a:pPr algn="l">
                <a:lnSpc>
                  <a:spcPts val="2379"/>
                </a:lnSpc>
              </a:pPr>
            </a:p>
          </p:txBody>
        </p:sp>
      </p:grpSp>
      <p:sp>
        <p:nvSpPr>
          <p:cNvPr name="TextBox 47" id="47"/>
          <p:cNvSpPr txBox="true"/>
          <p:nvPr/>
        </p:nvSpPr>
        <p:spPr>
          <a:xfrm rot="0">
            <a:off x="6048375" y="6981825"/>
            <a:ext cx="4580334" cy="385445"/>
          </a:xfrm>
          <a:prstGeom prst="rect">
            <a:avLst/>
          </a:prstGeom>
        </p:spPr>
        <p:txBody>
          <a:bodyPr anchor="t" rtlCol="false" tIns="0" lIns="0" bIns="0" rIns="0">
            <a:spAutoFit/>
          </a:bodyPr>
          <a:lstStyle/>
          <a:p>
            <a:pPr algn="l">
              <a:lnSpc>
                <a:spcPts val="2860"/>
              </a:lnSpc>
            </a:pPr>
            <a:r>
              <a:rPr lang="en-US" b="true" sz="2600">
                <a:solidFill>
                  <a:srgbClr val="110442"/>
                </a:solidFill>
                <a:latin typeface="Poppins Bold"/>
                <a:ea typeface="Poppins Bold"/>
                <a:cs typeface="Poppins Bold"/>
                <a:sym typeface="Poppins Bold"/>
              </a:rPr>
              <a:t>THEO THỜI LƯỢNG TÍCH LŨY</a:t>
            </a:r>
          </a:p>
        </p:txBody>
      </p:sp>
      <p:sp>
        <p:nvSpPr>
          <p:cNvPr name="AutoShape 48" id="48"/>
          <p:cNvSpPr/>
          <p:nvPr/>
        </p:nvSpPr>
        <p:spPr>
          <a:xfrm>
            <a:off x="5524500" y="7524750"/>
            <a:ext cx="12144375" cy="0"/>
          </a:xfrm>
          <a:prstGeom prst="line">
            <a:avLst/>
          </a:prstGeom>
          <a:ln cap="flat" w="28575">
            <a:solidFill>
              <a:srgbClr val="100643"/>
            </a:solidFill>
            <a:prstDash val="solid"/>
            <a:headEnd type="none" len="sm" w="sm"/>
            <a:tailEnd type="none" len="sm" w="sm"/>
          </a:ln>
        </p:spPr>
      </p:sp>
      <p:sp>
        <p:nvSpPr>
          <p:cNvPr name="AutoShape 49" id="49"/>
          <p:cNvSpPr/>
          <p:nvPr/>
        </p:nvSpPr>
        <p:spPr>
          <a:xfrm>
            <a:off x="5381625" y="7867650"/>
            <a:ext cx="0" cy="800100"/>
          </a:xfrm>
          <a:prstGeom prst="line">
            <a:avLst/>
          </a:prstGeom>
          <a:ln cap="flat" w="28575">
            <a:solidFill>
              <a:srgbClr val="100643"/>
            </a:solidFill>
            <a:prstDash val="solid"/>
            <a:headEnd type="none" len="sm" w="sm"/>
            <a:tailEnd type="none" len="sm" w="sm"/>
          </a:ln>
        </p:spPr>
      </p:sp>
      <p:sp>
        <p:nvSpPr>
          <p:cNvPr name="TextBox 50" id="50"/>
          <p:cNvSpPr txBox="true"/>
          <p:nvPr/>
        </p:nvSpPr>
        <p:spPr>
          <a:xfrm rot="0">
            <a:off x="5715000" y="7924800"/>
            <a:ext cx="1251347" cy="627380"/>
          </a:xfrm>
          <a:prstGeom prst="rect">
            <a:avLst/>
          </a:prstGeom>
        </p:spPr>
        <p:txBody>
          <a:bodyPr anchor="t" rtlCol="false" tIns="0" lIns="0" bIns="0" rIns="0">
            <a:spAutoFit/>
          </a:bodyPr>
          <a:lstStyle/>
          <a:p>
            <a:pPr algn="l" marL="0" indent="0" lvl="0">
              <a:lnSpc>
                <a:spcPts val="2484"/>
              </a:lnSpc>
              <a:spcBef>
                <a:spcPct val="0"/>
              </a:spcBef>
            </a:pPr>
            <a:r>
              <a:rPr lang="en-US" sz="1749" strike="noStrike" u="none">
                <a:solidFill>
                  <a:srgbClr val="110442"/>
                </a:solidFill>
                <a:latin typeface="Poppins"/>
                <a:ea typeface="Poppins"/>
                <a:cs typeface="Poppins"/>
                <a:sym typeface="Poppins"/>
              </a:rPr>
              <a:t>Đề xuất</a:t>
            </a:r>
          </a:p>
          <a:p>
            <a:pPr algn="l" marL="0" indent="0" lvl="0">
              <a:lnSpc>
                <a:spcPts val="2484"/>
              </a:lnSpc>
              <a:spcBef>
                <a:spcPct val="0"/>
              </a:spcBef>
            </a:pPr>
            <a:r>
              <a:rPr lang="en-US" sz="1749" strike="noStrike" u="none">
                <a:solidFill>
                  <a:srgbClr val="110442"/>
                </a:solidFill>
                <a:latin typeface="Poppins"/>
                <a:ea typeface="Poppins"/>
                <a:cs typeface="Poppins"/>
                <a:sym typeface="Poppins"/>
              </a:rPr>
              <a:t>8,5 giờ</a:t>
            </a:r>
          </a:p>
        </p:txBody>
      </p:sp>
      <p:grpSp>
        <p:nvGrpSpPr>
          <p:cNvPr name="Group 51" id="51"/>
          <p:cNvGrpSpPr/>
          <p:nvPr/>
        </p:nvGrpSpPr>
        <p:grpSpPr>
          <a:xfrm rot="0">
            <a:off x="7080647" y="7848600"/>
            <a:ext cx="1441847" cy="800100"/>
            <a:chOff x="0" y="0"/>
            <a:chExt cx="1922462" cy="1066800"/>
          </a:xfrm>
        </p:grpSpPr>
        <p:sp>
          <p:nvSpPr>
            <p:cNvPr name="Freeform 52" id="52"/>
            <p:cNvSpPr/>
            <p:nvPr/>
          </p:nvSpPr>
          <p:spPr>
            <a:xfrm flipH="false" flipV="false" rot="0">
              <a:off x="0" y="0"/>
              <a:ext cx="1922462" cy="1066800"/>
            </a:xfrm>
            <a:custGeom>
              <a:avLst/>
              <a:gdLst/>
              <a:ahLst/>
              <a:cxnLst/>
              <a:rect r="r" b="b" t="t" l="l"/>
              <a:pathLst>
                <a:path h="1066800" w="1922462">
                  <a:moveTo>
                    <a:pt x="0" y="0"/>
                  </a:moveTo>
                  <a:lnTo>
                    <a:pt x="1922462" y="0"/>
                  </a:lnTo>
                  <a:lnTo>
                    <a:pt x="1922462" y="1066800"/>
                  </a:lnTo>
                  <a:lnTo>
                    <a:pt x="0" y="1066800"/>
                  </a:lnTo>
                  <a:close/>
                </a:path>
              </a:pathLst>
            </a:custGeom>
            <a:solidFill>
              <a:srgbClr val="D36B77"/>
            </a:solidFill>
          </p:spPr>
        </p:sp>
        <p:sp>
          <p:nvSpPr>
            <p:cNvPr name="TextBox 53" id="53"/>
            <p:cNvSpPr txBox="true"/>
            <p:nvPr/>
          </p:nvSpPr>
          <p:spPr>
            <a:xfrm>
              <a:off x="0" y="-57150"/>
              <a:ext cx="1922462" cy="1123950"/>
            </a:xfrm>
            <a:prstGeom prst="rect">
              <a:avLst/>
            </a:prstGeom>
          </p:spPr>
          <p:txBody>
            <a:bodyPr anchor="ctr" rtlCol="false" tIns="50800" lIns="50800" bIns="50800" rIns="50800"/>
            <a:lstStyle/>
            <a:p>
              <a:pPr algn="l">
                <a:lnSpc>
                  <a:spcPts val="2379"/>
                </a:lnSpc>
              </a:pPr>
            </a:p>
          </p:txBody>
        </p:sp>
      </p:grpSp>
      <p:sp>
        <p:nvSpPr>
          <p:cNvPr name="AutoShape 54" id="54"/>
          <p:cNvSpPr/>
          <p:nvPr/>
        </p:nvSpPr>
        <p:spPr>
          <a:xfrm>
            <a:off x="7042547" y="7848600"/>
            <a:ext cx="0" cy="800100"/>
          </a:xfrm>
          <a:prstGeom prst="line">
            <a:avLst/>
          </a:prstGeom>
          <a:ln cap="flat" w="28575">
            <a:solidFill>
              <a:srgbClr val="100643"/>
            </a:solidFill>
            <a:prstDash val="solid"/>
            <a:headEnd type="none" len="sm" w="sm"/>
            <a:tailEnd type="none" len="sm" w="sm"/>
          </a:ln>
        </p:spPr>
      </p:sp>
      <p:sp>
        <p:nvSpPr>
          <p:cNvPr name="TextBox 55" id="55"/>
          <p:cNvSpPr txBox="true"/>
          <p:nvPr/>
        </p:nvSpPr>
        <p:spPr>
          <a:xfrm rot="0">
            <a:off x="7228284" y="7933492"/>
            <a:ext cx="1251347" cy="600639"/>
          </a:xfrm>
          <a:prstGeom prst="rect">
            <a:avLst/>
          </a:prstGeom>
        </p:spPr>
        <p:txBody>
          <a:bodyPr anchor="t" rtlCol="false" tIns="0" lIns="0" bIns="0" rIns="0">
            <a:spAutoFit/>
          </a:bodyPr>
          <a:lstStyle/>
          <a:p>
            <a:pPr algn="l">
              <a:lnSpc>
                <a:spcPts val="2391"/>
              </a:lnSpc>
            </a:pPr>
            <a:r>
              <a:rPr lang="en-US" sz="1684">
                <a:solidFill>
                  <a:srgbClr val="FFFFFF"/>
                </a:solidFill>
                <a:latin typeface="Poppins"/>
                <a:ea typeface="Poppins"/>
                <a:cs typeface="Poppins"/>
                <a:sym typeface="Poppins"/>
              </a:rPr>
              <a:t>Tuyển dụng</a:t>
            </a:r>
          </a:p>
          <a:p>
            <a:pPr algn="l">
              <a:lnSpc>
                <a:spcPts val="2391"/>
              </a:lnSpc>
            </a:pPr>
            <a:r>
              <a:rPr lang="en-US" sz="1684">
                <a:solidFill>
                  <a:srgbClr val="FFFFFF"/>
                </a:solidFill>
                <a:latin typeface="Poppins"/>
                <a:ea typeface="Poppins"/>
                <a:cs typeface="Poppins"/>
                <a:sym typeface="Poppins"/>
              </a:rPr>
              <a:t>120 giờ</a:t>
            </a:r>
          </a:p>
        </p:txBody>
      </p:sp>
      <p:sp>
        <p:nvSpPr>
          <p:cNvPr name="AutoShape 56" id="56"/>
          <p:cNvSpPr/>
          <p:nvPr/>
        </p:nvSpPr>
        <p:spPr>
          <a:xfrm>
            <a:off x="8560594" y="7848600"/>
            <a:ext cx="0" cy="800100"/>
          </a:xfrm>
          <a:prstGeom prst="line">
            <a:avLst/>
          </a:prstGeom>
          <a:ln cap="flat" w="28575">
            <a:solidFill>
              <a:srgbClr val="100643"/>
            </a:solidFill>
            <a:prstDash val="solid"/>
            <a:headEnd type="none" len="sm" w="sm"/>
            <a:tailEnd type="none" len="sm" w="sm"/>
          </a:ln>
        </p:spPr>
      </p:sp>
      <p:sp>
        <p:nvSpPr>
          <p:cNvPr name="TextBox 57" id="57"/>
          <p:cNvSpPr txBox="true"/>
          <p:nvPr/>
        </p:nvSpPr>
        <p:spPr>
          <a:xfrm rot="0">
            <a:off x="8751094" y="7924800"/>
            <a:ext cx="1251347" cy="627380"/>
          </a:xfrm>
          <a:prstGeom prst="rect">
            <a:avLst/>
          </a:prstGeom>
        </p:spPr>
        <p:txBody>
          <a:bodyPr anchor="t" rtlCol="false" tIns="0" lIns="0" bIns="0" rIns="0">
            <a:spAutoFit/>
          </a:bodyPr>
          <a:lstStyle/>
          <a:p>
            <a:pPr algn="l">
              <a:lnSpc>
                <a:spcPts val="2484"/>
              </a:lnSpc>
            </a:pPr>
            <a:r>
              <a:rPr lang="en-US" sz="1749">
                <a:solidFill>
                  <a:srgbClr val="110442"/>
                </a:solidFill>
                <a:latin typeface="Poppins"/>
                <a:ea typeface="Poppins"/>
                <a:cs typeface="Poppins"/>
                <a:sym typeface="Poppins"/>
              </a:rPr>
              <a:t>Phỏng vấn</a:t>
            </a:r>
          </a:p>
          <a:p>
            <a:pPr algn="l">
              <a:lnSpc>
                <a:spcPts val="2484"/>
              </a:lnSpc>
            </a:pPr>
            <a:r>
              <a:rPr lang="en-US" sz="1749">
                <a:solidFill>
                  <a:srgbClr val="110442"/>
                </a:solidFill>
                <a:latin typeface="Poppins"/>
                <a:ea typeface="Poppins"/>
                <a:cs typeface="Poppins"/>
                <a:sym typeface="Poppins"/>
              </a:rPr>
              <a:t>35 giờ</a:t>
            </a:r>
          </a:p>
        </p:txBody>
      </p:sp>
      <p:sp>
        <p:nvSpPr>
          <p:cNvPr name="AutoShape 58" id="58"/>
          <p:cNvSpPr/>
          <p:nvPr/>
        </p:nvSpPr>
        <p:spPr>
          <a:xfrm>
            <a:off x="10078641" y="7848600"/>
            <a:ext cx="0" cy="800100"/>
          </a:xfrm>
          <a:prstGeom prst="line">
            <a:avLst/>
          </a:prstGeom>
          <a:ln cap="flat" w="28575">
            <a:solidFill>
              <a:srgbClr val="100643"/>
            </a:solidFill>
            <a:prstDash val="solid"/>
            <a:headEnd type="none" len="sm" w="sm"/>
            <a:tailEnd type="none" len="sm" w="sm"/>
          </a:ln>
        </p:spPr>
      </p:sp>
      <p:sp>
        <p:nvSpPr>
          <p:cNvPr name="TextBox 59" id="59"/>
          <p:cNvSpPr txBox="true"/>
          <p:nvPr/>
        </p:nvSpPr>
        <p:spPr>
          <a:xfrm rot="0">
            <a:off x="10220325" y="7924800"/>
            <a:ext cx="1437084" cy="592074"/>
          </a:xfrm>
          <a:prstGeom prst="rect">
            <a:avLst/>
          </a:prstGeom>
        </p:spPr>
        <p:txBody>
          <a:bodyPr anchor="t" rtlCol="false" tIns="0" lIns="0" bIns="0" rIns="0">
            <a:spAutoFit/>
          </a:bodyPr>
          <a:lstStyle/>
          <a:p>
            <a:pPr algn="l">
              <a:lnSpc>
                <a:spcPts val="2343"/>
              </a:lnSpc>
            </a:pPr>
            <a:r>
              <a:rPr lang="en-US" sz="1650">
                <a:solidFill>
                  <a:srgbClr val="110442"/>
                </a:solidFill>
                <a:latin typeface="Poppins"/>
                <a:ea typeface="Poppins"/>
                <a:cs typeface="Poppins"/>
                <a:sym typeface="Poppins"/>
              </a:rPr>
              <a:t>Offer &amp; HĐLĐ</a:t>
            </a:r>
          </a:p>
          <a:p>
            <a:pPr algn="l">
              <a:lnSpc>
                <a:spcPts val="2343"/>
              </a:lnSpc>
            </a:pPr>
            <a:r>
              <a:rPr lang="en-US" sz="1650">
                <a:solidFill>
                  <a:srgbClr val="110442"/>
                </a:solidFill>
                <a:latin typeface="Poppins"/>
                <a:ea typeface="Poppins"/>
                <a:cs typeface="Poppins"/>
                <a:sym typeface="Poppins"/>
              </a:rPr>
              <a:t>25,2 giờ</a:t>
            </a:r>
          </a:p>
        </p:txBody>
      </p:sp>
      <p:sp>
        <p:nvSpPr>
          <p:cNvPr name="AutoShape 60" id="60"/>
          <p:cNvSpPr/>
          <p:nvPr/>
        </p:nvSpPr>
        <p:spPr>
          <a:xfrm>
            <a:off x="11725275" y="7829550"/>
            <a:ext cx="0" cy="800100"/>
          </a:xfrm>
          <a:prstGeom prst="line">
            <a:avLst/>
          </a:prstGeom>
          <a:ln cap="flat" w="28575">
            <a:solidFill>
              <a:srgbClr val="100643"/>
            </a:solidFill>
            <a:prstDash val="solid"/>
            <a:headEnd type="none" len="sm" w="sm"/>
            <a:tailEnd type="none" len="sm" w="sm"/>
          </a:ln>
        </p:spPr>
      </p:sp>
      <p:sp>
        <p:nvSpPr>
          <p:cNvPr name="TextBox 61" id="61"/>
          <p:cNvSpPr txBox="true"/>
          <p:nvPr/>
        </p:nvSpPr>
        <p:spPr>
          <a:xfrm rot="0">
            <a:off x="11920538" y="7924800"/>
            <a:ext cx="1251347" cy="627380"/>
          </a:xfrm>
          <a:prstGeom prst="rect">
            <a:avLst/>
          </a:prstGeom>
        </p:spPr>
        <p:txBody>
          <a:bodyPr anchor="t" rtlCol="false" tIns="0" lIns="0" bIns="0" rIns="0">
            <a:spAutoFit/>
          </a:bodyPr>
          <a:lstStyle/>
          <a:p>
            <a:pPr algn="l">
              <a:lnSpc>
                <a:spcPts val="2484"/>
              </a:lnSpc>
            </a:pPr>
            <a:r>
              <a:rPr lang="en-US" sz="1749">
                <a:solidFill>
                  <a:srgbClr val="110442"/>
                </a:solidFill>
                <a:latin typeface="Poppins"/>
                <a:ea typeface="Poppins"/>
                <a:cs typeface="Poppins"/>
                <a:sym typeface="Poppins"/>
              </a:rPr>
              <a:t>HRM</a:t>
            </a:r>
          </a:p>
          <a:p>
            <a:pPr algn="l">
              <a:lnSpc>
                <a:spcPts val="2484"/>
              </a:lnSpc>
            </a:pPr>
            <a:r>
              <a:rPr lang="en-US" sz="1749">
                <a:solidFill>
                  <a:srgbClr val="110442"/>
                </a:solidFill>
                <a:latin typeface="Poppins"/>
                <a:ea typeface="Poppins"/>
                <a:cs typeface="Poppins"/>
                <a:sym typeface="Poppins"/>
              </a:rPr>
              <a:t>0,5 giờ</a:t>
            </a:r>
          </a:p>
        </p:txBody>
      </p:sp>
      <p:sp>
        <p:nvSpPr>
          <p:cNvPr name="AutoShape 62" id="62"/>
          <p:cNvSpPr/>
          <p:nvPr/>
        </p:nvSpPr>
        <p:spPr>
          <a:xfrm>
            <a:off x="13214747" y="7848600"/>
            <a:ext cx="0" cy="800100"/>
          </a:xfrm>
          <a:prstGeom prst="line">
            <a:avLst/>
          </a:prstGeom>
          <a:ln cap="flat" w="28575">
            <a:solidFill>
              <a:srgbClr val="100643"/>
            </a:solidFill>
            <a:prstDash val="solid"/>
            <a:headEnd type="none" len="sm" w="sm"/>
            <a:tailEnd type="none" len="sm" w="sm"/>
          </a:ln>
        </p:spPr>
      </p:sp>
      <p:sp>
        <p:nvSpPr>
          <p:cNvPr name="TextBox 63" id="63"/>
          <p:cNvSpPr txBox="true"/>
          <p:nvPr/>
        </p:nvSpPr>
        <p:spPr>
          <a:xfrm rot="0">
            <a:off x="13395127" y="7924800"/>
            <a:ext cx="1251347" cy="627380"/>
          </a:xfrm>
          <a:prstGeom prst="rect">
            <a:avLst/>
          </a:prstGeom>
        </p:spPr>
        <p:txBody>
          <a:bodyPr anchor="t" rtlCol="false" tIns="0" lIns="0" bIns="0" rIns="0">
            <a:spAutoFit/>
          </a:bodyPr>
          <a:lstStyle/>
          <a:p>
            <a:pPr algn="l">
              <a:lnSpc>
                <a:spcPts val="2484"/>
              </a:lnSpc>
            </a:pPr>
            <a:r>
              <a:rPr lang="en-US" sz="1749">
                <a:solidFill>
                  <a:srgbClr val="110442"/>
                </a:solidFill>
                <a:latin typeface="Poppins"/>
                <a:ea typeface="Poppins"/>
                <a:cs typeface="Poppins"/>
                <a:sym typeface="Poppins"/>
              </a:rPr>
              <a:t>Đào tạo</a:t>
            </a:r>
          </a:p>
          <a:p>
            <a:pPr algn="l">
              <a:lnSpc>
                <a:spcPts val="2484"/>
              </a:lnSpc>
            </a:pPr>
            <a:r>
              <a:rPr lang="en-US" sz="1749">
                <a:solidFill>
                  <a:srgbClr val="110442"/>
                </a:solidFill>
                <a:latin typeface="Poppins"/>
                <a:ea typeface="Poppins"/>
                <a:cs typeface="Poppins"/>
                <a:sym typeface="Poppins"/>
              </a:rPr>
              <a:t>40 giờ</a:t>
            </a:r>
          </a:p>
        </p:txBody>
      </p:sp>
      <p:sp>
        <p:nvSpPr>
          <p:cNvPr name="AutoShape 64" id="64"/>
          <p:cNvSpPr/>
          <p:nvPr/>
        </p:nvSpPr>
        <p:spPr>
          <a:xfrm>
            <a:off x="14732794" y="7848600"/>
            <a:ext cx="0" cy="800100"/>
          </a:xfrm>
          <a:prstGeom prst="line">
            <a:avLst/>
          </a:prstGeom>
          <a:ln cap="flat" w="28575">
            <a:solidFill>
              <a:srgbClr val="100643"/>
            </a:solidFill>
            <a:prstDash val="solid"/>
            <a:headEnd type="none" len="sm" w="sm"/>
            <a:tailEnd type="none" len="sm" w="sm"/>
          </a:ln>
        </p:spPr>
      </p:sp>
      <p:sp>
        <p:nvSpPr>
          <p:cNvPr name="TextBox 65" id="65"/>
          <p:cNvSpPr txBox="true"/>
          <p:nvPr/>
        </p:nvSpPr>
        <p:spPr>
          <a:xfrm rot="0">
            <a:off x="14889956" y="7924800"/>
            <a:ext cx="1251347" cy="627380"/>
          </a:xfrm>
          <a:prstGeom prst="rect">
            <a:avLst/>
          </a:prstGeom>
        </p:spPr>
        <p:txBody>
          <a:bodyPr anchor="t" rtlCol="false" tIns="0" lIns="0" bIns="0" rIns="0">
            <a:spAutoFit/>
          </a:bodyPr>
          <a:lstStyle/>
          <a:p>
            <a:pPr algn="l">
              <a:lnSpc>
                <a:spcPts val="2484"/>
              </a:lnSpc>
            </a:pPr>
            <a:r>
              <a:rPr lang="en-US" sz="1749">
                <a:solidFill>
                  <a:srgbClr val="110442"/>
                </a:solidFill>
                <a:latin typeface="Poppins"/>
                <a:ea typeface="Poppins"/>
                <a:cs typeface="Poppins"/>
                <a:sym typeface="Poppins"/>
              </a:rPr>
              <a:t>Ghi nhận</a:t>
            </a:r>
          </a:p>
          <a:p>
            <a:pPr algn="l">
              <a:lnSpc>
                <a:spcPts val="2484"/>
              </a:lnSpc>
            </a:pPr>
            <a:r>
              <a:rPr lang="en-US" sz="1749">
                <a:solidFill>
                  <a:srgbClr val="110442"/>
                </a:solidFill>
                <a:latin typeface="Poppins"/>
                <a:ea typeface="Poppins"/>
                <a:cs typeface="Poppins"/>
                <a:sym typeface="Poppins"/>
              </a:rPr>
              <a:t>0,3 giờ</a:t>
            </a:r>
          </a:p>
        </p:txBody>
      </p:sp>
      <p:grpSp>
        <p:nvGrpSpPr>
          <p:cNvPr name="Group 66" id="66"/>
          <p:cNvGrpSpPr/>
          <p:nvPr/>
        </p:nvGrpSpPr>
        <p:grpSpPr>
          <a:xfrm rot="0">
            <a:off x="16207978" y="7791450"/>
            <a:ext cx="1403747" cy="876300"/>
            <a:chOff x="0" y="0"/>
            <a:chExt cx="1871662" cy="1168400"/>
          </a:xfrm>
        </p:grpSpPr>
        <p:sp>
          <p:nvSpPr>
            <p:cNvPr name="Freeform 67" id="67"/>
            <p:cNvSpPr/>
            <p:nvPr/>
          </p:nvSpPr>
          <p:spPr>
            <a:xfrm flipH="false" flipV="false" rot="0">
              <a:off x="0" y="0"/>
              <a:ext cx="1871662" cy="1168400"/>
            </a:xfrm>
            <a:custGeom>
              <a:avLst/>
              <a:gdLst/>
              <a:ahLst/>
              <a:cxnLst/>
              <a:rect r="r" b="b" t="t" l="l"/>
              <a:pathLst>
                <a:path h="1168400" w="1871662">
                  <a:moveTo>
                    <a:pt x="0" y="0"/>
                  </a:moveTo>
                  <a:lnTo>
                    <a:pt x="1871662" y="0"/>
                  </a:lnTo>
                  <a:lnTo>
                    <a:pt x="1871662" y="1168400"/>
                  </a:lnTo>
                  <a:lnTo>
                    <a:pt x="0" y="1168400"/>
                  </a:lnTo>
                  <a:close/>
                </a:path>
              </a:pathLst>
            </a:custGeom>
            <a:solidFill>
              <a:srgbClr val="001F5A"/>
            </a:solidFill>
          </p:spPr>
        </p:sp>
        <p:sp>
          <p:nvSpPr>
            <p:cNvPr name="TextBox 68" id="68"/>
            <p:cNvSpPr txBox="true"/>
            <p:nvPr/>
          </p:nvSpPr>
          <p:spPr>
            <a:xfrm>
              <a:off x="0" y="-57150"/>
              <a:ext cx="1871662" cy="1225550"/>
            </a:xfrm>
            <a:prstGeom prst="rect">
              <a:avLst/>
            </a:prstGeom>
          </p:spPr>
          <p:txBody>
            <a:bodyPr anchor="ctr" rtlCol="false" tIns="50800" lIns="50800" bIns="50800" rIns="50800"/>
            <a:lstStyle/>
            <a:p>
              <a:pPr algn="l">
                <a:lnSpc>
                  <a:spcPts val="2379"/>
                </a:lnSpc>
              </a:pPr>
            </a:p>
          </p:txBody>
        </p:sp>
      </p:grpSp>
      <p:sp>
        <p:nvSpPr>
          <p:cNvPr name="TextBox 69" id="69"/>
          <p:cNvSpPr txBox="true"/>
          <p:nvPr/>
        </p:nvSpPr>
        <p:spPr>
          <a:xfrm rot="0">
            <a:off x="16265128" y="8085138"/>
            <a:ext cx="1327547" cy="304800"/>
          </a:xfrm>
          <a:prstGeom prst="rect">
            <a:avLst/>
          </a:prstGeom>
        </p:spPr>
        <p:txBody>
          <a:bodyPr anchor="t" rtlCol="false" tIns="0" lIns="0" bIns="0" rIns="0">
            <a:spAutoFit/>
          </a:bodyPr>
          <a:lstStyle/>
          <a:p>
            <a:pPr algn="ctr">
              <a:lnSpc>
                <a:spcPts val="2279"/>
              </a:lnSpc>
            </a:pPr>
            <a:r>
              <a:rPr lang="en-US" b="true" sz="1899">
                <a:solidFill>
                  <a:srgbClr val="FFFFFF"/>
                </a:solidFill>
                <a:latin typeface="Poppins Bold"/>
                <a:ea typeface="Poppins Bold"/>
                <a:cs typeface="Poppins Bold"/>
                <a:sym typeface="Poppins Bold"/>
              </a:rPr>
              <a:t>229,5 giờ</a:t>
            </a:r>
          </a:p>
        </p:txBody>
      </p:sp>
      <p:grpSp>
        <p:nvGrpSpPr>
          <p:cNvPr name="Group 70" id="70"/>
          <p:cNvGrpSpPr/>
          <p:nvPr/>
        </p:nvGrpSpPr>
        <p:grpSpPr>
          <a:xfrm rot="-1920000">
            <a:off x="-893561" y="-941753"/>
            <a:ext cx="2862236" cy="1645309"/>
            <a:chOff x="0" y="0"/>
            <a:chExt cx="3816315" cy="2193745"/>
          </a:xfrm>
        </p:grpSpPr>
        <p:sp>
          <p:nvSpPr>
            <p:cNvPr name="Freeform 71" id="71"/>
            <p:cNvSpPr/>
            <p:nvPr/>
          </p:nvSpPr>
          <p:spPr>
            <a:xfrm flipH="false" flipV="false" rot="0">
              <a:off x="0" y="0"/>
              <a:ext cx="3816316" cy="2193745"/>
            </a:xfrm>
            <a:custGeom>
              <a:avLst/>
              <a:gdLst/>
              <a:ahLst/>
              <a:cxnLst/>
              <a:rect r="r" b="b" t="t" l="l"/>
              <a:pathLst>
                <a:path h="2193745" w="3816316">
                  <a:moveTo>
                    <a:pt x="0" y="0"/>
                  </a:moveTo>
                  <a:lnTo>
                    <a:pt x="3816316" y="0"/>
                  </a:lnTo>
                  <a:lnTo>
                    <a:pt x="3816316" y="2193745"/>
                  </a:lnTo>
                  <a:lnTo>
                    <a:pt x="0" y="2193745"/>
                  </a:lnTo>
                  <a:close/>
                </a:path>
              </a:pathLst>
            </a:custGeom>
            <a:solidFill>
              <a:srgbClr val="0F044B"/>
            </a:solidFill>
          </p:spPr>
        </p:sp>
        <p:sp>
          <p:nvSpPr>
            <p:cNvPr name="TextBox 72" id="72"/>
            <p:cNvSpPr txBox="true"/>
            <p:nvPr/>
          </p:nvSpPr>
          <p:spPr>
            <a:xfrm>
              <a:off x="0" y="-28575"/>
              <a:ext cx="3816315" cy="2222320"/>
            </a:xfrm>
            <a:prstGeom prst="rect">
              <a:avLst/>
            </a:prstGeom>
          </p:spPr>
          <p:txBody>
            <a:bodyPr anchor="ctr" rtlCol="false" tIns="50800" lIns="50800" bIns="50800" rIns="50800"/>
            <a:lstStyle/>
            <a:p>
              <a:pPr algn="l">
                <a:lnSpc>
                  <a:spcPts val="1679"/>
                </a:lnSpc>
              </a:pPr>
            </a:p>
          </p:txBody>
        </p:sp>
      </p:grpSp>
      <p:grpSp>
        <p:nvGrpSpPr>
          <p:cNvPr name="Group 73" id="73"/>
          <p:cNvGrpSpPr/>
          <p:nvPr/>
        </p:nvGrpSpPr>
        <p:grpSpPr>
          <a:xfrm rot="-1920000">
            <a:off x="14369154" y="9477584"/>
            <a:ext cx="4655707" cy="1095375"/>
            <a:chOff x="0" y="0"/>
            <a:chExt cx="6207610" cy="1460500"/>
          </a:xfrm>
        </p:grpSpPr>
        <p:sp>
          <p:nvSpPr>
            <p:cNvPr name="Freeform 74" id="74"/>
            <p:cNvSpPr/>
            <p:nvPr/>
          </p:nvSpPr>
          <p:spPr>
            <a:xfrm flipH="false" flipV="false" rot="0">
              <a:off x="0" y="0"/>
              <a:ext cx="6207609" cy="1460500"/>
            </a:xfrm>
            <a:custGeom>
              <a:avLst/>
              <a:gdLst/>
              <a:ahLst/>
              <a:cxnLst/>
              <a:rect r="r" b="b" t="t" l="l"/>
              <a:pathLst>
                <a:path h="1460500" w="6207609">
                  <a:moveTo>
                    <a:pt x="0" y="0"/>
                  </a:moveTo>
                  <a:lnTo>
                    <a:pt x="6207609" y="0"/>
                  </a:lnTo>
                  <a:lnTo>
                    <a:pt x="6207609" y="1460500"/>
                  </a:lnTo>
                  <a:lnTo>
                    <a:pt x="0" y="1460500"/>
                  </a:lnTo>
                  <a:close/>
                </a:path>
              </a:pathLst>
            </a:custGeom>
            <a:solidFill>
              <a:srgbClr val="0F044B"/>
            </a:solidFill>
          </p:spPr>
        </p:sp>
        <p:sp>
          <p:nvSpPr>
            <p:cNvPr name="TextBox 75" id="75"/>
            <p:cNvSpPr txBox="true"/>
            <p:nvPr/>
          </p:nvSpPr>
          <p:spPr>
            <a:xfrm>
              <a:off x="0" y="-28575"/>
              <a:ext cx="6207610" cy="1489075"/>
            </a:xfrm>
            <a:prstGeom prst="rect">
              <a:avLst/>
            </a:prstGeom>
          </p:spPr>
          <p:txBody>
            <a:bodyPr anchor="ctr" rtlCol="false" tIns="50800" lIns="50800" bIns="50800" rIns="50800"/>
            <a:lstStyle/>
            <a:p>
              <a:pPr algn="l">
                <a:lnSpc>
                  <a:spcPts val="1679"/>
                </a:lnSpc>
              </a:pPr>
            </a:p>
          </p:txBody>
        </p:sp>
      </p:grpSp>
      <p:grpSp>
        <p:nvGrpSpPr>
          <p:cNvPr name="Group 76" id="76"/>
          <p:cNvGrpSpPr/>
          <p:nvPr/>
        </p:nvGrpSpPr>
        <p:grpSpPr>
          <a:xfrm rot="-1680000">
            <a:off x="15708184" y="9884263"/>
            <a:ext cx="3143250" cy="990539"/>
            <a:chOff x="0" y="0"/>
            <a:chExt cx="4191000" cy="1320719"/>
          </a:xfrm>
        </p:grpSpPr>
        <p:sp>
          <p:nvSpPr>
            <p:cNvPr name="Freeform 77" id="77"/>
            <p:cNvSpPr/>
            <p:nvPr/>
          </p:nvSpPr>
          <p:spPr>
            <a:xfrm flipH="false" flipV="false" rot="0">
              <a:off x="0" y="0"/>
              <a:ext cx="4191000" cy="1320719"/>
            </a:xfrm>
            <a:custGeom>
              <a:avLst/>
              <a:gdLst/>
              <a:ahLst/>
              <a:cxnLst/>
              <a:rect r="r" b="b" t="t" l="l"/>
              <a:pathLst>
                <a:path h="1320719" w="4191000">
                  <a:moveTo>
                    <a:pt x="0" y="0"/>
                  </a:moveTo>
                  <a:lnTo>
                    <a:pt x="4191000" y="0"/>
                  </a:lnTo>
                  <a:lnTo>
                    <a:pt x="4191000" y="1320719"/>
                  </a:lnTo>
                  <a:lnTo>
                    <a:pt x="0" y="1320719"/>
                  </a:lnTo>
                  <a:close/>
                </a:path>
              </a:pathLst>
            </a:custGeom>
            <a:solidFill>
              <a:srgbClr val="BD0016"/>
            </a:solidFill>
          </p:spPr>
        </p:sp>
        <p:sp>
          <p:nvSpPr>
            <p:cNvPr name="TextBox 78" id="78"/>
            <p:cNvSpPr txBox="true"/>
            <p:nvPr/>
          </p:nvSpPr>
          <p:spPr>
            <a:xfrm>
              <a:off x="0" y="-28575"/>
              <a:ext cx="4191000" cy="1349294"/>
            </a:xfrm>
            <a:prstGeom prst="rect">
              <a:avLst/>
            </a:prstGeom>
          </p:spPr>
          <p:txBody>
            <a:bodyPr anchor="ctr" rtlCol="false" tIns="50800" lIns="50800" bIns="50800" rIns="50800"/>
            <a:lstStyle/>
            <a:p>
              <a:pPr algn="l">
                <a:lnSpc>
                  <a:spcPts val="1679"/>
                </a:lnSpc>
              </a:pPr>
            </a:p>
          </p:txBody>
        </p:sp>
      </p:grpSp>
      <p:sp>
        <p:nvSpPr>
          <p:cNvPr name="TextBox 79" id="79"/>
          <p:cNvSpPr txBox="true"/>
          <p:nvPr/>
        </p:nvSpPr>
        <p:spPr>
          <a:xfrm rot="0">
            <a:off x="5572125" y="1533525"/>
            <a:ext cx="1238250"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CSKH</a:t>
            </a:r>
          </a:p>
        </p:txBody>
      </p:sp>
      <p:sp>
        <p:nvSpPr>
          <p:cNvPr name="TextBox 80" id="80"/>
          <p:cNvSpPr txBox="true"/>
          <p:nvPr/>
        </p:nvSpPr>
        <p:spPr>
          <a:xfrm rot="0">
            <a:off x="7172325" y="1514475"/>
            <a:ext cx="304800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08:00–12:00</a:t>
            </a:r>
          </a:p>
          <a:p>
            <a:pPr algn="l">
              <a:lnSpc>
                <a:spcPts val="2414"/>
              </a:lnSpc>
            </a:pPr>
            <a:r>
              <a:rPr lang="en-US" sz="1749">
                <a:solidFill>
                  <a:srgbClr val="7D7B7B"/>
                </a:solidFill>
                <a:latin typeface="Poppins"/>
                <a:ea typeface="Poppins"/>
                <a:cs typeface="Poppins"/>
                <a:sym typeface="Poppins"/>
              </a:rPr>
              <a:t>tiếp nhận &amp; xác minh</a:t>
            </a:r>
          </a:p>
        </p:txBody>
      </p:sp>
      <p:sp>
        <p:nvSpPr>
          <p:cNvPr name="TextBox 81" id="81"/>
          <p:cNvSpPr txBox="true"/>
          <p:nvPr/>
        </p:nvSpPr>
        <p:spPr>
          <a:xfrm rot="0">
            <a:off x="10629900" y="1514475"/>
            <a:ext cx="304800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13:00–17:00</a:t>
            </a:r>
          </a:p>
          <a:p>
            <a:pPr algn="l">
              <a:lnSpc>
                <a:spcPts val="2414"/>
              </a:lnSpc>
            </a:pPr>
            <a:r>
              <a:rPr lang="en-US" sz="1749">
                <a:solidFill>
                  <a:srgbClr val="7D7B7B"/>
                </a:solidFill>
                <a:latin typeface="Poppins"/>
                <a:ea typeface="Poppins"/>
                <a:cs typeface="Poppins"/>
                <a:sym typeface="Poppins"/>
              </a:rPr>
              <a:t>phúc tra &amp; chi trả</a:t>
            </a:r>
          </a:p>
        </p:txBody>
      </p:sp>
      <p:sp>
        <p:nvSpPr>
          <p:cNvPr name="TextBox 82" id="82"/>
          <p:cNvSpPr txBox="true"/>
          <p:nvPr/>
        </p:nvSpPr>
        <p:spPr>
          <a:xfrm rot="0">
            <a:off x="14125575" y="1514475"/>
            <a:ext cx="314325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17:00–21:00</a:t>
            </a:r>
          </a:p>
          <a:p>
            <a:pPr algn="l">
              <a:lnSpc>
                <a:spcPts val="2414"/>
              </a:lnSpc>
            </a:pPr>
            <a:r>
              <a:rPr lang="en-US" sz="1749">
                <a:solidFill>
                  <a:srgbClr val="7D7B7B"/>
                </a:solidFill>
                <a:latin typeface="Poppins"/>
                <a:ea typeface="Poppins"/>
                <a:cs typeface="Poppins"/>
                <a:sym typeface="Poppins"/>
              </a:rPr>
              <a:t>trực &amp; xử lý tồn</a:t>
            </a:r>
          </a:p>
        </p:txBody>
      </p:sp>
      <p:sp>
        <p:nvSpPr>
          <p:cNvPr name="TextBox 83" id="83"/>
          <p:cNvSpPr txBox="true"/>
          <p:nvPr/>
        </p:nvSpPr>
        <p:spPr>
          <a:xfrm rot="0">
            <a:off x="5572125" y="2270125"/>
            <a:ext cx="1238250"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Hoàn trả</a:t>
            </a:r>
          </a:p>
        </p:txBody>
      </p:sp>
      <p:sp>
        <p:nvSpPr>
          <p:cNvPr name="TextBox 84" id="84"/>
          <p:cNvSpPr txBox="true"/>
          <p:nvPr/>
        </p:nvSpPr>
        <p:spPr>
          <a:xfrm rot="0">
            <a:off x="7172325" y="2251075"/>
            <a:ext cx="304800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08:00–12:00</a:t>
            </a:r>
          </a:p>
          <a:p>
            <a:pPr algn="l">
              <a:lnSpc>
                <a:spcPts val="2414"/>
              </a:lnSpc>
            </a:pPr>
            <a:r>
              <a:rPr lang="en-US" sz="1749">
                <a:solidFill>
                  <a:srgbClr val="7D7B7B"/>
                </a:solidFill>
                <a:latin typeface="Poppins"/>
                <a:ea typeface="Poppins"/>
                <a:cs typeface="Poppins"/>
                <a:sym typeface="Poppins"/>
              </a:rPr>
              <a:t>tiếp nhận yêu cầu</a:t>
            </a:r>
          </a:p>
        </p:txBody>
      </p:sp>
      <p:sp>
        <p:nvSpPr>
          <p:cNvPr name="TextBox 85" id="85"/>
          <p:cNvSpPr txBox="true"/>
          <p:nvPr/>
        </p:nvSpPr>
        <p:spPr>
          <a:xfrm rot="0">
            <a:off x="10629900" y="2251075"/>
            <a:ext cx="304800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13:00–17:00</a:t>
            </a:r>
          </a:p>
          <a:p>
            <a:pPr algn="l">
              <a:lnSpc>
                <a:spcPts val="2414"/>
              </a:lnSpc>
            </a:pPr>
            <a:r>
              <a:rPr lang="en-US" sz="1749">
                <a:solidFill>
                  <a:srgbClr val="7D7B7B"/>
                </a:solidFill>
                <a:latin typeface="Poppins"/>
                <a:ea typeface="Poppins"/>
                <a:cs typeface="Poppins"/>
                <a:sym typeface="Poppins"/>
              </a:rPr>
              <a:t>thu hồi &amp; xử lý kho</a:t>
            </a:r>
          </a:p>
        </p:txBody>
      </p:sp>
      <p:sp>
        <p:nvSpPr>
          <p:cNvPr name="TextBox 86" id="86"/>
          <p:cNvSpPr txBox="true"/>
          <p:nvPr/>
        </p:nvSpPr>
        <p:spPr>
          <a:xfrm rot="0">
            <a:off x="14125575" y="2251075"/>
            <a:ext cx="314325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17:00–21:00</a:t>
            </a:r>
          </a:p>
          <a:p>
            <a:pPr algn="l">
              <a:lnSpc>
                <a:spcPts val="2414"/>
              </a:lnSpc>
            </a:pPr>
            <a:r>
              <a:rPr lang="en-US" sz="1749">
                <a:solidFill>
                  <a:srgbClr val="7D7B7B"/>
                </a:solidFill>
                <a:latin typeface="Poppins"/>
                <a:ea typeface="Poppins"/>
                <a:cs typeface="Poppins"/>
                <a:sym typeface="Poppins"/>
              </a:rPr>
              <a:t>xử lý bất thường</a:t>
            </a:r>
          </a:p>
        </p:txBody>
      </p:sp>
      <p:sp>
        <p:nvSpPr>
          <p:cNvPr name="TextBox 87" id="87"/>
          <p:cNvSpPr txBox="true"/>
          <p:nvPr/>
        </p:nvSpPr>
        <p:spPr>
          <a:xfrm rot="0">
            <a:off x="5537597" y="3371406"/>
            <a:ext cx="1428750" cy="292100"/>
          </a:xfrm>
          <a:prstGeom prst="rect">
            <a:avLst/>
          </a:prstGeom>
        </p:spPr>
        <p:txBody>
          <a:bodyPr anchor="t" rtlCol="false" tIns="0" lIns="0" bIns="0" rIns="0">
            <a:spAutoFit/>
          </a:bodyPr>
          <a:lstStyle/>
          <a:p>
            <a:pPr algn="l">
              <a:lnSpc>
                <a:spcPts val="2274"/>
              </a:lnSpc>
            </a:pPr>
            <a:r>
              <a:rPr lang="en-US" sz="1749">
                <a:solidFill>
                  <a:srgbClr val="110442"/>
                </a:solidFill>
                <a:latin typeface="Poppins"/>
                <a:ea typeface="Poppins"/>
                <a:cs typeface="Poppins"/>
                <a:sym typeface="Poppins"/>
              </a:rPr>
              <a:t>Thu phí COD</a:t>
            </a:r>
          </a:p>
        </p:txBody>
      </p:sp>
      <p:sp>
        <p:nvSpPr>
          <p:cNvPr name="TextBox 88" id="88"/>
          <p:cNvSpPr txBox="true"/>
          <p:nvPr/>
        </p:nvSpPr>
        <p:spPr>
          <a:xfrm rot="0">
            <a:off x="7172325" y="3325368"/>
            <a:ext cx="2143125"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Đầu ca</a:t>
            </a:r>
          </a:p>
          <a:p>
            <a:pPr algn="l">
              <a:lnSpc>
                <a:spcPts val="2414"/>
              </a:lnSpc>
            </a:pPr>
            <a:r>
              <a:rPr lang="en-US" sz="1749">
                <a:solidFill>
                  <a:srgbClr val="7D7B7B"/>
                </a:solidFill>
                <a:latin typeface="Poppins"/>
                <a:ea typeface="Poppins"/>
                <a:cs typeface="Poppins"/>
                <a:sym typeface="Poppins"/>
              </a:rPr>
              <a:t>bàn giao</a:t>
            </a:r>
          </a:p>
        </p:txBody>
      </p:sp>
      <p:sp>
        <p:nvSpPr>
          <p:cNvPr name="TextBox 89" id="89"/>
          <p:cNvSpPr txBox="true"/>
          <p:nvPr/>
        </p:nvSpPr>
        <p:spPr>
          <a:xfrm rot="0">
            <a:off x="9658350" y="3358261"/>
            <a:ext cx="266700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Trong ca</a:t>
            </a:r>
          </a:p>
          <a:p>
            <a:pPr algn="l">
              <a:lnSpc>
                <a:spcPts val="2414"/>
              </a:lnSpc>
            </a:pPr>
            <a:r>
              <a:rPr lang="en-US" sz="1749">
                <a:solidFill>
                  <a:srgbClr val="7D7B7B"/>
                </a:solidFill>
                <a:latin typeface="Poppins"/>
                <a:ea typeface="Poppins"/>
                <a:cs typeface="Poppins"/>
                <a:sym typeface="Poppins"/>
              </a:rPr>
              <a:t>thu &amp; đối chiếu</a:t>
            </a:r>
          </a:p>
        </p:txBody>
      </p:sp>
      <p:sp>
        <p:nvSpPr>
          <p:cNvPr name="TextBox 90" id="90"/>
          <p:cNvSpPr txBox="true"/>
          <p:nvPr/>
        </p:nvSpPr>
        <p:spPr>
          <a:xfrm rot="0">
            <a:off x="12830175" y="3325368"/>
            <a:ext cx="238125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Trước kỳ</a:t>
            </a:r>
          </a:p>
          <a:p>
            <a:pPr algn="l">
              <a:lnSpc>
                <a:spcPts val="2414"/>
              </a:lnSpc>
            </a:pPr>
            <a:r>
              <a:rPr lang="en-US" sz="1749">
                <a:solidFill>
                  <a:srgbClr val="7D7B7B"/>
                </a:solidFill>
                <a:latin typeface="Poppins"/>
                <a:ea typeface="Poppins"/>
                <a:cs typeface="Poppins"/>
                <a:sym typeface="Poppins"/>
              </a:rPr>
              <a:t>rà soát sai lệch</a:t>
            </a:r>
          </a:p>
        </p:txBody>
      </p:sp>
      <p:sp>
        <p:nvSpPr>
          <p:cNvPr name="TextBox 91" id="91"/>
          <p:cNvSpPr txBox="true"/>
          <p:nvPr/>
        </p:nvSpPr>
        <p:spPr>
          <a:xfrm rot="0">
            <a:off x="15584686" y="3352356"/>
            <a:ext cx="2000250" cy="617220"/>
          </a:xfrm>
          <a:prstGeom prst="rect">
            <a:avLst/>
          </a:prstGeom>
        </p:spPr>
        <p:txBody>
          <a:bodyPr anchor="t" rtlCol="false" tIns="0" lIns="0" bIns="0" rIns="0">
            <a:spAutoFit/>
          </a:bodyPr>
          <a:lstStyle/>
          <a:p>
            <a:pPr algn="l">
              <a:lnSpc>
                <a:spcPts val="2414"/>
              </a:lnSpc>
            </a:pPr>
            <a:r>
              <a:rPr lang="en-US" sz="1749">
                <a:solidFill>
                  <a:srgbClr val="110442"/>
                </a:solidFill>
                <a:latin typeface="Poppins"/>
                <a:ea typeface="Poppins"/>
                <a:cs typeface="Poppins"/>
                <a:sym typeface="Poppins"/>
              </a:rPr>
              <a:t>Cuối ca</a:t>
            </a:r>
          </a:p>
          <a:p>
            <a:pPr algn="l">
              <a:lnSpc>
                <a:spcPts val="2414"/>
              </a:lnSpc>
            </a:pPr>
            <a:r>
              <a:rPr lang="en-US" sz="1749">
                <a:solidFill>
                  <a:srgbClr val="7D7B7B"/>
                </a:solidFill>
                <a:latin typeface="Poppins"/>
                <a:ea typeface="Poppins"/>
                <a:cs typeface="Poppins"/>
                <a:sym typeface="Poppins"/>
              </a:rPr>
              <a:t>tổng hợp</a:t>
            </a:r>
          </a:p>
        </p:txBody>
      </p:sp>
      <p:sp>
        <p:nvSpPr>
          <p:cNvPr name="Freeform 92" id="92"/>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3" id="93"/>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4" id="94"/>
          <p:cNvSpPr txBox="true"/>
          <p:nvPr/>
        </p:nvSpPr>
        <p:spPr>
          <a:xfrm rot="0">
            <a:off x="1430516" y="9506850"/>
            <a:ext cx="5340896" cy="347281"/>
          </a:xfrm>
          <a:prstGeom prst="rect">
            <a:avLst/>
          </a:prstGeom>
        </p:spPr>
        <p:txBody>
          <a:bodyPr anchor="t" rtlCol="false" tIns="0" lIns="0" bIns="0" rIns="0">
            <a:spAutoFit/>
          </a:bodyPr>
          <a:lstStyle/>
          <a:p>
            <a:pPr algn="l">
              <a:lnSpc>
                <a:spcPts val="2518"/>
              </a:lnSpc>
            </a:pPr>
            <a:r>
              <a:rPr lang="en-US" sz="2189" b="true">
                <a:solidFill>
                  <a:srgbClr val="110442"/>
                </a:solidFill>
                <a:latin typeface="Poppins Bold"/>
                <a:ea typeface="Poppins Bold"/>
                <a:cs typeface="Poppins Bold"/>
                <a:sym typeface="Poppins Bold"/>
              </a:rPr>
              <a:t>Dựa</a:t>
            </a:r>
            <a:r>
              <a:rPr lang="en-US" b="true" sz="2189">
                <a:solidFill>
                  <a:srgbClr val="110442"/>
                </a:solidFill>
                <a:latin typeface="Poppins Bold"/>
                <a:ea typeface="Poppins Bold"/>
                <a:cs typeface="Poppins Bold"/>
                <a:sym typeface="Poppins Bold"/>
              </a:rPr>
              <a:t> trên bằng chứng</a:t>
            </a:r>
          </a:p>
        </p:txBody>
      </p:sp>
      <p:sp>
        <p:nvSpPr>
          <p:cNvPr name="TextBox 95" id="95"/>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110442"/>
                </a:solidFill>
                <a:latin typeface="Poppins"/>
                <a:ea typeface="Poppins"/>
                <a:cs typeface="Poppins"/>
                <a:sym typeface="Poppins"/>
              </a:rPr>
              <a:t>VIETTEL POST </a:t>
            </a:r>
          </a:p>
        </p:txBody>
      </p:sp>
      <p:sp>
        <p:nvSpPr>
          <p:cNvPr name="TextBox 96" id="96"/>
          <p:cNvSpPr txBox="true"/>
          <p:nvPr/>
        </p:nvSpPr>
        <p:spPr>
          <a:xfrm rot="0">
            <a:off x="601360" y="2960560"/>
            <a:ext cx="4380215" cy="2186940"/>
          </a:xfrm>
          <a:prstGeom prst="rect">
            <a:avLst/>
          </a:prstGeom>
        </p:spPr>
        <p:txBody>
          <a:bodyPr anchor="t" rtlCol="false" tIns="0" lIns="0" bIns="0" rIns="0">
            <a:spAutoFit/>
          </a:bodyPr>
          <a:lstStyle/>
          <a:p>
            <a:pPr algn="l">
              <a:lnSpc>
                <a:spcPts val="5565"/>
              </a:lnSpc>
            </a:pPr>
            <a:r>
              <a:rPr lang="en-US" sz="5300" b="true">
                <a:solidFill>
                  <a:srgbClr val="110442"/>
                </a:solidFill>
                <a:latin typeface="Poppins Bold"/>
                <a:ea typeface="Poppins Bold"/>
                <a:cs typeface="Poppins Bold"/>
                <a:sym typeface="Poppins Bold"/>
              </a:rPr>
              <a:t>Kế hoạch làm việc theo ca</a:t>
            </a:r>
          </a:p>
        </p:txBody>
      </p:sp>
      <p:sp>
        <p:nvSpPr>
          <p:cNvPr name="Freeform 97" id="97"/>
          <p:cNvSpPr/>
          <p:nvPr/>
        </p:nvSpPr>
        <p:spPr>
          <a:xfrm flipH="false" flipV="false" rot="0">
            <a:off x="428625" y="42862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6"/>
            <a:stretch>
              <a:fillRect l="0" t="0" r="0" b="0"/>
            </a:stretch>
          </a:blipFill>
        </p:spPr>
      </p:sp>
      <p:sp>
        <p:nvSpPr>
          <p:cNvPr name="TextBox 98" id="98"/>
          <p:cNvSpPr txBox="true"/>
          <p:nvPr/>
        </p:nvSpPr>
        <p:spPr>
          <a:xfrm rot="0">
            <a:off x="1591056" y="718376"/>
            <a:ext cx="1892291" cy="385445"/>
          </a:xfrm>
          <a:prstGeom prst="rect">
            <a:avLst/>
          </a:prstGeom>
        </p:spPr>
        <p:txBody>
          <a:bodyPr anchor="t" rtlCol="false" tIns="0" lIns="0" bIns="0" rIns="0">
            <a:spAutoFit/>
          </a:bodyPr>
          <a:lstStyle/>
          <a:p>
            <a:pPr algn="l">
              <a:lnSpc>
                <a:spcPts val="2860"/>
              </a:lnSpc>
            </a:pPr>
            <a:r>
              <a:rPr lang="en-US" b="true" sz="2600">
                <a:solidFill>
                  <a:srgbClr val="110442"/>
                </a:solidFill>
                <a:latin typeface="Poppins Bold"/>
                <a:ea typeface="Poppins Bold"/>
                <a:cs typeface="Poppins Bold"/>
                <a:sym typeface="Poppins Bold"/>
              </a:rPr>
              <a:t>Chương 4</a:t>
            </a:r>
          </a:p>
        </p:txBody>
      </p:sp>
      <p:sp>
        <p:nvSpPr>
          <p:cNvPr name="TextBox 99" id="99"/>
          <p:cNvSpPr txBox="true"/>
          <p:nvPr/>
        </p:nvSpPr>
        <p:spPr>
          <a:xfrm rot="0">
            <a:off x="1591056" y="1051179"/>
            <a:ext cx="3266694" cy="304800"/>
          </a:xfrm>
          <a:prstGeom prst="rect">
            <a:avLst/>
          </a:prstGeom>
        </p:spPr>
        <p:txBody>
          <a:bodyPr anchor="t" rtlCol="false" tIns="0" lIns="0" bIns="0" rIns="0">
            <a:spAutoFit/>
          </a:bodyPr>
          <a:lstStyle/>
          <a:p>
            <a:pPr algn="l">
              <a:lnSpc>
                <a:spcPts val="2279"/>
              </a:lnSpc>
            </a:pPr>
            <a:r>
              <a:rPr lang="en-US" sz="1899">
                <a:solidFill>
                  <a:srgbClr val="110442"/>
                </a:solidFill>
                <a:latin typeface="Poppins"/>
                <a:ea typeface="Poppins"/>
                <a:cs typeface="Poppins"/>
                <a:sym typeface="Poppins"/>
              </a:rPr>
              <a:t>PHƯƠNG PHÁP THỰC HIỆN</a:t>
            </a:r>
          </a:p>
        </p:txBody>
      </p:sp>
      <p:sp>
        <p:nvSpPr>
          <p:cNvPr name="Freeform 100" id="100"/>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1" id="10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16</a:t>
            </a:r>
          </a:p>
        </p:txBody>
      </p:sp>
      <p:sp>
        <p:nvSpPr>
          <p:cNvPr name="AutoShape 102" id="102"/>
          <p:cNvSpPr/>
          <p:nvPr/>
        </p:nvSpPr>
        <p:spPr>
          <a:xfrm>
            <a:off x="10487025" y="1562100"/>
            <a:ext cx="0" cy="1285875"/>
          </a:xfrm>
          <a:prstGeom prst="line">
            <a:avLst/>
          </a:prstGeom>
          <a:ln cap="flat" w="19050">
            <a:solidFill>
              <a:srgbClr val="100643"/>
            </a:solidFill>
            <a:prstDash val="solid"/>
            <a:headEnd type="none" len="sm" w="sm"/>
            <a:tailEnd type="none" len="sm" w="sm"/>
          </a:ln>
        </p:spPr>
      </p:sp>
      <p:sp>
        <p:nvSpPr>
          <p:cNvPr name="AutoShape 103" id="103"/>
          <p:cNvSpPr/>
          <p:nvPr/>
        </p:nvSpPr>
        <p:spPr>
          <a:xfrm>
            <a:off x="14011275" y="1584103"/>
            <a:ext cx="0" cy="1285875"/>
          </a:xfrm>
          <a:prstGeom prst="line">
            <a:avLst/>
          </a:prstGeom>
          <a:ln cap="flat" w="19050">
            <a:solidFill>
              <a:srgbClr val="100643"/>
            </a:solidFill>
            <a:prstDash val="solid"/>
            <a:headEnd type="none" len="sm" w="sm"/>
            <a:tailEnd type="none" len="sm" w="sm"/>
          </a:ln>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495550" cy="1504950"/>
          </a:xfrm>
          <a:custGeom>
            <a:avLst/>
            <a:gdLst/>
            <a:ahLst/>
            <a:cxnLst/>
            <a:rect r="r" b="b" t="t" l="l"/>
            <a:pathLst>
              <a:path h="1504950" w="2495550">
                <a:moveTo>
                  <a:pt x="0" y="0"/>
                </a:moveTo>
                <a:lnTo>
                  <a:pt x="2495550" y="0"/>
                </a:lnTo>
                <a:lnTo>
                  <a:pt x="2495550" y="1504950"/>
                </a:lnTo>
                <a:lnTo>
                  <a:pt x="0" y="1504950"/>
                </a:lnTo>
                <a:lnTo>
                  <a:pt x="0" y="0"/>
                </a:lnTo>
                <a:close/>
              </a:path>
            </a:pathLst>
          </a:custGeom>
          <a:blipFill>
            <a:blip r:embed="rId2"/>
            <a:stretch>
              <a:fillRect l="0" t="0" r="-4961" b="0"/>
            </a:stretch>
          </a:blipFill>
        </p:spPr>
      </p:sp>
      <p:sp>
        <p:nvSpPr>
          <p:cNvPr name="TextBox 3" id="3"/>
          <p:cNvSpPr txBox="true"/>
          <p:nvPr/>
        </p:nvSpPr>
        <p:spPr>
          <a:xfrm rot="0">
            <a:off x="546280" y="2845052"/>
            <a:ext cx="3840480" cy="1303020"/>
          </a:xfrm>
          <a:prstGeom prst="rect">
            <a:avLst/>
          </a:prstGeom>
        </p:spPr>
        <p:txBody>
          <a:bodyPr anchor="t" rtlCol="false" tIns="0" lIns="0" bIns="0" rIns="0">
            <a:spAutoFit/>
          </a:bodyPr>
          <a:lstStyle/>
          <a:p>
            <a:pPr algn="l" marL="0" indent="0" lvl="0">
              <a:lnSpc>
                <a:spcPts val="4800"/>
              </a:lnSpc>
              <a:spcBef>
                <a:spcPct val="0"/>
              </a:spcBef>
            </a:pPr>
            <a:r>
              <a:rPr lang="en-US" b="true" sz="4800" strike="noStrike" u="none">
                <a:solidFill>
                  <a:srgbClr val="110442"/>
                </a:solidFill>
                <a:latin typeface="Poppins Bold"/>
                <a:ea typeface="Poppins Bold"/>
                <a:cs typeface="Poppins Bold"/>
                <a:sym typeface="Poppins Bold"/>
              </a:rPr>
              <a:t>Thuật ngữ</a:t>
            </a:r>
          </a:p>
          <a:p>
            <a:pPr algn="l" marL="0" indent="0" lvl="0">
              <a:lnSpc>
                <a:spcPts val="4800"/>
              </a:lnSpc>
              <a:spcBef>
                <a:spcPct val="0"/>
              </a:spcBef>
            </a:pPr>
            <a:r>
              <a:rPr lang="en-US" b="true" sz="4800" strike="noStrike" u="none">
                <a:solidFill>
                  <a:srgbClr val="110442"/>
                </a:solidFill>
                <a:latin typeface="Poppins Bold"/>
                <a:ea typeface="Poppins Bold"/>
                <a:cs typeface="Poppins Bold"/>
                <a:sym typeface="Poppins Bold"/>
              </a:rPr>
              <a:t>và Sổ tay</a:t>
            </a:r>
          </a:p>
        </p:txBody>
      </p:sp>
      <p:sp>
        <p:nvSpPr>
          <p:cNvPr name="TextBox 4" id="4"/>
          <p:cNvSpPr txBox="true"/>
          <p:nvPr/>
        </p:nvSpPr>
        <p:spPr>
          <a:xfrm rot="0">
            <a:off x="5760720" y="1179767"/>
            <a:ext cx="7112318" cy="329565"/>
          </a:xfrm>
          <a:prstGeom prst="rect">
            <a:avLst/>
          </a:prstGeom>
        </p:spPr>
        <p:txBody>
          <a:bodyPr anchor="t" rtlCol="false" tIns="0" lIns="0" bIns="0" rIns="0">
            <a:spAutoFit/>
          </a:bodyPr>
          <a:lstStyle/>
          <a:p>
            <a:pPr algn="l">
              <a:lnSpc>
                <a:spcPts val="2415"/>
              </a:lnSpc>
            </a:pPr>
            <a:r>
              <a:rPr lang="en-US" b="true" sz="2300">
                <a:solidFill>
                  <a:srgbClr val="110442"/>
                </a:solidFill>
                <a:latin typeface="Poppins Bold"/>
                <a:ea typeface="Poppins Bold"/>
                <a:cs typeface="Poppins Bold"/>
                <a:sym typeface="Poppins Bold"/>
              </a:rPr>
              <a:t>Nhóm thuật ngữ dùng chung phổ biến</a:t>
            </a:r>
          </a:p>
        </p:txBody>
      </p:sp>
      <p:sp>
        <p:nvSpPr>
          <p:cNvPr name="Freeform 5" id="5"/>
          <p:cNvSpPr/>
          <p:nvPr/>
        </p:nvSpPr>
        <p:spPr>
          <a:xfrm flipH="false" flipV="false" rot="0">
            <a:off x="5657850" y="1495425"/>
            <a:ext cx="11544300" cy="219075"/>
          </a:xfrm>
          <a:custGeom>
            <a:avLst/>
            <a:gdLst/>
            <a:ahLst/>
            <a:cxnLst/>
            <a:rect r="r" b="b" t="t" l="l"/>
            <a:pathLst>
              <a:path h="219075" w="11544300">
                <a:moveTo>
                  <a:pt x="0" y="0"/>
                </a:moveTo>
                <a:lnTo>
                  <a:pt x="11544300" y="0"/>
                </a:lnTo>
                <a:lnTo>
                  <a:pt x="11544300" y="219075"/>
                </a:lnTo>
                <a:lnTo>
                  <a:pt x="0" y="219075"/>
                </a:lnTo>
                <a:lnTo>
                  <a:pt x="0" y="0"/>
                </a:lnTo>
                <a:close/>
              </a:path>
            </a:pathLst>
          </a:custGeom>
          <a:blipFill>
            <a:blip r:embed="rId3"/>
            <a:stretch>
              <a:fillRect l="0" t="0" r="0" b="0"/>
            </a:stretch>
          </a:blipFill>
        </p:spPr>
      </p:sp>
      <p:sp>
        <p:nvSpPr>
          <p:cNvPr name="Freeform 6" id="6"/>
          <p:cNvSpPr/>
          <p:nvPr/>
        </p:nvSpPr>
        <p:spPr>
          <a:xfrm flipH="false" flipV="false" rot="0">
            <a:off x="5438775" y="2543175"/>
            <a:ext cx="3057525" cy="1295400"/>
          </a:xfrm>
          <a:custGeom>
            <a:avLst/>
            <a:gdLst/>
            <a:ahLst/>
            <a:cxnLst/>
            <a:rect r="r" b="b" t="t" l="l"/>
            <a:pathLst>
              <a:path h="1295400" w="3057525">
                <a:moveTo>
                  <a:pt x="0" y="0"/>
                </a:moveTo>
                <a:lnTo>
                  <a:pt x="3057525" y="0"/>
                </a:lnTo>
                <a:lnTo>
                  <a:pt x="3057525" y="1295400"/>
                </a:lnTo>
                <a:lnTo>
                  <a:pt x="0" y="1295400"/>
                </a:lnTo>
                <a:lnTo>
                  <a:pt x="0" y="0"/>
                </a:lnTo>
                <a:close/>
              </a:path>
            </a:pathLst>
          </a:custGeom>
          <a:blipFill>
            <a:blip r:embed="rId4"/>
            <a:stretch>
              <a:fillRect l="0" t="0" r="0" b="0"/>
            </a:stretch>
          </a:blipFill>
        </p:spPr>
      </p:sp>
      <p:sp>
        <p:nvSpPr>
          <p:cNvPr name="Freeform 7" id="7"/>
          <p:cNvSpPr/>
          <p:nvPr/>
        </p:nvSpPr>
        <p:spPr>
          <a:xfrm flipH="false" flipV="false" rot="0">
            <a:off x="8486775" y="2533650"/>
            <a:ext cx="2838450" cy="1295400"/>
          </a:xfrm>
          <a:custGeom>
            <a:avLst/>
            <a:gdLst/>
            <a:ahLst/>
            <a:cxnLst/>
            <a:rect r="r" b="b" t="t" l="l"/>
            <a:pathLst>
              <a:path h="1295400" w="2838450">
                <a:moveTo>
                  <a:pt x="0" y="0"/>
                </a:moveTo>
                <a:lnTo>
                  <a:pt x="2838450" y="0"/>
                </a:lnTo>
                <a:lnTo>
                  <a:pt x="2838450" y="1295400"/>
                </a:lnTo>
                <a:lnTo>
                  <a:pt x="0" y="1295400"/>
                </a:lnTo>
                <a:lnTo>
                  <a:pt x="0" y="0"/>
                </a:lnTo>
                <a:close/>
              </a:path>
            </a:pathLst>
          </a:custGeom>
          <a:blipFill>
            <a:blip r:embed="rId5"/>
            <a:stretch>
              <a:fillRect l="0" t="0" r="0" b="0"/>
            </a:stretch>
          </a:blipFill>
        </p:spPr>
      </p:sp>
      <p:sp>
        <p:nvSpPr>
          <p:cNvPr name="TextBox 8" id="8"/>
          <p:cNvSpPr txBox="true"/>
          <p:nvPr/>
        </p:nvSpPr>
        <p:spPr>
          <a:xfrm rot="0">
            <a:off x="9454896" y="2840355"/>
            <a:ext cx="1408176"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POD / ePOD</a:t>
            </a:r>
          </a:p>
        </p:txBody>
      </p:sp>
      <p:sp>
        <p:nvSpPr>
          <p:cNvPr name="Freeform 9" id="9"/>
          <p:cNvSpPr/>
          <p:nvPr/>
        </p:nvSpPr>
        <p:spPr>
          <a:xfrm flipH="false" flipV="false" rot="0">
            <a:off x="11344275" y="2571750"/>
            <a:ext cx="3057525" cy="1295400"/>
          </a:xfrm>
          <a:custGeom>
            <a:avLst/>
            <a:gdLst/>
            <a:ahLst/>
            <a:cxnLst/>
            <a:rect r="r" b="b" t="t" l="l"/>
            <a:pathLst>
              <a:path h="1295400" w="3057525">
                <a:moveTo>
                  <a:pt x="0" y="0"/>
                </a:moveTo>
                <a:lnTo>
                  <a:pt x="3057525" y="0"/>
                </a:lnTo>
                <a:lnTo>
                  <a:pt x="3057525" y="1295400"/>
                </a:lnTo>
                <a:lnTo>
                  <a:pt x="0" y="1295400"/>
                </a:lnTo>
                <a:lnTo>
                  <a:pt x="0" y="0"/>
                </a:lnTo>
                <a:close/>
              </a:path>
            </a:pathLst>
          </a:custGeom>
          <a:blipFill>
            <a:blip r:embed="rId6"/>
            <a:stretch>
              <a:fillRect l="0" t="0" r="0" b="0"/>
            </a:stretch>
          </a:blipFill>
        </p:spPr>
      </p:sp>
      <p:sp>
        <p:nvSpPr>
          <p:cNvPr name="Freeform 10" id="10"/>
          <p:cNvSpPr/>
          <p:nvPr/>
        </p:nvSpPr>
        <p:spPr>
          <a:xfrm flipH="false" flipV="false" rot="0">
            <a:off x="14401800" y="2533650"/>
            <a:ext cx="3057525" cy="1295400"/>
          </a:xfrm>
          <a:custGeom>
            <a:avLst/>
            <a:gdLst/>
            <a:ahLst/>
            <a:cxnLst/>
            <a:rect r="r" b="b" t="t" l="l"/>
            <a:pathLst>
              <a:path h="1295400" w="3057525">
                <a:moveTo>
                  <a:pt x="0" y="0"/>
                </a:moveTo>
                <a:lnTo>
                  <a:pt x="3057525" y="0"/>
                </a:lnTo>
                <a:lnTo>
                  <a:pt x="3057525" y="1295400"/>
                </a:lnTo>
                <a:lnTo>
                  <a:pt x="0" y="1295400"/>
                </a:lnTo>
                <a:lnTo>
                  <a:pt x="0" y="0"/>
                </a:lnTo>
                <a:close/>
              </a:path>
            </a:pathLst>
          </a:custGeom>
          <a:blipFill>
            <a:blip r:embed="rId7"/>
            <a:stretch>
              <a:fillRect l="0" t="0" r="0" b="0"/>
            </a:stretch>
          </a:blipFill>
        </p:spPr>
      </p:sp>
      <p:sp>
        <p:nvSpPr>
          <p:cNvPr name="Freeform 11" id="11"/>
          <p:cNvSpPr/>
          <p:nvPr/>
        </p:nvSpPr>
        <p:spPr>
          <a:xfrm flipH="false" flipV="false" rot="0">
            <a:off x="5438775" y="428625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8"/>
            <a:stretch>
              <a:fillRect l="0" t="0" r="0" b="0"/>
            </a:stretch>
          </a:blipFill>
        </p:spPr>
      </p:sp>
      <p:sp>
        <p:nvSpPr>
          <p:cNvPr name="TextBox 12" id="12"/>
          <p:cNvSpPr txBox="true"/>
          <p:nvPr/>
        </p:nvSpPr>
        <p:spPr>
          <a:xfrm rot="0">
            <a:off x="6492240" y="4794885"/>
            <a:ext cx="1133856"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OMS / API</a:t>
            </a:r>
          </a:p>
        </p:txBody>
      </p:sp>
      <p:sp>
        <p:nvSpPr>
          <p:cNvPr name="Freeform 13" id="13"/>
          <p:cNvSpPr/>
          <p:nvPr/>
        </p:nvSpPr>
        <p:spPr>
          <a:xfrm flipH="false" flipV="false" rot="0">
            <a:off x="8486775" y="4286250"/>
            <a:ext cx="2838450" cy="1285875"/>
          </a:xfrm>
          <a:custGeom>
            <a:avLst/>
            <a:gdLst/>
            <a:ahLst/>
            <a:cxnLst/>
            <a:rect r="r" b="b" t="t" l="l"/>
            <a:pathLst>
              <a:path h="1285875" w="2838450">
                <a:moveTo>
                  <a:pt x="0" y="0"/>
                </a:moveTo>
                <a:lnTo>
                  <a:pt x="2838450" y="0"/>
                </a:lnTo>
                <a:lnTo>
                  <a:pt x="2838450" y="1285875"/>
                </a:lnTo>
                <a:lnTo>
                  <a:pt x="0" y="1285875"/>
                </a:lnTo>
                <a:lnTo>
                  <a:pt x="0" y="0"/>
                </a:lnTo>
                <a:close/>
              </a:path>
            </a:pathLst>
          </a:custGeom>
          <a:blipFill>
            <a:blip r:embed="rId9"/>
            <a:stretch>
              <a:fillRect l="0" t="0" r="0" b="0"/>
            </a:stretch>
          </a:blipFill>
        </p:spPr>
      </p:sp>
      <p:sp>
        <p:nvSpPr>
          <p:cNvPr name="TextBox 14" id="14"/>
          <p:cNvSpPr txBox="true"/>
          <p:nvPr/>
        </p:nvSpPr>
        <p:spPr>
          <a:xfrm rot="0">
            <a:off x="9454896" y="4794885"/>
            <a:ext cx="1225296"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TMS / CRM</a:t>
            </a:r>
          </a:p>
        </p:txBody>
      </p:sp>
      <p:sp>
        <p:nvSpPr>
          <p:cNvPr name="Freeform 15" id="15"/>
          <p:cNvSpPr/>
          <p:nvPr/>
        </p:nvSpPr>
        <p:spPr>
          <a:xfrm flipH="false" flipV="false" rot="0">
            <a:off x="11315700" y="428625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0"/>
            <a:stretch>
              <a:fillRect l="0" t="0" r="0" b="0"/>
            </a:stretch>
          </a:blipFill>
        </p:spPr>
      </p:sp>
      <p:sp>
        <p:nvSpPr>
          <p:cNvPr name="Freeform 16" id="16"/>
          <p:cNvSpPr/>
          <p:nvPr/>
        </p:nvSpPr>
        <p:spPr>
          <a:xfrm flipH="false" flipV="false" rot="0">
            <a:off x="14363700" y="428625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1"/>
            <a:stretch>
              <a:fillRect l="0" t="0" r="0" b="0"/>
            </a:stretch>
          </a:blipFill>
        </p:spPr>
      </p:sp>
      <p:sp>
        <p:nvSpPr>
          <p:cNvPr name="TextBox 17" id="17"/>
          <p:cNvSpPr txBox="true"/>
          <p:nvPr/>
        </p:nvSpPr>
        <p:spPr>
          <a:xfrm rot="0">
            <a:off x="5797296" y="6011227"/>
            <a:ext cx="2194560" cy="218757"/>
          </a:xfrm>
          <a:prstGeom prst="rect">
            <a:avLst/>
          </a:prstGeom>
        </p:spPr>
        <p:txBody>
          <a:bodyPr anchor="t" rtlCol="false" tIns="0" lIns="0" bIns="0" rIns="0">
            <a:spAutoFit/>
          </a:bodyPr>
          <a:lstStyle/>
          <a:p>
            <a:pPr algn="l">
              <a:lnSpc>
                <a:spcPts val="1667"/>
              </a:lnSpc>
            </a:pPr>
            <a:r>
              <a:rPr lang="en-US" sz="1449">
                <a:solidFill>
                  <a:srgbClr val="110442"/>
                </a:solidFill>
                <a:latin typeface="Poppins"/>
                <a:ea typeface="Poppins"/>
                <a:cs typeface="Poppins"/>
                <a:sym typeface="Poppins"/>
              </a:rPr>
              <a:t>Phân tích quy trình</a:t>
            </a:r>
          </a:p>
        </p:txBody>
      </p:sp>
      <p:sp>
        <p:nvSpPr>
          <p:cNvPr name="Freeform 18" id="18"/>
          <p:cNvSpPr/>
          <p:nvPr/>
        </p:nvSpPr>
        <p:spPr>
          <a:xfrm flipH="false" flipV="false" rot="0">
            <a:off x="5467350" y="6542722"/>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2"/>
            <a:stretch>
              <a:fillRect l="0" t="0" r="0" b="0"/>
            </a:stretch>
          </a:blipFill>
        </p:spPr>
      </p:sp>
      <p:sp>
        <p:nvSpPr>
          <p:cNvPr name="TextBox 19" id="19"/>
          <p:cNvSpPr txBox="true"/>
          <p:nvPr/>
        </p:nvSpPr>
        <p:spPr>
          <a:xfrm rot="0">
            <a:off x="5797296" y="2153602"/>
            <a:ext cx="2103120" cy="218757"/>
          </a:xfrm>
          <a:prstGeom prst="rect">
            <a:avLst/>
          </a:prstGeom>
        </p:spPr>
        <p:txBody>
          <a:bodyPr anchor="t" rtlCol="false" tIns="0" lIns="0" bIns="0" rIns="0">
            <a:spAutoFit/>
          </a:bodyPr>
          <a:lstStyle/>
          <a:p>
            <a:pPr algn="l">
              <a:lnSpc>
                <a:spcPts val="1667"/>
              </a:lnSpc>
            </a:pPr>
            <a:r>
              <a:rPr lang="en-US" sz="1449">
                <a:solidFill>
                  <a:srgbClr val="110442"/>
                </a:solidFill>
                <a:latin typeface="Poppins"/>
                <a:ea typeface="Poppins"/>
                <a:cs typeface="Poppins"/>
                <a:sym typeface="Poppins"/>
              </a:rPr>
              <a:t>Nghiệp vụ &amp; Dịch vụ</a:t>
            </a:r>
          </a:p>
        </p:txBody>
      </p:sp>
      <p:sp>
        <p:nvSpPr>
          <p:cNvPr name="TextBox 20" id="20"/>
          <p:cNvSpPr txBox="true"/>
          <p:nvPr/>
        </p:nvSpPr>
        <p:spPr>
          <a:xfrm rot="0">
            <a:off x="5797296" y="4062222"/>
            <a:ext cx="2084832" cy="218757"/>
          </a:xfrm>
          <a:prstGeom prst="rect">
            <a:avLst/>
          </a:prstGeom>
        </p:spPr>
        <p:txBody>
          <a:bodyPr anchor="t" rtlCol="false" tIns="0" lIns="0" bIns="0" rIns="0">
            <a:spAutoFit/>
          </a:bodyPr>
          <a:lstStyle/>
          <a:p>
            <a:pPr algn="l">
              <a:lnSpc>
                <a:spcPts val="1667"/>
              </a:lnSpc>
            </a:pPr>
            <a:r>
              <a:rPr lang="en-US" sz="1449">
                <a:solidFill>
                  <a:srgbClr val="110442"/>
                </a:solidFill>
                <a:latin typeface="Poppins"/>
                <a:ea typeface="Poppins"/>
                <a:cs typeface="Poppins"/>
                <a:sym typeface="Poppins"/>
              </a:rPr>
              <a:t>Hệ thống &amp; Dữ liệu</a:t>
            </a:r>
          </a:p>
        </p:txBody>
      </p:sp>
      <p:sp>
        <p:nvSpPr>
          <p:cNvPr name="TextBox 21" id="21"/>
          <p:cNvSpPr txBox="true"/>
          <p:nvPr/>
        </p:nvSpPr>
        <p:spPr>
          <a:xfrm rot="0">
            <a:off x="6492240" y="2840355"/>
            <a:ext cx="548640"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COD</a:t>
            </a:r>
          </a:p>
        </p:txBody>
      </p:sp>
      <p:sp>
        <p:nvSpPr>
          <p:cNvPr name="TextBox 22" id="22"/>
          <p:cNvSpPr txBox="true"/>
          <p:nvPr/>
        </p:nvSpPr>
        <p:spPr>
          <a:xfrm rot="0">
            <a:off x="6492240" y="3273742"/>
            <a:ext cx="1444752"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Thu hộ khi giao hàng</a:t>
            </a:r>
          </a:p>
        </p:txBody>
      </p:sp>
      <p:sp>
        <p:nvSpPr>
          <p:cNvPr name="TextBox 23" id="23"/>
          <p:cNvSpPr txBox="true"/>
          <p:nvPr/>
        </p:nvSpPr>
        <p:spPr>
          <a:xfrm rot="0">
            <a:off x="9454896" y="3273742"/>
            <a:ext cx="1572768" cy="390525"/>
          </a:xfrm>
          <a:prstGeom prst="rect">
            <a:avLst/>
          </a:prstGeom>
        </p:spPr>
        <p:txBody>
          <a:bodyPr anchor="t" rtlCol="false" tIns="0" lIns="0" bIns="0" rIns="0">
            <a:spAutoFit/>
          </a:bodyPr>
          <a:lstStyle/>
          <a:p>
            <a:pPr algn="l" marL="0" indent="0" lvl="0">
              <a:lnSpc>
                <a:spcPts val="1500"/>
              </a:lnSpc>
              <a:spcBef>
                <a:spcPct val="0"/>
              </a:spcBef>
            </a:pPr>
            <a:r>
              <a:rPr lang="en-US" sz="1250" strike="noStrike" u="none">
                <a:solidFill>
                  <a:srgbClr val="110442"/>
                </a:solidFill>
                <a:latin typeface="Poppins"/>
                <a:ea typeface="Poppins"/>
                <a:cs typeface="Poppins"/>
                <a:sym typeface="Poppins"/>
              </a:rPr>
              <a:t>Bằng chứng giao hàng</a:t>
            </a:r>
          </a:p>
        </p:txBody>
      </p:sp>
      <p:sp>
        <p:nvSpPr>
          <p:cNvPr name="TextBox 24" id="24"/>
          <p:cNvSpPr txBox="true"/>
          <p:nvPr/>
        </p:nvSpPr>
        <p:spPr>
          <a:xfrm rot="0">
            <a:off x="12362688" y="2845118"/>
            <a:ext cx="438912"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SLA</a:t>
            </a:r>
          </a:p>
        </p:txBody>
      </p:sp>
      <p:sp>
        <p:nvSpPr>
          <p:cNvPr name="TextBox 25" id="25"/>
          <p:cNvSpPr txBox="true"/>
          <p:nvPr/>
        </p:nvSpPr>
        <p:spPr>
          <a:xfrm rot="0">
            <a:off x="12362688" y="3273742"/>
            <a:ext cx="1627632"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Cam kết thời gian xử lý</a:t>
            </a:r>
          </a:p>
        </p:txBody>
      </p:sp>
      <p:sp>
        <p:nvSpPr>
          <p:cNvPr name="TextBox 26" id="26"/>
          <p:cNvSpPr txBox="true"/>
          <p:nvPr/>
        </p:nvSpPr>
        <p:spPr>
          <a:xfrm rot="0">
            <a:off x="15361920" y="2845118"/>
            <a:ext cx="1243584"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CSAT / FCR</a:t>
            </a:r>
          </a:p>
        </p:txBody>
      </p:sp>
      <p:sp>
        <p:nvSpPr>
          <p:cNvPr name="TextBox 27" id="27"/>
          <p:cNvSpPr txBox="true"/>
          <p:nvPr/>
        </p:nvSpPr>
        <p:spPr>
          <a:xfrm rot="0">
            <a:off x="15361920" y="3273742"/>
            <a:ext cx="1463040" cy="180975"/>
          </a:xfrm>
          <a:prstGeom prst="rect">
            <a:avLst/>
          </a:prstGeom>
        </p:spPr>
        <p:txBody>
          <a:bodyPr anchor="t" rtlCol="false" tIns="0" lIns="0" bIns="0" rIns="0">
            <a:spAutoFit/>
          </a:bodyPr>
          <a:lstStyle/>
          <a:p>
            <a:pPr algn="l">
              <a:lnSpc>
                <a:spcPts val="1406"/>
              </a:lnSpc>
            </a:pPr>
            <a:r>
              <a:rPr lang="en-US" sz="1171">
                <a:solidFill>
                  <a:srgbClr val="110442"/>
                </a:solidFill>
                <a:latin typeface="Poppins"/>
                <a:ea typeface="Poppins"/>
                <a:cs typeface="Poppins"/>
                <a:sym typeface="Poppins"/>
              </a:rPr>
              <a:t>Chất lượng phục vụ</a:t>
            </a:r>
          </a:p>
        </p:txBody>
      </p:sp>
      <p:sp>
        <p:nvSpPr>
          <p:cNvPr name="TextBox 28" id="28"/>
          <p:cNvSpPr txBox="true"/>
          <p:nvPr/>
        </p:nvSpPr>
        <p:spPr>
          <a:xfrm rot="0">
            <a:off x="6492240" y="5233035"/>
            <a:ext cx="1755648"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Tiếp nhận và ghi nhận đơn</a:t>
            </a:r>
          </a:p>
        </p:txBody>
      </p:sp>
      <p:sp>
        <p:nvSpPr>
          <p:cNvPr name="TextBox 29" id="29"/>
          <p:cNvSpPr txBox="true"/>
          <p:nvPr/>
        </p:nvSpPr>
        <p:spPr>
          <a:xfrm rot="0">
            <a:off x="9454896" y="5228272"/>
            <a:ext cx="1499616" cy="390525"/>
          </a:xfrm>
          <a:prstGeom prst="rect">
            <a:avLst/>
          </a:prstGeom>
        </p:spPr>
        <p:txBody>
          <a:bodyPr anchor="t" rtlCol="false" tIns="0" lIns="0" bIns="0" rIns="0">
            <a:spAutoFit/>
          </a:bodyPr>
          <a:lstStyle/>
          <a:p>
            <a:pPr algn="l" marL="0" indent="0" lvl="0">
              <a:lnSpc>
                <a:spcPts val="1500"/>
              </a:lnSpc>
              <a:spcBef>
                <a:spcPct val="0"/>
              </a:spcBef>
            </a:pPr>
            <a:r>
              <a:rPr lang="en-US" sz="1250" strike="noStrike" u="none">
                <a:solidFill>
                  <a:srgbClr val="110442"/>
                </a:solidFill>
                <a:latin typeface="Poppins"/>
                <a:ea typeface="Poppins"/>
                <a:cs typeface="Poppins"/>
                <a:sym typeface="Poppins"/>
              </a:rPr>
              <a:t>Vật tải và khách hàng</a:t>
            </a:r>
          </a:p>
        </p:txBody>
      </p:sp>
      <p:sp>
        <p:nvSpPr>
          <p:cNvPr name="TextBox 30" id="30"/>
          <p:cNvSpPr txBox="true"/>
          <p:nvPr/>
        </p:nvSpPr>
        <p:spPr>
          <a:xfrm rot="0">
            <a:off x="12362688" y="4794885"/>
            <a:ext cx="530352"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HRM</a:t>
            </a:r>
          </a:p>
        </p:txBody>
      </p:sp>
      <p:sp>
        <p:nvSpPr>
          <p:cNvPr name="TextBox 31" id="31"/>
          <p:cNvSpPr txBox="true"/>
          <p:nvPr/>
        </p:nvSpPr>
        <p:spPr>
          <a:xfrm rot="0">
            <a:off x="12362688" y="5228272"/>
            <a:ext cx="1133856" cy="390525"/>
          </a:xfrm>
          <a:prstGeom prst="rect">
            <a:avLst/>
          </a:prstGeom>
        </p:spPr>
        <p:txBody>
          <a:bodyPr anchor="t" rtlCol="false" tIns="0" lIns="0" bIns="0" rIns="0">
            <a:spAutoFit/>
          </a:bodyPr>
          <a:lstStyle/>
          <a:p>
            <a:pPr algn="l" marL="0" indent="0" lvl="0">
              <a:lnSpc>
                <a:spcPts val="1500"/>
              </a:lnSpc>
              <a:spcBef>
                <a:spcPct val="0"/>
              </a:spcBef>
            </a:pPr>
            <a:r>
              <a:rPr lang="en-US" sz="1250" strike="noStrike" u="none">
                <a:solidFill>
                  <a:srgbClr val="110442"/>
                </a:solidFill>
                <a:latin typeface="Poppins"/>
                <a:ea typeface="Poppins"/>
                <a:cs typeface="Poppins"/>
                <a:sym typeface="Poppins"/>
              </a:rPr>
              <a:t>Quản trị nhân sự</a:t>
            </a:r>
          </a:p>
        </p:txBody>
      </p:sp>
      <p:sp>
        <p:nvSpPr>
          <p:cNvPr name="TextBox 32" id="32"/>
          <p:cNvSpPr txBox="true"/>
          <p:nvPr/>
        </p:nvSpPr>
        <p:spPr>
          <a:xfrm rot="0">
            <a:off x="15361920" y="4804410"/>
            <a:ext cx="731520"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SSOT</a:t>
            </a:r>
          </a:p>
        </p:txBody>
      </p:sp>
      <p:sp>
        <p:nvSpPr>
          <p:cNvPr name="TextBox 33" id="33"/>
          <p:cNvSpPr txBox="true"/>
          <p:nvPr/>
        </p:nvSpPr>
        <p:spPr>
          <a:xfrm rot="0">
            <a:off x="15361920" y="5233035"/>
            <a:ext cx="1737360" cy="390525"/>
          </a:xfrm>
          <a:prstGeom prst="rect">
            <a:avLst/>
          </a:prstGeom>
        </p:spPr>
        <p:txBody>
          <a:bodyPr anchor="t" rtlCol="false" tIns="0" lIns="0" bIns="0" rIns="0">
            <a:spAutoFit/>
          </a:bodyPr>
          <a:lstStyle/>
          <a:p>
            <a:pPr algn="l">
              <a:lnSpc>
                <a:spcPts val="1500"/>
              </a:lnSpc>
            </a:pPr>
            <a:r>
              <a:rPr lang="en-US" sz="1250">
                <a:solidFill>
                  <a:srgbClr val="7D7B7B"/>
                </a:solidFill>
                <a:latin typeface="Poppins"/>
                <a:ea typeface="Poppins"/>
                <a:cs typeface="Poppins"/>
                <a:sym typeface="Poppins"/>
              </a:rPr>
              <a:t>Nguồn dữ liệu dùng chung</a:t>
            </a:r>
          </a:p>
        </p:txBody>
      </p:sp>
      <p:sp>
        <p:nvSpPr>
          <p:cNvPr name="TextBox 34" id="34"/>
          <p:cNvSpPr txBox="true"/>
          <p:nvPr/>
        </p:nvSpPr>
        <p:spPr>
          <a:xfrm rot="0">
            <a:off x="6318123" y="6788150"/>
            <a:ext cx="2025777" cy="217805"/>
          </a:xfrm>
          <a:prstGeom prst="rect">
            <a:avLst/>
          </a:prstGeom>
        </p:spPr>
        <p:txBody>
          <a:bodyPr anchor="t" rtlCol="false" tIns="0" lIns="0" bIns="0" rIns="0">
            <a:spAutoFit/>
          </a:bodyPr>
          <a:lstStyle/>
          <a:p>
            <a:pPr algn="l" marL="0" indent="0" lvl="0">
              <a:lnSpc>
                <a:spcPts val="1540"/>
              </a:lnSpc>
              <a:spcBef>
                <a:spcPct val="0"/>
              </a:spcBef>
            </a:pPr>
            <a:r>
              <a:rPr lang="en-US" b="true" sz="1400" strike="noStrike" u="none">
                <a:solidFill>
                  <a:srgbClr val="E61730"/>
                </a:solidFill>
                <a:latin typeface="Poppins Bold"/>
                <a:ea typeface="Poppins Bold"/>
                <a:cs typeface="Poppins Bold"/>
                <a:sym typeface="Poppins Bold"/>
              </a:rPr>
              <a:t>pool + lane + gateway</a:t>
            </a:r>
          </a:p>
        </p:txBody>
      </p:sp>
      <p:sp>
        <p:nvSpPr>
          <p:cNvPr name="TextBox 35" id="35"/>
          <p:cNvSpPr txBox="true"/>
          <p:nvPr/>
        </p:nvSpPr>
        <p:spPr>
          <a:xfrm rot="0">
            <a:off x="6492240" y="7136130"/>
            <a:ext cx="1572768"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Cấu trúc mô hình BPMN</a:t>
            </a:r>
          </a:p>
        </p:txBody>
      </p:sp>
      <p:grpSp>
        <p:nvGrpSpPr>
          <p:cNvPr name="Group 36" id="36"/>
          <p:cNvGrpSpPr/>
          <p:nvPr/>
        </p:nvGrpSpPr>
        <p:grpSpPr>
          <a:xfrm rot="0">
            <a:off x="5829300" y="2924175"/>
            <a:ext cx="266700" cy="285750"/>
            <a:chOff x="0" y="0"/>
            <a:chExt cx="355600" cy="381000"/>
          </a:xfrm>
        </p:grpSpPr>
        <p:sp>
          <p:nvSpPr>
            <p:cNvPr name="Freeform 37" id="37"/>
            <p:cNvSpPr/>
            <p:nvPr/>
          </p:nvSpPr>
          <p:spPr>
            <a:xfrm flipH="false" flipV="false" rot="0">
              <a:off x="0" y="0"/>
              <a:ext cx="355600" cy="381000"/>
            </a:xfrm>
            <a:custGeom>
              <a:avLst/>
              <a:gdLst/>
              <a:ahLst/>
              <a:cxnLst/>
              <a:rect r="r" b="b" t="t" l="l"/>
              <a:pathLst>
                <a:path h="381000" w="355600">
                  <a:moveTo>
                    <a:pt x="63500" y="0"/>
                  </a:moveTo>
                  <a:lnTo>
                    <a:pt x="292100" y="0"/>
                  </a:lnTo>
                  <a:cubicBezTo>
                    <a:pt x="327170" y="0"/>
                    <a:pt x="355600" y="28430"/>
                    <a:pt x="355600" y="63500"/>
                  </a:cubicBezTo>
                  <a:lnTo>
                    <a:pt x="355600" y="317500"/>
                  </a:lnTo>
                  <a:cubicBezTo>
                    <a:pt x="355600" y="352570"/>
                    <a:pt x="327170" y="381000"/>
                    <a:pt x="292100" y="381000"/>
                  </a:cubicBezTo>
                  <a:lnTo>
                    <a:pt x="63500" y="381000"/>
                  </a:lnTo>
                  <a:cubicBezTo>
                    <a:pt x="28430" y="381000"/>
                    <a:pt x="0" y="352570"/>
                    <a:pt x="0" y="317500"/>
                  </a:cubicBezTo>
                  <a:lnTo>
                    <a:pt x="0" y="63500"/>
                  </a:lnTo>
                  <a:cubicBezTo>
                    <a:pt x="0" y="28430"/>
                    <a:pt x="28430" y="0"/>
                    <a:pt x="63500" y="0"/>
                  </a:cubicBezTo>
                  <a:close/>
                </a:path>
              </a:pathLst>
            </a:custGeom>
            <a:ln w="28575" cap="sq">
              <a:solidFill>
                <a:srgbClr val="E11634"/>
              </a:solidFill>
              <a:prstDash val="solid"/>
              <a:miter/>
            </a:ln>
          </p:spPr>
        </p:sp>
        <p:sp>
          <p:nvSpPr>
            <p:cNvPr name="TextBox 38" id="38"/>
            <p:cNvSpPr txBox="true"/>
            <p:nvPr/>
          </p:nvSpPr>
          <p:spPr>
            <a:xfrm>
              <a:off x="0" y="-28575"/>
              <a:ext cx="355600" cy="409575"/>
            </a:xfrm>
            <a:prstGeom prst="rect">
              <a:avLst/>
            </a:prstGeom>
          </p:spPr>
          <p:txBody>
            <a:bodyPr anchor="ctr" rtlCol="false" tIns="50800" lIns="50800" bIns="50800" rIns="50800"/>
            <a:lstStyle/>
            <a:p>
              <a:pPr algn="l">
                <a:lnSpc>
                  <a:spcPts val="1679"/>
                </a:lnSpc>
              </a:pPr>
            </a:p>
          </p:txBody>
        </p:sp>
      </p:grpSp>
      <p:sp>
        <p:nvSpPr>
          <p:cNvPr name="AutoShape 39" id="39"/>
          <p:cNvSpPr/>
          <p:nvPr/>
        </p:nvSpPr>
        <p:spPr>
          <a:xfrm>
            <a:off x="5886450" y="2990850"/>
            <a:ext cx="152400" cy="0"/>
          </a:xfrm>
          <a:prstGeom prst="line">
            <a:avLst/>
          </a:prstGeom>
          <a:ln cap="flat" w="28575">
            <a:solidFill>
              <a:srgbClr val="100643"/>
            </a:solidFill>
            <a:prstDash val="solid"/>
            <a:headEnd type="none" len="sm" w="sm"/>
            <a:tailEnd type="none" len="sm" w="sm"/>
          </a:ln>
        </p:spPr>
      </p:sp>
      <p:sp>
        <p:nvSpPr>
          <p:cNvPr name="AutoShape 40" id="40"/>
          <p:cNvSpPr/>
          <p:nvPr/>
        </p:nvSpPr>
        <p:spPr>
          <a:xfrm>
            <a:off x="5886450" y="3057525"/>
            <a:ext cx="152400" cy="0"/>
          </a:xfrm>
          <a:prstGeom prst="line">
            <a:avLst/>
          </a:prstGeom>
          <a:ln cap="flat" w="28575">
            <a:solidFill>
              <a:srgbClr val="100643"/>
            </a:solidFill>
            <a:prstDash val="solid"/>
            <a:headEnd type="none" len="sm" w="sm"/>
            <a:tailEnd type="none" len="sm" w="sm"/>
          </a:ln>
        </p:spPr>
      </p:sp>
      <p:sp>
        <p:nvSpPr>
          <p:cNvPr name="AutoShape 41" id="41"/>
          <p:cNvSpPr/>
          <p:nvPr/>
        </p:nvSpPr>
        <p:spPr>
          <a:xfrm>
            <a:off x="5886450" y="3124200"/>
            <a:ext cx="104775" cy="0"/>
          </a:xfrm>
          <a:prstGeom prst="line">
            <a:avLst/>
          </a:prstGeom>
          <a:ln cap="flat" w="28575">
            <a:solidFill>
              <a:srgbClr val="100643"/>
            </a:solidFill>
            <a:prstDash val="solid"/>
            <a:headEnd type="none" len="sm" w="sm"/>
            <a:tailEnd type="none" len="sm" w="sm"/>
          </a:ln>
        </p:spPr>
      </p:sp>
      <p:grpSp>
        <p:nvGrpSpPr>
          <p:cNvPr name="Group 42" id="42"/>
          <p:cNvGrpSpPr/>
          <p:nvPr/>
        </p:nvGrpSpPr>
        <p:grpSpPr>
          <a:xfrm rot="0">
            <a:off x="8896350" y="2895600"/>
            <a:ext cx="257175" cy="342900"/>
            <a:chOff x="0" y="0"/>
            <a:chExt cx="342900" cy="457200"/>
          </a:xfrm>
        </p:grpSpPr>
        <p:sp>
          <p:nvSpPr>
            <p:cNvPr name="Freeform 43" id="43"/>
            <p:cNvSpPr/>
            <p:nvPr/>
          </p:nvSpPr>
          <p:spPr>
            <a:xfrm flipH="false" flipV="false" rot="0">
              <a:off x="0" y="0"/>
              <a:ext cx="342900" cy="457200"/>
            </a:xfrm>
            <a:custGeom>
              <a:avLst/>
              <a:gdLst/>
              <a:ahLst/>
              <a:cxnLst/>
              <a:rect r="r" b="b" t="t" l="l"/>
              <a:pathLst>
                <a:path h="457200" w="342900">
                  <a:moveTo>
                    <a:pt x="50800" y="0"/>
                  </a:moveTo>
                  <a:lnTo>
                    <a:pt x="292100" y="0"/>
                  </a:lnTo>
                  <a:cubicBezTo>
                    <a:pt x="320156" y="0"/>
                    <a:pt x="342900" y="22744"/>
                    <a:pt x="342900" y="50800"/>
                  </a:cubicBezTo>
                  <a:lnTo>
                    <a:pt x="342900" y="406400"/>
                  </a:lnTo>
                  <a:cubicBezTo>
                    <a:pt x="342900" y="434456"/>
                    <a:pt x="320156" y="457200"/>
                    <a:pt x="292100" y="457200"/>
                  </a:cubicBezTo>
                  <a:lnTo>
                    <a:pt x="50800" y="457200"/>
                  </a:lnTo>
                  <a:cubicBezTo>
                    <a:pt x="22744" y="457200"/>
                    <a:pt x="0" y="434456"/>
                    <a:pt x="0" y="406400"/>
                  </a:cubicBezTo>
                  <a:lnTo>
                    <a:pt x="0" y="50800"/>
                  </a:lnTo>
                  <a:cubicBezTo>
                    <a:pt x="0" y="22744"/>
                    <a:pt x="22744" y="0"/>
                    <a:pt x="50800" y="0"/>
                  </a:cubicBezTo>
                  <a:close/>
                </a:path>
              </a:pathLst>
            </a:custGeom>
            <a:ln w="28575" cap="sq">
              <a:solidFill>
                <a:srgbClr val="E11634"/>
              </a:solidFill>
              <a:prstDash val="solid"/>
              <a:miter/>
            </a:ln>
          </p:spPr>
        </p:sp>
        <p:sp>
          <p:nvSpPr>
            <p:cNvPr name="TextBox 44" id="44"/>
            <p:cNvSpPr txBox="true"/>
            <p:nvPr/>
          </p:nvSpPr>
          <p:spPr>
            <a:xfrm>
              <a:off x="0" y="-28575"/>
              <a:ext cx="342900" cy="485775"/>
            </a:xfrm>
            <a:prstGeom prst="rect">
              <a:avLst/>
            </a:prstGeom>
          </p:spPr>
          <p:txBody>
            <a:bodyPr anchor="ctr" rtlCol="false" tIns="50800" lIns="50800" bIns="50800" rIns="50800"/>
            <a:lstStyle/>
            <a:p>
              <a:pPr algn="l">
                <a:lnSpc>
                  <a:spcPts val="1679"/>
                </a:lnSpc>
              </a:pPr>
            </a:p>
          </p:txBody>
        </p:sp>
      </p:grpSp>
      <p:sp>
        <p:nvSpPr>
          <p:cNvPr name="AutoShape 45" id="45"/>
          <p:cNvSpPr/>
          <p:nvPr/>
        </p:nvSpPr>
        <p:spPr>
          <a:xfrm>
            <a:off x="8953500" y="3000375"/>
            <a:ext cx="142875" cy="0"/>
          </a:xfrm>
          <a:prstGeom prst="line">
            <a:avLst/>
          </a:prstGeom>
          <a:ln cap="flat" w="28575">
            <a:solidFill>
              <a:srgbClr val="100643"/>
            </a:solidFill>
            <a:prstDash val="solid"/>
            <a:headEnd type="none" len="sm" w="sm"/>
            <a:tailEnd type="none" len="sm" w="sm"/>
          </a:ln>
        </p:spPr>
      </p:sp>
      <p:sp>
        <p:nvSpPr>
          <p:cNvPr name="AutoShape 46" id="46"/>
          <p:cNvSpPr/>
          <p:nvPr/>
        </p:nvSpPr>
        <p:spPr>
          <a:xfrm>
            <a:off x="8953500" y="3067050"/>
            <a:ext cx="142875" cy="0"/>
          </a:xfrm>
          <a:prstGeom prst="line">
            <a:avLst/>
          </a:prstGeom>
          <a:ln cap="flat" w="28575">
            <a:solidFill>
              <a:srgbClr val="100643"/>
            </a:solidFill>
            <a:prstDash val="solid"/>
            <a:headEnd type="none" len="sm" w="sm"/>
            <a:tailEnd type="none" len="sm" w="sm"/>
          </a:ln>
        </p:spPr>
      </p:sp>
      <p:sp>
        <p:nvSpPr>
          <p:cNvPr name="AutoShape 47" id="47"/>
          <p:cNvSpPr/>
          <p:nvPr/>
        </p:nvSpPr>
        <p:spPr>
          <a:xfrm>
            <a:off x="8953500" y="3133725"/>
            <a:ext cx="104775" cy="0"/>
          </a:xfrm>
          <a:prstGeom prst="line">
            <a:avLst/>
          </a:prstGeom>
          <a:ln cap="flat" w="28575">
            <a:solidFill>
              <a:srgbClr val="100643"/>
            </a:solidFill>
            <a:prstDash val="solid"/>
            <a:headEnd type="none" len="sm" w="sm"/>
            <a:tailEnd type="none" len="sm" w="sm"/>
          </a:ln>
        </p:spPr>
      </p:sp>
      <p:sp>
        <p:nvSpPr>
          <p:cNvPr name="AutoShape 48" id="48"/>
          <p:cNvSpPr/>
          <p:nvPr/>
        </p:nvSpPr>
        <p:spPr>
          <a:xfrm>
            <a:off x="9077325" y="2895600"/>
            <a:ext cx="76200" cy="76200"/>
          </a:xfrm>
          <a:prstGeom prst="line">
            <a:avLst/>
          </a:prstGeom>
          <a:ln cap="flat" w="28575">
            <a:solidFill>
              <a:srgbClr val="100643"/>
            </a:solidFill>
            <a:prstDash val="solid"/>
            <a:headEnd type="none" len="sm" w="sm"/>
            <a:tailEnd type="none" len="sm" w="sm"/>
          </a:ln>
        </p:spPr>
      </p:sp>
      <p:grpSp>
        <p:nvGrpSpPr>
          <p:cNvPr name="Group 49" id="49"/>
          <p:cNvGrpSpPr/>
          <p:nvPr/>
        </p:nvGrpSpPr>
        <p:grpSpPr>
          <a:xfrm rot="0">
            <a:off x="11696700" y="2952750"/>
            <a:ext cx="190500" cy="238125"/>
            <a:chOff x="0" y="0"/>
            <a:chExt cx="254000" cy="317500"/>
          </a:xfrm>
        </p:grpSpPr>
        <p:sp>
          <p:nvSpPr>
            <p:cNvPr name="Freeform 50" id="50"/>
            <p:cNvSpPr/>
            <p:nvPr/>
          </p:nvSpPr>
          <p:spPr>
            <a:xfrm flipH="false" flipV="false" rot="0">
              <a:off x="0" y="0"/>
              <a:ext cx="254000" cy="317500"/>
            </a:xfrm>
            <a:custGeom>
              <a:avLst/>
              <a:gdLst/>
              <a:ahLst/>
              <a:cxnLst/>
              <a:rect r="r" b="b" t="t" l="l"/>
              <a:pathLst>
                <a:path h="317500" w="254000">
                  <a:moveTo>
                    <a:pt x="0" y="158750"/>
                  </a:moveTo>
                  <a:cubicBezTo>
                    <a:pt x="0" y="246425"/>
                    <a:pt x="56860" y="317500"/>
                    <a:pt x="127000" y="317500"/>
                  </a:cubicBezTo>
                  <a:cubicBezTo>
                    <a:pt x="197140" y="317500"/>
                    <a:pt x="254000" y="246425"/>
                    <a:pt x="254000" y="158750"/>
                  </a:cubicBezTo>
                  <a:cubicBezTo>
                    <a:pt x="254000" y="71075"/>
                    <a:pt x="197140" y="0"/>
                    <a:pt x="127000" y="0"/>
                  </a:cubicBezTo>
                  <a:cubicBezTo>
                    <a:pt x="56860" y="0"/>
                    <a:pt x="0" y="71075"/>
                    <a:pt x="0" y="158750"/>
                  </a:cubicBezTo>
                  <a:close/>
                </a:path>
              </a:pathLst>
            </a:custGeom>
            <a:ln w="28575" cap="sq">
              <a:solidFill>
                <a:srgbClr val="E11634"/>
              </a:solidFill>
              <a:prstDash val="solid"/>
              <a:miter/>
            </a:ln>
          </p:spPr>
        </p:sp>
        <p:sp>
          <p:nvSpPr>
            <p:cNvPr name="TextBox 51" id="51"/>
            <p:cNvSpPr txBox="true"/>
            <p:nvPr/>
          </p:nvSpPr>
          <p:spPr>
            <a:xfrm>
              <a:off x="0" y="-28575"/>
              <a:ext cx="254000" cy="346075"/>
            </a:xfrm>
            <a:prstGeom prst="rect">
              <a:avLst/>
            </a:prstGeom>
          </p:spPr>
          <p:txBody>
            <a:bodyPr anchor="ctr" rtlCol="false" tIns="50800" lIns="50800" bIns="50800" rIns="50800"/>
            <a:lstStyle/>
            <a:p>
              <a:pPr algn="l">
                <a:lnSpc>
                  <a:spcPts val="1679"/>
                </a:lnSpc>
              </a:pPr>
            </a:p>
          </p:txBody>
        </p:sp>
      </p:grpSp>
      <p:grpSp>
        <p:nvGrpSpPr>
          <p:cNvPr name="Group 52" id="52"/>
          <p:cNvGrpSpPr/>
          <p:nvPr/>
        </p:nvGrpSpPr>
        <p:grpSpPr>
          <a:xfrm rot="0">
            <a:off x="11839575" y="2952750"/>
            <a:ext cx="190500" cy="238125"/>
            <a:chOff x="0" y="0"/>
            <a:chExt cx="254000" cy="317500"/>
          </a:xfrm>
        </p:grpSpPr>
        <p:sp>
          <p:nvSpPr>
            <p:cNvPr name="Freeform 53" id="53"/>
            <p:cNvSpPr/>
            <p:nvPr/>
          </p:nvSpPr>
          <p:spPr>
            <a:xfrm flipH="false" flipV="false" rot="0">
              <a:off x="0" y="0"/>
              <a:ext cx="254000" cy="317500"/>
            </a:xfrm>
            <a:custGeom>
              <a:avLst/>
              <a:gdLst/>
              <a:ahLst/>
              <a:cxnLst/>
              <a:rect r="r" b="b" t="t" l="l"/>
              <a:pathLst>
                <a:path h="317500" w="254000">
                  <a:moveTo>
                    <a:pt x="0" y="158750"/>
                  </a:moveTo>
                  <a:cubicBezTo>
                    <a:pt x="0" y="246425"/>
                    <a:pt x="56860" y="317500"/>
                    <a:pt x="127000" y="317500"/>
                  </a:cubicBezTo>
                  <a:cubicBezTo>
                    <a:pt x="197140" y="317500"/>
                    <a:pt x="254000" y="246425"/>
                    <a:pt x="254000" y="158750"/>
                  </a:cubicBezTo>
                  <a:cubicBezTo>
                    <a:pt x="254000" y="71075"/>
                    <a:pt x="197140" y="0"/>
                    <a:pt x="127000" y="0"/>
                  </a:cubicBezTo>
                  <a:cubicBezTo>
                    <a:pt x="56860" y="0"/>
                    <a:pt x="0" y="71075"/>
                    <a:pt x="0" y="158750"/>
                  </a:cubicBezTo>
                  <a:close/>
                </a:path>
              </a:pathLst>
            </a:custGeom>
            <a:ln w="28575" cap="sq">
              <a:solidFill>
                <a:srgbClr val="E11634"/>
              </a:solidFill>
              <a:prstDash val="solid"/>
              <a:miter/>
            </a:ln>
          </p:spPr>
        </p:sp>
        <p:sp>
          <p:nvSpPr>
            <p:cNvPr name="TextBox 54" id="54"/>
            <p:cNvSpPr txBox="true"/>
            <p:nvPr/>
          </p:nvSpPr>
          <p:spPr>
            <a:xfrm>
              <a:off x="0" y="-28575"/>
              <a:ext cx="254000" cy="346075"/>
            </a:xfrm>
            <a:prstGeom prst="rect">
              <a:avLst/>
            </a:prstGeom>
          </p:spPr>
          <p:txBody>
            <a:bodyPr anchor="ctr" rtlCol="false" tIns="50800" lIns="50800" bIns="50800" rIns="50800"/>
            <a:lstStyle/>
            <a:p>
              <a:pPr algn="l">
                <a:lnSpc>
                  <a:spcPts val="1679"/>
                </a:lnSpc>
              </a:pPr>
            </a:p>
          </p:txBody>
        </p:sp>
      </p:grpSp>
      <p:sp>
        <p:nvSpPr>
          <p:cNvPr name="AutoShape 55" id="55"/>
          <p:cNvSpPr/>
          <p:nvPr/>
        </p:nvSpPr>
        <p:spPr>
          <a:xfrm>
            <a:off x="11763375" y="3048000"/>
            <a:ext cx="76200" cy="66675"/>
          </a:xfrm>
          <a:prstGeom prst="line">
            <a:avLst/>
          </a:prstGeom>
          <a:ln cap="flat" w="28575">
            <a:solidFill>
              <a:srgbClr val="100643"/>
            </a:solidFill>
            <a:prstDash val="solid"/>
            <a:headEnd type="none" len="sm" w="sm"/>
            <a:tailEnd type="none" len="sm" w="sm"/>
          </a:ln>
        </p:spPr>
      </p:sp>
      <p:sp>
        <p:nvSpPr>
          <p:cNvPr name="AutoShape 56" id="56"/>
          <p:cNvSpPr/>
          <p:nvPr/>
        </p:nvSpPr>
        <p:spPr>
          <a:xfrm flipV="true">
            <a:off x="11839575" y="3009900"/>
            <a:ext cx="104775" cy="104775"/>
          </a:xfrm>
          <a:prstGeom prst="line">
            <a:avLst/>
          </a:prstGeom>
          <a:ln cap="flat" w="28575">
            <a:solidFill>
              <a:srgbClr val="100643"/>
            </a:solidFill>
            <a:prstDash val="solid"/>
            <a:headEnd type="none" len="sm" w="sm"/>
            <a:tailEnd type="none" len="sm" w="sm"/>
          </a:ln>
        </p:spPr>
      </p:sp>
      <p:grpSp>
        <p:nvGrpSpPr>
          <p:cNvPr name="Group 57" id="57"/>
          <p:cNvGrpSpPr/>
          <p:nvPr/>
        </p:nvGrpSpPr>
        <p:grpSpPr>
          <a:xfrm rot="0">
            <a:off x="14763750" y="2895600"/>
            <a:ext cx="285750" cy="285750"/>
            <a:chOff x="0" y="0"/>
            <a:chExt cx="381000" cy="381000"/>
          </a:xfrm>
        </p:grpSpPr>
        <p:sp>
          <p:nvSpPr>
            <p:cNvPr name="Freeform 58" id="58"/>
            <p:cNvSpPr/>
            <p:nvPr/>
          </p:nvSpPr>
          <p:spPr>
            <a:xfrm flipH="false" flipV="false" rot="0">
              <a:off x="0" y="0"/>
              <a:ext cx="381000" cy="381000"/>
            </a:xfrm>
            <a:custGeom>
              <a:avLst/>
              <a:gdLst/>
              <a:ahLst/>
              <a:cxnLst/>
              <a:rect r="r" b="b" t="t" l="l"/>
              <a:pathLst>
                <a:path h="381000" w="381000">
                  <a:moveTo>
                    <a:pt x="0" y="190500"/>
                  </a:moveTo>
                  <a:cubicBezTo>
                    <a:pt x="0" y="295710"/>
                    <a:pt x="85290" y="381000"/>
                    <a:pt x="190500" y="381000"/>
                  </a:cubicBezTo>
                  <a:cubicBezTo>
                    <a:pt x="295710" y="381000"/>
                    <a:pt x="381000" y="295710"/>
                    <a:pt x="381000" y="190500"/>
                  </a:cubicBezTo>
                  <a:cubicBezTo>
                    <a:pt x="381000" y="85290"/>
                    <a:pt x="295710" y="0"/>
                    <a:pt x="190500" y="0"/>
                  </a:cubicBezTo>
                  <a:cubicBezTo>
                    <a:pt x="85290" y="0"/>
                    <a:pt x="0" y="85290"/>
                    <a:pt x="0" y="190500"/>
                  </a:cubicBezTo>
                  <a:close/>
                </a:path>
              </a:pathLst>
            </a:custGeom>
            <a:ln w="28575" cap="sq">
              <a:solidFill>
                <a:srgbClr val="E11634"/>
              </a:solidFill>
              <a:prstDash val="solid"/>
              <a:miter/>
            </a:ln>
          </p:spPr>
        </p:sp>
        <p:sp>
          <p:nvSpPr>
            <p:cNvPr name="TextBox 59" id="59"/>
            <p:cNvSpPr txBox="true"/>
            <p:nvPr/>
          </p:nvSpPr>
          <p:spPr>
            <a:xfrm>
              <a:off x="0" y="-28575"/>
              <a:ext cx="381000" cy="409575"/>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14849475" y="2981325"/>
            <a:ext cx="114300" cy="114300"/>
            <a:chOff x="0" y="0"/>
            <a:chExt cx="152400" cy="152400"/>
          </a:xfrm>
        </p:grpSpPr>
        <p:sp>
          <p:nvSpPr>
            <p:cNvPr name="Freeform 61" id="61"/>
            <p:cNvSpPr/>
            <p:nvPr/>
          </p:nvSpPr>
          <p:spPr>
            <a:xfrm flipH="false" flipV="false" rot="0">
              <a:off x="0" y="0"/>
              <a:ext cx="152400" cy="152400"/>
            </a:xfrm>
            <a:custGeom>
              <a:avLst/>
              <a:gdLst/>
              <a:ahLst/>
              <a:cxnLst/>
              <a:rect r="r" b="b" t="t" l="l"/>
              <a:pathLst>
                <a:path h="152400" w="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close/>
                </a:path>
              </a:pathLst>
            </a:custGeom>
            <a:solidFill>
              <a:srgbClr val="BD0016"/>
            </a:solidFill>
          </p:spPr>
        </p:sp>
        <p:sp>
          <p:nvSpPr>
            <p:cNvPr name="TextBox 62" id="62"/>
            <p:cNvSpPr txBox="true"/>
            <p:nvPr/>
          </p:nvSpPr>
          <p:spPr>
            <a:xfrm>
              <a:off x="0" y="-28575"/>
              <a:ext cx="152400" cy="180975"/>
            </a:xfrm>
            <a:prstGeom prst="rect">
              <a:avLst/>
            </a:prstGeom>
          </p:spPr>
          <p:txBody>
            <a:bodyPr anchor="ctr" rtlCol="false" tIns="50800" lIns="50800" bIns="50800" rIns="50800"/>
            <a:lstStyle/>
            <a:p>
              <a:pPr algn="l">
                <a:lnSpc>
                  <a:spcPts val="1679"/>
                </a:lnSpc>
              </a:pPr>
            </a:p>
          </p:txBody>
        </p:sp>
      </p:grpSp>
      <p:sp>
        <p:nvSpPr>
          <p:cNvPr name="AutoShape 63" id="63"/>
          <p:cNvSpPr/>
          <p:nvPr/>
        </p:nvSpPr>
        <p:spPr>
          <a:xfrm flipV="true">
            <a:off x="14820900" y="3143250"/>
            <a:ext cx="47625" cy="66675"/>
          </a:xfrm>
          <a:prstGeom prst="line">
            <a:avLst/>
          </a:prstGeom>
          <a:ln cap="flat" w="28575">
            <a:solidFill>
              <a:srgbClr val="100643"/>
            </a:solidFill>
            <a:prstDash val="solid"/>
            <a:headEnd type="none" len="sm" w="sm"/>
            <a:tailEnd type="none" len="sm" w="sm"/>
          </a:ln>
        </p:spPr>
      </p:sp>
      <p:sp>
        <p:nvSpPr>
          <p:cNvPr name="AutoShape 64" id="64"/>
          <p:cNvSpPr/>
          <p:nvPr/>
        </p:nvSpPr>
        <p:spPr>
          <a:xfrm flipH="true" flipV="true">
            <a:off x="14944725" y="3143250"/>
            <a:ext cx="47625" cy="66675"/>
          </a:xfrm>
          <a:prstGeom prst="line">
            <a:avLst/>
          </a:prstGeom>
          <a:ln cap="flat" w="28575">
            <a:solidFill>
              <a:srgbClr val="100643"/>
            </a:solidFill>
            <a:prstDash val="solid"/>
            <a:headEnd type="none" len="sm" w="sm"/>
            <a:tailEnd type="none" len="sm" w="sm"/>
          </a:ln>
        </p:spPr>
      </p:sp>
      <p:grpSp>
        <p:nvGrpSpPr>
          <p:cNvPr name="Group 65" id="65"/>
          <p:cNvGrpSpPr/>
          <p:nvPr/>
        </p:nvGrpSpPr>
        <p:grpSpPr>
          <a:xfrm rot="0">
            <a:off x="5800725" y="4943475"/>
            <a:ext cx="238125" cy="190500"/>
            <a:chOff x="0" y="0"/>
            <a:chExt cx="317500" cy="254000"/>
          </a:xfrm>
        </p:grpSpPr>
        <p:sp>
          <p:nvSpPr>
            <p:cNvPr name="Freeform 66" id="66"/>
            <p:cNvSpPr/>
            <p:nvPr/>
          </p:nvSpPr>
          <p:spPr>
            <a:xfrm flipH="false" flipV="false" rot="0">
              <a:off x="0" y="0"/>
              <a:ext cx="317500" cy="254000"/>
            </a:xfrm>
            <a:custGeom>
              <a:avLst/>
              <a:gdLst/>
              <a:ahLst/>
              <a:cxnLst/>
              <a:rect r="r" b="b" t="t" l="l"/>
              <a:pathLst>
                <a:path h="254000" w="317500">
                  <a:moveTo>
                    <a:pt x="0" y="127000"/>
                  </a:moveTo>
                  <a:cubicBezTo>
                    <a:pt x="0" y="197140"/>
                    <a:pt x="71075" y="254000"/>
                    <a:pt x="158750" y="254000"/>
                  </a:cubicBezTo>
                  <a:cubicBezTo>
                    <a:pt x="246425" y="254000"/>
                    <a:pt x="317500" y="197140"/>
                    <a:pt x="317500" y="127000"/>
                  </a:cubicBezTo>
                  <a:cubicBezTo>
                    <a:pt x="317500" y="56860"/>
                    <a:pt x="246425" y="0"/>
                    <a:pt x="158750" y="0"/>
                  </a:cubicBezTo>
                  <a:cubicBezTo>
                    <a:pt x="71075" y="0"/>
                    <a:pt x="0" y="56860"/>
                    <a:pt x="0" y="127000"/>
                  </a:cubicBezTo>
                  <a:close/>
                </a:path>
              </a:pathLst>
            </a:custGeom>
            <a:ln w="28575" cap="sq">
              <a:solidFill>
                <a:srgbClr val="E11634"/>
              </a:solidFill>
              <a:prstDash val="solid"/>
              <a:miter/>
            </a:ln>
          </p:spPr>
        </p:sp>
        <p:sp>
          <p:nvSpPr>
            <p:cNvPr name="TextBox 67" id="67"/>
            <p:cNvSpPr txBox="true"/>
            <p:nvPr/>
          </p:nvSpPr>
          <p:spPr>
            <a:xfrm>
              <a:off x="0" y="-28575"/>
              <a:ext cx="317500" cy="282575"/>
            </a:xfrm>
            <a:prstGeom prst="rect">
              <a:avLst/>
            </a:prstGeom>
          </p:spPr>
          <p:txBody>
            <a:bodyPr anchor="ctr" rtlCol="false" tIns="50800" lIns="50800" bIns="50800" rIns="50800"/>
            <a:lstStyle/>
            <a:p>
              <a:pPr algn="l">
                <a:lnSpc>
                  <a:spcPts val="1679"/>
                </a:lnSpc>
              </a:pPr>
            </a:p>
          </p:txBody>
        </p:sp>
      </p:grpSp>
      <p:grpSp>
        <p:nvGrpSpPr>
          <p:cNvPr name="Group 68" id="68"/>
          <p:cNvGrpSpPr/>
          <p:nvPr/>
        </p:nvGrpSpPr>
        <p:grpSpPr>
          <a:xfrm rot="0">
            <a:off x="5924550" y="4867275"/>
            <a:ext cx="238125" cy="266700"/>
            <a:chOff x="0" y="0"/>
            <a:chExt cx="317500" cy="355600"/>
          </a:xfrm>
        </p:grpSpPr>
        <p:sp>
          <p:nvSpPr>
            <p:cNvPr name="Freeform 69" id="69"/>
            <p:cNvSpPr/>
            <p:nvPr/>
          </p:nvSpPr>
          <p:spPr>
            <a:xfrm flipH="false" flipV="false" rot="0">
              <a:off x="0" y="0"/>
              <a:ext cx="317500" cy="355600"/>
            </a:xfrm>
            <a:custGeom>
              <a:avLst/>
              <a:gdLst/>
              <a:ahLst/>
              <a:cxnLst/>
              <a:rect r="r" b="b" t="t" l="l"/>
              <a:pathLst>
                <a:path h="355600" w="317500">
                  <a:moveTo>
                    <a:pt x="0" y="177800"/>
                  </a:moveTo>
                  <a:cubicBezTo>
                    <a:pt x="0" y="275996"/>
                    <a:pt x="71075" y="355600"/>
                    <a:pt x="158750" y="355600"/>
                  </a:cubicBezTo>
                  <a:cubicBezTo>
                    <a:pt x="246425" y="355600"/>
                    <a:pt x="317500" y="275996"/>
                    <a:pt x="317500" y="177800"/>
                  </a:cubicBezTo>
                  <a:cubicBezTo>
                    <a:pt x="317500" y="79604"/>
                    <a:pt x="246425" y="0"/>
                    <a:pt x="158750" y="0"/>
                  </a:cubicBezTo>
                  <a:cubicBezTo>
                    <a:pt x="71075" y="0"/>
                    <a:pt x="0" y="79604"/>
                    <a:pt x="0" y="177800"/>
                  </a:cubicBezTo>
                  <a:close/>
                </a:path>
              </a:pathLst>
            </a:custGeom>
            <a:ln w="28575" cap="sq">
              <a:solidFill>
                <a:srgbClr val="E11634"/>
              </a:solidFill>
              <a:prstDash val="solid"/>
              <a:miter/>
            </a:ln>
          </p:spPr>
        </p:sp>
        <p:sp>
          <p:nvSpPr>
            <p:cNvPr name="TextBox 70" id="70"/>
            <p:cNvSpPr txBox="true"/>
            <p:nvPr/>
          </p:nvSpPr>
          <p:spPr>
            <a:xfrm>
              <a:off x="0" y="-28575"/>
              <a:ext cx="317500" cy="384175"/>
            </a:xfrm>
            <a:prstGeom prst="rect">
              <a:avLst/>
            </a:prstGeom>
          </p:spPr>
          <p:txBody>
            <a:bodyPr anchor="ctr" rtlCol="false" tIns="50800" lIns="50800" bIns="50800" rIns="50800"/>
            <a:lstStyle/>
            <a:p>
              <a:pPr algn="l">
                <a:lnSpc>
                  <a:spcPts val="1679"/>
                </a:lnSpc>
              </a:pPr>
            </a:p>
          </p:txBody>
        </p:sp>
      </p:grpSp>
      <p:sp>
        <p:nvSpPr>
          <p:cNvPr name="AutoShape 71" id="71"/>
          <p:cNvSpPr/>
          <p:nvPr/>
        </p:nvSpPr>
        <p:spPr>
          <a:xfrm>
            <a:off x="5810250" y="5133975"/>
            <a:ext cx="342900" cy="0"/>
          </a:xfrm>
          <a:prstGeom prst="line">
            <a:avLst/>
          </a:prstGeom>
          <a:ln cap="flat" w="28575">
            <a:solidFill>
              <a:srgbClr val="110442"/>
            </a:solidFill>
            <a:prstDash val="solid"/>
            <a:headEnd type="none" len="sm" w="sm"/>
            <a:tailEnd type="none" len="sm" w="sm"/>
          </a:ln>
        </p:spPr>
      </p:sp>
      <p:sp>
        <p:nvSpPr>
          <p:cNvPr name="AutoShape 72" id="72"/>
          <p:cNvSpPr/>
          <p:nvPr/>
        </p:nvSpPr>
        <p:spPr>
          <a:xfrm flipV="true">
            <a:off x="5981700" y="5000625"/>
            <a:ext cx="0" cy="171450"/>
          </a:xfrm>
          <a:prstGeom prst="line">
            <a:avLst/>
          </a:prstGeom>
          <a:ln cap="flat" w="28575">
            <a:solidFill>
              <a:srgbClr val="110442"/>
            </a:solidFill>
            <a:prstDash val="solid"/>
            <a:headEnd type="none" len="sm" w="sm"/>
            <a:tailEnd type="none" len="sm" w="sm"/>
          </a:ln>
        </p:spPr>
      </p:sp>
      <p:sp>
        <p:nvSpPr>
          <p:cNvPr name="AutoShape 73" id="73"/>
          <p:cNvSpPr/>
          <p:nvPr/>
        </p:nvSpPr>
        <p:spPr>
          <a:xfrm flipV="true">
            <a:off x="5924550" y="5000625"/>
            <a:ext cx="57150" cy="57150"/>
          </a:xfrm>
          <a:prstGeom prst="line">
            <a:avLst/>
          </a:prstGeom>
          <a:ln cap="flat" w="28575">
            <a:solidFill>
              <a:srgbClr val="110442"/>
            </a:solidFill>
            <a:prstDash val="solid"/>
            <a:headEnd type="none" len="sm" w="sm"/>
            <a:tailEnd type="none" len="sm" w="sm"/>
          </a:ln>
        </p:spPr>
      </p:sp>
      <p:sp>
        <p:nvSpPr>
          <p:cNvPr name="AutoShape 74" id="74"/>
          <p:cNvSpPr/>
          <p:nvPr/>
        </p:nvSpPr>
        <p:spPr>
          <a:xfrm>
            <a:off x="5981700" y="5000625"/>
            <a:ext cx="57150" cy="57150"/>
          </a:xfrm>
          <a:prstGeom prst="line">
            <a:avLst/>
          </a:prstGeom>
          <a:ln cap="flat" w="28575">
            <a:solidFill>
              <a:srgbClr val="110442"/>
            </a:solidFill>
            <a:prstDash val="solid"/>
            <a:headEnd type="none" len="sm" w="sm"/>
            <a:tailEnd type="none" len="sm" w="sm"/>
          </a:ln>
        </p:spPr>
      </p:sp>
      <p:grpSp>
        <p:nvGrpSpPr>
          <p:cNvPr name="Group 75" id="75"/>
          <p:cNvGrpSpPr/>
          <p:nvPr/>
        </p:nvGrpSpPr>
        <p:grpSpPr>
          <a:xfrm rot="0">
            <a:off x="8839200" y="4876800"/>
            <a:ext cx="371475" cy="285750"/>
            <a:chOff x="0" y="0"/>
            <a:chExt cx="495300" cy="381000"/>
          </a:xfrm>
        </p:grpSpPr>
        <p:sp>
          <p:nvSpPr>
            <p:cNvPr name="Freeform 76" id="76"/>
            <p:cNvSpPr/>
            <p:nvPr/>
          </p:nvSpPr>
          <p:spPr>
            <a:xfrm flipH="false" flipV="false" rot="0">
              <a:off x="0" y="0"/>
              <a:ext cx="495300" cy="381000"/>
            </a:xfrm>
            <a:custGeom>
              <a:avLst/>
              <a:gdLst/>
              <a:ahLst/>
              <a:cxnLst/>
              <a:rect r="r" b="b" t="t" l="l"/>
              <a:pathLst>
                <a:path h="381000" w="495300">
                  <a:moveTo>
                    <a:pt x="50800" y="0"/>
                  </a:moveTo>
                  <a:lnTo>
                    <a:pt x="444500" y="0"/>
                  </a:lnTo>
                  <a:cubicBezTo>
                    <a:pt x="472556" y="0"/>
                    <a:pt x="495300" y="22744"/>
                    <a:pt x="495300" y="50800"/>
                  </a:cubicBezTo>
                  <a:lnTo>
                    <a:pt x="495300" y="330200"/>
                  </a:lnTo>
                  <a:cubicBezTo>
                    <a:pt x="495300" y="358256"/>
                    <a:pt x="472556" y="381000"/>
                    <a:pt x="444500" y="381000"/>
                  </a:cubicBezTo>
                  <a:lnTo>
                    <a:pt x="50800" y="381000"/>
                  </a:lnTo>
                  <a:cubicBezTo>
                    <a:pt x="22744" y="381000"/>
                    <a:pt x="0" y="358256"/>
                    <a:pt x="0" y="330200"/>
                  </a:cubicBezTo>
                  <a:lnTo>
                    <a:pt x="0" y="50800"/>
                  </a:lnTo>
                  <a:cubicBezTo>
                    <a:pt x="0" y="22744"/>
                    <a:pt x="22744" y="0"/>
                    <a:pt x="50800" y="0"/>
                  </a:cubicBezTo>
                  <a:close/>
                </a:path>
              </a:pathLst>
            </a:custGeom>
            <a:ln w="28575" cap="sq">
              <a:solidFill>
                <a:srgbClr val="E11634"/>
              </a:solidFill>
              <a:prstDash val="solid"/>
              <a:miter/>
            </a:ln>
          </p:spPr>
        </p:sp>
        <p:sp>
          <p:nvSpPr>
            <p:cNvPr name="TextBox 77" id="77"/>
            <p:cNvSpPr txBox="true"/>
            <p:nvPr/>
          </p:nvSpPr>
          <p:spPr>
            <a:xfrm>
              <a:off x="0" y="-28575"/>
              <a:ext cx="495300" cy="409575"/>
            </a:xfrm>
            <a:prstGeom prst="rect">
              <a:avLst/>
            </a:prstGeom>
          </p:spPr>
          <p:txBody>
            <a:bodyPr anchor="ctr" rtlCol="false" tIns="50800" lIns="50800" bIns="50800" rIns="50800"/>
            <a:lstStyle/>
            <a:p>
              <a:pPr algn="l">
                <a:lnSpc>
                  <a:spcPts val="1679"/>
                </a:lnSpc>
              </a:pPr>
            </a:p>
          </p:txBody>
        </p:sp>
      </p:grpSp>
      <p:sp>
        <p:nvSpPr>
          <p:cNvPr name="AutoShape 78" id="78"/>
          <p:cNvSpPr/>
          <p:nvPr/>
        </p:nvSpPr>
        <p:spPr>
          <a:xfrm flipV="true">
            <a:off x="8915400" y="5000625"/>
            <a:ext cx="0" cy="95250"/>
          </a:xfrm>
          <a:prstGeom prst="line">
            <a:avLst/>
          </a:prstGeom>
          <a:ln cap="flat" w="28575">
            <a:solidFill>
              <a:srgbClr val="110442"/>
            </a:solidFill>
            <a:prstDash val="solid"/>
            <a:headEnd type="none" len="sm" w="sm"/>
            <a:tailEnd type="none" len="sm" w="sm"/>
          </a:ln>
        </p:spPr>
      </p:sp>
      <p:sp>
        <p:nvSpPr>
          <p:cNvPr name="AutoShape 79" id="79"/>
          <p:cNvSpPr/>
          <p:nvPr/>
        </p:nvSpPr>
        <p:spPr>
          <a:xfrm flipV="true">
            <a:off x="9001125" y="4953000"/>
            <a:ext cx="0" cy="142875"/>
          </a:xfrm>
          <a:prstGeom prst="line">
            <a:avLst/>
          </a:prstGeom>
          <a:ln cap="flat" w="28575">
            <a:solidFill>
              <a:srgbClr val="110442"/>
            </a:solidFill>
            <a:prstDash val="solid"/>
            <a:headEnd type="none" len="sm" w="sm"/>
            <a:tailEnd type="none" len="sm" w="sm"/>
          </a:ln>
        </p:spPr>
      </p:sp>
      <p:sp>
        <p:nvSpPr>
          <p:cNvPr name="AutoShape 80" id="80"/>
          <p:cNvSpPr/>
          <p:nvPr/>
        </p:nvSpPr>
        <p:spPr>
          <a:xfrm flipV="true">
            <a:off x="9086850" y="5029200"/>
            <a:ext cx="0" cy="66675"/>
          </a:xfrm>
          <a:prstGeom prst="line">
            <a:avLst/>
          </a:prstGeom>
          <a:ln cap="flat" w="28575">
            <a:solidFill>
              <a:srgbClr val="110442"/>
            </a:solidFill>
            <a:prstDash val="solid"/>
            <a:headEnd type="none" len="sm" w="sm"/>
            <a:tailEnd type="none" len="sm" w="sm"/>
          </a:ln>
        </p:spPr>
      </p:sp>
      <p:sp>
        <p:nvSpPr>
          <p:cNvPr name="AutoShape 81" id="81"/>
          <p:cNvSpPr/>
          <p:nvPr/>
        </p:nvSpPr>
        <p:spPr>
          <a:xfrm>
            <a:off x="8877300" y="4924425"/>
            <a:ext cx="85725" cy="47625"/>
          </a:xfrm>
          <a:prstGeom prst="line">
            <a:avLst/>
          </a:prstGeom>
          <a:ln cap="flat" w="28575">
            <a:solidFill>
              <a:srgbClr val="110442"/>
            </a:solidFill>
            <a:prstDash val="solid"/>
            <a:headEnd type="none" len="sm" w="sm"/>
            <a:tailEnd type="none" len="sm" w="sm"/>
          </a:ln>
        </p:spPr>
      </p:sp>
      <p:sp>
        <p:nvSpPr>
          <p:cNvPr name="AutoShape 82" id="82"/>
          <p:cNvSpPr/>
          <p:nvPr/>
        </p:nvSpPr>
        <p:spPr>
          <a:xfrm flipV="true">
            <a:off x="8963025" y="4905375"/>
            <a:ext cx="95250" cy="66675"/>
          </a:xfrm>
          <a:prstGeom prst="line">
            <a:avLst/>
          </a:prstGeom>
          <a:ln cap="flat" w="28575">
            <a:solidFill>
              <a:srgbClr val="110442"/>
            </a:solidFill>
            <a:prstDash val="solid"/>
            <a:headEnd type="none" len="sm" w="sm"/>
            <a:tailEnd type="none" len="sm" w="sm"/>
          </a:ln>
        </p:spPr>
      </p:sp>
      <p:sp>
        <p:nvSpPr>
          <p:cNvPr name="AutoShape 83" id="83"/>
          <p:cNvSpPr/>
          <p:nvPr/>
        </p:nvSpPr>
        <p:spPr>
          <a:xfrm>
            <a:off x="9058275" y="4905375"/>
            <a:ext cx="95250" cy="57150"/>
          </a:xfrm>
          <a:prstGeom prst="line">
            <a:avLst/>
          </a:prstGeom>
          <a:ln cap="flat" w="28575">
            <a:solidFill>
              <a:srgbClr val="110442"/>
            </a:solidFill>
            <a:prstDash val="solid"/>
            <a:headEnd type="none" len="sm" w="sm"/>
            <a:tailEnd type="none" len="sm" w="sm"/>
          </a:ln>
        </p:spPr>
      </p:sp>
      <p:grpSp>
        <p:nvGrpSpPr>
          <p:cNvPr name="Group 84" id="84"/>
          <p:cNvGrpSpPr/>
          <p:nvPr/>
        </p:nvGrpSpPr>
        <p:grpSpPr>
          <a:xfrm rot="0">
            <a:off x="11772900" y="4848225"/>
            <a:ext cx="152400" cy="152400"/>
            <a:chOff x="0" y="0"/>
            <a:chExt cx="203200" cy="203200"/>
          </a:xfrm>
        </p:grpSpPr>
        <p:sp>
          <p:nvSpPr>
            <p:cNvPr name="Freeform 85" id="85"/>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ln w="28575" cap="sq">
              <a:solidFill>
                <a:srgbClr val="E11634"/>
              </a:solidFill>
              <a:prstDash val="solid"/>
              <a:miter/>
            </a:ln>
          </p:spPr>
        </p:sp>
        <p:sp>
          <p:nvSpPr>
            <p:cNvPr name="TextBox 86" id="86"/>
            <p:cNvSpPr txBox="true"/>
            <p:nvPr/>
          </p:nvSpPr>
          <p:spPr>
            <a:xfrm>
              <a:off x="0" y="-28575"/>
              <a:ext cx="203200" cy="231775"/>
            </a:xfrm>
            <a:prstGeom prst="rect">
              <a:avLst/>
            </a:prstGeom>
          </p:spPr>
          <p:txBody>
            <a:bodyPr anchor="ctr" rtlCol="false" tIns="50800" lIns="50800" bIns="50800" rIns="50800"/>
            <a:lstStyle/>
            <a:p>
              <a:pPr algn="l">
                <a:lnSpc>
                  <a:spcPts val="1679"/>
                </a:lnSpc>
              </a:pPr>
            </a:p>
          </p:txBody>
        </p:sp>
      </p:grpSp>
      <p:grpSp>
        <p:nvGrpSpPr>
          <p:cNvPr name="Group 87" id="87"/>
          <p:cNvGrpSpPr/>
          <p:nvPr/>
        </p:nvGrpSpPr>
        <p:grpSpPr>
          <a:xfrm rot="0">
            <a:off x="11658600" y="4924425"/>
            <a:ext cx="114300" cy="114300"/>
            <a:chOff x="0" y="0"/>
            <a:chExt cx="152400" cy="152400"/>
          </a:xfrm>
        </p:grpSpPr>
        <p:sp>
          <p:nvSpPr>
            <p:cNvPr name="Freeform 88" id="88"/>
            <p:cNvSpPr/>
            <p:nvPr/>
          </p:nvSpPr>
          <p:spPr>
            <a:xfrm flipH="false" flipV="false" rot="0">
              <a:off x="0" y="0"/>
              <a:ext cx="152400" cy="152400"/>
            </a:xfrm>
            <a:custGeom>
              <a:avLst/>
              <a:gdLst/>
              <a:ahLst/>
              <a:cxnLst/>
              <a:rect r="r" b="b" t="t" l="l"/>
              <a:pathLst>
                <a:path h="152400" w="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close/>
                </a:path>
              </a:pathLst>
            </a:custGeom>
            <a:ln w="28575" cap="sq">
              <a:solidFill>
                <a:srgbClr val="E11634"/>
              </a:solidFill>
              <a:prstDash val="solid"/>
              <a:miter/>
            </a:ln>
          </p:spPr>
        </p:sp>
        <p:sp>
          <p:nvSpPr>
            <p:cNvPr name="TextBox 89" id="89"/>
            <p:cNvSpPr txBox="true"/>
            <p:nvPr/>
          </p:nvSpPr>
          <p:spPr>
            <a:xfrm>
              <a:off x="0" y="-28575"/>
              <a:ext cx="152400" cy="180975"/>
            </a:xfrm>
            <a:prstGeom prst="rect">
              <a:avLst/>
            </a:prstGeom>
          </p:spPr>
          <p:txBody>
            <a:bodyPr anchor="ctr" rtlCol="false" tIns="50800" lIns="50800" bIns="50800" rIns="50800"/>
            <a:lstStyle/>
            <a:p>
              <a:pPr algn="l">
                <a:lnSpc>
                  <a:spcPts val="1679"/>
                </a:lnSpc>
              </a:pPr>
            </a:p>
          </p:txBody>
        </p:sp>
      </p:grpSp>
      <p:grpSp>
        <p:nvGrpSpPr>
          <p:cNvPr name="Group 90" id="90"/>
          <p:cNvGrpSpPr/>
          <p:nvPr/>
        </p:nvGrpSpPr>
        <p:grpSpPr>
          <a:xfrm rot="0">
            <a:off x="11925300" y="4924425"/>
            <a:ext cx="114300" cy="114300"/>
            <a:chOff x="0" y="0"/>
            <a:chExt cx="152400" cy="152400"/>
          </a:xfrm>
        </p:grpSpPr>
        <p:sp>
          <p:nvSpPr>
            <p:cNvPr name="Freeform 91" id="91"/>
            <p:cNvSpPr/>
            <p:nvPr/>
          </p:nvSpPr>
          <p:spPr>
            <a:xfrm flipH="false" flipV="false" rot="0">
              <a:off x="0" y="0"/>
              <a:ext cx="152400" cy="152400"/>
            </a:xfrm>
            <a:custGeom>
              <a:avLst/>
              <a:gdLst/>
              <a:ahLst/>
              <a:cxnLst/>
              <a:rect r="r" b="b" t="t" l="l"/>
              <a:pathLst>
                <a:path h="152400" w="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close/>
                </a:path>
              </a:pathLst>
            </a:custGeom>
            <a:ln w="28575" cap="sq">
              <a:solidFill>
                <a:srgbClr val="E11634"/>
              </a:solidFill>
              <a:prstDash val="solid"/>
              <a:miter/>
            </a:ln>
          </p:spPr>
        </p:sp>
        <p:sp>
          <p:nvSpPr>
            <p:cNvPr name="TextBox 92" id="92"/>
            <p:cNvSpPr txBox="true"/>
            <p:nvPr/>
          </p:nvSpPr>
          <p:spPr>
            <a:xfrm>
              <a:off x="0" y="-28575"/>
              <a:ext cx="152400" cy="180975"/>
            </a:xfrm>
            <a:prstGeom prst="rect">
              <a:avLst/>
            </a:prstGeom>
          </p:spPr>
          <p:txBody>
            <a:bodyPr anchor="ctr" rtlCol="false" tIns="50800" lIns="50800" bIns="50800" rIns="50800"/>
            <a:lstStyle/>
            <a:p>
              <a:pPr algn="l">
                <a:lnSpc>
                  <a:spcPts val="1679"/>
                </a:lnSpc>
              </a:pPr>
            </a:p>
          </p:txBody>
        </p:sp>
      </p:grpSp>
      <p:sp>
        <p:nvSpPr>
          <p:cNvPr name="AutoShape 93" id="93"/>
          <p:cNvSpPr/>
          <p:nvPr/>
        </p:nvSpPr>
        <p:spPr>
          <a:xfrm flipV="true">
            <a:off x="11725275" y="5038725"/>
            <a:ext cx="0" cy="104775"/>
          </a:xfrm>
          <a:prstGeom prst="line">
            <a:avLst/>
          </a:prstGeom>
          <a:ln cap="flat" w="28575">
            <a:solidFill>
              <a:srgbClr val="110442"/>
            </a:solidFill>
            <a:prstDash val="solid"/>
            <a:headEnd type="none" len="sm" w="sm"/>
            <a:tailEnd type="none" len="sm" w="sm"/>
          </a:ln>
        </p:spPr>
      </p:sp>
      <p:sp>
        <p:nvSpPr>
          <p:cNvPr name="AutoShape 94" id="94"/>
          <p:cNvSpPr/>
          <p:nvPr/>
        </p:nvSpPr>
        <p:spPr>
          <a:xfrm>
            <a:off x="11725275" y="5038725"/>
            <a:ext cx="247650" cy="0"/>
          </a:xfrm>
          <a:prstGeom prst="line">
            <a:avLst/>
          </a:prstGeom>
          <a:ln cap="flat" w="28575">
            <a:solidFill>
              <a:srgbClr val="110442"/>
            </a:solidFill>
            <a:prstDash val="solid"/>
            <a:headEnd type="none" len="sm" w="sm"/>
            <a:tailEnd type="none" len="sm" w="sm"/>
          </a:ln>
        </p:spPr>
      </p:sp>
      <p:sp>
        <p:nvSpPr>
          <p:cNvPr name="AutoShape 95" id="95"/>
          <p:cNvSpPr/>
          <p:nvPr/>
        </p:nvSpPr>
        <p:spPr>
          <a:xfrm>
            <a:off x="11972925" y="5038725"/>
            <a:ext cx="0" cy="104775"/>
          </a:xfrm>
          <a:prstGeom prst="line">
            <a:avLst/>
          </a:prstGeom>
          <a:ln cap="flat" w="28575">
            <a:solidFill>
              <a:srgbClr val="110442"/>
            </a:solidFill>
            <a:prstDash val="solid"/>
            <a:headEnd type="none" len="sm" w="sm"/>
            <a:tailEnd type="none" len="sm" w="sm"/>
          </a:ln>
        </p:spPr>
      </p:sp>
      <p:sp>
        <p:nvSpPr>
          <p:cNvPr name="AutoShape 96" id="96"/>
          <p:cNvSpPr/>
          <p:nvPr/>
        </p:nvSpPr>
        <p:spPr>
          <a:xfrm>
            <a:off x="11668125" y="5143500"/>
            <a:ext cx="114300" cy="0"/>
          </a:xfrm>
          <a:prstGeom prst="line">
            <a:avLst/>
          </a:prstGeom>
          <a:ln cap="flat" w="28575">
            <a:solidFill>
              <a:srgbClr val="110442"/>
            </a:solidFill>
            <a:prstDash val="solid"/>
            <a:headEnd type="none" len="sm" w="sm"/>
            <a:tailEnd type="none" len="sm" w="sm"/>
          </a:ln>
        </p:spPr>
      </p:sp>
      <p:sp>
        <p:nvSpPr>
          <p:cNvPr name="AutoShape 97" id="97"/>
          <p:cNvSpPr/>
          <p:nvPr/>
        </p:nvSpPr>
        <p:spPr>
          <a:xfrm>
            <a:off x="11915775" y="5143500"/>
            <a:ext cx="114300" cy="0"/>
          </a:xfrm>
          <a:prstGeom prst="line">
            <a:avLst/>
          </a:prstGeom>
          <a:ln cap="flat" w="28575">
            <a:solidFill>
              <a:srgbClr val="110442"/>
            </a:solidFill>
            <a:prstDash val="solid"/>
            <a:headEnd type="none" len="sm" w="sm"/>
            <a:tailEnd type="none" len="sm" w="sm"/>
          </a:ln>
        </p:spPr>
      </p:sp>
      <p:grpSp>
        <p:nvGrpSpPr>
          <p:cNvPr name="Group 98" id="98"/>
          <p:cNvGrpSpPr/>
          <p:nvPr/>
        </p:nvGrpSpPr>
        <p:grpSpPr>
          <a:xfrm rot="0">
            <a:off x="14735175" y="4829175"/>
            <a:ext cx="342900" cy="114300"/>
            <a:chOff x="0" y="0"/>
            <a:chExt cx="457200" cy="152400"/>
          </a:xfrm>
        </p:grpSpPr>
        <p:sp>
          <p:nvSpPr>
            <p:cNvPr name="Freeform 99" id="99"/>
            <p:cNvSpPr/>
            <p:nvPr/>
          </p:nvSpPr>
          <p:spPr>
            <a:xfrm flipH="false" flipV="false" rot="0">
              <a:off x="0" y="0"/>
              <a:ext cx="457200" cy="152400"/>
            </a:xfrm>
            <a:custGeom>
              <a:avLst/>
              <a:gdLst/>
              <a:ahLst/>
              <a:cxnLst/>
              <a:rect r="r" b="b" t="t" l="l"/>
              <a:pathLst>
                <a:path h="152400" w="457200">
                  <a:moveTo>
                    <a:pt x="0" y="76200"/>
                  </a:moveTo>
                  <a:cubicBezTo>
                    <a:pt x="0" y="118284"/>
                    <a:pt x="102348" y="152400"/>
                    <a:pt x="228600" y="152400"/>
                  </a:cubicBezTo>
                  <a:cubicBezTo>
                    <a:pt x="354852" y="152400"/>
                    <a:pt x="457200" y="118284"/>
                    <a:pt x="457200" y="76200"/>
                  </a:cubicBezTo>
                  <a:cubicBezTo>
                    <a:pt x="457200" y="34116"/>
                    <a:pt x="354852" y="0"/>
                    <a:pt x="228600" y="0"/>
                  </a:cubicBezTo>
                  <a:cubicBezTo>
                    <a:pt x="102348" y="0"/>
                    <a:pt x="0" y="34116"/>
                    <a:pt x="0" y="76200"/>
                  </a:cubicBezTo>
                  <a:close/>
                </a:path>
              </a:pathLst>
            </a:custGeom>
            <a:ln w="28575" cap="sq">
              <a:solidFill>
                <a:srgbClr val="E11634"/>
              </a:solidFill>
              <a:prstDash val="solid"/>
              <a:miter/>
            </a:ln>
          </p:spPr>
        </p:sp>
        <p:sp>
          <p:nvSpPr>
            <p:cNvPr name="TextBox 100" id="100"/>
            <p:cNvSpPr txBox="true"/>
            <p:nvPr/>
          </p:nvSpPr>
          <p:spPr>
            <a:xfrm>
              <a:off x="0" y="-28575"/>
              <a:ext cx="457200" cy="180975"/>
            </a:xfrm>
            <a:prstGeom prst="rect">
              <a:avLst/>
            </a:prstGeom>
          </p:spPr>
          <p:txBody>
            <a:bodyPr anchor="ctr" rtlCol="false" tIns="50800" lIns="50800" bIns="50800" rIns="50800"/>
            <a:lstStyle/>
            <a:p>
              <a:pPr algn="l">
                <a:lnSpc>
                  <a:spcPts val="1679"/>
                </a:lnSpc>
              </a:pPr>
            </a:p>
          </p:txBody>
        </p:sp>
      </p:grpSp>
      <p:sp>
        <p:nvSpPr>
          <p:cNvPr name="AutoShape 101" id="101"/>
          <p:cNvSpPr/>
          <p:nvPr/>
        </p:nvSpPr>
        <p:spPr>
          <a:xfrm>
            <a:off x="14735175" y="4886325"/>
            <a:ext cx="0" cy="266700"/>
          </a:xfrm>
          <a:prstGeom prst="line">
            <a:avLst/>
          </a:prstGeom>
          <a:ln cap="flat" w="28575">
            <a:solidFill>
              <a:srgbClr val="110442"/>
            </a:solidFill>
            <a:prstDash val="solid"/>
            <a:headEnd type="none" len="sm" w="sm"/>
            <a:tailEnd type="none" len="sm" w="sm"/>
          </a:ln>
        </p:spPr>
      </p:sp>
      <p:sp>
        <p:nvSpPr>
          <p:cNvPr name="AutoShape 102" id="102"/>
          <p:cNvSpPr/>
          <p:nvPr/>
        </p:nvSpPr>
        <p:spPr>
          <a:xfrm>
            <a:off x="15078075" y="4886325"/>
            <a:ext cx="0" cy="266700"/>
          </a:xfrm>
          <a:prstGeom prst="line">
            <a:avLst/>
          </a:prstGeom>
          <a:ln cap="flat" w="28575">
            <a:solidFill>
              <a:srgbClr val="110442"/>
            </a:solidFill>
            <a:prstDash val="solid"/>
            <a:headEnd type="none" len="sm" w="sm"/>
            <a:tailEnd type="none" len="sm" w="sm"/>
          </a:ln>
        </p:spPr>
      </p:sp>
      <p:grpSp>
        <p:nvGrpSpPr>
          <p:cNvPr name="Group 103" id="103"/>
          <p:cNvGrpSpPr/>
          <p:nvPr/>
        </p:nvGrpSpPr>
        <p:grpSpPr>
          <a:xfrm rot="0">
            <a:off x="14735175" y="5095875"/>
            <a:ext cx="342900" cy="114300"/>
            <a:chOff x="0" y="0"/>
            <a:chExt cx="457200" cy="152400"/>
          </a:xfrm>
        </p:grpSpPr>
        <p:sp>
          <p:nvSpPr>
            <p:cNvPr name="Freeform 104" id="104"/>
            <p:cNvSpPr/>
            <p:nvPr/>
          </p:nvSpPr>
          <p:spPr>
            <a:xfrm flipH="false" flipV="false" rot="0">
              <a:off x="0" y="0"/>
              <a:ext cx="457200" cy="152400"/>
            </a:xfrm>
            <a:custGeom>
              <a:avLst/>
              <a:gdLst/>
              <a:ahLst/>
              <a:cxnLst/>
              <a:rect r="r" b="b" t="t" l="l"/>
              <a:pathLst>
                <a:path h="152400" w="457200">
                  <a:moveTo>
                    <a:pt x="0" y="76200"/>
                  </a:moveTo>
                  <a:cubicBezTo>
                    <a:pt x="0" y="118284"/>
                    <a:pt x="102348" y="152400"/>
                    <a:pt x="228600" y="152400"/>
                  </a:cubicBezTo>
                  <a:cubicBezTo>
                    <a:pt x="354852" y="152400"/>
                    <a:pt x="457200" y="118284"/>
                    <a:pt x="457200" y="76200"/>
                  </a:cubicBezTo>
                  <a:cubicBezTo>
                    <a:pt x="457200" y="34116"/>
                    <a:pt x="354852" y="0"/>
                    <a:pt x="228600" y="0"/>
                  </a:cubicBezTo>
                  <a:cubicBezTo>
                    <a:pt x="102348" y="0"/>
                    <a:pt x="0" y="34116"/>
                    <a:pt x="0" y="76200"/>
                  </a:cubicBezTo>
                  <a:close/>
                </a:path>
              </a:pathLst>
            </a:custGeom>
            <a:ln w="28575" cap="sq">
              <a:solidFill>
                <a:srgbClr val="E11634"/>
              </a:solidFill>
              <a:prstDash val="solid"/>
              <a:miter/>
            </a:ln>
          </p:spPr>
        </p:sp>
        <p:sp>
          <p:nvSpPr>
            <p:cNvPr name="TextBox 105" id="105"/>
            <p:cNvSpPr txBox="true"/>
            <p:nvPr/>
          </p:nvSpPr>
          <p:spPr>
            <a:xfrm>
              <a:off x="0" y="-28575"/>
              <a:ext cx="457200" cy="180975"/>
            </a:xfrm>
            <a:prstGeom prst="rect">
              <a:avLst/>
            </a:prstGeom>
          </p:spPr>
          <p:txBody>
            <a:bodyPr anchor="ctr" rtlCol="false" tIns="50800" lIns="50800" bIns="50800" rIns="50800"/>
            <a:lstStyle/>
            <a:p>
              <a:pPr algn="l">
                <a:lnSpc>
                  <a:spcPts val="1679"/>
                </a:lnSpc>
              </a:pPr>
            </a:p>
          </p:txBody>
        </p:sp>
      </p:grpSp>
      <p:sp>
        <p:nvSpPr>
          <p:cNvPr name="AutoShape 106" id="106"/>
          <p:cNvSpPr/>
          <p:nvPr/>
        </p:nvSpPr>
        <p:spPr>
          <a:xfrm>
            <a:off x="14735175" y="4972050"/>
            <a:ext cx="342900" cy="0"/>
          </a:xfrm>
          <a:prstGeom prst="line">
            <a:avLst/>
          </a:prstGeom>
          <a:ln cap="flat" w="28575">
            <a:solidFill>
              <a:srgbClr val="110442"/>
            </a:solidFill>
            <a:prstDash val="solid"/>
            <a:headEnd type="none" len="sm" w="sm"/>
            <a:tailEnd type="none" len="sm" w="sm"/>
          </a:ln>
        </p:spPr>
      </p:sp>
      <p:grpSp>
        <p:nvGrpSpPr>
          <p:cNvPr name="Group 107" id="107"/>
          <p:cNvGrpSpPr/>
          <p:nvPr/>
        </p:nvGrpSpPr>
        <p:grpSpPr>
          <a:xfrm rot="0">
            <a:off x="5772150" y="6772275"/>
            <a:ext cx="114300" cy="114300"/>
            <a:chOff x="0" y="0"/>
            <a:chExt cx="152400" cy="152400"/>
          </a:xfrm>
        </p:grpSpPr>
        <p:sp>
          <p:nvSpPr>
            <p:cNvPr name="Freeform 108" id="108"/>
            <p:cNvSpPr/>
            <p:nvPr/>
          </p:nvSpPr>
          <p:spPr>
            <a:xfrm flipH="false" flipV="false" rot="0">
              <a:off x="0" y="0"/>
              <a:ext cx="152400" cy="152400"/>
            </a:xfrm>
            <a:custGeom>
              <a:avLst/>
              <a:gdLst/>
              <a:ahLst/>
              <a:cxnLst/>
              <a:rect r="r" b="b" t="t" l="l"/>
              <a:pathLst>
                <a:path h="152400" w="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close/>
                </a:path>
              </a:pathLst>
            </a:custGeom>
            <a:ln w="28575" cap="sq">
              <a:solidFill>
                <a:srgbClr val="E11634"/>
              </a:solidFill>
              <a:prstDash val="solid"/>
              <a:miter/>
            </a:ln>
          </p:spPr>
        </p:sp>
        <p:sp>
          <p:nvSpPr>
            <p:cNvPr name="TextBox 109" id="109"/>
            <p:cNvSpPr txBox="true"/>
            <p:nvPr/>
          </p:nvSpPr>
          <p:spPr>
            <a:xfrm>
              <a:off x="0" y="-28575"/>
              <a:ext cx="152400" cy="180975"/>
            </a:xfrm>
            <a:prstGeom prst="rect">
              <a:avLst/>
            </a:prstGeom>
          </p:spPr>
          <p:txBody>
            <a:bodyPr anchor="ctr" rtlCol="false" tIns="50800" lIns="50800" bIns="50800" rIns="50800"/>
            <a:lstStyle/>
            <a:p>
              <a:pPr algn="l">
                <a:lnSpc>
                  <a:spcPts val="1679"/>
                </a:lnSpc>
              </a:pPr>
            </a:p>
          </p:txBody>
        </p:sp>
      </p:grpSp>
      <p:grpSp>
        <p:nvGrpSpPr>
          <p:cNvPr name="Group 110" id="110"/>
          <p:cNvGrpSpPr/>
          <p:nvPr/>
        </p:nvGrpSpPr>
        <p:grpSpPr>
          <a:xfrm rot="0">
            <a:off x="5934075" y="6753225"/>
            <a:ext cx="171450" cy="152400"/>
            <a:chOff x="0" y="0"/>
            <a:chExt cx="228600" cy="203200"/>
          </a:xfrm>
        </p:grpSpPr>
        <p:sp>
          <p:nvSpPr>
            <p:cNvPr name="Freeform 111" id="111"/>
            <p:cNvSpPr/>
            <p:nvPr/>
          </p:nvSpPr>
          <p:spPr>
            <a:xfrm flipH="false" flipV="false" rot="0">
              <a:off x="0" y="0"/>
              <a:ext cx="228600" cy="203200"/>
            </a:xfrm>
            <a:custGeom>
              <a:avLst/>
              <a:gdLst/>
              <a:ahLst/>
              <a:cxnLst/>
              <a:rect r="r" b="b" t="t" l="l"/>
              <a:pathLst>
                <a:path h="203200" w="228600">
                  <a:moveTo>
                    <a:pt x="38100" y="0"/>
                  </a:moveTo>
                  <a:lnTo>
                    <a:pt x="190500" y="0"/>
                  </a:lnTo>
                  <a:cubicBezTo>
                    <a:pt x="211542" y="0"/>
                    <a:pt x="228600" y="17058"/>
                    <a:pt x="228600" y="38100"/>
                  </a:cubicBezTo>
                  <a:lnTo>
                    <a:pt x="228600" y="165100"/>
                  </a:lnTo>
                  <a:cubicBezTo>
                    <a:pt x="228600" y="186142"/>
                    <a:pt x="211542" y="203200"/>
                    <a:pt x="190500" y="203200"/>
                  </a:cubicBezTo>
                  <a:lnTo>
                    <a:pt x="38100" y="203200"/>
                  </a:lnTo>
                  <a:cubicBezTo>
                    <a:pt x="17058" y="203200"/>
                    <a:pt x="0" y="186142"/>
                    <a:pt x="0" y="165100"/>
                  </a:cubicBezTo>
                  <a:lnTo>
                    <a:pt x="0" y="38100"/>
                  </a:lnTo>
                  <a:cubicBezTo>
                    <a:pt x="0" y="17058"/>
                    <a:pt x="17058" y="0"/>
                    <a:pt x="38100" y="0"/>
                  </a:cubicBezTo>
                  <a:close/>
                </a:path>
              </a:pathLst>
            </a:custGeom>
            <a:ln w="28575" cap="sq">
              <a:solidFill>
                <a:srgbClr val="E11634"/>
              </a:solidFill>
              <a:prstDash val="solid"/>
              <a:miter/>
            </a:ln>
          </p:spPr>
        </p:sp>
        <p:sp>
          <p:nvSpPr>
            <p:cNvPr name="TextBox 112" id="112"/>
            <p:cNvSpPr txBox="true"/>
            <p:nvPr/>
          </p:nvSpPr>
          <p:spPr>
            <a:xfrm>
              <a:off x="0" y="-28575"/>
              <a:ext cx="228600" cy="231775"/>
            </a:xfrm>
            <a:prstGeom prst="rect">
              <a:avLst/>
            </a:prstGeom>
          </p:spPr>
          <p:txBody>
            <a:bodyPr anchor="ctr" rtlCol="false" tIns="50800" lIns="50800" bIns="50800" rIns="50800"/>
            <a:lstStyle/>
            <a:p>
              <a:pPr algn="l">
                <a:lnSpc>
                  <a:spcPts val="1679"/>
                </a:lnSpc>
              </a:pPr>
            </a:p>
          </p:txBody>
        </p:sp>
      </p:grpSp>
      <p:grpSp>
        <p:nvGrpSpPr>
          <p:cNvPr name="Group 113" id="113"/>
          <p:cNvGrpSpPr/>
          <p:nvPr/>
        </p:nvGrpSpPr>
        <p:grpSpPr>
          <a:xfrm rot="0">
            <a:off x="6134100" y="6972300"/>
            <a:ext cx="114300" cy="114300"/>
            <a:chOff x="0" y="0"/>
            <a:chExt cx="152400" cy="152400"/>
          </a:xfrm>
        </p:grpSpPr>
        <p:sp>
          <p:nvSpPr>
            <p:cNvPr name="Freeform 114" id="114"/>
            <p:cNvSpPr/>
            <p:nvPr/>
          </p:nvSpPr>
          <p:spPr>
            <a:xfrm flipH="false" flipV="false" rot="0">
              <a:off x="0" y="0"/>
              <a:ext cx="152400" cy="152400"/>
            </a:xfrm>
            <a:custGeom>
              <a:avLst/>
              <a:gdLst/>
              <a:ahLst/>
              <a:cxnLst/>
              <a:rect r="r" b="b" t="t" l="l"/>
              <a:pathLst>
                <a:path h="152400" w="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close/>
                </a:path>
              </a:pathLst>
            </a:custGeom>
            <a:ln w="28575" cap="sq">
              <a:solidFill>
                <a:srgbClr val="E11634"/>
              </a:solidFill>
              <a:prstDash val="solid"/>
              <a:miter/>
            </a:ln>
          </p:spPr>
        </p:sp>
        <p:sp>
          <p:nvSpPr>
            <p:cNvPr name="TextBox 115" id="115"/>
            <p:cNvSpPr txBox="true"/>
            <p:nvPr/>
          </p:nvSpPr>
          <p:spPr>
            <a:xfrm>
              <a:off x="0" y="-28575"/>
              <a:ext cx="152400" cy="180975"/>
            </a:xfrm>
            <a:prstGeom prst="rect">
              <a:avLst/>
            </a:prstGeom>
          </p:spPr>
          <p:txBody>
            <a:bodyPr anchor="ctr" rtlCol="false" tIns="50800" lIns="50800" bIns="50800" rIns="50800"/>
            <a:lstStyle/>
            <a:p>
              <a:pPr algn="l">
                <a:lnSpc>
                  <a:spcPts val="1679"/>
                </a:lnSpc>
              </a:pPr>
            </a:p>
          </p:txBody>
        </p:sp>
      </p:grpSp>
      <p:sp>
        <p:nvSpPr>
          <p:cNvPr name="AutoShape 116" id="116"/>
          <p:cNvSpPr/>
          <p:nvPr/>
        </p:nvSpPr>
        <p:spPr>
          <a:xfrm>
            <a:off x="5886450" y="6829425"/>
            <a:ext cx="47625" cy="0"/>
          </a:xfrm>
          <a:prstGeom prst="line">
            <a:avLst/>
          </a:prstGeom>
          <a:ln cap="flat" w="28575">
            <a:solidFill>
              <a:srgbClr val="110442"/>
            </a:solidFill>
            <a:prstDash val="solid"/>
            <a:headEnd type="none" len="sm" w="sm"/>
            <a:tailEnd type="none" len="sm" w="sm"/>
          </a:ln>
        </p:spPr>
      </p:sp>
      <p:sp>
        <p:nvSpPr>
          <p:cNvPr name="AutoShape 117" id="117"/>
          <p:cNvSpPr/>
          <p:nvPr/>
        </p:nvSpPr>
        <p:spPr>
          <a:xfrm>
            <a:off x="6105525" y="6829425"/>
            <a:ext cx="85725" cy="142875"/>
          </a:xfrm>
          <a:prstGeom prst="line">
            <a:avLst/>
          </a:prstGeom>
          <a:ln cap="flat" w="28575">
            <a:solidFill>
              <a:srgbClr val="110442"/>
            </a:solidFill>
            <a:prstDash val="solid"/>
            <a:headEnd type="none" len="sm" w="sm"/>
            <a:tailEnd type="none" len="sm" w="sm"/>
          </a:ln>
        </p:spPr>
      </p:sp>
      <p:sp>
        <p:nvSpPr>
          <p:cNvPr name="AutoShape 118" id="118"/>
          <p:cNvSpPr/>
          <p:nvPr/>
        </p:nvSpPr>
        <p:spPr>
          <a:xfrm>
            <a:off x="5829300" y="6886575"/>
            <a:ext cx="0" cy="209550"/>
          </a:xfrm>
          <a:prstGeom prst="line">
            <a:avLst/>
          </a:prstGeom>
          <a:ln cap="flat" w="28575">
            <a:solidFill>
              <a:srgbClr val="110442"/>
            </a:solidFill>
            <a:prstDash val="solid"/>
            <a:headEnd type="none" len="sm" w="sm"/>
            <a:tailEnd type="none" len="sm" w="sm"/>
          </a:ln>
        </p:spPr>
      </p:sp>
      <p:sp>
        <p:nvSpPr>
          <p:cNvPr name="AutoShape 119" id="119"/>
          <p:cNvSpPr/>
          <p:nvPr/>
        </p:nvSpPr>
        <p:spPr>
          <a:xfrm flipV="true">
            <a:off x="5829300" y="7029450"/>
            <a:ext cx="304800" cy="66675"/>
          </a:xfrm>
          <a:prstGeom prst="line">
            <a:avLst/>
          </a:prstGeom>
          <a:ln cap="flat" w="28575">
            <a:solidFill>
              <a:srgbClr val="110442"/>
            </a:solidFill>
            <a:prstDash val="solid"/>
            <a:headEnd type="none" len="sm" w="sm"/>
            <a:tailEnd type="none" len="sm" w="sm"/>
          </a:ln>
        </p:spPr>
      </p:sp>
      <p:sp>
        <p:nvSpPr>
          <p:cNvPr name="Freeform 120" id="120"/>
          <p:cNvSpPr/>
          <p:nvPr/>
        </p:nvSpPr>
        <p:spPr>
          <a:xfrm flipH="false" flipV="false" rot="0">
            <a:off x="8467725" y="654558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2"/>
            <a:stretch>
              <a:fillRect l="0" t="0" r="0" b="0"/>
            </a:stretch>
          </a:blipFill>
        </p:spPr>
      </p:sp>
      <p:sp>
        <p:nvSpPr>
          <p:cNvPr name="Freeform 121" id="121"/>
          <p:cNvSpPr/>
          <p:nvPr/>
        </p:nvSpPr>
        <p:spPr>
          <a:xfrm flipH="false" flipV="false" rot="0">
            <a:off x="11444859" y="654558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2"/>
            <a:stretch>
              <a:fillRect l="0" t="0" r="0" b="0"/>
            </a:stretch>
          </a:blipFill>
        </p:spPr>
      </p:sp>
      <p:sp>
        <p:nvSpPr>
          <p:cNvPr name="Freeform 122" id="122"/>
          <p:cNvSpPr/>
          <p:nvPr/>
        </p:nvSpPr>
        <p:spPr>
          <a:xfrm flipH="false" flipV="false" rot="0">
            <a:off x="14473809" y="6545580"/>
            <a:ext cx="3057525" cy="1285875"/>
          </a:xfrm>
          <a:custGeom>
            <a:avLst/>
            <a:gdLst/>
            <a:ahLst/>
            <a:cxnLst/>
            <a:rect r="r" b="b" t="t" l="l"/>
            <a:pathLst>
              <a:path h="1285875" w="3057525">
                <a:moveTo>
                  <a:pt x="0" y="0"/>
                </a:moveTo>
                <a:lnTo>
                  <a:pt x="3057525" y="0"/>
                </a:lnTo>
                <a:lnTo>
                  <a:pt x="3057525" y="1285875"/>
                </a:lnTo>
                <a:lnTo>
                  <a:pt x="0" y="1285875"/>
                </a:lnTo>
                <a:lnTo>
                  <a:pt x="0" y="0"/>
                </a:lnTo>
                <a:close/>
              </a:path>
            </a:pathLst>
          </a:custGeom>
          <a:blipFill>
            <a:blip r:embed="rId12"/>
            <a:stretch>
              <a:fillRect l="0" t="0" r="0" b="0"/>
            </a:stretch>
          </a:blipFill>
        </p:spPr>
      </p:sp>
      <p:sp>
        <p:nvSpPr>
          <p:cNvPr name="TextBox 123" id="123"/>
          <p:cNvSpPr txBox="true"/>
          <p:nvPr/>
        </p:nvSpPr>
        <p:spPr>
          <a:xfrm rot="0">
            <a:off x="9492996" y="6754939"/>
            <a:ext cx="1780413"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VA • BVA • NVA</a:t>
            </a:r>
          </a:p>
        </p:txBody>
      </p:sp>
      <p:sp>
        <p:nvSpPr>
          <p:cNvPr name="TextBox 124" id="124"/>
          <p:cNvSpPr txBox="true"/>
          <p:nvPr/>
        </p:nvSpPr>
        <p:spPr>
          <a:xfrm rot="0">
            <a:off x="9492996" y="7102793"/>
            <a:ext cx="1097280"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Phân loại giá trị</a:t>
            </a:r>
          </a:p>
        </p:txBody>
      </p:sp>
      <p:sp>
        <p:nvSpPr>
          <p:cNvPr name="TextBox 125" id="125"/>
          <p:cNvSpPr txBox="true"/>
          <p:nvPr/>
        </p:nvSpPr>
        <p:spPr>
          <a:xfrm rot="0">
            <a:off x="12438888" y="6826377"/>
            <a:ext cx="1551432"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PT • WT • CT</a:t>
            </a:r>
          </a:p>
        </p:txBody>
      </p:sp>
      <p:sp>
        <p:nvSpPr>
          <p:cNvPr name="TextBox 126" id="126"/>
          <p:cNvSpPr txBox="true"/>
          <p:nvPr/>
        </p:nvSpPr>
        <p:spPr>
          <a:xfrm rot="0">
            <a:off x="12438888" y="7178993"/>
            <a:ext cx="1682496"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Các thành phần thời gian</a:t>
            </a:r>
          </a:p>
        </p:txBody>
      </p:sp>
      <p:sp>
        <p:nvSpPr>
          <p:cNvPr name="TextBox 127" id="127"/>
          <p:cNvSpPr txBox="true"/>
          <p:nvPr/>
        </p:nvSpPr>
        <p:spPr>
          <a:xfrm rot="0">
            <a:off x="15511844" y="6811137"/>
            <a:ext cx="1814132" cy="259715"/>
          </a:xfrm>
          <a:prstGeom prst="rect">
            <a:avLst/>
          </a:prstGeom>
        </p:spPr>
        <p:txBody>
          <a:bodyPr anchor="t" rtlCol="false" tIns="0" lIns="0" bIns="0" rIns="0">
            <a:spAutoFit/>
          </a:bodyPr>
          <a:lstStyle/>
          <a:p>
            <a:pPr algn="l" marL="0" indent="0" lvl="0">
              <a:lnSpc>
                <a:spcPts val="1870"/>
              </a:lnSpc>
              <a:spcBef>
                <a:spcPct val="0"/>
              </a:spcBef>
            </a:pPr>
            <a:r>
              <a:rPr lang="en-US" b="true" sz="1700" strike="noStrike" u="none">
                <a:solidFill>
                  <a:srgbClr val="E61730"/>
                </a:solidFill>
                <a:latin typeface="Poppins Bold"/>
                <a:ea typeface="Poppins Bold"/>
                <a:cs typeface="Poppins Bold"/>
                <a:sym typeface="Poppins Bold"/>
              </a:rPr>
              <a:t>PCE • FTR • Yield</a:t>
            </a:r>
          </a:p>
        </p:txBody>
      </p:sp>
      <p:sp>
        <p:nvSpPr>
          <p:cNvPr name="TextBox 128" id="128"/>
          <p:cNvSpPr txBox="true"/>
          <p:nvPr/>
        </p:nvSpPr>
        <p:spPr>
          <a:xfrm rot="0">
            <a:off x="15511843" y="7158990"/>
            <a:ext cx="1572768" cy="390525"/>
          </a:xfrm>
          <a:prstGeom prst="rect">
            <a:avLst/>
          </a:prstGeom>
        </p:spPr>
        <p:txBody>
          <a:bodyPr anchor="t" rtlCol="false" tIns="0" lIns="0" bIns="0" rIns="0">
            <a:spAutoFit/>
          </a:bodyPr>
          <a:lstStyle/>
          <a:p>
            <a:pPr algn="l">
              <a:lnSpc>
                <a:spcPts val="1500"/>
              </a:lnSpc>
            </a:pPr>
            <a:r>
              <a:rPr lang="en-US" sz="1250">
                <a:solidFill>
                  <a:srgbClr val="110442"/>
                </a:solidFill>
                <a:latin typeface="Poppins"/>
                <a:ea typeface="Poppins"/>
                <a:cs typeface="Poppins"/>
                <a:sym typeface="Poppins"/>
              </a:rPr>
              <a:t>Hiệu suất và chất lượng</a:t>
            </a:r>
          </a:p>
        </p:txBody>
      </p:sp>
      <p:grpSp>
        <p:nvGrpSpPr>
          <p:cNvPr name="Group 129" id="129"/>
          <p:cNvGrpSpPr/>
          <p:nvPr/>
        </p:nvGrpSpPr>
        <p:grpSpPr>
          <a:xfrm rot="0">
            <a:off x="8877300" y="6743700"/>
            <a:ext cx="171450" cy="171450"/>
            <a:chOff x="0" y="0"/>
            <a:chExt cx="228600" cy="228600"/>
          </a:xfrm>
        </p:grpSpPr>
        <p:sp>
          <p:nvSpPr>
            <p:cNvPr name="Freeform 130" id="130"/>
            <p:cNvSpPr/>
            <p:nvPr/>
          </p:nvSpPr>
          <p:spPr>
            <a:xfrm flipH="false" flipV="false" rot="0">
              <a:off x="0" y="0"/>
              <a:ext cx="228600" cy="228600"/>
            </a:xfrm>
            <a:custGeom>
              <a:avLst/>
              <a:gdLst/>
              <a:ahLst/>
              <a:cxnLst/>
              <a:rect r="r" b="b" t="t" l="l"/>
              <a:pathLst>
                <a:path h="228600" w="228600">
                  <a:moveTo>
                    <a:pt x="38100" y="0"/>
                  </a:moveTo>
                  <a:lnTo>
                    <a:pt x="190500" y="0"/>
                  </a:lnTo>
                  <a:cubicBezTo>
                    <a:pt x="211542" y="0"/>
                    <a:pt x="228600" y="17058"/>
                    <a:pt x="228600" y="38100"/>
                  </a:cubicBezTo>
                  <a:lnTo>
                    <a:pt x="228600" y="190500"/>
                  </a:lnTo>
                  <a:cubicBezTo>
                    <a:pt x="228600" y="211542"/>
                    <a:pt x="211542" y="228600"/>
                    <a:pt x="190500" y="228600"/>
                  </a:cubicBezTo>
                  <a:lnTo>
                    <a:pt x="38100" y="228600"/>
                  </a:lnTo>
                  <a:cubicBezTo>
                    <a:pt x="17058" y="228600"/>
                    <a:pt x="0" y="211542"/>
                    <a:pt x="0" y="190500"/>
                  </a:cubicBezTo>
                  <a:lnTo>
                    <a:pt x="0" y="38100"/>
                  </a:lnTo>
                  <a:cubicBezTo>
                    <a:pt x="0" y="17058"/>
                    <a:pt x="17058" y="0"/>
                    <a:pt x="38100" y="0"/>
                  </a:cubicBezTo>
                  <a:close/>
                </a:path>
              </a:pathLst>
            </a:custGeom>
            <a:ln w="28575" cap="sq">
              <a:solidFill>
                <a:srgbClr val="E11634"/>
              </a:solidFill>
              <a:prstDash val="solid"/>
              <a:miter/>
            </a:ln>
          </p:spPr>
        </p:sp>
        <p:sp>
          <p:nvSpPr>
            <p:cNvPr name="TextBox 131" id="13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grpSp>
        <p:nvGrpSpPr>
          <p:cNvPr name="Group 132" id="132"/>
          <p:cNvGrpSpPr/>
          <p:nvPr/>
        </p:nvGrpSpPr>
        <p:grpSpPr>
          <a:xfrm rot="0">
            <a:off x="9105900" y="6743700"/>
            <a:ext cx="171450" cy="171450"/>
            <a:chOff x="0" y="0"/>
            <a:chExt cx="228600" cy="228600"/>
          </a:xfrm>
        </p:grpSpPr>
        <p:sp>
          <p:nvSpPr>
            <p:cNvPr name="Freeform 133" id="133"/>
            <p:cNvSpPr/>
            <p:nvPr/>
          </p:nvSpPr>
          <p:spPr>
            <a:xfrm flipH="false" flipV="false" rot="0">
              <a:off x="0" y="0"/>
              <a:ext cx="228600" cy="228600"/>
            </a:xfrm>
            <a:custGeom>
              <a:avLst/>
              <a:gdLst/>
              <a:ahLst/>
              <a:cxnLst/>
              <a:rect r="r" b="b" t="t" l="l"/>
              <a:pathLst>
                <a:path h="228600" w="228600">
                  <a:moveTo>
                    <a:pt x="38100" y="0"/>
                  </a:moveTo>
                  <a:lnTo>
                    <a:pt x="190500" y="0"/>
                  </a:lnTo>
                  <a:cubicBezTo>
                    <a:pt x="211542" y="0"/>
                    <a:pt x="228600" y="17058"/>
                    <a:pt x="228600" y="38100"/>
                  </a:cubicBezTo>
                  <a:lnTo>
                    <a:pt x="228600" y="190500"/>
                  </a:lnTo>
                  <a:cubicBezTo>
                    <a:pt x="228600" y="211542"/>
                    <a:pt x="211542" y="228600"/>
                    <a:pt x="190500" y="228600"/>
                  </a:cubicBezTo>
                  <a:lnTo>
                    <a:pt x="38100" y="228600"/>
                  </a:lnTo>
                  <a:cubicBezTo>
                    <a:pt x="17058" y="228600"/>
                    <a:pt x="0" y="211542"/>
                    <a:pt x="0" y="190500"/>
                  </a:cubicBezTo>
                  <a:lnTo>
                    <a:pt x="0" y="38100"/>
                  </a:lnTo>
                  <a:cubicBezTo>
                    <a:pt x="0" y="17058"/>
                    <a:pt x="17058" y="0"/>
                    <a:pt x="38100" y="0"/>
                  </a:cubicBezTo>
                  <a:close/>
                </a:path>
              </a:pathLst>
            </a:custGeom>
            <a:ln w="28575" cap="sq">
              <a:solidFill>
                <a:srgbClr val="E11634"/>
              </a:solidFill>
              <a:prstDash val="solid"/>
              <a:miter/>
            </a:ln>
          </p:spPr>
        </p:sp>
        <p:sp>
          <p:nvSpPr>
            <p:cNvPr name="TextBox 134" id="134"/>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AutoShape 135" id="135"/>
          <p:cNvSpPr/>
          <p:nvPr/>
        </p:nvSpPr>
        <p:spPr>
          <a:xfrm>
            <a:off x="9048750" y="6829425"/>
            <a:ext cx="57150" cy="0"/>
          </a:xfrm>
          <a:prstGeom prst="line">
            <a:avLst/>
          </a:prstGeom>
          <a:ln cap="flat" w="28575">
            <a:solidFill>
              <a:srgbClr val="110442"/>
            </a:solidFill>
            <a:prstDash val="solid"/>
            <a:headEnd type="none" len="sm" w="sm"/>
            <a:tailEnd type="none" len="sm" w="sm"/>
          </a:ln>
        </p:spPr>
      </p:sp>
      <p:sp>
        <p:nvSpPr>
          <p:cNvPr name="AutoShape 136" id="136"/>
          <p:cNvSpPr/>
          <p:nvPr/>
        </p:nvSpPr>
        <p:spPr>
          <a:xfrm>
            <a:off x="8963025" y="6915150"/>
            <a:ext cx="0" cy="133350"/>
          </a:xfrm>
          <a:prstGeom prst="line">
            <a:avLst/>
          </a:prstGeom>
          <a:ln cap="flat" w="28575">
            <a:solidFill>
              <a:srgbClr val="110442"/>
            </a:solidFill>
            <a:prstDash val="solid"/>
            <a:headEnd type="none" len="sm" w="sm"/>
            <a:tailEnd type="none" len="sm" w="sm"/>
          </a:ln>
        </p:spPr>
      </p:sp>
      <p:sp>
        <p:nvSpPr>
          <p:cNvPr name="AutoShape 137" id="137"/>
          <p:cNvSpPr/>
          <p:nvPr/>
        </p:nvSpPr>
        <p:spPr>
          <a:xfrm>
            <a:off x="9191625" y="6915150"/>
            <a:ext cx="0" cy="133350"/>
          </a:xfrm>
          <a:prstGeom prst="line">
            <a:avLst/>
          </a:prstGeom>
          <a:ln cap="flat" w="28575">
            <a:solidFill>
              <a:srgbClr val="110442"/>
            </a:solidFill>
            <a:prstDash val="solid"/>
            <a:headEnd type="none" len="sm" w="sm"/>
            <a:tailEnd type="none" len="sm" w="sm"/>
          </a:ln>
        </p:spPr>
      </p:sp>
      <p:sp>
        <p:nvSpPr>
          <p:cNvPr name="AutoShape 138" id="138"/>
          <p:cNvSpPr/>
          <p:nvPr/>
        </p:nvSpPr>
        <p:spPr>
          <a:xfrm>
            <a:off x="8963025" y="7048500"/>
            <a:ext cx="228600" cy="0"/>
          </a:xfrm>
          <a:prstGeom prst="line">
            <a:avLst/>
          </a:prstGeom>
          <a:ln cap="flat" w="28575">
            <a:solidFill>
              <a:srgbClr val="110442"/>
            </a:solidFill>
            <a:prstDash val="solid"/>
            <a:headEnd type="none" len="sm" w="sm"/>
            <a:tailEnd type="none" len="sm" w="sm"/>
          </a:ln>
        </p:spPr>
      </p:sp>
      <p:grpSp>
        <p:nvGrpSpPr>
          <p:cNvPr name="Group 139" id="139"/>
          <p:cNvGrpSpPr/>
          <p:nvPr/>
        </p:nvGrpSpPr>
        <p:grpSpPr>
          <a:xfrm rot="0">
            <a:off x="11753850" y="6796088"/>
            <a:ext cx="361950" cy="361950"/>
            <a:chOff x="0" y="0"/>
            <a:chExt cx="482600" cy="482600"/>
          </a:xfrm>
        </p:grpSpPr>
        <p:sp>
          <p:nvSpPr>
            <p:cNvPr name="Freeform 140" id="140"/>
            <p:cNvSpPr/>
            <p:nvPr/>
          </p:nvSpPr>
          <p:spPr>
            <a:xfrm flipH="false" flipV="false" rot="0">
              <a:off x="0" y="0"/>
              <a:ext cx="482600" cy="482600"/>
            </a:xfrm>
            <a:custGeom>
              <a:avLst/>
              <a:gdLst/>
              <a:ahLst/>
              <a:cxnLst/>
              <a:rect r="r" b="b" t="t" l="l"/>
              <a:pathLst>
                <a:path h="482600" w="482600">
                  <a:moveTo>
                    <a:pt x="0" y="241300"/>
                  </a:moveTo>
                  <a:cubicBezTo>
                    <a:pt x="0" y="374566"/>
                    <a:pt x="108034" y="482600"/>
                    <a:pt x="241300" y="482600"/>
                  </a:cubicBezTo>
                  <a:cubicBezTo>
                    <a:pt x="374566" y="482600"/>
                    <a:pt x="482600" y="374566"/>
                    <a:pt x="482600" y="241300"/>
                  </a:cubicBezTo>
                  <a:cubicBezTo>
                    <a:pt x="482600" y="108034"/>
                    <a:pt x="374566" y="0"/>
                    <a:pt x="241300" y="0"/>
                  </a:cubicBezTo>
                  <a:cubicBezTo>
                    <a:pt x="108034" y="0"/>
                    <a:pt x="0" y="108034"/>
                    <a:pt x="0" y="241300"/>
                  </a:cubicBezTo>
                  <a:close/>
                </a:path>
              </a:pathLst>
            </a:custGeom>
            <a:ln w="28575" cap="sq">
              <a:solidFill>
                <a:srgbClr val="E11634"/>
              </a:solidFill>
              <a:prstDash val="solid"/>
              <a:miter/>
            </a:ln>
          </p:spPr>
        </p:sp>
        <p:sp>
          <p:nvSpPr>
            <p:cNvPr name="TextBox 141" id="141"/>
            <p:cNvSpPr txBox="true"/>
            <p:nvPr/>
          </p:nvSpPr>
          <p:spPr>
            <a:xfrm>
              <a:off x="0" y="-28575"/>
              <a:ext cx="482600" cy="511175"/>
            </a:xfrm>
            <a:prstGeom prst="rect">
              <a:avLst/>
            </a:prstGeom>
          </p:spPr>
          <p:txBody>
            <a:bodyPr anchor="ctr" rtlCol="false" tIns="50800" lIns="50800" bIns="50800" rIns="50800"/>
            <a:lstStyle/>
            <a:p>
              <a:pPr algn="l">
                <a:lnSpc>
                  <a:spcPts val="1679"/>
                </a:lnSpc>
              </a:pPr>
            </a:p>
          </p:txBody>
        </p:sp>
      </p:grpSp>
      <p:sp>
        <p:nvSpPr>
          <p:cNvPr name="AutoShape 142" id="142"/>
          <p:cNvSpPr/>
          <p:nvPr/>
        </p:nvSpPr>
        <p:spPr>
          <a:xfrm>
            <a:off x="11934825" y="6881812"/>
            <a:ext cx="0" cy="95250"/>
          </a:xfrm>
          <a:prstGeom prst="line">
            <a:avLst/>
          </a:prstGeom>
          <a:ln cap="flat" w="28575">
            <a:solidFill>
              <a:srgbClr val="110442"/>
            </a:solidFill>
            <a:prstDash val="solid"/>
            <a:headEnd type="none" len="sm" w="sm"/>
            <a:tailEnd type="none" len="sm" w="sm"/>
          </a:ln>
        </p:spPr>
      </p:sp>
      <p:sp>
        <p:nvSpPr>
          <p:cNvPr name="AutoShape 143" id="143"/>
          <p:cNvSpPr/>
          <p:nvPr/>
        </p:nvSpPr>
        <p:spPr>
          <a:xfrm>
            <a:off x="11934825" y="6977062"/>
            <a:ext cx="85725" cy="47625"/>
          </a:xfrm>
          <a:prstGeom prst="line">
            <a:avLst/>
          </a:prstGeom>
          <a:ln cap="flat" w="28575">
            <a:solidFill>
              <a:srgbClr val="110442"/>
            </a:solidFill>
            <a:prstDash val="solid"/>
            <a:headEnd type="none" len="sm" w="sm"/>
            <a:tailEnd type="none" len="sm" w="sm"/>
          </a:ln>
        </p:spPr>
      </p:sp>
      <p:sp>
        <p:nvSpPr>
          <p:cNvPr name="AutoShape 144" id="144"/>
          <p:cNvSpPr/>
          <p:nvPr/>
        </p:nvSpPr>
        <p:spPr>
          <a:xfrm>
            <a:off x="11868150" y="6757988"/>
            <a:ext cx="133350" cy="0"/>
          </a:xfrm>
          <a:prstGeom prst="line">
            <a:avLst/>
          </a:prstGeom>
          <a:ln cap="flat" w="28575">
            <a:solidFill>
              <a:srgbClr val="110442"/>
            </a:solidFill>
            <a:prstDash val="solid"/>
            <a:headEnd type="none" len="sm" w="sm"/>
            <a:tailEnd type="none" len="sm" w="sm"/>
          </a:ln>
        </p:spPr>
      </p:sp>
      <p:sp>
        <p:nvSpPr>
          <p:cNvPr name="AutoShape 145" id="145"/>
          <p:cNvSpPr/>
          <p:nvPr/>
        </p:nvSpPr>
        <p:spPr>
          <a:xfrm flipH="true" flipV="true">
            <a:off x="11772900" y="6777038"/>
            <a:ext cx="47625" cy="47625"/>
          </a:xfrm>
          <a:prstGeom prst="line">
            <a:avLst/>
          </a:prstGeom>
          <a:ln cap="flat" w="28575">
            <a:solidFill>
              <a:srgbClr val="110442"/>
            </a:solidFill>
            <a:prstDash val="solid"/>
            <a:headEnd type="none" len="sm" w="sm"/>
            <a:tailEnd type="none" len="sm" w="sm"/>
          </a:ln>
        </p:spPr>
      </p:sp>
      <p:grpSp>
        <p:nvGrpSpPr>
          <p:cNvPr name="Group 146" id="146"/>
          <p:cNvGrpSpPr/>
          <p:nvPr/>
        </p:nvGrpSpPr>
        <p:grpSpPr>
          <a:xfrm rot="0">
            <a:off x="14875574" y="6776085"/>
            <a:ext cx="361950" cy="361950"/>
            <a:chOff x="0" y="0"/>
            <a:chExt cx="482600" cy="482600"/>
          </a:xfrm>
        </p:grpSpPr>
        <p:sp>
          <p:nvSpPr>
            <p:cNvPr name="Freeform 147" id="147"/>
            <p:cNvSpPr/>
            <p:nvPr/>
          </p:nvSpPr>
          <p:spPr>
            <a:xfrm flipH="false" flipV="false" rot="0">
              <a:off x="0" y="0"/>
              <a:ext cx="482600" cy="482600"/>
            </a:xfrm>
            <a:custGeom>
              <a:avLst/>
              <a:gdLst/>
              <a:ahLst/>
              <a:cxnLst/>
              <a:rect r="r" b="b" t="t" l="l"/>
              <a:pathLst>
                <a:path h="482600" w="482600">
                  <a:moveTo>
                    <a:pt x="0" y="241300"/>
                  </a:moveTo>
                  <a:cubicBezTo>
                    <a:pt x="0" y="374566"/>
                    <a:pt x="108034" y="482600"/>
                    <a:pt x="241300" y="482600"/>
                  </a:cubicBezTo>
                  <a:cubicBezTo>
                    <a:pt x="374566" y="482600"/>
                    <a:pt x="482600" y="374566"/>
                    <a:pt x="482600" y="241300"/>
                  </a:cubicBezTo>
                  <a:cubicBezTo>
                    <a:pt x="482600" y="108034"/>
                    <a:pt x="374566" y="0"/>
                    <a:pt x="241300" y="0"/>
                  </a:cubicBezTo>
                  <a:cubicBezTo>
                    <a:pt x="108034" y="0"/>
                    <a:pt x="0" y="108034"/>
                    <a:pt x="0" y="241300"/>
                  </a:cubicBezTo>
                  <a:close/>
                </a:path>
              </a:pathLst>
            </a:custGeom>
            <a:ln w="28575" cap="sq">
              <a:solidFill>
                <a:srgbClr val="E11634"/>
              </a:solidFill>
              <a:prstDash val="solid"/>
              <a:miter/>
            </a:ln>
          </p:spPr>
        </p:sp>
        <p:sp>
          <p:nvSpPr>
            <p:cNvPr name="TextBox 148" id="148"/>
            <p:cNvSpPr txBox="true"/>
            <p:nvPr/>
          </p:nvSpPr>
          <p:spPr>
            <a:xfrm>
              <a:off x="0" y="-28575"/>
              <a:ext cx="482600" cy="511175"/>
            </a:xfrm>
            <a:prstGeom prst="rect">
              <a:avLst/>
            </a:prstGeom>
          </p:spPr>
          <p:txBody>
            <a:bodyPr anchor="ctr" rtlCol="false" tIns="50800" lIns="50800" bIns="50800" rIns="50800"/>
            <a:lstStyle/>
            <a:p>
              <a:pPr algn="l">
                <a:lnSpc>
                  <a:spcPts val="1679"/>
                </a:lnSpc>
              </a:pPr>
            </a:p>
          </p:txBody>
        </p:sp>
      </p:grpSp>
      <p:grpSp>
        <p:nvGrpSpPr>
          <p:cNvPr name="Group 149" id="149"/>
          <p:cNvGrpSpPr/>
          <p:nvPr/>
        </p:nvGrpSpPr>
        <p:grpSpPr>
          <a:xfrm rot="0">
            <a:off x="14970824" y="6871335"/>
            <a:ext cx="171450" cy="171450"/>
            <a:chOff x="0" y="0"/>
            <a:chExt cx="228600" cy="228600"/>
          </a:xfrm>
        </p:grpSpPr>
        <p:sp>
          <p:nvSpPr>
            <p:cNvPr name="Freeform 150" id="150"/>
            <p:cNvSpPr/>
            <p:nvPr/>
          </p:nvSpPr>
          <p:spPr>
            <a:xfrm flipH="false" flipV="false" rot="0">
              <a:off x="0" y="0"/>
              <a:ext cx="228600" cy="228600"/>
            </a:xfrm>
            <a:custGeom>
              <a:avLst/>
              <a:gdLst/>
              <a:ahLst/>
              <a:cxnLst/>
              <a:rect r="r" b="b" t="t" l="l"/>
              <a:pathLst>
                <a:path h="228600" w="228600">
                  <a:moveTo>
                    <a:pt x="0" y="114300"/>
                  </a:moveTo>
                  <a:cubicBezTo>
                    <a:pt x="0" y="177426"/>
                    <a:pt x="51174" y="228600"/>
                    <a:pt x="114300" y="228600"/>
                  </a:cubicBezTo>
                  <a:cubicBezTo>
                    <a:pt x="177426" y="228600"/>
                    <a:pt x="228600" y="177426"/>
                    <a:pt x="228600" y="114300"/>
                  </a:cubicBezTo>
                  <a:cubicBezTo>
                    <a:pt x="228600" y="51174"/>
                    <a:pt x="177426" y="0"/>
                    <a:pt x="114300" y="0"/>
                  </a:cubicBezTo>
                  <a:cubicBezTo>
                    <a:pt x="51174" y="0"/>
                    <a:pt x="0" y="51174"/>
                    <a:pt x="0" y="114300"/>
                  </a:cubicBezTo>
                  <a:close/>
                </a:path>
              </a:pathLst>
            </a:custGeom>
            <a:ln w="28575" cap="sq">
              <a:solidFill>
                <a:srgbClr val="E11634"/>
              </a:solidFill>
              <a:prstDash val="solid"/>
              <a:miter/>
            </a:ln>
          </p:spPr>
        </p:sp>
        <p:sp>
          <p:nvSpPr>
            <p:cNvPr name="TextBox 151" id="151"/>
            <p:cNvSpPr txBox="true"/>
            <p:nvPr/>
          </p:nvSpPr>
          <p:spPr>
            <a:xfrm>
              <a:off x="0" y="-28575"/>
              <a:ext cx="228600" cy="257175"/>
            </a:xfrm>
            <a:prstGeom prst="rect">
              <a:avLst/>
            </a:prstGeom>
          </p:spPr>
          <p:txBody>
            <a:bodyPr anchor="ctr" rtlCol="false" tIns="50800" lIns="50800" bIns="50800" rIns="50800"/>
            <a:lstStyle/>
            <a:p>
              <a:pPr algn="l">
                <a:lnSpc>
                  <a:spcPts val="1679"/>
                </a:lnSpc>
              </a:pPr>
            </a:p>
          </p:txBody>
        </p:sp>
      </p:grpSp>
      <p:sp>
        <p:nvSpPr>
          <p:cNvPr name="AutoShape 152" id="152"/>
          <p:cNvSpPr/>
          <p:nvPr/>
        </p:nvSpPr>
        <p:spPr>
          <a:xfrm>
            <a:off x="15056548" y="6728460"/>
            <a:ext cx="0" cy="47625"/>
          </a:xfrm>
          <a:prstGeom prst="line">
            <a:avLst/>
          </a:prstGeom>
          <a:ln cap="flat" w="28575">
            <a:solidFill>
              <a:srgbClr val="100643"/>
            </a:solidFill>
            <a:prstDash val="solid"/>
            <a:headEnd type="none" len="sm" w="sm"/>
            <a:tailEnd type="none" len="sm" w="sm"/>
          </a:ln>
        </p:spPr>
      </p:sp>
      <p:sp>
        <p:nvSpPr>
          <p:cNvPr name="AutoShape 153" id="153"/>
          <p:cNvSpPr/>
          <p:nvPr/>
        </p:nvSpPr>
        <p:spPr>
          <a:xfrm>
            <a:off x="15056548" y="7138035"/>
            <a:ext cx="0" cy="47625"/>
          </a:xfrm>
          <a:prstGeom prst="line">
            <a:avLst/>
          </a:prstGeom>
          <a:ln cap="flat" w="28575">
            <a:solidFill>
              <a:srgbClr val="100643"/>
            </a:solidFill>
            <a:prstDash val="solid"/>
            <a:headEnd type="none" len="sm" w="sm"/>
            <a:tailEnd type="none" len="sm" w="sm"/>
          </a:ln>
        </p:spPr>
      </p:sp>
      <p:sp>
        <p:nvSpPr>
          <p:cNvPr name="AutoShape 154" id="154"/>
          <p:cNvSpPr/>
          <p:nvPr/>
        </p:nvSpPr>
        <p:spPr>
          <a:xfrm>
            <a:off x="14827948" y="6957060"/>
            <a:ext cx="47625" cy="0"/>
          </a:xfrm>
          <a:prstGeom prst="line">
            <a:avLst/>
          </a:prstGeom>
          <a:ln cap="flat" w="28575">
            <a:solidFill>
              <a:srgbClr val="110442"/>
            </a:solidFill>
            <a:prstDash val="solid"/>
            <a:headEnd type="none" len="sm" w="sm"/>
            <a:tailEnd type="none" len="sm" w="sm"/>
          </a:ln>
        </p:spPr>
      </p:sp>
      <p:sp>
        <p:nvSpPr>
          <p:cNvPr name="AutoShape 155" id="155"/>
          <p:cNvSpPr/>
          <p:nvPr/>
        </p:nvSpPr>
        <p:spPr>
          <a:xfrm>
            <a:off x="15237524" y="6957060"/>
            <a:ext cx="47625" cy="0"/>
          </a:xfrm>
          <a:prstGeom prst="line">
            <a:avLst/>
          </a:prstGeom>
          <a:ln cap="flat" w="28575">
            <a:solidFill>
              <a:srgbClr val="100643"/>
            </a:solidFill>
            <a:prstDash val="solid"/>
            <a:headEnd type="none" len="sm" w="sm"/>
            <a:tailEnd type="none" len="sm" w="sm"/>
          </a:ln>
        </p:spPr>
      </p:sp>
      <p:grpSp>
        <p:nvGrpSpPr>
          <p:cNvPr name="Group 156" id="156"/>
          <p:cNvGrpSpPr/>
          <p:nvPr/>
        </p:nvGrpSpPr>
        <p:grpSpPr>
          <a:xfrm rot="0">
            <a:off x="15027974" y="6938010"/>
            <a:ext cx="57150" cy="57150"/>
            <a:chOff x="0" y="0"/>
            <a:chExt cx="76200" cy="76200"/>
          </a:xfrm>
        </p:grpSpPr>
        <p:sp>
          <p:nvSpPr>
            <p:cNvPr name="Freeform 157" id="157"/>
            <p:cNvSpPr/>
            <p:nvPr/>
          </p:nvSpPr>
          <p:spPr>
            <a:xfrm flipH="false" flipV="false" rot="0">
              <a:off x="0" y="0"/>
              <a:ext cx="76200" cy="76200"/>
            </a:xfrm>
            <a:custGeom>
              <a:avLst/>
              <a:gdLst/>
              <a:ahLst/>
              <a:cxnLst/>
              <a:rect r="r" b="b" t="t" l="l"/>
              <a:pathLst>
                <a:path h="76200" w="76200">
                  <a:moveTo>
                    <a:pt x="0" y="38100"/>
                  </a:moveTo>
                  <a:cubicBezTo>
                    <a:pt x="0" y="59142"/>
                    <a:pt x="17058" y="76200"/>
                    <a:pt x="38100" y="76200"/>
                  </a:cubicBezTo>
                  <a:cubicBezTo>
                    <a:pt x="59142" y="76200"/>
                    <a:pt x="76200" y="59142"/>
                    <a:pt x="76200" y="38100"/>
                  </a:cubicBezTo>
                  <a:cubicBezTo>
                    <a:pt x="76200" y="17058"/>
                    <a:pt x="59142" y="0"/>
                    <a:pt x="38100" y="0"/>
                  </a:cubicBezTo>
                  <a:cubicBezTo>
                    <a:pt x="17058" y="0"/>
                    <a:pt x="0" y="17058"/>
                    <a:pt x="0" y="38100"/>
                  </a:cubicBezTo>
                  <a:close/>
                </a:path>
              </a:pathLst>
            </a:custGeom>
            <a:solidFill>
              <a:srgbClr val="0F044B"/>
            </a:solidFill>
          </p:spPr>
        </p:sp>
        <p:sp>
          <p:nvSpPr>
            <p:cNvPr name="TextBox 158" id="158"/>
            <p:cNvSpPr txBox="true"/>
            <p:nvPr/>
          </p:nvSpPr>
          <p:spPr>
            <a:xfrm>
              <a:off x="0" y="-28575"/>
              <a:ext cx="76200" cy="104775"/>
            </a:xfrm>
            <a:prstGeom prst="rect">
              <a:avLst/>
            </a:prstGeom>
          </p:spPr>
          <p:txBody>
            <a:bodyPr anchor="ctr" rtlCol="false" tIns="50800" lIns="50800" bIns="50800" rIns="50800"/>
            <a:lstStyle/>
            <a:p>
              <a:pPr algn="l">
                <a:lnSpc>
                  <a:spcPts val="1679"/>
                </a:lnSpc>
              </a:pPr>
            </a:p>
          </p:txBody>
        </p:sp>
      </p:grpSp>
      <p:sp>
        <p:nvSpPr>
          <p:cNvPr name="Freeform 159" id="159"/>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60" id="160"/>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61" id="161"/>
          <p:cNvSpPr txBox="true"/>
          <p:nvPr/>
        </p:nvSpPr>
        <p:spPr>
          <a:xfrm rot="0">
            <a:off x="1425664" y="9530520"/>
            <a:ext cx="5340896" cy="634365"/>
          </a:xfrm>
          <a:prstGeom prst="rect">
            <a:avLst/>
          </a:prstGeom>
        </p:spPr>
        <p:txBody>
          <a:bodyPr anchor="t" rtlCol="false" tIns="0" lIns="0" bIns="0" rIns="0">
            <a:spAutoFit/>
          </a:bodyPr>
          <a:lstStyle/>
          <a:p>
            <a:pPr algn="l" marL="0" indent="0" lvl="0">
              <a:lnSpc>
                <a:spcPts val="2415"/>
              </a:lnSpc>
              <a:spcBef>
                <a:spcPct val="0"/>
              </a:spcBef>
            </a:pPr>
            <a:r>
              <a:rPr lang="en-US" b="true" sz="2300">
                <a:solidFill>
                  <a:srgbClr val="110442"/>
                </a:solidFill>
                <a:latin typeface="Poppins Bold"/>
                <a:ea typeface="Poppins Bold"/>
                <a:cs typeface="Poppins Bold"/>
                <a:sym typeface="Poppins Bold"/>
              </a:rPr>
              <a:t>Dựa trên bằng chứng</a:t>
            </a:r>
          </a:p>
          <a:p>
            <a:pPr algn="l">
              <a:lnSpc>
                <a:spcPts val="2415"/>
              </a:lnSpc>
            </a:pPr>
          </a:p>
        </p:txBody>
      </p:sp>
      <p:sp>
        <p:nvSpPr>
          <p:cNvPr name="Freeform 162" id="162"/>
          <p:cNvSpPr/>
          <p:nvPr/>
        </p:nvSpPr>
        <p:spPr>
          <a:xfrm flipH="false" flipV="false" rot="0">
            <a:off x="428625" y="428625"/>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17"/>
            <a:stretch>
              <a:fillRect l="0" t="0" r="0" b="0"/>
            </a:stretch>
          </a:blipFill>
        </p:spPr>
      </p:sp>
      <p:sp>
        <p:nvSpPr>
          <p:cNvPr name="TextBox 163" id="163"/>
          <p:cNvSpPr txBox="true"/>
          <p:nvPr/>
        </p:nvSpPr>
        <p:spPr>
          <a:xfrm rot="0">
            <a:off x="1591056" y="727900"/>
            <a:ext cx="1572768" cy="329565"/>
          </a:xfrm>
          <a:prstGeom prst="rect">
            <a:avLst/>
          </a:prstGeom>
        </p:spPr>
        <p:txBody>
          <a:bodyPr anchor="t" rtlCol="false" tIns="0" lIns="0" bIns="0" rIns="0">
            <a:spAutoFit/>
          </a:bodyPr>
          <a:lstStyle/>
          <a:p>
            <a:pPr algn="l">
              <a:lnSpc>
                <a:spcPts val="2415"/>
              </a:lnSpc>
            </a:pPr>
            <a:r>
              <a:rPr lang="en-US" b="true" sz="2300">
                <a:solidFill>
                  <a:srgbClr val="110442"/>
                </a:solidFill>
                <a:latin typeface="Poppins Bold"/>
                <a:ea typeface="Poppins Bold"/>
                <a:cs typeface="Poppins Bold"/>
                <a:sym typeface="Poppins Bold"/>
              </a:rPr>
              <a:t>Chương 4</a:t>
            </a:r>
          </a:p>
        </p:txBody>
      </p:sp>
      <p:sp>
        <p:nvSpPr>
          <p:cNvPr name="TextBox 164" id="164"/>
          <p:cNvSpPr txBox="true"/>
          <p:nvPr/>
        </p:nvSpPr>
        <p:spPr>
          <a:xfrm rot="0">
            <a:off x="1591056" y="1060704"/>
            <a:ext cx="2816352" cy="259715"/>
          </a:xfrm>
          <a:prstGeom prst="rect">
            <a:avLst/>
          </a:prstGeom>
        </p:spPr>
        <p:txBody>
          <a:bodyPr anchor="t" rtlCol="false" tIns="0" lIns="0" bIns="0" rIns="0">
            <a:spAutoFit/>
          </a:bodyPr>
          <a:lstStyle/>
          <a:p>
            <a:pPr algn="l">
              <a:lnSpc>
                <a:spcPts val="1870"/>
              </a:lnSpc>
            </a:pPr>
            <a:r>
              <a:rPr lang="en-US" sz="1700">
                <a:solidFill>
                  <a:srgbClr val="110442"/>
                </a:solidFill>
                <a:latin typeface="Poppins"/>
                <a:ea typeface="Poppins"/>
                <a:cs typeface="Poppins"/>
                <a:sym typeface="Poppins"/>
              </a:rPr>
              <a:t>PHƯƠNG PHÁP THỰC HIỆN</a:t>
            </a:r>
          </a:p>
        </p:txBody>
      </p:sp>
      <p:sp>
        <p:nvSpPr>
          <p:cNvPr name="Freeform 165" id="165"/>
          <p:cNvSpPr/>
          <p:nvPr/>
        </p:nvSpPr>
        <p:spPr>
          <a:xfrm flipH="false" flipV="false" rot="0">
            <a:off x="629935" y="4432461"/>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66" id="166"/>
          <p:cNvSpPr txBox="true"/>
          <p:nvPr/>
        </p:nvSpPr>
        <p:spPr>
          <a:xfrm rot="0">
            <a:off x="1028700" y="5413216"/>
            <a:ext cx="3476625" cy="1174115"/>
          </a:xfrm>
          <a:prstGeom prst="rect">
            <a:avLst/>
          </a:prstGeom>
        </p:spPr>
        <p:txBody>
          <a:bodyPr anchor="t" rtlCol="false" tIns="0" lIns="0" bIns="0" rIns="0">
            <a:spAutoFit/>
          </a:bodyPr>
          <a:lstStyle/>
          <a:p>
            <a:pPr algn="l">
              <a:lnSpc>
                <a:spcPts val="1870"/>
              </a:lnSpc>
            </a:pPr>
            <a:r>
              <a:rPr lang="en-US" sz="1700">
                <a:solidFill>
                  <a:srgbClr val="110442"/>
                </a:solidFill>
                <a:latin typeface="Poppins"/>
                <a:ea typeface="Poppins"/>
                <a:cs typeface="Poppins"/>
                <a:sym typeface="Poppins"/>
              </a:rPr>
              <a:t>Thống nhất thuật ngữ, cách hiểu và cách đo lường giữa các quy trình.</a:t>
            </a:r>
          </a:p>
          <a:p>
            <a:pPr algn="l">
              <a:lnSpc>
                <a:spcPts val="1870"/>
              </a:lnSpc>
            </a:pPr>
          </a:p>
          <a:p>
            <a:pPr algn="l">
              <a:lnSpc>
                <a:spcPts val="1870"/>
              </a:lnSpc>
            </a:pPr>
          </a:p>
        </p:txBody>
      </p:sp>
      <p:sp>
        <p:nvSpPr>
          <p:cNvPr name="AutoShape 167" id="167"/>
          <p:cNvSpPr/>
          <p:nvPr/>
        </p:nvSpPr>
        <p:spPr>
          <a:xfrm>
            <a:off x="866660" y="5432386"/>
            <a:ext cx="6195" cy="687705"/>
          </a:xfrm>
          <a:prstGeom prst="line">
            <a:avLst/>
          </a:prstGeom>
          <a:ln cap="flat" w="114300">
            <a:solidFill>
              <a:srgbClr val="100643"/>
            </a:solidFill>
            <a:prstDash val="solid"/>
            <a:headEnd type="none" len="sm" w="sm"/>
            <a:tailEnd type="none" len="sm" w="sm"/>
          </a:ln>
        </p:spPr>
      </p:sp>
      <p:sp>
        <p:nvSpPr>
          <p:cNvPr name="Freeform 168" id="168"/>
          <p:cNvSpPr/>
          <p:nvPr/>
        </p:nvSpPr>
        <p:spPr>
          <a:xfrm flipH="false" flipV="false" rot="0">
            <a:off x="14929950" y="7807642"/>
            <a:ext cx="3583596" cy="2479358"/>
          </a:xfrm>
          <a:custGeom>
            <a:avLst/>
            <a:gdLst/>
            <a:ahLst/>
            <a:cxnLst/>
            <a:rect r="r" b="b" t="t" l="l"/>
            <a:pathLst>
              <a:path h="2479358" w="3583596">
                <a:moveTo>
                  <a:pt x="0" y="0"/>
                </a:moveTo>
                <a:lnTo>
                  <a:pt x="3583596" y="0"/>
                </a:lnTo>
                <a:lnTo>
                  <a:pt x="3583596" y="2479358"/>
                </a:lnTo>
                <a:lnTo>
                  <a:pt x="0" y="2479358"/>
                </a:lnTo>
                <a:lnTo>
                  <a:pt x="0" y="0"/>
                </a:lnTo>
                <a:close/>
              </a:path>
            </a:pathLst>
          </a:custGeom>
          <a:blipFill>
            <a:blip r:embed="rId20"/>
            <a:stretch>
              <a:fillRect l="-7017" t="-10646" r="0" b="-3461"/>
            </a:stretch>
          </a:blipFill>
        </p:spPr>
      </p:sp>
      <p:sp>
        <p:nvSpPr>
          <p:cNvPr name="Freeform 169" id="169"/>
          <p:cNvSpPr/>
          <p:nvPr/>
        </p:nvSpPr>
        <p:spPr>
          <a:xfrm flipH="false" flipV="false" rot="0">
            <a:off x="15668625" y="9429750"/>
            <a:ext cx="2619375" cy="857250"/>
          </a:xfrm>
          <a:custGeom>
            <a:avLst/>
            <a:gdLst/>
            <a:ahLst/>
            <a:cxnLst/>
            <a:rect r="r" b="b" t="t" l="l"/>
            <a:pathLst>
              <a:path h="857250" w="2619375">
                <a:moveTo>
                  <a:pt x="0" y="0"/>
                </a:moveTo>
                <a:lnTo>
                  <a:pt x="2619375" y="0"/>
                </a:lnTo>
                <a:lnTo>
                  <a:pt x="2619375" y="857250"/>
                </a:lnTo>
                <a:lnTo>
                  <a:pt x="0" y="857250"/>
                </a:lnTo>
                <a:lnTo>
                  <a:pt x="0" y="0"/>
                </a:lnTo>
                <a:close/>
              </a:path>
            </a:pathLst>
          </a:custGeom>
          <a:blipFill>
            <a:blip r:embed="rId21"/>
            <a:stretch>
              <a:fillRect l="0" t="0" r="0" b="0"/>
            </a:stretch>
          </a:blipFill>
        </p:spPr>
      </p:sp>
      <p:grpSp>
        <p:nvGrpSpPr>
          <p:cNvPr name="Group 170" id="170"/>
          <p:cNvGrpSpPr/>
          <p:nvPr/>
        </p:nvGrpSpPr>
        <p:grpSpPr>
          <a:xfrm rot="0">
            <a:off x="5356479" y="1176719"/>
            <a:ext cx="301371" cy="301371"/>
            <a:chOff x="0" y="0"/>
            <a:chExt cx="812800" cy="812800"/>
          </a:xfrm>
        </p:grpSpPr>
        <p:sp>
          <p:nvSpPr>
            <p:cNvPr name="Freeform 171" id="1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044B"/>
            </a:solidFill>
          </p:spPr>
        </p:sp>
        <p:sp>
          <p:nvSpPr>
            <p:cNvPr name="TextBox 172" id="172"/>
            <p:cNvSpPr txBox="true"/>
            <p:nvPr/>
          </p:nvSpPr>
          <p:spPr>
            <a:xfrm>
              <a:off x="76200" y="66675"/>
              <a:ext cx="660400" cy="669925"/>
            </a:xfrm>
            <a:prstGeom prst="rect">
              <a:avLst/>
            </a:prstGeom>
          </p:spPr>
          <p:txBody>
            <a:bodyPr anchor="ctr" rtlCol="false" tIns="50800" lIns="50800" bIns="50800" rIns="50800"/>
            <a:lstStyle/>
            <a:p>
              <a:pPr algn="ctr">
                <a:lnSpc>
                  <a:spcPts val="559"/>
                </a:lnSpc>
                <a:spcBef>
                  <a:spcPct val="0"/>
                </a:spcBef>
              </a:pPr>
            </a:p>
          </p:txBody>
        </p:sp>
      </p:grpSp>
      <p:sp>
        <p:nvSpPr>
          <p:cNvPr name="Freeform 173" id="173"/>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174" id="174"/>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110442"/>
                </a:solidFill>
                <a:latin typeface="Poppins"/>
                <a:ea typeface="Poppins"/>
                <a:cs typeface="Poppins"/>
                <a:sym typeface="Poppins"/>
              </a:rPr>
              <a:t>VIETTEL POST </a:t>
            </a:r>
          </a:p>
        </p:txBody>
      </p:sp>
      <p:sp>
        <p:nvSpPr>
          <p:cNvPr name="TextBox 175" id="175"/>
          <p:cNvSpPr txBox="true"/>
          <p:nvPr/>
        </p:nvSpPr>
        <p:spPr>
          <a:xfrm rot="0">
            <a:off x="5800725" y="8001000"/>
            <a:ext cx="4829175" cy="258445"/>
          </a:xfrm>
          <a:prstGeom prst="rect">
            <a:avLst/>
          </a:prstGeom>
        </p:spPr>
        <p:txBody>
          <a:bodyPr anchor="t" rtlCol="false" tIns="0" lIns="0" bIns="0" rIns="0">
            <a:spAutoFit/>
          </a:bodyPr>
          <a:lstStyle/>
          <a:p>
            <a:pPr algn="l">
              <a:lnSpc>
                <a:spcPts val="2029"/>
              </a:lnSpc>
            </a:pPr>
            <a:r>
              <a:rPr lang="en-US" sz="1449">
                <a:solidFill>
                  <a:srgbClr val="110442"/>
                </a:solidFill>
                <a:latin typeface="Poppins"/>
                <a:ea typeface="Poppins"/>
                <a:cs typeface="Poppins"/>
                <a:sym typeface="Poppins"/>
              </a:rPr>
              <a:t>Sổ tay / Quy chuẩn đã được nền tảng hóa</a:t>
            </a:r>
          </a:p>
        </p:txBody>
      </p:sp>
      <p:sp>
        <p:nvSpPr>
          <p:cNvPr name="TextBox 176" id="176"/>
          <p:cNvSpPr txBox="true"/>
          <p:nvPr/>
        </p:nvSpPr>
        <p:spPr>
          <a:xfrm rot="0">
            <a:off x="5800725" y="8391525"/>
            <a:ext cx="5191125" cy="207899"/>
          </a:xfrm>
          <a:prstGeom prst="rect">
            <a:avLst/>
          </a:prstGeom>
        </p:spPr>
        <p:txBody>
          <a:bodyPr anchor="t" rtlCol="false" tIns="0" lIns="0" bIns="0" rIns="0">
            <a:spAutoFit/>
          </a:bodyPr>
          <a:lstStyle/>
          <a:p>
            <a:pPr algn="l">
              <a:lnSpc>
                <a:spcPts val="1666"/>
              </a:lnSpc>
            </a:pPr>
            <a:r>
              <a:rPr lang="en-US" sz="1190">
                <a:solidFill>
                  <a:srgbClr val="7D7B7B"/>
                </a:solidFill>
                <a:latin typeface="Poppins"/>
                <a:ea typeface="Poppins"/>
                <a:cs typeface="Poppins"/>
                <a:sym typeface="Poppins"/>
              </a:rPr>
              <a:t>- Sổ tay quy chuẩn dịch vụ khách hàng và giải quyết khiếu nại - 2024</a:t>
            </a:r>
          </a:p>
        </p:txBody>
      </p:sp>
      <p:sp>
        <p:nvSpPr>
          <p:cNvPr name="TextBox 177" id="177"/>
          <p:cNvSpPr txBox="true"/>
          <p:nvPr/>
        </p:nvSpPr>
        <p:spPr>
          <a:xfrm rot="0">
            <a:off x="5800725" y="8715375"/>
            <a:ext cx="5848350" cy="198882"/>
          </a:xfrm>
          <a:prstGeom prst="rect">
            <a:avLst/>
          </a:prstGeom>
        </p:spPr>
        <p:txBody>
          <a:bodyPr anchor="t" rtlCol="false" tIns="0" lIns="0" bIns="0" rIns="0">
            <a:spAutoFit/>
          </a:bodyPr>
          <a:lstStyle/>
          <a:p>
            <a:pPr algn="l">
              <a:lnSpc>
                <a:spcPts val="1638"/>
              </a:lnSpc>
            </a:pPr>
            <a:r>
              <a:rPr lang="en-US" sz="1170">
                <a:solidFill>
                  <a:srgbClr val="7D7B7B"/>
                </a:solidFill>
                <a:latin typeface="Poppins"/>
                <a:ea typeface="Poppins"/>
                <a:cs typeface="Poppins"/>
                <a:sym typeface="Poppins"/>
              </a:rPr>
              <a:t>- Sổ tay quy chuẩn vận hành và kiểm soát chất lượng dịch vụ bưu chính - 2024</a:t>
            </a:r>
          </a:p>
        </p:txBody>
      </p:sp>
      <p:sp>
        <p:nvSpPr>
          <p:cNvPr name="TextBox 178" id="178"/>
          <p:cNvSpPr txBox="true"/>
          <p:nvPr/>
        </p:nvSpPr>
        <p:spPr>
          <a:xfrm rot="0">
            <a:off x="5800725" y="9020175"/>
            <a:ext cx="7172897" cy="165545"/>
          </a:xfrm>
          <a:prstGeom prst="rect">
            <a:avLst/>
          </a:prstGeom>
        </p:spPr>
        <p:txBody>
          <a:bodyPr anchor="t" rtlCol="false" tIns="0" lIns="0" bIns="0" rIns="0">
            <a:spAutoFit/>
          </a:bodyPr>
          <a:lstStyle/>
          <a:p>
            <a:pPr algn="l">
              <a:lnSpc>
                <a:spcPts val="1249"/>
              </a:lnSpc>
            </a:pPr>
            <a:r>
              <a:rPr lang="en-US" sz="1190">
                <a:solidFill>
                  <a:srgbClr val="7D7B7B"/>
                </a:solidFill>
                <a:latin typeface="Poppins"/>
                <a:ea typeface="Poppins"/>
                <a:cs typeface="Poppins"/>
                <a:sym typeface="Poppins"/>
              </a:rPr>
              <a:t>- Sổ tay phân định kỹ thuật phương tiện &amp; checklist kiểm định - Sổ tay vận hành hệ thống TMS</a:t>
            </a:r>
          </a:p>
        </p:txBody>
      </p:sp>
      <p:sp>
        <p:nvSpPr>
          <p:cNvPr name="TextBox 179" id="179"/>
          <p:cNvSpPr txBox="true"/>
          <p:nvPr/>
        </p:nvSpPr>
        <p:spPr>
          <a:xfrm rot="0">
            <a:off x="17325975" y="9525000"/>
            <a:ext cx="533400" cy="36830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Poppins Bold"/>
                <a:ea typeface="Poppins Bold"/>
                <a:cs typeface="Poppins Bold"/>
                <a:sym typeface="Poppins Bold"/>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9550" y="1066800"/>
            <a:ext cx="4362450" cy="3781425"/>
          </a:xfrm>
          <a:custGeom>
            <a:avLst/>
            <a:gdLst/>
            <a:ahLst/>
            <a:cxnLst/>
            <a:rect r="r" b="b" t="t" l="l"/>
            <a:pathLst>
              <a:path h="3781425" w="4362450">
                <a:moveTo>
                  <a:pt x="0" y="0"/>
                </a:moveTo>
                <a:lnTo>
                  <a:pt x="4362450" y="0"/>
                </a:lnTo>
                <a:lnTo>
                  <a:pt x="4362450" y="3781425"/>
                </a:lnTo>
                <a:lnTo>
                  <a:pt x="0" y="3781425"/>
                </a:lnTo>
                <a:lnTo>
                  <a:pt x="0" y="0"/>
                </a:lnTo>
                <a:close/>
              </a:path>
            </a:pathLst>
          </a:custGeom>
          <a:blipFill>
            <a:blip r:embed="rId2"/>
            <a:stretch>
              <a:fillRect l="0" t="0" r="0" b="-7808"/>
            </a:stretch>
          </a:blipFill>
        </p:spPr>
      </p:sp>
      <p:sp>
        <p:nvSpPr>
          <p:cNvPr name="Freeform 3" id="3"/>
          <p:cNvSpPr/>
          <p:nvPr/>
        </p:nvSpPr>
        <p:spPr>
          <a:xfrm flipH="false" flipV="false" rot="0">
            <a:off x="428625" y="1238250"/>
            <a:ext cx="762000" cy="489857"/>
          </a:xfrm>
          <a:custGeom>
            <a:avLst/>
            <a:gdLst/>
            <a:ahLst/>
            <a:cxnLst/>
            <a:rect r="r" b="b" t="t" l="l"/>
            <a:pathLst>
              <a:path h="489857" w="762000">
                <a:moveTo>
                  <a:pt x="0" y="0"/>
                </a:moveTo>
                <a:lnTo>
                  <a:pt x="762000" y="0"/>
                </a:lnTo>
                <a:lnTo>
                  <a:pt x="762000" y="489857"/>
                </a:lnTo>
                <a:lnTo>
                  <a:pt x="0" y="489857"/>
                </a:lnTo>
                <a:lnTo>
                  <a:pt x="0" y="0"/>
                </a:lnTo>
                <a:close/>
              </a:path>
            </a:pathLst>
          </a:custGeom>
          <a:blipFill>
            <a:blip r:embed="rId3"/>
            <a:stretch>
              <a:fillRect l="0" t="0" r="0" b="0"/>
            </a:stretch>
          </a:blipFill>
        </p:spPr>
      </p:sp>
      <p:sp>
        <p:nvSpPr>
          <p:cNvPr name="Freeform 4" id="4"/>
          <p:cNvSpPr/>
          <p:nvPr/>
        </p:nvSpPr>
        <p:spPr>
          <a:xfrm flipH="false" flipV="false" rot="0">
            <a:off x="428625" y="1714500"/>
            <a:ext cx="4143375" cy="219075"/>
          </a:xfrm>
          <a:custGeom>
            <a:avLst/>
            <a:gdLst/>
            <a:ahLst/>
            <a:cxnLst/>
            <a:rect r="r" b="b" t="t" l="l"/>
            <a:pathLst>
              <a:path h="219075" w="4143375">
                <a:moveTo>
                  <a:pt x="0" y="0"/>
                </a:moveTo>
                <a:lnTo>
                  <a:pt x="4143375" y="0"/>
                </a:lnTo>
                <a:lnTo>
                  <a:pt x="4143375" y="219075"/>
                </a:lnTo>
                <a:lnTo>
                  <a:pt x="0" y="219075"/>
                </a:lnTo>
                <a:lnTo>
                  <a:pt x="0" y="0"/>
                </a:lnTo>
                <a:close/>
              </a:path>
            </a:pathLst>
          </a:custGeom>
          <a:blipFill>
            <a:blip r:embed="rId4"/>
            <a:stretch>
              <a:fillRect l="0" t="0" r="0" b="0"/>
            </a:stretch>
          </a:blipFill>
        </p:spPr>
      </p:sp>
      <p:sp>
        <p:nvSpPr>
          <p:cNvPr name="Freeform 5" id="5"/>
          <p:cNvSpPr/>
          <p:nvPr/>
        </p:nvSpPr>
        <p:spPr>
          <a:xfrm flipH="false" flipV="false" rot="0">
            <a:off x="4572000" y="1066800"/>
            <a:ext cx="4572000" cy="3781425"/>
          </a:xfrm>
          <a:custGeom>
            <a:avLst/>
            <a:gdLst/>
            <a:ahLst/>
            <a:cxnLst/>
            <a:rect r="r" b="b" t="t" l="l"/>
            <a:pathLst>
              <a:path h="3781425" w="4572000">
                <a:moveTo>
                  <a:pt x="0" y="0"/>
                </a:moveTo>
                <a:lnTo>
                  <a:pt x="4572000" y="0"/>
                </a:lnTo>
                <a:lnTo>
                  <a:pt x="4572000" y="3781425"/>
                </a:lnTo>
                <a:lnTo>
                  <a:pt x="0" y="3781425"/>
                </a:lnTo>
                <a:lnTo>
                  <a:pt x="0" y="0"/>
                </a:lnTo>
                <a:close/>
              </a:path>
            </a:pathLst>
          </a:custGeom>
          <a:blipFill>
            <a:blip r:embed="rId5"/>
            <a:stretch>
              <a:fillRect l="0" t="0" r="0" b="-7808"/>
            </a:stretch>
          </a:blipFill>
        </p:spPr>
      </p:sp>
      <p:sp>
        <p:nvSpPr>
          <p:cNvPr name="Freeform 6" id="6"/>
          <p:cNvSpPr/>
          <p:nvPr/>
        </p:nvSpPr>
        <p:spPr>
          <a:xfrm flipH="false" flipV="false" rot="0">
            <a:off x="4781550" y="1238250"/>
            <a:ext cx="542925" cy="519822"/>
          </a:xfrm>
          <a:custGeom>
            <a:avLst/>
            <a:gdLst/>
            <a:ahLst/>
            <a:cxnLst/>
            <a:rect r="r" b="b" t="t" l="l"/>
            <a:pathLst>
              <a:path h="519822" w="542925">
                <a:moveTo>
                  <a:pt x="0" y="0"/>
                </a:moveTo>
                <a:lnTo>
                  <a:pt x="542925" y="0"/>
                </a:lnTo>
                <a:lnTo>
                  <a:pt x="542925" y="519822"/>
                </a:lnTo>
                <a:lnTo>
                  <a:pt x="0" y="519822"/>
                </a:lnTo>
                <a:lnTo>
                  <a:pt x="0" y="0"/>
                </a:lnTo>
                <a:close/>
              </a:path>
            </a:pathLst>
          </a:custGeom>
          <a:blipFill>
            <a:blip r:embed="rId6"/>
            <a:stretch>
              <a:fillRect l="0" t="0" r="0" b="0"/>
            </a:stretch>
          </a:blipFill>
        </p:spPr>
      </p:sp>
      <p:sp>
        <p:nvSpPr>
          <p:cNvPr name="Freeform 7" id="7"/>
          <p:cNvSpPr/>
          <p:nvPr/>
        </p:nvSpPr>
        <p:spPr>
          <a:xfrm flipH="false" flipV="false" rot="0">
            <a:off x="4781550" y="1714500"/>
            <a:ext cx="4152900" cy="219075"/>
          </a:xfrm>
          <a:custGeom>
            <a:avLst/>
            <a:gdLst/>
            <a:ahLst/>
            <a:cxnLst/>
            <a:rect r="r" b="b" t="t" l="l"/>
            <a:pathLst>
              <a:path h="219075" w="4152900">
                <a:moveTo>
                  <a:pt x="0" y="0"/>
                </a:moveTo>
                <a:lnTo>
                  <a:pt x="4152900" y="0"/>
                </a:lnTo>
                <a:lnTo>
                  <a:pt x="4152900" y="219075"/>
                </a:lnTo>
                <a:lnTo>
                  <a:pt x="0" y="219075"/>
                </a:lnTo>
                <a:lnTo>
                  <a:pt x="0" y="0"/>
                </a:lnTo>
                <a:close/>
              </a:path>
            </a:pathLst>
          </a:custGeom>
          <a:blipFill>
            <a:blip r:embed="rId7"/>
            <a:stretch>
              <a:fillRect l="0" t="0" r="0" b="0"/>
            </a:stretch>
          </a:blipFill>
        </p:spPr>
      </p:sp>
      <p:sp>
        <p:nvSpPr>
          <p:cNvPr name="Freeform 8" id="8"/>
          <p:cNvSpPr/>
          <p:nvPr/>
        </p:nvSpPr>
        <p:spPr>
          <a:xfrm flipH="false" flipV="false" rot="0">
            <a:off x="9144000" y="1066800"/>
            <a:ext cx="4362450" cy="3781425"/>
          </a:xfrm>
          <a:custGeom>
            <a:avLst/>
            <a:gdLst/>
            <a:ahLst/>
            <a:cxnLst/>
            <a:rect r="r" b="b" t="t" l="l"/>
            <a:pathLst>
              <a:path h="3781425" w="4362450">
                <a:moveTo>
                  <a:pt x="0" y="0"/>
                </a:moveTo>
                <a:lnTo>
                  <a:pt x="4362450" y="0"/>
                </a:lnTo>
                <a:lnTo>
                  <a:pt x="4362450" y="3781425"/>
                </a:lnTo>
                <a:lnTo>
                  <a:pt x="0" y="3781425"/>
                </a:lnTo>
                <a:lnTo>
                  <a:pt x="0" y="0"/>
                </a:lnTo>
                <a:close/>
              </a:path>
            </a:pathLst>
          </a:custGeom>
          <a:blipFill>
            <a:blip r:embed="rId8"/>
            <a:stretch>
              <a:fillRect l="0" t="0" r="0" b="-7808"/>
            </a:stretch>
          </a:blipFill>
        </p:spPr>
      </p:sp>
      <p:sp>
        <p:nvSpPr>
          <p:cNvPr name="Freeform 9" id="9"/>
          <p:cNvSpPr/>
          <p:nvPr/>
        </p:nvSpPr>
        <p:spPr>
          <a:xfrm flipH="false" flipV="false" rot="0">
            <a:off x="9353550" y="1238250"/>
            <a:ext cx="542925" cy="519822"/>
          </a:xfrm>
          <a:custGeom>
            <a:avLst/>
            <a:gdLst/>
            <a:ahLst/>
            <a:cxnLst/>
            <a:rect r="r" b="b" t="t" l="l"/>
            <a:pathLst>
              <a:path h="519822" w="542925">
                <a:moveTo>
                  <a:pt x="0" y="0"/>
                </a:moveTo>
                <a:lnTo>
                  <a:pt x="542925" y="0"/>
                </a:lnTo>
                <a:lnTo>
                  <a:pt x="542925" y="519822"/>
                </a:lnTo>
                <a:lnTo>
                  <a:pt x="0" y="519822"/>
                </a:lnTo>
                <a:lnTo>
                  <a:pt x="0" y="0"/>
                </a:lnTo>
                <a:close/>
              </a:path>
            </a:pathLst>
          </a:custGeom>
          <a:blipFill>
            <a:blip r:embed="rId9"/>
            <a:stretch>
              <a:fillRect l="0" t="0" r="0" b="0"/>
            </a:stretch>
          </a:blipFill>
        </p:spPr>
      </p:sp>
      <p:sp>
        <p:nvSpPr>
          <p:cNvPr name="Freeform 10" id="10"/>
          <p:cNvSpPr/>
          <p:nvPr/>
        </p:nvSpPr>
        <p:spPr>
          <a:xfrm flipH="false" flipV="false" rot="0">
            <a:off x="9353550" y="1714500"/>
            <a:ext cx="3933825" cy="219075"/>
          </a:xfrm>
          <a:custGeom>
            <a:avLst/>
            <a:gdLst/>
            <a:ahLst/>
            <a:cxnLst/>
            <a:rect r="r" b="b" t="t" l="l"/>
            <a:pathLst>
              <a:path h="219075" w="3933825">
                <a:moveTo>
                  <a:pt x="0" y="0"/>
                </a:moveTo>
                <a:lnTo>
                  <a:pt x="3933825" y="0"/>
                </a:lnTo>
                <a:lnTo>
                  <a:pt x="3933825" y="219075"/>
                </a:lnTo>
                <a:lnTo>
                  <a:pt x="0" y="219075"/>
                </a:lnTo>
                <a:lnTo>
                  <a:pt x="0" y="0"/>
                </a:lnTo>
                <a:close/>
              </a:path>
            </a:pathLst>
          </a:custGeom>
          <a:blipFill>
            <a:blip r:embed="rId10"/>
            <a:stretch>
              <a:fillRect l="0" t="0" r="0" b="0"/>
            </a:stretch>
          </a:blipFill>
        </p:spPr>
      </p:sp>
      <p:sp>
        <p:nvSpPr>
          <p:cNvPr name="Freeform 11" id="11"/>
          <p:cNvSpPr/>
          <p:nvPr/>
        </p:nvSpPr>
        <p:spPr>
          <a:xfrm flipH="false" flipV="false" rot="0">
            <a:off x="13496925" y="1139779"/>
            <a:ext cx="4586288" cy="3708446"/>
          </a:xfrm>
          <a:custGeom>
            <a:avLst/>
            <a:gdLst/>
            <a:ahLst/>
            <a:cxnLst/>
            <a:rect r="r" b="b" t="t" l="l"/>
            <a:pathLst>
              <a:path h="3708446" w="4586288">
                <a:moveTo>
                  <a:pt x="0" y="0"/>
                </a:moveTo>
                <a:lnTo>
                  <a:pt x="4586287" y="0"/>
                </a:lnTo>
                <a:lnTo>
                  <a:pt x="4586287" y="3708446"/>
                </a:lnTo>
                <a:lnTo>
                  <a:pt x="0" y="3708446"/>
                </a:lnTo>
                <a:lnTo>
                  <a:pt x="0" y="0"/>
                </a:lnTo>
                <a:close/>
              </a:path>
            </a:pathLst>
          </a:custGeom>
          <a:blipFill>
            <a:blip r:embed="rId11"/>
            <a:stretch>
              <a:fillRect l="0" t="-2820" r="0" b="-12750"/>
            </a:stretch>
          </a:blipFill>
        </p:spPr>
      </p:sp>
      <p:sp>
        <p:nvSpPr>
          <p:cNvPr name="Freeform 12" id="12"/>
          <p:cNvSpPr/>
          <p:nvPr/>
        </p:nvSpPr>
        <p:spPr>
          <a:xfrm flipH="false" flipV="false" rot="0">
            <a:off x="13716000" y="1238250"/>
            <a:ext cx="752475" cy="490745"/>
          </a:xfrm>
          <a:custGeom>
            <a:avLst/>
            <a:gdLst/>
            <a:ahLst/>
            <a:cxnLst/>
            <a:rect r="r" b="b" t="t" l="l"/>
            <a:pathLst>
              <a:path h="490745" w="752475">
                <a:moveTo>
                  <a:pt x="0" y="0"/>
                </a:moveTo>
                <a:lnTo>
                  <a:pt x="752475" y="0"/>
                </a:lnTo>
                <a:lnTo>
                  <a:pt x="752475" y="490745"/>
                </a:lnTo>
                <a:lnTo>
                  <a:pt x="0" y="490745"/>
                </a:lnTo>
                <a:lnTo>
                  <a:pt x="0" y="0"/>
                </a:lnTo>
                <a:close/>
              </a:path>
            </a:pathLst>
          </a:custGeom>
          <a:blipFill>
            <a:blip r:embed="rId12"/>
            <a:stretch>
              <a:fillRect l="0" t="0" r="0" b="0"/>
            </a:stretch>
          </a:blipFill>
        </p:spPr>
      </p:sp>
      <p:sp>
        <p:nvSpPr>
          <p:cNvPr name="Freeform 13" id="13"/>
          <p:cNvSpPr/>
          <p:nvPr/>
        </p:nvSpPr>
        <p:spPr>
          <a:xfrm flipH="false" flipV="false" rot="0">
            <a:off x="13716000" y="1714500"/>
            <a:ext cx="4143375" cy="219075"/>
          </a:xfrm>
          <a:custGeom>
            <a:avLst/>
            <a:gdLst/>
            <a:ahLst/>
            <a:cxnLst/>
            <a:rect r="r" b="b" t="t" l="l"/>
            <a:pathLst>
              <a:path h="219075" w="4143375">
                <a:moveTo>
                  <a:pt x="0" y="0"/>
                </a:moveTo>
                <a:lnTo>
                  <a:pt x="4143375" y="0"/>
                </a:lnTo>
                <a:lnTo>
                  <a:pt x="4143375" y="219075"/>
                </a:lnTo>
                <a:lnTo>
                  <a:pt x="0" y="219075"/>
                </a:lnTo>
                <a:lnTo>
                  <a:pt x="0" y="0"/>
                </a:lnTo>
                <a:close/>
              </a:path>
            </a:pathLst>
          </a:custGeom>
          <a:blipFill>
            <a:blip r:embed="rId13"/>
            <a:stretch>
              <a:fillRect l="0" t="0" r="0" b="0"/>
            </a:stretch>
          </a:blipFill>
        </p:spPr>
      </p:sp>
      <p:sp>
        <p:nvSpPr>
          <p:cNvPr name="Freeform 14" id="14"/>
          <p:cNvSpPr/>
          <p:nvPr/>
        </p:nvSpPr>
        <p:spPr>
          <a:xfrm flipH="false" flipV="false" rot="0">
            <a:off x="209550" y="5025979"/>
            <a:ext cx="4362450" cy="4260886"/>
          </a:xfrm>
          <a:custGeom>
            <a:avLst/>
            <a:gdLst/>
            <a:ahLst/>
            <a:cxnLst/>
            <a:rect r="r" b="b" t="t" l="l"/>
            <a:pathLst>
              <a:path h="4260886" w="4362450">
                <a:moveTo>
                  <a:pt x="0" y="0"/>
                </a:moveTo>
                <a:lnTo>
                  <a:pt x="4362450" y="0"/>
                </a:lnTo>
                <a:lnTo>
                  <a:pt x="4362450" y="4260886"/>
                </a:lnTo>
                <a:lnTo>
                  <a:pt x="0" y="4260886"/>
                </a:lnTo>
                <a:lnTo>
                  <a:pt x="0" y="0"/>
                </a:lnTo>
                <a:close/>
              </a:path>
            </a:pathLst>
          </a:custGeom>
          <a:blipFill>
            <a:blip r:embed="rId14"/>
            <a:stretch>
              <a:fillRect l="0" t="0" r="0" b="-10654"/>
            </a:stretch>
          </a:blipFill>
        </p:spPr>
      </p:sp>
      <p:sp>
        <p:nvSpPr>
          <p:cNvPr name="Freeform 15" id="15"/>
          <p:cNvSpPr/>
          <p:nvPr/>
        </p:nvSpPr>
        <p:spPr>
          <a:xfrm flipH="false" flipV="false" rot="0">
            <a:off x="428625" y="5187904"/>
            <a:ext cx="762000" cy="500743"/>
          </a:xfrm>
          <a:custGeom>
            <a:avLst/>
            <a:gdLst/>
            <a:ahLst/>
            <a:cxnLst/>
            <a:rect r="r" b="b" t="t" l="l"/>
            <a:pathLst>
              <a:path h="500743" w="762000">
                <a:moveTo>
                  <a:pt x="0" y="0"/>
                </a:moveTo>
                <a:lnTo>
                  <a:pt x="762000" y="0"/>
                </a:lnTo>
                <a:lnTo>
                  <a:pt x="762000" y="500743"/>
                </a:lnTo>
                <a:lnTo>
                  <a:pt x="0" y="500743"/>
                </a:lnTo>
                <a:lnTo>
                  <a:pt x="0" y="0"/>
                </a:lnTo>
                <a:close/>
              </a:path>
            </a:pathLst>
          </a:custGeom>
          <a:blipFill>
            <a:blip r:embed="rId15"/>
            <a:stretch>
              <a:fillRect l="0" t="0" r="0" b="0"/>
            </a:stretch>
          </a:blipFill>
        </p:spPr>
      </p:sp>
      <p:sp>
        <p:nvSpPr>
          <p:cNvPr name="Freeform 16" id="16"/>
          <p:cNvSpPr/>
          <p:nvPr/>
        </p:nvSpPr>
        <p:spPr>
          <a:xfrm flipH="false" flipV="false" rot="0">
            <a:off x="428625" y="5664154"/>
            <a:ext cx="4143375" cy="219075"/>
          </a:xfrm>
          <a:custGeom>
            <a:avLst/>
            <a:gdLst/>
            <a:ahLst/>
            <a:cxnLst/>
            <a:rect r="r" b="b" t="t" l="l"/>
            <a:pathLst>
              <a:path h="219075" w="4143375">
                <a:moveTo>
                  <a:pt x="0" y="0"/>
                </a:moveTo>
                <a:lnTo>
                  <a:pt x="4143375" y="0"/>
                </a:lnTo>
                <a:lnTo>
                  <a:pt x="4143375" y="219075"/>
                </a:lnTo>
                <a:lnTo>
                  <a:pt x="0" y="219075"/>
                </a:lnTo>
                <a:lnTo>
                  <a:pt x="0" y="0"/>
                </a:lnTo>
                <a:close/>
              </a:path>
            </a:pathLst>
          </a:custGeom>
          <a:blipFill>
            <a:blip r:embed="rId16"/>
            <a:stretch>
              <a:fillRect l="0" t="0" r="0" b="0"/>
            </a:stretch>
          </a:blipFill>
        </p:spPr>
      </p:sp>
      <p:sp>
        <p:nvSpPr>
          <p:cNvPr name="Freeform 17" id="17"/>
          <p:cNvSpPr/>
          <p:nvPr/>
        </p:nvSpPr>
        <p:spPr>
          <a:xfrm flipH="false" flipV="false" rot="0">
            <a:off x="4572000" y="5025979"/>
            <a:ext cx="4572000" cy="4260886"/>
          </a:xfrm>
          <a:custGeom>
            <a:avLst/>
            <a:gdLst/>
            <a:ahLst/>
            <a:cxnLst/>
            <a:rect r="r" b="b" t="t" l="l"/>
            <a:pathLst>
              <a:path h="4260886" w="4572000">
                <a:moveTo>
                  <a:pt x="0" y="0"/>
                </a:moveTo>
                <a:lnTo>
                  <a:pt x="4572000" y="0"/>
                </a:lnTo>
                <a:lnTo>
                  <a:pt x="4572000" y="4260886"/>
                </a:lnTo>
                <a:lnTo>
                  <a:pt x="0" y="4260886"/>
                </a:lnTo>
                <a:lnTo>
                  <a:pt x="0" y="0"/>
                </a:lnTo>
                <a:close/>
              </a:path>
            </a:pathLst>
          </a:custGeom>
          <a:blipFill>
            <a:blip r:embed="rId17"/>
            <a:stretch>
              <a:fillRect l="0" t="0" r="0" b="-10654"/>
            </a:stretch>
          </a:blipFill>
        </p:spPr>
      </p:sp>
      <p:sp>
        <p:nvSpPr>
          <p:cNvPr name="Freeform 18" id="18"/>
          <p:cNvSpPr/>
          <p:nvPr/>
        </p:nvSpPr>
        <p:spPr>
          <a:xfrm flipH="false" flipV="false" rot="0">
            <a:off x="4781550" y="5187904"/>
            <a:ext cx="762000" cy="500743"/>
          </a:xfrm>
          <a:custGeom>
            <a:avLst/>
            <a:gdLst/>
            <a:ahLst/>
            <a:cxnLst/>
            <a:rect r="r" b="b" t="t" l="l"/>
            <a:pathLst>
              <a:path h="500743" w="762000">
                <a:moveTo>
                  <a:pt x="0" y="0"/>
                </a:moveTo>
                <a:lnTo>
                  <a:pt x="762000" y="0"/>
                </a:lnTo>
                <a:lnTo>
                  <a:pt x="762000" y="500743"/>
                </a:lnTo>
                <a:lnTo>
                  <a:pt x="0" y="500743"/>
                </a:lnTo>
                <a:lnTo>
                  <a:pt x="0" y="0"/>
                </a:lnTo>
                <a:close/>
              </a:path>
            </a:pathLst>
          </a:custGeom>
          <a:blipFill>
            <a:blip r:embed="rId18"/>
            <a:stretch>
              <a:fillRect l="0" t="0" r="0" b="0"/>
            </a:stretch>
          </a:blipFill>
        </p:spPr>
      </p:sp>
      <p:sp>
        <p:nvSpPr>
          <p:cNvPr name="Freeform 19" id="19"/>
          <p:cNvSpPr/>
          <p:nvPr/>
        </p:nvSpPr>
        <p:spPr>
          <a:xfrm flipH="false" flipV="false" rot="0">
            <a:off x="4781550" y="5664154"/>
            <a:ext cx="4152900" cy="219075"/>
          </a:xfrm>
          <a:custGeom>
            <a:avLst/>
            <a:gdLst/>
            <a:ahLst/>
            <a:cxnLst/>
            <a:rect r="r" b="b" t="t" l="l"/>
            <a:pathLst>
              <a:path h="219075" w="4152900">
                <a:moveTo>
                  <a:pt x="0" y="0"/>
                </a:moveTo>
                <a:lnTo>
                  <a:pt x="4152900" y="0"/>
                </a:lnTo>
                <a:lnTo>
                  <a:pt x="4152900" y="219075"/>
                </a:lnTo>
                <a:lnTo>
                  <a:pt x="0" y="219075"/>
                </a:lnTo>
                <a:lnTo>
                  <a:pt x="0" y="0"/>
                </a:lnTo>
                <a:close/>
              </a:path>
            </a:pathLst>
          </a:custGeom>
          <a:blipFill>
            <a:blip r:embed="rId19"/>
            <a:stretch>
              <a:fillRect l="0" t="0" r="0" b="0"/>
            </a:stretch>
          </a:blipFill>
        </p:spPr>
      </p:sp>
      <p:sp>
        <p:nvSpPr>
          <p:cNvPr name="Freeform 20" id="20"/>
          <p:cNvSpPr/>
          <p:nvPr/>
        </p:nvSpPr>
        <p:spPr>
          <a:xfrm flipH="false" flipV="false" rot="0">
            <a:off x="9144000" y="5025979"/>
            <a:ext cx="4352925" cy="4260886"/>
          </a:xfrm>
          <a:custGeom>
            <a:avLst/>
            <a:gdLst/>
            <a:ahLst/>
            <a:cxnLst/>
            <a:rect r="r" b="b" t="t" l="l"/>
            <a:pathLst>
              <a:path h="4260886" w="4352925">
                <a:moveTo>
                  <a:pt x="0" y="0"/>
                </a:moveTo>
                <a:lnTo>
                  <a:pt x="4352925" y="0"/>
                </a:lnTo>
                <a:lnTo>
                  <a:pt x="4352925" y="4260886"/>
                </a:lnTo>
                <a:lnTo>
                  <a:pt x="0" y="4260886"/>
                </a:lnTo>
                <a:lnTo>
                  <a:pt x="0" y="0"/>
                </a:lnTo>
                <a:close/>
              </a:path>
            </a:pathLst>
          </a:custGeom>
          <a:blipFill>
            <a:blip r:embed="rId20"/>
            <a:stretch>
              <a:fillRect l="0" t="0" r="-218" b="-10654"/>
            </a:stretch>
          </a:blipFill>
        </p:spPr>
      </p:sp>
      <p:sp>
        <p:nvSpPr>
          <p:cNvPr name="Freeform 21" id="21"/>
          <p:cNvSpPr/>
          <p:nvPr/>
        </p:nvSpPr>
        <p:spPr>
          <a:xfrm flipH="false" flipV="false" rot="0">
            <a:off x="9353550" y="5187904"/>
            <a:ext cx="542925" cy="531373"/>
          </a:xfrm>
          <a:custGeom>
            <a:avLst/>
            <a:gdLst/>
            <a:ahLst/>
            <a:cxnLst/>
            <a:rect r="r" b="b" t="t" l="l"/>
            <a:pathLst>
              <a:path h="531373" w="542925">
                <a:moveTo>
                  <a:pt x="0" y="0"/>
                </a:moveTo>
                <a:lnTo>
                  <a:pt x="542925" y="0"/>
                </a:lnTo>
                <a:lnTo>
                  <a:pt x="542925" y="531374"/>
                </a:lnTo>
                <a:lnTo>
                  <a:pt x="0" y="531374"/>
                </a:lnTo>
                <a:lnTo>
                  <a:pt x="0" y="0"/>
                </a:lnTo>
                <a:close/>
              </a:path>
            </a:pathLst>
          </a:custGeom>
          <a:blipFill>
            <a:blip r:embed="rId21"/>
            <a:stretch>
              <a:fillRect l="0" t="0" r="0" b="0"/>
            </a:stretch>
          </a:blipFill>
        </p:spPr>
      </p:sp>
      <p:sp>
        <p:nvSpPr>
          <p:cNvPr name="Freeform 22" id="22"/>
          <p:cNvSpPr/>
          <p:nvPr/>
        </p:nvSpPr>
        <p:spPr>
          <a:xfrm flipH="false" flipV="false" rot="0">
            <a:off x="9353550" y="5664154"/>
            <a:ext cx="3933825" cy="219075"/>
          </a:xfrm>
          <a:custGeom>
            <a:avLst/>
            <a:gdLst/>
            <a:ahLst/>
            <a:cxnLst/>
            <a:rect r="r" b="b" t="t" l="l"/>
            <a:pathLst>
              <a:path h="219075" w="3933825">
                <a:moveTo>
                  <a:pt x="0" y="0"/>
                </a:moveTo>
                <a:lnTo>
                  <a:pt x="3933825" y="0"/>
                </a:lnTo>
                <a:lnTo>
                  <a:pt x="3933825" y="219075"/>
                </a:lnTo>
                <a:lnTo>
                  <a:pt x="0" y="219075"/>
                </a:lnTo>
                <a:lnTo>
                  <a:pt x="0" y="0"/>
                </a:lnTo>
                <a:close/>
              </a:path>
            </a:pathLst>
          </a:custGeom>
          <a:blipFill>
            <a:blip r:embed="rId22"/>
            <a:stretch>
              <a:fillRect l="0" t="0" r="0" b="0"/>
            </a:stretch>
          </a:blipFill>
        </p:spPr>
      </p:sp>
      <p:sp>
        <p:nvSpPr>
          <p:cNvPr name="Freeform 23" id="23"/>
          <p:cNvSpPr/>
          <p:nvPr/>
        </p:nvSpPr>
        <p:spPr>
          <a:xfrm flipH="false" flipV="false" rot="0">
            <a:off x="13496925" y="5111704"/>
            <a:ext cx="4586288" cy="4175161"/>
          </a:xfrm>
          <a:custGeom>
            <a:avLst/>
            <a:gdLst/>
            <a:ahLst/>
            <a:cxnLst/>
            <a:rect r="r" b="b" t="t" l="l"/>
            <a:pathLst>
              <a:path h="4175161" w="4586288">
                <a:moveTo>
                  <a:pt x="0" y="0"/>
                </a:moveTo>
                <a:lnTo>
                  <a:pt x="4586287" y="0"/>
                </a:lnTo>
                <a:lnTo>
                  <a:pt x="4586287" y="4175161"/>
                </a:lnTo>
                <a:lnTo>
                  <a:pt x="0" y="4175161"/>
                </a:lnTo>
                <a:lnTo>
                  <a:pt x="0" y="0"/>
                </a:lnTo>
                <a:close/>
              </a:path>
            </a:pathLst>
          </a:custGeom>
          <a:blipFill>
            <a:blip r:embed="rId23"/>
            <a:stretch>
              <a:fillRect l="0" t="-2897" r="0" b="-15823"/>
            </a:stretch>
          </a:blipFill>
        </p:spPr>
      </p:sp>
      <p:sp>
        <p:nvSpPr>
          <p:cNvPr name="Freeform 24" id="24"/>
          <p:cNvSpPr/>
          <p:nvPr/>
        </p:nvSpPr>
        <p:spPr>
          <a:xfrm flipH="false" flipV="false" rot="0">
            <a:off x="13716000" y="5187904"/>
            <a:ext cx="533400" cy="533400"/>
          </a:xfrm>
          <a:custGeom>
            <a:avLst/>
            <a:gdLst/>
            <a:ahLst/>
            <a:cxnLst/>
            <a:rect r="r" b="b" t="t" l="l"/>
            <a:pathLst>
              <a:path h="533400" w="533400">
                <a:moveTo>
                  <a:pt x="0" y="0"/>
                </a:moveTo>
                <a:lnTo>
                  <a:pt x="533400" y="0"/>
                </a:lnTo>
                <a:lnTo>
                  <a:pt x="533400" y="533400"/>
                </a:lnTo>
                <a:lnTo>
                  <a:pt x="0" y="533400"/>
                </a:lnTo>
                <a:lnTo>
                  <a:pt x="0" y="0"/>
                </a:lnTo>
                <a:close/>
              </a:path>
            </a:pathLst>
          </a:custGeom>
          <a:blipFill>
            <a:blip r:embed="rId24"/>
            <a:stretch>
              <a:fillRect l="0" t="0" r="0" b="0"/>
            </a:stretch>
          </a:blipFill>
        </p:spPr>
      </p:sp>
      <p:sp>
        <p:nvSpPr>
          <p:cNvPr name="Freeform 25" id="25"/>
          <p:cNvSpPr/>
          <p:nvPr/>
        </p:nvSpPr>
        <p:spPr>
          <a:xfrm flipH="false" flipV="false" rot="0">
            <a:off x="13716000" y="5664154"/>
            <a:ext cx="4143375" cy="219075"/>
          </a:xfrm>
          <a:custGeom>
            <a:avLst/>
            <a:gdLst/>
            <a:ahLst/>
            <a:cxnLst/>
            <a:rect r="r" b="b" t="t" l="l"/>
            <a:pathLst>
              <a:path h="219075" w="4143375">
                <a:moveTo>
                  <a:pt x="0" y="0"/>
                </a:moveTo>
                <a:lnTo>
                  <a:pt x="4143375" y="0"/>
                </a:lnTo>
                <a:lnTo>
                  <a:pt x="4143375" y="219075"/>
                </a:lnTo>
                <a:lnTo>
                  <a:pt x="0" y="219075"/>
                </a:lnTo>
                <a:lnTo>
                  <a:pt x="0" y="0"/>
                </a:lnTo>
                <a:close/>
              </a:path>
            </a:pathLst>
          </a:custGeom>
          <a:blipFill>
            <a:blip r:embed="rId25"/>
            <a:stretch>
              <a:fillRect l="0" t="0" r="0" b="0"/>
            </a:stretch>
          </a:blipFill>
        </p:spPr>
      </p:sp>
      <p:sp>
        <p:nvSpPr>
          <p:cNvPr name="TextBox 26" id="26"/>
          <p:cNvSpPr txBox="true"/>
          <p:nvPr/>
        </p:nvSpPr>
        <p:spPr>
          <a:xfrm rot="0">
            <a:off x="762000" y="142875"/>
            <a:ext cx="16764000" cy="424815"/>
          </a:xfrm>
          <a:prstGeom prst="rect">
            <a:avLst/>
          </a:prstGeom>
        </p:spPr>
        <p:txBody>
          <a:bodyPr anchor="t" rtlCol="false" tIns="0" lIns="0" bIns="0" rIns="0">
            <a:spAutoFit/>
          </a:bodyPr>
          <a:lstStyle/>
          <a:p>
            <a:pPr algn="ctr">
              <a:lnSpc>
                <a:spcPts val="3359"/>
              </a:lnSpc>
            </a:pPr>
            <a:r>
              <a:rPr lang="en-US" b="true" sz="2400">
                <a:solidFill>
                  <a:srgbClr val="110440"/>
                </a:solidFill>
                <a:latin typeface="Poppins Bold"/>
                <a:ea typeface="Poppins Bold"/>
                <a:cs typeface="Poppins Bold"/>
                <a:sym typeface="Poppins Bold"/>
              </a:rPr>
              <a:t>Thuật ngữ chi tiết dùng trong toà bộ báo cáo</a:t>
            </a:r>
          </a:p>
        </p:txBody>
      </p:sp>
      <p:sp>
        <p:nvSpPr>
          <p:cNvPr name="TextBox 27" id="27"/>
          <p:cNvSpPr txBox="true"/>
          <p:nvPr/>
        </p:nvSpPr>
        <p:spPr>
          <a:xfrm rot="0">
            <a:off x="762000" y="578104"/>
            <a:ext cx="16764000" cy="165100"/>
          </a:xfrm>
          <a:prstGeom prst="rect">
            <a:avLst/>
          </a:prstGeom>
        </p:spPr>
        <p:txBody>
          <a:bodyPr anchor="t" rtlCol="false" tIns="0" lIns="0" bIns="0" rIns="0">
            <a:spAutoFit/>
          </a:bodyPr>
          <a:lstStyle/>
          <a:p>
            <a:pPr algn="ctr">
              <a:lnSpc>
                <a:spcPts val="1399"/>
              </a:lnSpc>
            </a:pPr>
            <a:r>
              <a:rPr lang="en-US" sz="999">
                <a:solidFill>
                  <a:srgbClr val="110440"/>
                </a:solidFill>
                <a:latin typeface="Poppins"/>
                <a:ea typeface="Poppins"/>
                <a:cs typeface="Poppins"/>
                <a:sym typeface="Poppins"/>
              </a:rPr>
              <a:t>Tổng hợp thuật ngữ, quy trình, chỉ số và vai trò sử dụng trong hệ thống</a:t>
            </a:r>
          </a:p>
        </p:txBody>
      </p:sp>
      <p:sp>
        <p:nvSpPr>
          <p:cNvPr name="TextBox 28" id="28"/>
          <p:cNvSpPr txBox="true"/>
          <p:nvPr/>
        </p:nvSpPr>
        <p:spPr>
          <a:xfrm rot="0">
            <a:off x="1114425" y="1362075"/>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CÔNG NGHỆ &amp; HỆ THỐNG</a:t>
            </a:r>
          </a:p>
        </p:txBody>
      </p:sp>
      <p:sp>
        <p:nvSpPr>
          <p:cNvPr name="TextBox 29" id="29"/>
          <p:cNvSpPr txBox="true"/>
          <p:nvPr/>
        </p:nvSpPr>
        <p:spPr>
          <a:xfrm rot="0">
            <a:off x="5476875" y="1362075"/>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QUY TRÌNH &amp; HOẠT ĐỘNG</a:t>
            </a:r>
          </a:p>
        </p:txBody>
      </p:sp>
      <p:sp>
        <p:nvSpPr>
          <p:cNvPr name="TextBox 30" id="30"/>
          <p:cNvSpPr txBox="true"/>
          <p:nvPr/>
        </p:nvSpPr>
        <p:spPr>
          <a:xfrm rot="0">
            <a:off x="9906000" y="1362075"/>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CHỨNG TỪ &amp; DỮ LIỆU</a:t>
            </a:r>
          </a:p>
        </p:txBody>
      </p:sp>
      <p:sp>
        <p:nvSpPr>
          <p:cNvPr name="TextBox 31" id="31"/>
          <p:cNvSpPr txBox="true"/>
          <p:nvPr/>
        </p:nvSpPr>
        <p:spPr>
          <a:xfrm rot="0">
            <a:off x="14325600" y="1362075"/>
            <a:ext cx="3390900" cy="182880"/>
          </a:xfrm>
          <a:prstGeom prst="rect">
            <a:avLst/>
          </a:prstGeom>
        </p:spPr>
        <p:txBody>
          <a:bodyPr anchor="t" rtlCol="false" tIns="0" lIns="0" bIns="0" rIns="0">
            <a:spAutoFit/>
          </a:bodyPr>
          <a:lstStyle/>
          <a:p>
            <a:pPr algn="l">
              <a:lnSpc>
                <a:spcPts val="1470"/>
              </a:lnSpc>
            </a:pPr>
            <a:r>
              <a:rPr lang="en-US" b="true" sz="1050">
                <a:solidFill>
                  <a:srgbClr val="100643"/>
                </a:solidFill>
                <a:latin typeface="Poppins Bold"/>
                <a:ea typeface="Poppins Bold"/>
                <a:cs typeface="Poppins Bold"/>
                <a:sym typeface="Poppins Bold"/>
              </a:rPr>
              <a:t>TÀI CHÍNH &amp; ĐỐI SOÁT</a:t>
            </a:r>
          </a:p>
        </p:txBody>
      </p:sp>
      <p:sp>
        <p:nvSpPr>
          <p:cNvPr name="TextBox 32" id="32"/>
          <p:cNvSpPr txBox="true"/>
          <p:nvPr/>
        </p:nvSpPr>
        <p:spPr>
          <a:xfrm rot="0">
            <a:off x="1114425" y="5326017"/>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CHỈ SỐ &amp; CHẤT LƯỢNG</a:t>
            </a:r>
          </a:p>
        </p:txBody>
      </p:sp>
      <p:sp>
        <p:nvSpPr>
          <p:cNvPr name="TextBox 33" id="33"/>
          <p:cNvSpPr txBox="true"/>
          <p:nvPr/>
        </p:nvSpPr>
        <p:spPr>
          <a:xfrm rot="0">
            <a:off x="5476875" y="5326017"/>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BPMN &amp; CẢI TIẾN</a:t>
            </a:r>
          </a:p>
        </p:txBody>
      </p:sp>
      <p:sp>
        <p:nvSpPr>
          <p:cNvPr name="TextBox 34" id="34"/>
          <p:cNvSpPr txBox="true"/>
          <p:nvPr/>
        </p:nvSpPr>
        <p:spPr>
          <a:xfrm rot="0">
            <a:off x="9906000" y="5340304"/>
            <a:ext cx="3390900" cy="199390"/>
          </a:xfrm>
          <a:prstGeom prst="rect">
            <a:avLst/>
          </a:prstGeom>
        </p:spPr>
        <p:txBody>
          <a:bodyPr anchor="t" rtlCol="false" tIns="0" lIns="0" bIns="0" rIns="0">
            <a:spAutoFit/>
          </a:bodyPr>
          <a:lstStyle/>
          <a:p>
            <a:pPr algn="l">
              <a:lnSpc>
                <a:spcPts val="1609"/>
              </a:lnSpc>
            </a:pPr>
            <a:r>
              <a:rPr lang="en-US" b="true" sz="1149">
                <a:solidFill>
                  <a:srgbClr val="100643"/>
                </a:solidFill>
                <a:latin typeface="Poppins Bold"/>
                <a:ea typeface="Poppins Bold"/>
                <a:cs typeface="Poppins Bold"/>
                <a:sym typeface="Poppins Bold"/>
              </a:rPr>
              <a:t>TỔ CHỨC &amp; VAI TRÒ</a:t>
            </a:r>
          </a:p>
        </p:txBody>
      </p:sp>
      <p:sp>
        <p:nvSpPr>
          <p:cNvPr name="TextBox 35" id="35"/>
          <p:cNvSpPr txBox="true"/>
          <p:nvPr/>
        </p:nvSpPr>
        <p:spPr>
          <a:xfrm rot="0">
            <a:off x="14325600" y="5340304"/>
            <a:ext cx="3390900" cy="182880"/>
          </a:xfrm>
          <a:prstGeom prst="rect">
            <a:avLst/>
          </a:prstGeom>
        </p:spPr>
        <p:txBody>
          <a:bodyPr anchor="t" rtlCol="false" tIns="0" lIns="0" bIns="0" rIns="0">
            <a:spAutoFit/>
          </a:bodyPr>
          <a:lstStyle/>
          <a:p>
            <a:pPr algn="l">
              <a:lnSpc>
                <a:spcPts val="1470"/>
              </a:lnSpc>
            </a:pPr>
            <a:r>
              <a:rPr lang="en-US" b="true" sz="1050">
                <a:solidFill>
                  <a:srgbClr val="100643"/>
                </a:solidFill>
                <a:latin typeface="Poppins Bold"/>
                <a:ea typeface="Poppins Bold"/>
                <a:cs typeface="Poppins Bold"/>
                <a:sym typeface="Poppins Bold"/>
              </a:rPr>
              <a:t>DỊCH VỤ, ĐỊA ĐIỂM &amp; KẾT QUẢ</a:t>
            </a:r>
          </a:p>
        </p:txBody>
      </p:sp>
      <p:sp>
        <p:nvSpPr>
          <p:cNvPr name="Freeform 36" id="36"/>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7" id="37"/>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38" id="38"/>
          <p:cNvSpPr txBox="true"/>
          <p:nvPr/>
        </p:nvSpPr>
        <p:spPr>
          <a:xfrm rot="0">
            <a:off x="1425664" y="9530520"/>
            <a:ext cx="5340896" cy="634365"/>
          </a:xfrm>
          <a:prstGeom prst="rect">
            <a:avLst/>
          </a:prstGeom>
        </p:spPr>
        <p:txBody>
          <a:bodyPr anchor="t" rtlCol="false" tIns="0" lIns="0" bIns="0" rIns="0">
            <a:spAutoFit/>
          </a:bodyPr>
          <a:lstStyle/>
          <a:p>
            <a:pPr algn="l" marL="0" indent="0" lvl="0">
              <a:lnSpc>
                <a:spcPts val="2415"/>
              </a:lnSpc>
              <a:spcBef>
                <a:spcPct val="0"/>
              </a:spcBef>
            </a:pPr>
            <a:r>
              <a:rPr lang="en-US" b="true" sz="2300">
                <a:solidFill>
                  <a:srgbClr val="100643"/>
                </a:solidFill>
                <a:latin typeface="Poppins Bold"/>
                <a:ea typeface="Poppins Bold"/>
                <a:cs typeface="Poppins Bold"/>
                <a:sym typeface="Poppins Bold"/>
              </a:rPr>
              <a:t>Dựa </a:t>
            </a:r>
            <a:r>
              <a:rPr lang="en-US" b="true" sz="2300" strike="noStrike" u="none">
                <a:solidFill>
                  <a:srgbClr val="100643"/>
                </a:solidFill>
                <a:latin typeface="Poppins Bold"/>
                <a:ea typeface="Poppins Bold"/>
                <a:cs typeface="Poppins Bold"/>
                <a:sym typeface="Poppins Bold"/>
              </a:rPr>
              <a:t>t</a:t>
            </a:r>
            <a:r>
              <a:rPr lang="en-US" b="true" sz="2300" strike="noStrike" u="none">
                <a:solidFill>
                  <a:srgbClr val="100643"/>
                </a:solidFill>
                <a:latin typeface="Poppins Bold"/>
                <a:ea typeface="Poppins Bold"/>
                <a:cs typeface="Poppins Bold"/>
                <a:sym typeface="Poppins Bold"/>
              </a:rPr>
              <a:t>rên</a:t>
            </a:r>
            <a:r>
              <a:rPr lang="en-US" b="true" sz="2300" strike="noStrike" u="none">
                <a:solidFill>
                  <a:srgbClr val="100643"/>
                </a:solidFill>
                <a:latin typeface="Poppins Bold"/>
                <a:ea typeface="Poppins Bold"/>
                <a:cs typeface="Poppins Bold"/>
                <a:sym typeface="Poppins Bold"/>
              </a:rPr>
              <a:t> </a:t>
            </a:r>
            <a:r>
              <a:rPr lang="en-US" b="true" sz="2300" strike="noStrike" u="none">
                <a:solidFill>
                  <a:srgbClr val="100643"/>
                </a:solidFill>
                <a:latin typeface="Poppins Bold"/>
                <a:ea typeface="Poppins Bold"/>
                <a:cs typeface="Poppins Bold"/>
                <a:sym typeface="Poppins Bold"/>
              </a:rPr>
              <a:t>bằ</a:t>
            </a:r>
            <a:r>
              <a:rPr lang="en-US" b="true" sz="2300" strike="noStrike" u="none">
                <a:solidFill>
                  <a:srgbClr val="100643"/>
                </a:solidFill>
                <a:latin typeface="Poppins Bold"/>
                <a:ea typeface="Poppins Bold"/>
                <a:cs typeface="Poppins Bold"/>
                <a:sym typeface="Poppins Bold"/>
              </a:rPr>
              <a:t>ng </a:t>
            </a:r>
            <a:r>
              <a:rPr lang="en-US" b="true" sz="2300" strike="noStrike" u="none">
                <a:solidFill>
                  <a:srgbClr val="100643"/>
                </a:solidFill>
                <a:latin typeface="Poppins Bold"/>
                <a:ea typeface="Poppins Bold"/>
                <a:cs typeface="Poppins Bold"/>
                <a:sym typeface="Poppins Bold"/>
              </a:rPr>
              <a:t>chứng</a:t>
            </a:r>
          </a:p>
          <a:p>
            <a:pPr algn="l">
              <a:lnSpc>
                <a:spcPts val="2415"/>
              </a:lnSpc>
            </a:pPr>
          </a:p>
        </p:txBody>
      </p:sp>
      <p:sp>
        <p:nvSpPr>
          <p:cNvPr name="TextBox 39" id="39"/>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Freeform 40" id="40"/>
          <p:cNvSpPr/>
          <p:nvPr/>
        </p:nvSpPr>
        <p:spPr>
          <a:xfrm flipH="false" flipV="false" rot="0">
            <a:off x="372142" y="0"/>
            <a:ext cx="1095375" cy="1076325"/>
          </a:xfrm>
          <a:custGeom>
            <a:avLst/>
            <a:gdLst/>
            <a:ahLst/>
            <a:cxnLst/>
            <a:rect r="r" b="b" t="t" l="l"/>
            <a:pathLst>
              <a:path h="1076325" w="1095375">
                <a:moveTo>
                  <a:pt x="0" y="0"/>
                </a:moveTo>
                <a:lnTo>
                  <a:pt x="1095375" y="0"/>
                </a:lnTo>
                <a:lnTo>
                  <a:pt x="1095375" y="1076325"/>
                </a:lnTo>
                <a:lnTo>
                  <a:pt x="0" y="1076325"/>
                </a:lnTo>
                <a:lnTo>
                  <a:pt x="0" y="0"/>
                </a:lnTo>
                <a:close/>
              </a:path>
            </a:pathLst>
          </a:custGeom>
          <a:blipFill>
            <a:blip r:embed="rId30"/>
            <a:stretch>
              <a:fillRect l="0" t="0" r="0" b="0"/>
            </a:stretch>
          </a:blipFill>
        </p:spPr>
      </p:sp>
      <p:sp>
        <p:nvSpPr>
          <p:cNvPr name="TextBox 41" id="41"/>
          <p:cNvSpPr txBox="true"/>
          <p:nvPr/>
        </p:nvSpPr>
        <p:spPr>
          <a:xfrm rot="0">
            <a:off x="1534573" y="299276"/>
            <a:ext cx="1572768" cy="329565"/>
          </a:xfrm>
          <a:prstGeom prst="rect">
            <a:avLst/>
          </a:prstGeom>
        </p:spPr>
        <p:txBody>
          <a:bodyPr anchor="t" rtlCol="false" tIns="0" lIns="0" bIns="0" rIns="0">
            <a:spAutoFit/>
          </a:bodyPr>
          <a:lstStyle/>
          <a:p>
            <a:pPr algn="l">
              <a:lnSpc>
                <a:spcPts val="2415"/>
              </a:lnSpc>
            </a:pPr>
            <a:r>
              <a:rPr lang="en-US" b="true" sz="2300">
                <a:solidFill>
                  <a:srgbClr val="100643"/>
                </a:solidFill>
                <a:latin typeface="Poppins Bold"/>
                <a:ea typeface="Poppins Bold"/>
                <a:cs typeface="Poppins Bold"/>
                <a:sym typeface="Poppins Bold"/>
              </a:rPr>
              <a:t>Chương 4</a:t>
            </a:r>
          </a:p>
        </p:txBody>
      </p:sp>
      <p:sp>
        <p:nvSpPr>
          <p:cNvPr name="TextBox 42" id="42"/>
          <p:cNvSpPr txBox="true"/>
          <p:nvPr/>
        </p:nvSpPr>
        <p:spPr>
          <a:xfrm rot="0">
            <a:off x="1534573" y="641604"/>
            <a:ext cx="2816352" cy="249785"/>
          </a:xfrm>
          <a:prstGeom prst="rect">
            <a:avLst/>
          </a:prstGeom>
        </p:spPr>
        <p:txBody>
          <a:bodyPr anchor="t" rtlCol="false" tIns="0" lIns="0" bIns="0" rIns="0">
            <a:spAutoFit/>
          </a:bodyPr>
          <a:lstStyle/>
          <a:p>
            <a:pPr algn="l">
              <a:lnSpc>
                <a:spcPts val="1834"/>
              </a:lnSpc>
            </a:pPr>
            <a:r>
              <a:rPr lang="en-US" sz="1668">
                <a:solidFill>
                  <a:srgbClr val="100643"/>
                </a:solidFill>
                <a:latin typeface="Poppins"/>
                <a:ea typeface="Poppins"/>
                <a:cs typeface="Poppins"/>
                <a:sym typeface="Poppins"/>
              </a:rPr>
              <a:t>PHƯƠNG PHÁP THỰC HIỆN</a:t>
            </a:r>
          </a:p>
        </p:txBody>
      </p:sp>
      <p:sp>
        <p:nvSpPr>
          <p:cNvPr name="Freeform 43" id="43"/>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44" id="44"/>
          <p:cNvSpPr txBox="true"/>
          <p:nvPr/>
        </p:nvSpPr>
        <p:spPr>
          <a:xfrm rot="0">
            <a:off x="17325975" y="9525000"/>
            <a:ext cx="533400" cy="368300"/>
          </a:xfrm>
          <a:prstGeom prst="rect">
            <a:avLst/>
          </a:prstGeom>
        </p:spPr>
        <p:txBody>
          <a:bodyPr anchor="t" rtlCol="false" tIns="0" lIns="0" bIns="0" rIns="0">
            <a:spAutoFit/>
          </a:bodyPr>
          <a:lstStyle/>
          <a:p>
            <a:pPr algn="ctr" marL="0" indent="0" lvl="0">
              <a:lnSpc>
                <a:spcPts val="2800"/>
              </a:lnSpc>
              <a:spcBef>
                <a:spcPct val="0"/>
              </a:spcBef>
            </a:pPr>
            <a:r>
              <a:rPr lang="en-US" b="true" sz="2000" strike="noStrike" u="none">
                <a:solidFill>
                  <a:srgbClr val="FFFFFF"/>
                </a:solidFill>
                <a:latin typeface="Poppins Bold"/>
                <a:ea typeface="Poppins Bold"/>
                <a:cs typeface="Poppins Bold"/>
                <a:sym typeface="Poppins Bold"/>
              </a:rPr>
              <a:t>18</a:t>
            </a:r>
          </a:p>
        </p:txBody>
      </p:sp>
      <p:sp>
        <p:nvSpPr>
          <p:cNvPr name="TextBox 45" id="45"/>
          <p:cNvSpPr txBox="true"/>
          <p:nvPr/>
        </p:nvSpPr>
        <p:spPr>
          <a:xfrm rot="0">
            <a:off x="490538" y="2095500"/>
            <a:ext cx="4052888" cy="2442210"/>
          </a:xfrm>
          <a:prstGeom prst="rect">
            <a:avLst/>
          </a:prstGeom>
        </p:spPr>
        <p:txBody>
          <a:bodyPr anchor="t" rtlCol="false" tIns="0" lIns="0" bIns="0" rIns="0">
            <a:spAutoFit/>
          </a:bodyPr>
          <a:lstStyle/>
          <a:p>
            <a:pPr algn="l">
              <a:lnSpc>
                <a:spcPts val="1155"/>
              </a:lnSpc>
            </a:pPr>
            <a:r>
              <a:rPr lang="en-US" sz="1050" b="true">
                <a:solidFill>
                  <a:srgbClr val="100643"/>
                </a:solidFill>
                <a:latin typeface="Poppins Bold"/>
                <a:ea typeface="Poppins Bold"/>
                <a:cs typeface="Poppins Bold"/>
                <a:sym typeface="Poppins Bold"/>
              </a:rPr>
              <a:t>POD / ePOD</a:t>
            </a:r>
            <a:r>
              <a:rPr lang="en-US" sz="1050">
                <a:solidFill>
                  <a:srgbClr val="100643"/>
                </a:solidFill>
                <a:latin typeface="Poppins"/>
                <a:ea typeface="Poppins"/>
                <a:cs typeface="Poppins"/>
                <a:sym typeface="Poppins"/>
              </a:rPr>
              <a:t> - Bằng chứng giao hàng</a:t>
            </a:r>
          </a:p>
          <a:p>
            <a:pPr algn="l">
              <a:lnSpc>
                <a:spcPts val="1155"/>
              </a:lnSpc>
            </a:pPr>
            <a:r>
              <a:rPr lang="en-US" sz="1050" b="true">
                <a:solidFill>
                  <a:srgbClr val="100643"/>
                </a:solidFill>
                <a:latin typeface="Poppins Bold"/>
                <a:ea typeface="Poppins Bold"/>
                <a:cs typeface="Poppins Bold"/>
                <a:sym typeface="Poppins Bold"/>
              </a:rPr>
              <a:t>OMS / API</a:t>
            </a:r>
            <a:r>
              <a:rPr lang="en-US" sz="1050">
                <a:solidFill>
                  <a:srgbClr val="100643"/>
                </a:solidFill>
                <a:latin typeface="Poppins"/>
                <a:ea typeface="Poppins"/>
                <a:cs typeface="Poppins"/>
                <a:sym typeface="Poppins"/>
              </a:rPr>
              <a:t> - Tiếp nhận và ghi nhận đơn</a:t>
            </a:r>
          </a:p>
          <a:p>
            <a:pPr algn="l">
              <a:lnSpc>
                <a:spcPts val="1155"/>
              </a:lnSpc>
            </a:pPr>
            <a:r>
              <a:rPr lang="en-US" sz="1050" b="true">
                <a:solidFill>
                  <a:srgbClr val="100643"/>
                </a:solidFill>
                <a:latin typeface="Poppins Bold"/>
                <a:ea typeface="Poppins Bold"/>
                <a:cs typeface="Poppins Bold"/>
                <a:sym typeface="Poppins Bold"/>
              </a:rPr>
              <a:t>TMS / CRM</a:t>
            </a:r>
            <a:r>
              <a:rPr lang="en-US" sz="1050">
                <a:solidFill>
                  <a:srgbClr val="100643"/>
                </a:solidFill>
                <a:latin typeface="Poppins"/>
                <a:ea typeface="Poppins"/>
                <a:cs typeface="Poppins"/>
                <a:sym typeface="Poppins"/>
              </a:rPr>
              <a:t> - Vận tải và khách hàng</a:t>
            </a:r>
          </a:p>
          <a:p>
            <a:pPr algn="l">
              <a:lnSpc>
                <a:spcPts val="1155"/>
              </a:lnSpc>
            </a:pPr>
            <a:r>
              <a:rPr lang="en-US" sz="1050" b="true">
                <a:solidFill>
                  <a:srgbClr val="100643"/>
                </a:solidFill>
                <a:latin typeface="Poppins Bold"/>
                <a:ea typeface="Poppins Bold"/>
                <a:cs typeface="Poppins Bold"/>
                <a:sym typeface="Poppins Bold"/>
              </a:rPr>
              <a:t>HRM</a:t>
            </a:r>
            <a:r>
              <a:rPr lang="en-US" sz="1050">
                <a:solidFill>
                  <a:srgbClr val="100643"/>
                </a:solidFill>
                <a:latin typeface="Poppins"/>
                <a:ea typeface="Poppins"/>
                <a:cs typeface="Poppins"/>
                <a:sym typeface="Poppins"/>
              </a:rPr>
              <a:t> - Quản trị nhân sự</a:t>
            </a:r>
          </a:p>
          <a:p>
            <a:pPr algn="l">
              <a:lnSpc>
                <a:spcPts val="1155"/>
              </a:lnSpc>
            </a:pPr>
            <a:r>
              <a:rPr lang="en-US" sz="1050" b="true">
                <a:solidFill>
                  <a:srgbClr val="100643"/>
                </a:solidFill>
                <a:latin typeface="Poppins Bold"/>
                <a:ea typeface="Poppins Bold"/>
                <a:cs typeface="Poppins Bold"/>
                <a:sym typeface="Poppins Bold"/>
              </a:rPr>
              <a:t>SSOT</a:t>
            </a:r>
            <a:r>
              <a:rPr lang="en-US" sz="1050">
                <a:solidFill>
                  <a:srgbClr val="100643"/>
                </a:solidFill>
                <a:latin typeface="Poppins"/>
                <a:ea typeface="Poppins"/>
                <a:cs typeface="Poppins"/>
                <a:sym typeface="Poppins"/>
              </a:rPr>
              <a:t> - Nguồn dữ liệu dùng chung</a:t>
            </a:r>
          </a:p>
          <a:p>
            <a:pPr algn="l">
              <a:lnSpc>
                <a:spcPts val="1155"/>
              </a:lnSpc>
            </a:pPr>
            <a:r>
              <a:rPr lang="en-US" sz="1050" b="true">
                <a:solidFill>
                  <a:srgbClr val="100643"/>
                </a:solidFill>
                <a:latin typeface="Poppins Bold"/>
                <a:ea typeface="Poppins Bold"/>
                <a:cs typeface="Poppins Bold"/>
                <a:sym typeface="Poppins Bold"/>
              </a:rPr>
              <a:t>WMS</a:t>
            </a:r>
            <a:r>
              <a:rPr lang="en-US" sz="1050">
                <a:solidFill>
                  <a:srgbClr val="100643"/>
                </a:solidFill>
                <a:latin typeface="Poppins"/>
                <a:ea typeface="Poppins"/>
                <a:cs typeface="Poppins"/>
                <a:sym typeface="Poppins"/>
              </a:rPr>
              <a:t> - Hệ thống quản lý kho</a:t>
            </a:r>
          </a:p>
          <a:p>
            <a:pPr algn="l">
              <a:lnSpc>
                <a:spcPts val="1155"/>
              </a:lnSpc>
            </a:pPr>
            <a:r>
              <a:rPr lang="en-US" sz="1050" b="true">
                <a:solidFill>
                  <a:srgbClr val="100643"/>
                </a:solidFill>
                <a:latin typeface="Poppins Bold"/>
                <a:ea typeface="Poppins Bold"/>
                <a:cs typeface="Poppins Bold"/>
                <a:sym typeface="Poppins Bold"/>
              </a:rPr>
              <a:t>HTMS</a:t>
            </a:r>
            <a:r>
              <a:rPr lang="en-US" sz="1050">
                <a:solidFill>
                  <a:srgbClr val="100643"/>
                </a:solidFill>
                <a:latin typeface="Poppins"/>
                <a:ea typeface="Poppins"/>
                <a:cs typeface="Poppins"/>
                <a:sym typeface="Poppins"/>
              </a:rPr>
              <a:t> - Hệ thống quản lý hoàn trả</a:t>
            </a:r>
          </a:p>
          <a:p>
            <a:pPr algn="l">
              <a:lnSpc>
                <a:spcPts val="1155"/>
              </a:lnSpc>
            </a:pPr>
            <a:r>
              <a:rPr lang="en-US" sz="1050" b="true">
                <a:solidFill>
                  <a:srgbClr val="100643"/>
                </a:solidFill>
                <a:latin typeface="Poppins Bold"/>
                <a:ea typeface="Poppins Bold"/>
                <a:cs typeface="Poppins Bold"/>
                <a:sym typeface="Poppins Bold"/>
              </a:rPr>
              <a:t>eBook</a:t>
            </a:r>
            <a:r>
              <a:rPr lang="en-US" sz="1050">
                <a:solidFill>
                  <a:srgbClr val="100643"/>
                </a:solidFill>
                <a:latin typeface="Poppins"/>
                <a:ea typeface="Poppins"/>
                <a:cs typeface="Poppins"/>
                <a:sym typeface="Poppins"/>
              </a:rPr>
              <a:t> - Sổ tay/chứng từ điện tử</a:t>
            </a:r>
          </a:p>
          <a:p>
            <a:pPr algn="l">
              <a:lnSpc>
                <a:spcPts val="1155"/>
              </a:lnSpc>
            </a:pPr>
            <a:r>
              <a:rPr lang="en-US" sz="1050" b="true">
                <a:solidFill>
                  <a:srgbClr val="100643"/>
                </a:solidFill>
                <a:latin typeface="Poppins Bold"/>
                <a:ea typeface="Poppins Bold"/>
                <a:cs typeface="Poppins Bold"/>
                <a:sym typeface="Poppins Bold"/>
              </a:rPr>
              <a:t>Chatbot AI</a:t>
            </a:r>
            <a:r>
              <a:rPr lang="en-US" sz="1050">
                <a:solidFill>
                  <a:srgbClr val="100643"/>
                </a:solidFill>
                <a:latin typeface="Poppins"/>
                <a:ea typeface="Poppins"/>
                <a:cs typeface="Poppins"/>
                <a:sym typeface="Poppins"/>
              </a:rPr>
              <a:t> - Tự động hóa hỗ trợ CSKH</a:t>
            </a:r>
          </a:p>
          <a:p>
            <a:pPr algn="l">
              <a:lnSpc>
                <a:spcPts val="1155"/>
              </a:lnSpc>
            </a:pPr>
            <a:r>
              <a:rPr lang="en-US" sz="1050" b="true">
                <a:solidFill>
                  <a:srgbClr val="110440"/>
                </a:solidFill>
                <a:latin typeface="Poppins Bold"/>
                <a:ea typeface="Poppins Bold"/>
                <a:cs typeface="Poppins Bold"/>
                <a:sym typeface="Poppins Bold"/>
              </a:rPr>
              <a:t>SMS / OTP</a:t>
            </a:r>
            <a:r>
              <a:rPr lang="en-US" sz="1050">
                <a:solidFill>
                  <a:srgbClr val="110440"/>
                </a:solidFill>
                <a:latin typeface="Poppins"/>
                <a:ea typeface="Poppins"/>
                <a:cs typeface="Poppins"/>
                <a:sym typeface="Poppins"/>
              </a:rPr>
              <a:t> - Thông báo và mã xác thực một lần</a:t>
            </a:r>
          </a:p>
          <a:p>
            <a:pPr algn="l">
              <a:lnSpc>
                <a:spcPts val="1155"/>
              </a:lnSpc>
            </a:pPr>
            <a:r>
              <a:rPr lang="en-US" sz="1050" b="true">
                <a:solidFill>
                  <a:srgbClr val="100643"/>
                </a:solidFill>
                <a:latin typeface="Poppins Bold"/>
                <a:ea typeface="Poppins Bold"/>
                <a:cs typeface="Poppins Bold"/>
                <a:sym typeface="Poppins Bold"/>
              </a:rPr>
              <a:t>DWS</a:t>
            </a:r>
            <a:r>
              <a:rPr lang="en-US" sz="1050">
                <a:solidFill>
                  <a:srgbClr val="100643"/>
                </a:solidFill>
                <a:latin typeface="Poppins"/>
                <a:ea typeface="Poppins"/>
                <a:cs typeface="Poppins"/>
                <a:sym typeface="Poppins"/>
              </a:rPr>
              <a:t> - Cân, đo và kiểm tra kích thước</a:t>
            </a:r>
          </a:p>
          <a:p>
            <a:pPr algn="l">
              <a:lnSpc>
                <a:spcPts val="1155"/>
              </a:lnSpc>
            </a:pPr>
            <a:r>
              <a:rPr lang="en-US" sz="1050" b="true">
                <a:solidFill>
                  <a:srgbClr val="110440"/>
                </a:solidFill>
                <a:latin typeface="Poppins Bold"/>
                <a:ea typeface="Poppins Bold"/>
                <a:cs typeface="Poppins Bold"/>
                <a:sym typeface="Poppins Bold"/>
              </a:rPr>
              <a:t>Seal / Unsealing</a:t>
            </a:r>
            <a:r>
              <a:rPr lang="en-US" sz="1050">
                <a:solidFill>
                  <a:srgbClr val="110440"/>
                </a:solidFill>
                <a:latin typeface="Poppins"/>
                <a:ea typeface="Poppins"/>
                <a:cs typeface="Poppins"/>
                <a:sym typeface="Poppins"/>
              </a:rPr>
              <a:t> - Đóng, mở bao và kiểm soát niêm phong</a:t>
            </a:r>
          </a:p>
          <a:p>
            <a:pPr algn="l">
              <a:lnSpc>
                <a:spcPts val="1155"/>
              </a:lnSpc>
            </a:pPr>
            <a:r>
              <a:rPr lang="en-US" sz="1050" b="true">
                <a:solidFill>
                  <a:srgbClr val="100643"/>
                </a:solidFill>
                <a:latin typeface="Poppins Bold"/>
                <a:ea typeface="Poppins Bold"/>
                <a:cs typeface="Poppins Bold"/>
                <a:sym typeface="Poppins Bold"/>
              </a:rPr>
              <a:t>AI</a:t>
            </a:r>
            <a:r>
              <a:rPr lang="en-US" sz="1050">
                <a:solidFill>
                  <a:srgbClr val="100643"/>
                </a:solidFill>
                <a:latin typeface="Poppins"/>
                <a:ea typeface="Poppins"/>
                <a:cs typeface="Poppins"/>
                <a:sym typeface="Poppins"/>
              </a:rPr>
              <a:t> - Trí tuệ nhân tạo</a:t>
            </a:r>
          </a:p>
          <a:p>
            <a:pPr algn="l">
              <a:lnSpc>
                <a:spcPts val="1155"/>
              </a:lnSpc>
            </a:pPr>
            <a:r>
              <a:rPr lang="en-US" sz="1050" b="true">
                <a:solidFill>
                  <a:srgbClr val="100643"/>
                </a:solidFill>
                <a:latin typeface="Poppins Bold"/>
                <a:ea typeface="Poppins Bold"/>
                <a:cs typeface="Poppins Bold"/>
                <a:sym typeface="Poppins Bold"/>
              </a:rPr>
              <a:t>GPS</a:t>
            </a:r>
            <a:r>
              <a:rPr lang="en-US" sz="1050">
                <a:solidFill>
                  <a:srgbClr val="100643"/>
                </a:solidFill>
                <a:latin typeface="Poppins"/>
                <a:ea typeface="Poppins"/>
                <a:cs typeface="Poppins"/>
                <a:sym typeface="Poppins"/>
              </a:rPr>
              <a:t> - Định vị toàn cầu</a:t>
            </a:r>
          </a:p>
          <a:p>
            <a:pPr algn="l">
              <a:lnSpc>
                <a:spcPts val="1155"/>
              </a:lnSpc>
            </a:pPr>
            <a:r>
              <a:rPr lang="en-US" sz="1050" b="true">
                <a:solidFill>
                  <a:srgbClr val="100643"/>
                </a:solidFill>
                <a:latin typeface="Poppins Bold"/>
                <a:ea typeface="Poppins Bold"/>
                <a:cs typeface="Poppins Bold"/>
                <a:sym typeface="Poppins Bold"/>
              </a:rPr>
              <a:t>App</a:t>
            </a:r>
            <a:r>
              <a:rPr lang="en-US" sz="1050">
                <a:solidFill>
                  <a:srgbClr val="100643"/>
                </a:solidFill>
                <a:latin typeface="Poppins"/>
                <a:ea typeface="Poppins"/>
                <a:cs typeface="Poppins"/>
                <a:sym typeface="Poppins"/>
              </a:rPr>
              <a:t> - Kênh thao tác qua ứng dụng</a:t>
            </a:r>
          </a:p>
          <a:p>
            <a:pPr algn="l">
              <a:lnSpc>
                <a:spcPts val="1155"/>
              </a:lnSpc>
            </a:pPr>
            <a:r>
              <a:rPr lang="en-US" sz="1050" b="true">
                <a:solidFill>
                  <a:srgbClr val="100643"/>
                </a:solidFill>
                <a:latin typeface="Poppins Bold"/>
                <a:ea typeface="Poppins Bold"/>
                <a:cs typeface="Poppins Bold"/>
                <a:sym typeface="Poppins Bold"/>
              </a:rPr>
              <a:t>Web</a:t>
            </a:r>
            <a:r>
              <a:rPr lang="en-US" sz="1050">
                <a:solidFill>
                  <a:srgbClr val="100643"/>
                </a:solidFill>
                <a:latin typeface="Poppins"/>
                <a:ea typeface="Poppins"/>
                <a:cs typeface="Poppins"/>
                <a:sym typeface="Poppins"/>
              </a:rPr>
              <a:t> - Kênh đặt hàng qua website</a:t>
            </a:r>
          </a:p>
          <a:p>
            <a:pPr algn="l">
              <a:lnSpc>
                <a:spcPts val="1155"/>
              </a:lnSpc>
            </a:pPr>
            <a:r>
              <a:rPr lang="en-US" sz="1050" b="true">
                <a:solidFill>
                  <a:srgbClr val="100643"/>
                </a:solidFill>
                <a:latin typeface="Poppins Bold"/>
                <a:ea typeface="Poppins Bold"/>
                <a:cs typeface="Poppins Bold"/>
                <a:sym typeface="Poppins Bold"/>
              </a:rPr>
              <a:t>Quầy</a:t>
            </a:r>
            <a:r>
              <a:rPr lang="en-US" sz="1050">
                <a:solidFill>
                  <a:srgbClr val="100643"/>
                </a:solidFill>
                <a:latin typeface="Poppins"/>
                <a:ea typeface="Poppins"/>
                <a:cs typeface="Poppins"/>
                <a:sym typeface="Poppins"/>
              </a:rPr>
              <a:t> - Kênh giao dịch trực tiếp</a:t>
            </a:r>
          </a:p>
        </p:txBody>
      </p:sp>
      <p:sp>
        <p:nvSpPr>
          <p:cNvPr name="TextBox 46" id="46"/>
          <p:cNvSpPr txBox="true"/>
          <p:nvPr/>
        </p:nvSpPr>
        <p:spPr>
          <a:xfrm rot="0">
            <a:off x="4781550" y="2085975"/>
            <a:ext cx="4295775" cy="2022634"/>
          </a:xfrm>
          <a:prstGeom prst="rect">
            <a:avLst/>
          </a:prstGeom>
        </p:spPr>
        <p:txBody>
          <a:bodyPr anchor="t" rtlCol="false" tIns="0" lIns="0" bIns="0" rIns="0">
            <a:spAutoFit/>
          </a:bodyPr>
          <a:lstStyle/>
          <a:p>
            <a:pPr algn="l">
              <a:lnSpc>
                <a:spcPts val="1113"/>
              </a:lnSpc>
            </a:pPr>
            <a:r>
              <a:rPr lang="en-US" sz="1012" b="true">
                <a:solidFill>
                  <a:srgbClr val="100643"/>
                </a:solidFill>
                <a:latin typeface="Poppins Bold"/>
                <a:ea typeface="Poppins Bold"/>
                <a:cs typeface="Poppins Bold"/>
                <a:sym typeface="Poppins Bold"/>
              </a:rPr>
              <a:t>COD</a:t>
            </a:r>
            <a:r>
              <a:rPr lang="en-US" sz="1012">
                <a:solidFill>
                  <a:srgbClr val="100643"/>
                </a:solidFill>
                <a:latin typeface="Poppins"/>
                <a:ea typeface="Poppins"/>
                <a:cs typeface="Poppins"/>
                <a:sym typeface="Poppins"/>
              </a:rPr>
              <a:t> - Thu hộ khi giao hàng</a:t>
            </a:r>
          </a:p>
          <a:p>
            <a:pPr algn="l">
              <a:lnSpc>
                <a:spcPts val="1113"/>
              </a:lnSpc>
            </a:pPr>
            <a:r>
              <a:rPr lang="en-US" sz="1012" b="true">
                <a:solidFill>
                  <a:srgbClr val="100643"/>
                </a:solidFill>
                <a:latin typeface="Poppins Bold"/>
                <a:ea typeface="Poppins Bold"/>
                <a:cs typeface="Poppins Bold"/>
                <a:sym typeface="Poppins Bold"/>
              </a:rPr>
              <a:t>SLA</a:t>
            </a:r>
            <a:r>
              <a:rPr lang="en-US" sz="1012">
                <a:solidFill>
                  <a:srgbClr val="100643"/>
                </a:solidFill>
                <a:latin typeface="Poppins"/>
                <a:ea typeface="Poppins"/>
                <a:cs typeface="Poppins"/>
                <a:sym typeface="Poppins"/>
              </a:rPr>
              <a:t> - Cam kết thời gian xử lý</a:t>
            </a:r>
          </a:p>
          <a:p>
            <a:pPr algn="l">
              <a:lnSpc>
                <a:spcPts val="1113"/>
              </a:lnSpc>
            </a:pPr>
            <a:r>
              <a:rPr lang="en-US" sz="1012" b="true">
                <a:solidFill>
                  <a:srgbClr val="100643"/>
                </a:solidFill>
                <a:latin typeface="Poppins Bold"/>
                <a:ea typeface="Poppins Bold"/>
                <a:cs typeface="Poppins Bold"/>
                <a:sym typeface="Poppins Bold"/>
              </a:rPr>
              <a:t>Gom hàng / Tập kết</a:t>
            </a:r>
            <a:r>
              <a:rPr lang="en-US" sz="1012">
                <a:solidFill>
                  <a:srgbClr val="100643"/>
                </a:solidFill>
                <a:latin typeface="Poppins"/>
                <a:ea typeface="Poppins"/>
                <a:cs typeface="Poppins"/>
                <a:sym typeface="Poppins"/>
              </a:rPr>
              <a:t> - Thu gom và tập trung hàng</a:t>
            </a:r>
          </a:p>
          <a:p>
            <a:pPr algn="l">
              <a:lnSpc>
                <a:spcPts val="1113"/>
              </a:lnSpc>
            </a:pPr>
            <a:r>
              <a:rPr lang="en-US" sz="1012" b="true">
                <a:solidFill>
                  <a:srgbClr val="100643"/>
                </a:solidFill>
                <a:latin typeface="Poppins Bold"/>
                <a:ea typeface="Poppins Bold"/>
                <a:cs typeface="Poppins Bold"/>
                <a:sym typeface="Poppins Bold"/>
              </a:rPr>
              <a:t>Chuyển phát liên tỉnh</a:t>
            </a:r>
            <a:r>
              <a:rPr lang="en-US" sz="1012">
                <a:solidFill>
                  <a:srgbClr val="100643"/>
                </a:solidFill>
                <a:latin typeface="Poppins"/>
                <a:ea typeface="Poppins"/>
                <a:cs typeface="Poppins"/>
                <a:sym typeface="Poppins"/>
              </a:rPr>
              <a:t> - Vận chuyển giữa các tỉnh</a:t>
            </a:r>
          </a:p>
          <a:p>
            <a:pPr algn="l">
              <a:lnSpc>
                <a:spcPts val="1113"/>
              </a:lnSpc>
            </a:pPr>
            <a:r>
              <a:rPr lang="en-US" sz="1012" b="true">
                <a:solidFill>
                  <a:srgbClr val="100643"/>
                </a:solidFill>
                <a:latin typeface="Poppins Bold"/>
                <a:ea typeface="Poppins Bold"/>
                <a:cs typeface="Poppins Bold"/>
                <a:sym typeface="Poppins Bold"/>
              </a:rPr>
              <a:t>Phân công tuyến</a:t>
            </a:r>
            <a:r>
              <a:rPr lang="en-US" sz="1012">
                <a:solidFill>
                  <a:srgbClr val="100643"/>
                </a:solidFill>
                <a:latin typeface="Poppins"/>
                <a:ea typeface="Poppins"/>
                <a:cs typeface="Poppins"/>
                <a:sym typeface="Poppins"/>
              </a:rPr>
              <a:t> - Phân bổ tuyến giao cho bưu tá</a:t>
            </a:r>
          </a:p>
          <a:p>
            <a:pPr algn="l">
              <a:lnSpc>
                <a:spcPts val="1113"/>
              </a:lnSpc>
            </a:pPr>
            <a:r>
              <a:rPr lang="en-US" sz="1012" b="true">
                <a:solidFill>
                  <a:srgbClr val="110440"/>
                </a:solidFill>
                <a:latin typeface="Poppins Bold"/>
                <a:ea typeface="Poppins Bold"/>
                <a:cs typeface="Poppins Bold"/>
                <a:sym typeface="Poppins Bold"/>
              </a:rPr>
              <a:t>Bàn giao / Handover</a:t>
            </a:r>
            <a:r>
              <a:rPr lang="en-US" sz="1012">
                <a:solidFill>
                  <a:srgbClr val="110440"/>
                </a:solidFill>
                <a:latin typeface="Poppins"/>
                <a:ea typeface="Poppins"/>
                <a:cs typeface="Poppins"/>
                <a:sym typeface="Poppins"/>
              </a:rPr>
              <a:t> - Chuyển giao hàng hóa hoặc trách nhiệm</a:t>
            </a:r>
          </a:p>
          <a:p>
            <a:pPr algn="l">
              <a:lnSpc>
                <a:spcPts val="1113"/>
              </a:lnSpc>
            </a:pPr>
            <a:r>
              <a:rPr lang="en-US" sz="1012" b="true">
                <a:solidFill>
                  <a:srgbClr val="100643"/>
                </a:solidFill>
                <a:latin typeface="Poppins Bold"/>
                <a:ea typeface="Poppins Bold"/>
                <a:cs typeface="Poppins Bold"/>
                <a:sym typeface="Poppins Bold"/>
              </a:rPr>
              <a:t>Luân chuyển</a:t>
            </a:r>
            <a:r>
              <a:rPr lang="en-US" sz="1012">
                <a:solidFill>
                  <a:srgbClr val="100643"/>
                </a:solidFill>
                <a:latin typeface="Poppins"/>
                <a:ea typeface="Poppins"/>
                <a:cs typeface="Poppins"/>
                <a:sym typeface="Poppins"/>
              </a:rPr>
              <a:t> - Di chuyển hàng giữa các trung tâm</a:t>
            </a:r>
          </a:p>
          <a:p>
            <a:pPr algn="l">
              <a:lnSpc>
                <a:spcPts val="1113"/>
              </a:lnSpc>
            </a:pPr>
            <a:r>
              <a:rPr lang="en-US" sz="1012" b="true">
                <a:solidFill>
                  <a:srgbClr val="100643"/>
                </a:solidFill>
                <a:latin typeface="Poppins Bold"/>
                <a:ea typeface="Poppins Bold"/>
                <a:cs typeface="Poppins Bold"/>
                <a:sym typeface="Poppins Bold"/>
              </a:rPr>
              <a:t>Queue</a:t>
            </a:r>
            <a:r>
              <a:rPr lang="en-US" sz="1012">
                <a:solidFill>
                  <a:srgbClr val="100643"/>
                </a:solidFill>
                <a:latin typeface="Poppins"/>
                <a:ea typeface="Poppins"/>
                <a:cs typeface="Poppins"/>
                <a:sym typeface="Poppins"/>
              </a:rPr>
              <a:t> - Hàng chờ theo thứ tự xử lý</a:t>
            </a:r>
          </a:p>
          <a:p>
            <a:pPr algn="l">
              <a:lnSpc>
                <a:spcPts val="1113"/>
              </a:lnSpc>
            </a:pPr>
            <a:r>
              <a:rPr lang="en-US" sz="1012" b="true">
                <a:solidFill>
                  <a:srgbClr val="100643"/>
                </a:solidFill>
                <a:latin typeface="Poppins Bold"/>
                <a:ea typeface="Poppins Bold"/>
                <a:cs typeface="Poppins Bold"/>
                <a:sym typeface="Poppins Bold"/>
              </a:rPr>
              <a:t>Phân tuyến / Routing</a:t>
            </a:r>
            <a:r>
              <a:rPr lang="en-US" sz="1012">
                <a:solidFill>
                  <a:srgbClr val="100643"/>
                </a:solidFill>
                <a:latin typeface="Poppins"/>
                <a:ea typeface="Poppins"/>
                <a:cs typeface="Poppins"/>
                <a:sym typeface="Poppins"/>
              </a:rPr>
              <a:t> - Xác định tuyến vận chuyển</a:t>
            </a:r>
          </a:p>
          <a:p>
            <a:pPr algn="l">
              <a:lnSpc>
                <a:spcPts val="1113"/>
              </a:lnSpc>
            </a:pPr>
            <a:r>
              <a:rPr lang="en-US" sz="1012" b="true">
                <a:solidFill>
                  <a:srgbClr val="100643"/>
                </a:solidFill>
                <a:latin typeface="Poppins Bold"/>
                <a:ea typeface="Poppins Bold"/>
                <a:cs typeface="Poppins Bold"/>
                <a:sym typeface="Poppins Bold"/>
              </a:rPr>
              <a:t>Khai thác</a:t>
            </a:r>
            <a:r>
              <a:rPr lang="en-US" sz="1012">
                <a:solidFill>
                  <a:srgbClr val="100643"/>
                </a:solidFill>
                <a:latin typeface="Poppins"/>
                <a:ea typeface="Poppins"/>
                <a:cs typeface="Poppins"/>
                <a:sym typeface="Poppins"/>
              </a:rPr>
              <a:t> - Xử lý hàng tại điểm khai thác</a:t>
            </a:r>
          </a:p>
          <a:p>
            <a:pPr algn="l">
              <a:lnSpc>
                <a:spcPts val="1113"/>
              </a:lnSpc>
            </a:pPr>
            <a:r>
              <a:rPr lang="en-US" sz="1012" b="true">
                <a:solidFill>
                  <a:srgbClr val="100643"/>
                </a:solidFill>
                <a:latin typeface="Poppins Bold"/>
                <a:ea typeface="Poppins Bold"/>
                <a:cs typeface="Poppins Bold"/>
                <a:sym typeface="Poppins Bold"/>
              </a:rPr>
              <a:t>Hoàn tất / Completion</a:t>
            </a:r>
            <a:r>
              <a:rPr lang="en-US" sz="1012">
                <a:solidFill>
                  <a:srgbClr val="100643"/>
                </a:solidFill>
                <a:latin typeface="Poppins"/>
                <a:ea typeface="Poppins"/>
                <a:cs typeface="Poppins"/>
                <a:sym typeface="Poppins"/>
              </a:rPr>
              <a:t> - Hoàn thành đủ các bước</a:t>
            </a:r>
          </a:p>
          <a:p>
            <a:pPr algn="l">
              <a:lnSpc>
                <a:spcPts val="1113"/>
              </a:lnSpc>
            </a:pPr>
            <a:r>
              <a:rPr lang="en-US" sz="1012" b="true">
                <a:solidFill>
                  <a:srgbClr val="110440"/>
                </a:solidFill>
                <a:latin typeface="Poppins Bold"/>
                <a:ea typeface="Poppins Bold"/>
                <a:cs typeface="Poppins Bold"/>
                <a:sym typeface="Poppins Bold"/>
              </a:rPr>
              <a:t>Ngoại lệ / Exception</a:t>
            </a:r>
            <a:r>
              <a:rPr lang="en-US" sz="1012">
                <a:solidFill>
                  <a:srgbClr val="110440"/>
                </a:solidFill>
                <a:latin typeface="Poppins"/>
                <a:ea typeface="Poppins"/>
                <a:cs typeface="Poppins"/>
                <a:sym typeface="Poppins"/>
              </a:rPr>
              <a:t> - Trường hợp ngoài luồng chuẩn</a:t>
            </a:r>
          </a:p>
          <a:p>
            <a:pPr algn="l">
              <a:lnSpc>
                <a:spcPts val="1113"/>
              </a:lnSpc>
            </a:pPr>
            <a:r>
              <a:rPr lang="en-US" sz="1012" b="true">
                <a:solidFill>
                  <a:srgbClr val="110440"/>
                </a:solidFill>
                <a:latin typeface="Poppins Bold"/>
                <a:ea typeface="Poppins Bold"/>
                <a:cs typeface="Poppins Bold"/>
                <a:sym typeface="Poppins Bold"/>
              </a:rPr>
              <a:t>Giao thành công / Successful Delivery</a:t>
            </a:r>
            <a:r>
              <a:rPr lang="en-US" sz="1012">
                <a:solidFill>
                  <a:srgbClr val="110440"/>
                </a:solidFill>
                <a:latin typeface="Poppins"/>
                <a:ea typeface="Poppins"/>
                <a:cs typeface="Poppins"/>
                <a:sym typeface="Poppins"/>
              </a:rPr>
              <a:t> - Giao cho người nhận</a:t>
            </a:r>
          </a:p>
          <a:p>
            <a:pPr algn="l">
              <a:lnSpc>
                <a:spcPts val="1113"/>
              </a:lnSpc>
            </a:pPr>
            <a:r>
              <a:rPr lang="en-US" sz="1012" b="true">
                <a:solidFill>
                  <a:srgbClr val="110440"/>
                </a:solidFill>
                <a:latin typeface="Poppins Bold"/>
                <a:ea typeface="Poppins Bold"/>
                <a:cs typeface="Poppins Bold"/>
                <a:sym typeface="Poppins Bold"/>
              </a:rPr>
              <a:t>Hoàn trả / Return</a:t>
            </a:r>
            <a:r>
              <a:rPr lang="en-US" sz="1012">
                <a:solidFill>
                  <a:srgbClr val="110440"/>
                </a:solidFill>
                <a:latin typeface="Poppins"/>
                <a:ea typeface="Poppins"/>
                <a:cs typeface="Poppins"/>
                <a:sym typeface="Poppins"/>
              </a:rPr>
              <a:t> - Xử lý hàng không giao được hoặc yêu cầu trả lại</a:t>
            </a:r>
          </a:p>
        </p:txBody>
      </p:sp>
      <p:sp>
        <p:nvSpPr>
          <p:cNvPr name="TextBox 47" id="47"/>
          <p:cNvSpPr txBox="true"/>
          <p:nvPr/>
        </p:nvSpPr>
        <p:spPr>
          <a:xfrm rot="0">
            <a:off x="9525000" y="2095500"/>
            <a:ext cx="3905250" cy="2156460"/>
          </a:xfrm>
          <a:prstGeom prst="rect">
            <a:avLst/>
          </a:prstGeom>
        </p:spPr>
        <p:txBody>
          <a:bodyPr anchor="t" rtlCol="false" tIns="0" lIns="0" bIns="0" rIns="0">
            <a:spAutoFit/>
          </a:bodyPr>
          <a:lstStyle/>
          <a:p>
            <a:pPr algn="l">
              <a:lnSpc>
                <a:spcPts val="1155"/>
              </a:lnSpc>
            </a:pPr>
            <a:r>
              <a:rPr lang="en-US" sz="1050" b="true">
                <a:solidFill>
                  <a:srgbClr val="100643"/>
                </a:solidFill>
                <a:latin typeface="Poppins Bold"/>
                <a:ea typeface="Poppins Bold"/>
                <a:cs typeface="Poppins Bold"/>
                <a:sym typeface="Poppins Bold"/>
              </a:rPr>
              <a:t>Vận đơn / Waybill</a:t>
            </a:r>
            <a:r>
              <a:rPr lang="en-US" sz="1050">
                <a:solidFill>
                  <a:srgbClr val="100643"/>
                </a:solidFill>
                <a:latin typeface="Poppins"/>
                <a:ea typeface="Poppins"/>
                <a:cs typeface="Poppins"/>
                <a:sym typeface="Poppins"/>
              </a:rPr>
              <a:t> - Chứng từ thông tin đơn hàng</a:t>
            </a:r>
          </a:p>
          <a:p>
            <a:pPr algn="l">
              <a:lnSpc>
                <a:spcPts val="1155"/>
              </a:lnSpc>
            </a:pPr>
            <a:r>
              <a:rPr lang="en-US" sz="1050" b="true">
                <a:solidFill>
                  <a:srgbClr val="100643"/>
                </a:solidFill>
                <a:latin typeface="Poppins Bold"/>
                <a:ea typeface="Poppins Bold"/>
                <a:cs typeface="Poppins Bold"/>
                <a:sym typeface="Poppins Bold"/>
              </a:rPr>
              <a:t>Mã vận đơn</a:t>
            </a:r>
            <a:r>
              <a:rPr lang="en-US" sz="1050">
                <a:solidFill>
                  <a:srgbClr val="100643"/>
                </a:solidFill>
                <a:latin typeface="Poppins"/>
                <a:ea typeface="Poppins"/>
                <a:cs typeface="Poppins"/>
                <a:sym typeface="Poppins"/>
              </a:rPr>
              <a:t> - Mã nhận diện bưu gửi</a:t>
            </a:r>
          </a:p>
          <a:p>
            <a:pPr algn="l">
              <a:lnSpc>
                <a:spcPts val="1155"/>
              </a:lnSpc>
            </a:pPr>
            <a:r>
              <a:rPr lang="en-US" sz="1050" b="true">
                <a:solidFill>
                  <a:srgbClr val="100643"/>
                </a:solidFill>
                <a:latin typeface="Poppins Bold"/>
                <a:ea typeface="Poppins Bold"/>
                <a:cs typeface="Poppins Bold"/>
                <a:sym typeface="Poppins Bold"/>
              </a:rPr>
              <a:t>Manifest</a:t>
            </a:r>
            <a:r>
              <a:rPr lang="en-US" sz="1050">
                <a:solidFill>
                  <a:srgbClr val="100643"/>
                </a:solidFill>
                <a:latin typeface="Poppins"/>
                <a:ea typeface="Poppins"/>
                <a:cs typeface="Poppins"/>
                <a:sym typeface="Poppins"/>
              </a:rPr>
              <a:t> - Bảng kê hàng gom theo tuyến</a:t>
            </a:r>
          </a:p>
          <a:p>
            <a:pPr algn="l">
              <a:lnSpc>
                <a:spcPts val="1155"/>
              </a:lnSpc>
            </a:pPr>
            <a:r>
              <a:rPr lang="en-US" sz="1050" b="true">
                <a:solidFill>
                  <a:srgbClr val="100643"/>
                </a:solidFill>
                <a:latin typeface="Poppins Bold"/>
                <a:ea typeface="Poppins Bold"/>
                <a:cs typeface="Poppins Bold"/>
                <a:sym typeface="Poppins Bold"/>
              </a:rPr>
              <a:t>Cuống vận đơn</a:t>
            </a:r>
            <a:r>
              <a:rPr lang="en-US" sz="1050">
                <a:solidFill>
                  <a:srgbClr val="100643"/>
                </a:solidFill>
                <a:latin typeface="Poppins"/>
                <a:ea typeface="Poppins"/>
                <a:cs typeface="Poppins"/>
                <a:sym typeface="Poppins"/>
              </a:rPr>
              <a:t> - Chứng từ lưu lại sau giao</a:t>
            </a:r>
          </a:p>
          <a:p>
            <a:pPr algn="l">
              <a:lnSpc>
                <a:spcPts val="1155"/>
              </a:lnSpc>
            </a:pPr>
            <a:r>
              <a:rPr lang="en-US" sz="1050" b="true">
                <a:solidFill>
                  <a:srgbClr val="100643"/>
                </a:solidFill>
                <a:latin typeface="Poppins Bold"/>
                <a:ea typeface="Poppins Bold"/>
                <a:cs typeface="Poppins Bold"/>
                <a:sym typeface="Poppins Bold"/>
              </a:rPr>
              <a:t>Hóa đơn / Invoice</a:t>
            </a:r>
            <a:r>
              <a:rPr lang="en-US" sz="1050">
                <a:solidFill>
                  <a:srgbClr val="100643"/>
                </a:solidFill>
                <a:latin typeface="Poppins"/>
                <a:ea typeface="Poppins"/>
                <a:cs typeface="Poppins"/>
                <a:sym typeface="Poppins"/>
              </a:rPr>
              <a:t> - Chứng từ thanh toán</a:t>
            </a:r>
          </a:p>
          <a:p>
            <a:pPr algn="l">
              <a:lnSpc>
                <a:spcPts val="1155"/>
              </a:lnSpc>
            </a:pPr>
            <a:r>
              <a:rPr lang="en-US" sz="1050" b="true">
                <a:solidFill>
                  <a:srgbClr val="100643"/>
                </a:solidFill>
                <a:latin typeface="Poppins Bold"/>
                <a:ea typeface="Poppins Bold"/>
                <a:cs typeface="Poppins Bold"/>
                <a:sym typeface="Poppins Bold"/>
              </a:rPr>
              <a:t>Phiếu bưu gửi</a:t>
            </a:r>
            <a:r>
              <a:rPr lang="en-US" sz="1050">
                <a:solidFill>
                  <a:srgbClr val="100643"/>
                </a:solidFill>
                <a:latin typeface="Poppins"/>
                <a:ea typeface="Poppins"/>
                <a:cs typeface="Poppins"/>
                <a:sym typeface="Poppins"/>
              </a:rPr>
              <a:t> - Xác nhận tiếp nhận hàng</a:t>
            </a:r>
          </a:p>
          <a:p>
            <a:pPr algn="l">
              <a:lnSpc>
                <a:spcPts val="1155"/>
              </a:lnSpc>
            </a:pPr>
            <a:r>
              <a:rPr lang="en-US" sz="1050" b="true">
                <a:solidFill>
                  <a:srgbClr val="100643"/>
                </a:solidFill>
                <a:latin typeface="Poppins Bold"/>
                <a:ea typeface="Poppins Bold"/>
                <a:cs typeface="Poppins Bold"/>
                <a:sym typeface="Poppins Bold"/>
              </a:rPr>
              <a:t>Hợp đồng nguyên tắc</a:t>
            </a:r>
            <a:r>
              <a:rPr lang="en-US" sz="1050">
                <a:solidFill>
                  <a:srgbClr val="100643"/>
                </a:solidFill>
                <a:latin typeface="Poppins"/>
                <a:ea typeface="Poppins"/>
                <a:cs typeface="Poppins"/>
                <a:sym typeface="Poppins"/>
              </a:rPr>
              <a:t> - Thỏa thuận với đối tác</a:t>
            </a:r>
          </a:p>
          <a:p>
            <a:pPr algn="l">
              <a:lnSpc>
                <a:spcPts val="1155"/>
              </a:lnSpc>
            </a:pPr>
            <a:r>
              <a:rPr lang="en-US" sz="1050" b="true">
                <a:solidFill>
                  <a:srgbClr val="100643"/>
                </a:solidFill>
                <a:latin typeface="Poppins Bold"/>
                <a:ea typeface="Poppins Bold"/>
                <a:cs typeface="Poppins Bold"/>
                <a:sym typeface="Poppins Bold"/>
              </a:rPr>
              <a:t>Ticket CRM</a:t>
            </a:r>
            <a:r>
              <a:rPr lang="en-US" sz="1050">
                <a:solidFill>
                  <a:srgbClr val="100643"/>
                </a:solidFill>
                <a:latin typeface="Poppins"/>
                <a:ea typeface="Poppins"/>
                <a:cs typeface="Poppins"/>
                <a:sym typeface="Poppins"/>
              </a:rPr>
              <a:t> - Mã ghi nhận khiếu nại</a:t>
            </a:r>
          </a:p>
          <a:p>
            <a:pPr algn="l">
              <a:lnSpc>
                <a:spcPts val="1155"/>
              </a:lnSpc>
            </a:pPr>
            <a:r>
              <a:rPr lang="en-US" sz="1050" b="true">
                <a:solidFill>
                  <a:srgbClr val="100643"/>
                </a:solidFill>
                <a:latin typeface="Poppins Bold"/>
                <a:ea typeface="Poppins Bold"/>
                <a:cs typeface="Poppins Bold"/>
                <a:sym typeface="Poppins Bold"/>
              </a:rPr>
              <a:t>Tờ trình</a:t>
            </a:r>
            <a:r>
              <a:rPr lang="en-US" sz="1050">
                <a:solidFill>
                  <a:srgbClr val="100643"/>
                </a:solidFill>
                <a:latin typeface="Poppins"/>
                <a:ea typeface="Poppins"/>
                <a:cs typeface="Poppins"/>
                <a:sym typeface="Poppins"/>
              </a:rPr>
              <a:t> - Văn bản đề xuất phê duyệt</a:t>
            </a:r>
          </a:p>
          <a:p>
            <a:pPr algn="l">
              <a:lnSpc>
                <a:spcPts val="1155"/>
              </a:lnSpc>
            </a:pPr>
            <a:r>
              <a:rPr lang="en-US" sz="1050" b="true">
                <a:solidFill>
                  <a:srgbClr val="100643"/>
                </a:solidFill>
                <a:latin typeface="Poppins Bold"/>
                <a:ea typeface="Poppins Bold"/>
                <a:cs typeface="Poppins Bold"/>
                <a:sym typeface="Poppins Bold"/>
              </a:rPr>
              <a:t>Biên bản</a:t>
            </a:r>
            <a:r>
              <a:rPr lang="en-US" sz="1050">
                <a:solidFill>
                  <a:srgbClr val="100643"/>
                </a:solidFill>
                <a:latin typeface="Poppins"/>
                <a:ea typeface="Poppins"/>
                <a:cs typeface="Poppins"/>
                <a:sym typeface="Poppins"/>
              </a:rPr>
              <a:t> - Văn bản ghi nhận sự kiện</a:t>
            </a:r>
          </a:p>
          <a:p>
            <a:pPr algn="l">
              <a:lnSpc>
                <a:spcPts val="1155"/>
              </a:lnSpc>
            </a:pPr>
            <a:r>
              <a:rPr lang="en-US" sz="1050" b="true">
                <a:solidFill>
                  <a:srgbClr val="100643"/>
                </a:solidFill>
                <a:latin typeface="Poppins Bold"/>
                <a:ea typeface="Poppins Bold"/>
                <a:cs typeface="Poppins Bold"/>
                <a:sym typeface="Poppins Bold"/>
              </a:rPr>
              <a:t>Checklist</a:t>
            </a:r>
            <a:r>
              <a:rPr lang="en-US" sz="1050">
                <a:solidFill>
                  <a:srgbClr val="100643"/>
                </a:solidFill>
                <a:latin typeface="Poppins"/>
                <a:ea typeface="Poppins"/>
                <a:cs typeface="Poppins"/>
                <a:sym typeface="Poppins"/>
              </a:rPr>
              <a:t> - Danh sách kiểm tra</a:t>
            </a:r>
          </a:p>
          <a:p>
            <a:pPr algn="l">
              <a:lnSpc>
                <a:spcPts val="1155"/>
              </a:lnSpc>
            </a:pPr>
            <a:r>
              <a:rPr lang="en-US" sz="1050" b="true">
                <a:solidFill>
                  <a:srgbClr val="100643"/>
                </a:solidFill>
                <a:latin typeface="Poppins Bold"/>
                <a:ea typeface="Poppins Bold"/>
                <a:cs typeface="Poppins Bold"/>
                <a:sym typeface="Poppins Bold"/>
              </a:rPr>
              <a:t>Dữ liệu đối soát</a:t>
            </a:r>
            <a:r>
              <a:rPr lang="en-US" sz="1050">
                <a:solidFill>
                  <a:srgbClr val="100643"/>
                </a:solidFill>
                <a:latin typeface="Poppins"/>
                <a:ea typeface="Poppins"/>
                <a:cs typeface="Poppins"/>
                <a:sym typeface="Poppins"/>
              </a:rPr>
              <a:t> - Dữ liệu phục vụ đối chiếu</a:t>
            </a:r>
          </a:p>
          <a:p>
            <a:pPr algn="l">
              <a:lnSpc>
                <a:spcPts val="1155"/>
              </a:lnSpc>
            </a:pPr>
            <a:r>
              <a:rPr lang="en-US" sz="1050" b="true">
                <a:solidFill>
                  <a:srgbClr val="100643"/>
                </a:solidFill>
                <a:latin typeface="Poppins Bold"/>
                <a:ea typeface="Poppins Bold"/>
                <a:cs typeface="Poppins Bold"/>
                <a:sym typeface="Poppins Bold"/>
              </a:rPr>
              <a:t>Timestamp</a:t>
            </a:r>
            <a:r>
              <a:rPr lang="en-US" sz="1050">
                <a:solidFill>
                  <a:srgbClr val="100643"/>
                </a:solidFill>
                <a:latin typeface="Poppins"/>
                <a:ea typeface="Poppins"/>
                <a:cs typeface="Poppins"/>
                <a:sym typeface="Poppins"/>
              </a:rPr>
              <a:t> - Dấu thời gian</a:t>
            </a:r>
          </a:p>
          <a:p>
            <a:pPr algn="l">
              <a:lnSpc>
                <a:spcPts val="1155"/>
              </a:lnSpc>
            </a:pPr>
            <a:r>
              <a:rPr lang="en-US" sz="1050" b="true">
                <a:solidFill>
                  <a:srgbClr val="100643"/>
                </a:solidFill>
                <a:latin typeface="Poppins Bold"/>
                <a:ea typeface="Poppins Bold"/>
                <a:cs typeface="Poppins Bold"/>
                <a:sym typeface="Poppins Bold"/>
              </a:rPr>
              <a:t>Volume</a:t>
            </a:r>
            <a:r>
              <a:rPr lang="en-US" sz="1050">
                <a:solidFill>
                  <a:srgbClr val="100643"/>
                </a:solidFill>
                <a:latin typeface="Poppins"/>
                <a:ea typeface="Poppins"/>
                <a:cs typeface="Poppins"/>
                <a:sym typeface="Poppins"/>
              </a:rPr>
              <a:t> - Sản lượng</a:t>
            </a:r>
          </a:p>
          <a:p>
            <a:pPr algn="l">
              <a:lnSpc>
                <a:spcPts val="1155"/>
              </a:lnSpc>
            </a:pPr>
            <a:r>
              <a:rPr lang="en-US" sz="1050" b="true">
                <a:solidFill>
                  <a:srgbClr val="100643"/>
                </a:solidFill>
                <a:latin typeface="Poppins Bold"/>
                <a:ea typeface="Poppins Bold"/>
                <a:cs typeface="Poppins Bold"/>
                <a:sym typeface="Poppins Bold"/>
              </a:rPr>
              <a:t>Percentile</a:t>
            </a:r>
            <a:r>
              <a:rPr lang="en-US" sz="1050">
                <a:solidFill>
                  <a:srgbClr val="100643"/>
                </a:solidFill>
                <a:latin typeface="Poppins"/>
                <a:ea typeface="Poppins"/>
                <a:cs typeface="Poppins"/>
                <a:sym typeface="Poppins"/>
              </a:rPr>
              <a:t> - Mức phân vị</a:t>
            </a:r>
          </a:p>
        </p:txBody>
      </p:sp>
      <p:sp>
        <p:nvSpPr>
          <p:cNvPr name="TextBox 48" id="48"/>
          <p:cNvSpPr txBox="true"/>
          <p:nvPr/>
        </p:nvSpPr>
        <p:spPr>
          <a:xfrm rot="0">
            <a:off x="13835062" y="2105025"/>
            <a:ext cx="3905250" cy="2013585"/>
          </a:xfrm>
          <a:prstGeom prst="rect">
            <a:avLst/>
          </a:prstGeom>
        </p:spPr>
        <p:txBody>
          <a:bodyPr anchor="t" rtlCol="false" tIns="0" lIns="0" bIns="0" rIns="0">
            <a:spAutoFit/>
          </a:bodyPr>
          <a:lstStyle/>
          <a:p>
            <a:pPr algn="l">
              <a:lnSpc>
                <a:spcPts val="1155"/>
              </a:lnSpc>
            </a:pPr>
            <a:r>
              <a:rPr lang="en-US" sz="1050" b="true">
                <a:solidFill>
                  <a:srgbClr val="100643"/>
                </a:solidFill>
                <a:latin typeface="Poppins Bold"/>
                <a:ea typeface="Poppins Bold"/>
                <a:cs typeface="Poppins Bold"/>
                <a:sym typeface="Poppins Bold"/>
              </a:rPr>
              <a:t>Đối soát / Reconciliation</a:t>
            </a:r>
            <a:r>
              <a:rPr lang="en-US" sz="1050">
                <a:solidFill>
                  <a:srgbClr val="100643"/>
                </a:solidFill>
                <a:latin typeface="Poppins"/>
                <a:ea typeface="Poppins"/>
                <a:cs typeface="Poppins"/>
                <a:sym typeface="Poppins"/>
              </a:rPr>
              <a:t> - Xác nhận số liệu COD</a:t>
            </a:r>
          </a:p>
          <a:p>
            <a:pPr algn="l">
              <a:lnSpc>
                <a:spcPts val="1155"/>
              </a:lnSpc>
            </a:pPr>
            <a:r>
              <a:rPr lang="en-US" sz="1050" b="true">
                <a:solidFill>
                  <a:srgbClr val="100643"/>
                </a:solidFill>
                <a:latin typeface="Poppins Bold"/>
                <a:ea typeface="Poppins Bold"/>
                <a:cs typeface="Poppins Bold"/>
                <a:sym typeface="Poppins Bold"/>
              </a:rPr>
              <a:t>Sai lệch / Variance</a:t>
            </a:r>
            <a:r>
              <a:rPr lang="en-US" sz="1050">
                <a:solidFill>
                  <a:srgbClr val="100643"/>
                </a:solidFill>
                <a:latin typeface="Poppins"/>
                <a:ea typeface="Poppins"/>
                <a:cs typeface="Poppins"/>
                <a:sym typeface="Poppins"/>
              </a:rPr>
              <a:t> - Chênh lệch tiền hoặc dữ liệu</a:t>
            </a:r>
          </a:p>
          <a:p>
            <a:pPr algn="l">
              <a:lnSpc>
                <a:spcPts val="1155"/>
              </a:lnSpc>
            </a:pPr>
            <a:r>
              <a:rPr lang="en-US" sz="1050" b="true">
                <a:solidFill>
                  <a:srgbClr val="100643"/>
                </a:solidFill>
                <a:latin typeface="Poppins Bold"/>
                <a:ea typeface="Poppins Bold"/>
                <a:cs typeface="Poppins Bold"/>
                <a:sym typeface="Poppins Bold"/>
              </a:rPr>
              <a:t>Chuyển khoản / Transfer</a:t>
            </a:r>
            <a:r>
              <a:rPr lang="en-US" sz="1050">
                <a:solidFill>
                  <a:srgbClr val="100643"/>
                </a:solidFill>
                <a:latin typeface="Poppins"/>
                <a:ea typeface="Poppins"/>
                <a:cs typeface="Poppins"/>
                <a:sym typeface="Poppins"/>
              </a:rPr>
              <a:t> - Thanh toán qua ngân hàng</a:t>
            </a:r>
          </a:p>
          <a:p>
            <a:pPr algn="l">
              <a:lnSpc>
                <a:spcPts val="1155"/>
              </a:lnSpc>
            </a:pPr>
            <a:r>
              <a:rPr lang="en-US" sz="1050" b="true">
                <a:solidFill>
                  <a:srgbClr val="100643"/>
                </a:solidFill>
                <a:latin typeface="Poppins Bold"/>
                <a:ea typeface="Poppins Bold"/>
                <a:cs typeface="Poppins Bold"/>
                <a:sym typeface="Poppins Bold"/>
              </a:rPr>
              <a:t>Nợ xấu / Bad Debt</a:t>
            </a:r>
            <a:r>
              <a:rPr lang="en-US" sz="1050">
                <a:solidFill>
                  <a:srgbClr val="100643"/>
                </a:solidFill>
                <a:latin typeface="Poppins"/>
                <a:ea typeface="Poppins"/>
                <a:cs typeface="Poppins"/>
                <a:sym typeface="Poppins"/>
              </a:rPr>
              <a:t> - COD tồn đọng khó thu</a:t>
            </a:r>
          </a:p>
          <a:p>
            <a:pPr algn="l">
              <a:lnSpc>
                <a:spcPts val="1155"/>
              </a:lnSpc>
            </a:pPr>
            <a:r>
              <a:rPr lang="en-US" sz="1050" b="true">
                <a:solidFill>
                  <a:srgbClr val="100643"/>
                </a:solidFill>
                <a:latin typeface="Poppins Bold"/>
                <a:ea typeface="Poppins Bold"/>
                <a:cs typeface="Poppins Bold"/>
                <a:sym typeface="Poppins Bold"/>
              </a:rPr>
              <a:t>Khấu trừ / Deduction</a:t>
            </a:r>
            <a:r>
              <a:rPr lang="en-US" sz="1050">
                <a:solidFill>
                  <a:srgbClr val="100643"/>
                </a:solidFill>
                <a:latin typeface="Poppins"/>
                <a:ea typeface="Poppins"/>
                <a:cs typeface="Poppins"/>
                <a:sym typeface="Poppins"/>
              </a:rPr>
              <a:t> - Trừ phí trước khi thanh toán</a:t>
            </a:r>
          </a:p>
          <a:p>
            <a:pPr algn="l">
              <a:lnSpc>
                <a:spcPts val="1155"/>
              </a:lnSpc>
            </a:pPr>
            <a:r>
              <a:rPr lang="en-US" sz="1050" b="true">
                <a:solidFill>
                  <a:srgbClr val="100643"/>
                </a:solidFill>
                <a:latin typeface="Poppins Bold"/>
                <a:ea typeface="Poppins Bold"/>
                <a:cs typeface="Poppins Bold"/>
                <a:sym typeface="Poppins Bold"/>
              </a:rPr>
              <a:t>Dòng tiền / Cash Flow</a:t>
            </a:r>
            <a:r>
              <a:rPr lang="en-US" sz="1050">
                <a:solidFill>
                  <a:srgbClr val="100643"/>
                </a:solidFill>
                <a:latin typeface="Poppins"/>
                <a:ea typeface="Poppins"/>
                <a:cs typeface="Poppins"/>
                <a:sym typeface="Poppins"/>
              </a:rPr>
              <a:t> - Luồng tiền vào và ra</a:t>
            </a:r>
          </a:p>
          <a:p>
            <a:pPr algn="l">
              <a:lnSpc>
                <a:spcPts val="1155"/>
              </a:lnSpc>
            </a:pPr>
            <a:r>
              <a:rPr lang="en-US" sz="1050" b="true">
                <a:solidFill>
                  <a:srgbClr val="100643"/>
                </a:solidFill>
                <a:latin typeface="Poppins Bold"/>
                <a:ea typeface="Poppins Bold"/>
                <a:cs typeface="Poppins Bold"/>
                <a:sym typeface="Poppins Bold"/>
              </a:rPr>
              <a:t>Dòng vốn</a:t>
            </a:r>
            <a:r>
              <a:rPr lang="en-US" sz="1050">
                <a:solidFill>
                  <a:srgbClr val="100643"/>
                </a:solidFill>
                <a:latin typeface="Poppins"/>
                <a:ea typeface="Poppins"/>
                <a:cs typeface="Poppins"/>
                <a:sym typeface="Poppins"/>
              </a:rPr>
              <a:t> - Khoản ứng trước chưa thu hồi</a:t>
            </a:r>
          </a:p>
          <a:p>
            <a:pPr algn="l">
              <a:lnSpc>
                <a:spcPts val="1155"/>
              </a:lnSpc>
            </a:pPr>
            <a:r>
              <a:rPr lang="en-US" sz="1050" b="true">
                <a:solidFill>
                  <a:srgbClr val="100643"/>
                </a:solidFill>
                <a:latin typeface="Poppins Bold"/>
                <a:ea typeface="Poppins Bold"/>
                <a:cs typeface="Poppins Bold"/>
                <a:sym typeface="Poppins Bold"/>
              </a:rPr>
              <a:t>Giao dịch ngân hàng</a:t>
            </a:r>
            <a:r>
              <a:rPr lang="en-US" sz="1050">
                <a:solidFill>
                  <a:srgbClr val="100643"/>
                </a:solidFill>
                <a:latin typeface="Poppins"/>
                <a:ea typeface="Poppins"/>
                <a:cs typeface="Poppins"/>
                <a:sym typeface="Poppins"/>
              </a:rPr>
              <a:t> - Giao dịch chuyển tiền</a:t>
            </a:r>
          </a:p>
          <a:p>
            <a:pPr algn="l">
              <a:lnSpc>
                <a:spcPts val="1155"/>
              </a:lnSpc>
            </a:pPr>
            <a:r>
              <a:rPr lang="en-US" sz="1050" b="true">
                <a:solidFill>
                  <a:srgbClr val="100643"/>
                </a:solidFill>
                <a:latin typeface="Poppins Bold"/>
                <a:ea typeface="Poppins Bold"/>
                <a:cs typeface="Poppins Bold"/>
                <a:sym typeface="Poppins Bold"/>
              </a:rPr>
              <a:t>Hạch toán</a:t>
            </a:r>
            <a:r>
              <a:rPr lang="en-US" sz="1050">
                <a:solidFill>
                  <a:srgbClr val="100643"/>
                </a:solidFill>
                <a:latin typeface="Poppins"/>
                <a:ea typeface="Poppins"/>
                <a:cs typeface="Poppins"/>
                <a:sym typeface="Poppins"/>
              </a:rPr>
              <a:t> - Ghi nhận doanh số và chi phí</a:t>
            </a:r>
          </a:p>
          <a:p>
            <a:pPr algn="l">
              <a:lnSpc>
                <a:spcPts val="1155"/>
              </a:lnSpc>
            </a:pPr>
            <a:r>
              <a:rPr lang="en-US" sz="1050" b="true">
                <a:solidFill>
                  <a:srgbClr val="100643"/>
                </a:solidFill>
                <a:latin typeface="Poppins Bold"/>
                <a:ea typeface="Poppins Bold"/>
                <a:cs typeface="Poppins Bold"/>
                <a:sym typeface="Poppins Bold"/>
              </a:rPr>
              <a:t>Chi phí tài chính</a:t>
            </a:r>
            <a:r>
              <a:rPr lang="en-US" sz="1050">
                <a:solidFill>
                  <a:srgbClr val="100643"/>
                </a:solidFill>
                <a:latin typeface="Poppins"/>
                <a:ea typeface="Poppins"/>
                <a:cs typeface="Poppins"/>
                <a:sym typeface="Poppins"/>
              </a:rPr>
              <a:t> - Chi phí do vốn hoặc chậm thanh toán</a:t>
            </a:r>
          </a:p>
          <a:p>
            <a:pPr algn="l">
              <a:lnSpc>
                <a:spcPts val="1155"/>
              </a:lnSpc>
            </a:pPr>
            <a:r>
              <a:rPr lang="en-US" sz="1050" b="true">
                <a:solidFill>
                  <a:srgbClr val="100643"/>
                </a:solidFill>
                <a:latin typeface="Poppins Bold"/>
                <a:ea typeface="Poppins Bold"/>
                <a:cs typeface="Poppins Bold"/>
                <a:sym typeface="Poppins Bold"/>
              </a:rPr>
              <a:t>OPEX</a:t>
            </a:r>
            <a:r>
              <a:rPr lang="en-US" sz="1050">
                <a:solidFill>
                  <a:srgbClr val="100643"/>
                </a:solidFill>
                <a:latin typeface="Poppins"/>
                <a:ea typeface="Poppins"/>
                <a:cs typeface="Poppins"/>
                <a:sym typeface="Poppins"/>
              </a:rPr>
              <a:t> - Chi phí vận hành</a:t>
            </a:r>
          </a:p>
          <a:p>
            <a:pPr algn="l">
              <a:lnSpc>
                <a:spcPts val="1155"/>
              </a:lnSpc>
            </a:pPr>
            <a:r>
              <a:rPr lang="en-US" sz="1050" b="true">
                <a:solidFill>
                  <a:srgbClr val="100643"/>
                </a:solidFill>
                <a:latin typeface="Poppins Bold"/>
                <a:ea typeface="Poppins Bold"/>
                <a:cs typeface="Poppins Bold"/>
                <a:sym typeface="Poppins Bold"/>
              </a:rPr>
              <a:t>ROI</a:t>
            </a:r>
            <a:r>
              <a:rPr lang="en-US" sz="1050">
                <a:solidFill>
                  <a:srgbClr val="100643"/>
                </a:solidFill>
                <a:latin typeface="Poppins"/>
                <a:ea typeface="Poppins"/>
                <a:cs typeface="Poppins"/>
                <a:sym typeface="Poppins"/>
              </a:rPr>
              <a:t> - Hiệu quả đầu tư</a:t>
            </a:r>
          </a:p>
          <a:p>
            <a:pPr algn="l">
              <a:lnSpc>
                <a:spcPts val="1155"/>
              </a:lnSpc>
            </a:pPr>
            <a:r>
              <a:rPr lang="en-US" sz="1050" b="true">
                <a:solidFill>
                  <a:srgbClr val="100643"/>
                </a:solidFill>
                <a:latin typeface="Poppins Bold"/>
                <a:ea typeface="Poppins Bold"/>
                <a:cs typeface="Poppins Bold"/>
                <a:sym typeface="Poppins Bold"/>
              </a:rPr>
              <a:t>Kỳ đối soát</a:t>
            </a:r>
            <a:r>
              <a:rPr lang="en-US" sz="1050">
                <a:solidFill>
                  <a:srgbClr val="100643"/>
                </a:solidFill>
                <a:latin typeface="Poppins"/>
                <a:ea typeface="Poppins"/>
                <a:cs typeface="Poppins"/>
                <a:sym typeface="Poppins"/>
              </a:rPr>
              <a:t> - Chu kỳ đối chiếu</a:t>
            </a:r>
          </a:p>
          <a:p>
            <a:pPr algn="l">
              <a:lnSpc>
                <a:spcPts val="1155"/>
              </a:lnSpc>
            </a:pPr>
            <a:r>
              <a:rPr lang="en-US" sz="1050" b="true">
                <a:solidFill>
                  <a:srgbClr val="100643"/>
                </a:solidFill>
                <a:latin typeface="Poppins Bold"/>
                <a:ea typeface="Poppins Bold"/>
                <a:cs typeface="Poppins Bold"/>
                <a:sym typeface="Poppins Bold"/>
              </a:rPr>
              <a:t>Rà soát sai lệch</a:t>
            </a:r>
            <a:r>
              <a:rPr lang="en-US" sz="1050">
                <a:solidFill>
                  <a:srgbClr val="100643"/>
                </a:solidFill>
                <a:latin typeface="Poppins"/>
                <a:ea typeface="Poppins"/>
                <a:cs typeface="Poppins"/>
                <a:sym typeface="Poppins"/>
              </a:rPr>
              <a:t> - Kiểm tra chênh lệch</a:t>
            </a:r>
          </a:p>
        </p:txBody>
      </p:sp>
      <p:sp>
        <p:nvSpPr>
          <p:cNvPr name="TextBox 49" id="49"/>
          <p:cNvSpPr txBox="true"/>
          <p:nvPr/>
        </p:nvSpPr>
        <p:spPr>
          <a:xfrm rot="0">
            <a:off x="490538" y="6095637"/>
            <a:ext cx="4052888" cy="2555939"/>
          </a:xfrm>
          <a:prstGeom prst="rect">
            <a:avLst/>
          </a:prstGeom>
        </p:spPr>
        <p:txBody>
          <a:bodyPr anchor="t" rtlCol="false" tIns="0" lIns="0" bIns="0" rIns="0">
            <a:spAutoFit/>
          </a:bodyPr>
          <a:lstStyle/>
          <a:p>
            <a:pPr algn="l">
              <a:lnSpc>
                <a:spcPts val="1105"/>
              </a:lnSpc>
            </a:pPr>
            <a:r>
              <a:rPr lang="en-US" sz="1005" b="true">
                <a:solidFill>
                  <a:srgbClr val="100643"/>
                </a:solidFill>
                <a:latin typeface="Poppins Bold"/>
                <a:ea typeface="Poppins Bold"/>
                <a:cs typeface="Poppins Bold"/>
                <a:sym typeface="Poppins Bold"/>
              </a:rPr>
              <a:t>CSAT / FCR</a:t>
            </a:r>
            <a:r>
              <a:rPr lang="en-US" sz="1005">
                <a:solidFill>
                  <a:srgbClr val="100643"/>
                </a:solidFill>
                <a:latin typeface="Poppins"/>
                <a:ea typeface="Poppins"/>
                <a:cs typeface="Poppins"/>
                <a:sym typeface="Poppins"/>
              </a:rPr>
              <a:t> - Chất lượng phục vụ</a:t>
            </a:r>
          </a:p>
          <a:p>
            <a:pPr algn="l">
              <a:lnSpc>
                <a:spcPts val="1105"/>
              </a:lnSpc>
            </a:pPr>
            <a:r>
              <a:rPr lang="en-US" sz="1005" b="true">
                <a:solidFill>
                  <a:srgbClr val="100643"/>
                </a:solidFill>
                <a:latin typeface="Poppins Bold"/>
                <a:ea typeface="Poppins Bold"/>
                <a:cs typeface="Poppins Bold"/>
                <a:sym typeface="Poppins Bold"/>
              </a:rPr>
              <a:t>KPI</a:t>
            </a:r>
            <a:r>
              <a:rPr lang="en-US" sz="1005">
                <a:solidFill>
                  <a:srgbClr val="100643"/>
                </a:solidFill>
                <a:latin typeface="Poppins"/>
                <a:ea typeface="Poppins"/>
                <a:cs typeface="Poppins"/>
                <a:sym typeface="Poppins"/>
              </a:rPr>
              <a:t> - Chỉ số hiệu suất chính</a:t>
            </a:r>
          </a:p>
          <a:p>
            <a:pPr algn="l">
              <a:lnSpc>
                <a:spcPts val="1105"/>
              </a:lnSpc>
            </a:pPr>
            <a:r>
              <a:rPr lang="en-US" sz="1005" b="true">
                <a:solidFill>
                  <a:srgbClr val="100643"/>
                </a:solidFill>
                <a:latin typeface="Poppins Bold"/>
                <a:ea typeface="Poppins Bold"/>
                <a:cs typeface="Poppins Bold"/>
                <a:sym typeface="Poppins Bold"/>
              </a:rPr>
              <a:t>CTE</a:t>
            </a:r>
            <a:r>
              <a:rPr lang="en-US" sz="1005">
                <a:solidFill>
                  <a:srgbClr val="100643"/>
                </a:solidFill>
                <a:latin typeface="Poppins"/>
                <a:ea typeface="Poppins"/>
                <a:cs typeface="Poppins"/>
                <a:sym typeface="Poppins"/>
              </a:rPr>
              <a:t> - Hiệu suất chu kỳ</a:t>
            </a:r>
          </a:p>
          <a:p>
            <a:pPr algn="l">
              <a:lnSpc>
                <a:spcPts val="1105"/>
              </a:lnSpc>
            </a:pPr>
            <a:r>
              <a:rPr lang="en-US" sz="1005" b="true">
                <a:solidFill>
                  <a:srgbClr val="100643"/>
                </a:solidFill>
                <a:latin typeface="Poppins Bold"/>
                <a:ea typeface="Poppins Bold"/>
                <a:cs typeface="Poppins Bold"/>
                <a:sym typeface="Poppins Bold"/>
              </a:rPr>
              <a:t>FPY</a:t>
            </a:r>
            <a:r>
              <a:rPr lang="en-US" sz="1005">
                <a:solidFill>
                  <a:srgbClr val="100643"/>
                </a:solidFill>
                <a:latin typeface="Poppins"/>
                <a:ea typeface="Poppins"/>
                <a:cs typeface="Poppins"/>
                <a:sym typeface="Poppins"/>
              </a:rPr>
              <a:t> - Tỷ lệ đạt ngay lần đầu</a:t>
            </a:r>
          </a:p>
          <a:p>
            <a:pPr algn="l">
              <a:lnSpc>
                <a:spcPts val="1105"/>
              </a:lnSpc>
            </a:pPr>
            <a:r>
              <a:rPr lang="en-US" sz="1005" b="true">
                <a:solidFill>
                  <a:srgbClr val="100643"/>
                </a:solidFill>
                <a:latin typeface="Poppins Bold"/>
                <a:ea typeface="Poppins Bold"/>
                <a:cs typeface="Poppins Bold"/>
                <a:sym typeface="Poppins Bold"/>
              </a:rPr>
              <a:t>FTR</a:t>
            </a:r>
            <a:r>
              <a:rPr lang="en-US" sz="1005">
                <a:solidFill>
                  <a:srgbClr val="100643"/>
                </a:solidFill>
                <a:latin typeface="Poppins"/>
                <a:ea typeface="Poppins"/>
                <a:cs typeface="Poppins"/>
                <a:sym typeface="Poppins"/>
              </a:rPr>
              <a:t> - Tỷ lệ làm đúng lần đầu</a:t>
            </a:r>
          </a:p>
          <a:p>
            <a:pPr algn="l">
              <a:lnSpc>
                <a:spcPts val="1105"/>
              </a:lnSpc>
            </a:pPr>
            <a:r>
              <a:rPr lang="en-US" sz="1005" b="true">
                <a:solidFill>
                  <a:srgbClr val="100643"/>
                </a:solidFill>
                <a:latin typeface="Poppins Bold"/>
                <a:ea typeface="Poppins Bold"/>
                <a:cs typeface="Poppins Bold"/>
                <a:sym typeface="Poppins Bold"/>
              </a:rPr>
              <a:t>PCE</a:t>
            </a:r>
            <a:r>
              <a:rPr lang="en-US" sz="1005">
                <a:solidFill>
                  <a:srgbClr val="100643"/>
                </a:solidFill>
                <a:latin typeface="Poppins"/>
                <a:ea typeface="Poppins"/>
                <a:cs typeface="Poppins"/>
                <a:sym typeface="Poppins"/>
              </a:rPr>
              <a:t> - Hiệu suất chu kỳ quy trình</a:t>
            </a:r>
          </a:p>
          <a:p>
            <a:pPr algn="l">
              <a:lnSpc>
                <a:spcPts val="1105"/>
              </a:lnSpc>
            </a:pPr>
            <a:r>
              <a:rPr lang="en-US" sz="1005" b="true">
                <a:solidFill>
                  <a:srgbClr val="100643"/>
                </a:solidFill>
                <a:latin typeface="Poppins Bold"/>
                <a:ea typeface="Poppins Bold"/>
                <a:cs typeface="Poppins Bold"/>
                <a:sym typeface="Poppins Bold"/>
              </a:rPr>
              <a:t>Yield</a:t>
            </a:r>
            <a:r>
              <a:rPr lang="en-US" sz="1005">
                <a:solidFill>
                  <a:srgbClr val="100643"/>
                </a:solidFill>
                <a:latin typeface="Poppins"/>
                <a:ea typeface="Poppins"/>
                <a:cs typeface="Poppins"/>
                <a:sym typeface="Poppins"/>
              </a:rPr>
              <a:t> - Tỷ lệ đầu ra đạt</a:t>
            </a:r>
          </a:p>
          <a:p>
            <a:pPr algn="l">
              <a:lnSpc>
                <a:spcPts val="1105"/>
              </a:lnSpc>
            </a:pPr>
            <a:r>
              <a:rPr lang="en-US" sz="1005" b="true">
                <a:solidFill>
                  <a:srgbClr val="100643"/>
                </a:solidFill>
                <a:latin typeface="Poppins Bold"/>
                <a:ea typeface="Poppins Bold"/>
                <a:cs typeface="Poppins Bold"/>
                <a:sym typeface="Poppins Bold"/>
              </a:rPr>
              <a:t>PT / Processing Time</a:t>
            </a:r>
            <a:r>
              <a:rPr lang="en-US" sz="1005">
                <a:solidFill>
                  <a:srgbClr val="100643"/>
                </a:solidFill>
                <a:latin typeface="Poppins"/>
                <a:ea typeface="Poppins"/>
                <a:cs typeface="Poppins"/>
                <a:sym typeface="Poppins"/>
              </a:rPr>
              <a:t> - Thời gian xử lý</a:t>
            </a:r>
          </a:p>
          <a:p>
            <a:pPr algn="l">
              <a:lnSpc>
                <a:spcPts val="1105"/>
              </a:lnSpc>
            </a:pPr>
            <a:r>
              <a:rPr lang="en-US" sz="1005" b="true">
                <a:solidFill>
                  <a:srgbClr val="100643"/>
                </a:solidFill>
                <a:latin typeface="Poppins Bold"/>
                <a:ea typeface="Poppins Bold"/>
                <a:cs typeface="Poppins Bold"/>
                <a:sym typeface="Poppins Bold"/>
              </a:rPr>
              <a:t>WT / Waiting Time</a:t>
            </a:r>
            <a:r>
              <a:rPr lang="en-US" sz="1005">
                <a:solidFill>
                  <a:srgbClr val="100643"/>
                </a:solidFill>
                <a:latin typeface="Poppins"/>
                <a:ea typeface="Poppins"/>
                <a:cs typeface="Poppins"/>
                <a:sym typeface="Poppins"/>
              </a:rPr>
              <a:t> - Thời gian chờ</a:t>
            </a:r>
          </a:p>
          <a:p>
            <a:pPr algn="l">
              <a:lnSpc>
                <a:spcPts val="1105"/>
              </a:lnSpc>
            </a:pPr>
            <a:r>
              <a:rPr lang="en-US" sz="1005" b="true">
                <a:solidFill>
                  <a:srgbClr val="100643"/>
                </a:solidFill>
                <a:latin typeface="Poppins Bold"/>
                <a:ea typeface="Poppins Bold"/>
                <a:cs typeface="Poppins Bold"/>
                <a:sym typeface="Poppins Bold"/>
              </a:rPr>
              <a:t>CT / Cycle Time</a:t>
            </a:r>
            <a:r>
              <a:rPr lang="en-US" sz="1005">
                <a:solidFill>
                  <a:srgbClr val="100643"/>
                </a:solidFill>
                <a:latin typeface="Poppins"/>
                <a:ea typeface="Poppins"/>
                <a:cs typeface="Poppins"/>
                <a:sym typeface="Poppins"/>
              </a:rPr>
              <a:t> - Tổng thời gian chu kỳ</a:t>
            </a:r>
          </a:p>
          <a:p>
            <a:pPr algn="l">
              <a:lnSpc>
                <a:spcPts val="1105"/>
              </a:lnSpc>
            </a:pPr>
            <a:r>
              <a:rPr lang="en-US" sz="1005" b="true">
                <a:solidFill>
                  <a:srgbClr val="100643"/>
                </a:solidFill>
                <a:latin typeface="Poppins Bold"/>
                <a:ea typeface="Poppins Bold"/>
                <a:cs typeface="Poppins Bold"/>
                <a:sym typeface="Poppins Bold"/>
              </a:rPr>
              <a:t>Tỷ lệ đúng hạn</a:t>
            </a:r>
            <a:r>
              <a:rPr lang="en-US" sz="1005">
                <a:solidFill>
                  <a:srgbClr val="100643"/>
                </a:solidFill>
                <a:latin typeface="Poppins"/>
                <a:ea typeface="Poppins"/>
                <a:cs typeface="Poppins"/>
                <a:sym typeface="Poppins"/>
              </a:rPr>
              <a:t> - Phần trăm giao đúng cam kết</a:t>
            </a:r>
          </a:p>
          <a:p>
            <a:pPr algn="l">
              <a:lnSpc>
                <a:spcPts val="1105"/>
              </a:lnSpc>
            </a:pPr>
            <a:r>
              <a:rPr lang="en-US" sz="1005" b="true">
                <a:solidFill>
                  <a:srgbClr val="100643"/>
                </a:solidFill>
                <a:latin typeface="Poppins Bold"/>
                <a:ea typeface="Poppins Bold"/>
                <a:cs typeface="Poppins Bold"/>
                <a:sym typeface="Poppins Bold"/>
              </a:rPr>
              <a:t>Tỷ lệ hoàn tất</a:t>
            </a:r>
            <a:r>
              <a:rPr lang="en-US" sz="1005">
                <a:solidFill>
                  <a:srgbClr val="100643"/>
                </a:solidFill>
                <a:latin typeface="Poppins"/>
                <a:ea typeface="Poppins"/>
                <a:cs typeface="Poppins"/>
                <a:sym typeface="Poppins"/>
              </a:rPr>
              <a:t> - Phần trăm đơn hoàn thành</a:t>
            </a:r>
          </a:p>
          <a:p>
            <a:pPr algn="l">
              <a:lnSpc>
                <a:spcPts val="1105"/>
              </a:lnSpc>
            </a:pPr>
            <a:r>
              <a:rPr lang="en-US" sz="1005" b="true">
                <a:solidFill>
                  <a:srgbClr val="100643"/>
                </a:solidFill>
                <a:latin typeface="Poppins Bold"/>
                <a:ea typeface="Poppins Bold"/>
                <a:cs typeface="Poppins Bold"/>
                <a:sym typeface="Poppins Bold"/>
              </a:rPr>
              <a:t>Tỷ lệ giao hàng thành công</a:t>
            </a:r>
            <a:r>
              <a:rPr lang="en-US" sz="1005">
                <a:solidFill>
                  <a:srgbClr val="100643"/>
                </a:solidFill>
                <a:latin typeface="Poppins"/>
                <a:ea typeface="Poppins"/>
                <a:cs typeface="Poppins"/>
                <a:sym typeface="Poppins"/>
              </a:rPr>
              <a:t> - Phần trăm đơn giao thành công</a:t>
            </a:r>
          </a:p>
          <a:p>
            <a:pPr algn="l">
              <a:lnSpc>
                <a:spcPts val="1105"/>
              </a:lnSpc>
            </a:pPr>
            <a:r>
              <a:rPr lang="en-US" sz="1005" b="true">
                <a:solidFill>
                  <a:srgbClr val="100643"/>
                </a:solidFill>
                <a:latin typeface="Poppins Bold"/>
                <a:ea typeface="Poppins Bold"/>
                <a:cs typeface="Poppins Bold"/>
                <a:sym typeface="Poppins Bold"/>
              </a:rPr>
              <a:t>Tỷ lệ đối soát chính xác</a:t>
            </a:r>
            <a:r>
              <a:rPr lang="en-US" sz="1005">
                <a:solidFill>
                  <a:srgbClr val="100643"/>
                </a:solidFill>
                <a:latin typeface="Poppins"/>
                <a:ea typeface="Poppins"/>
                <a:cs typeface="Poppins"/>
                <a:sym typeface="Poppins"/>
              </a:rPr>
              <a:t> - Phần trăm giao dịch không sai lệch</a:t>
            </a:r>
          </a:p>
          <a:p>
            <a:pPr algn="l">
              <a:lnSpc>
                <a:spcPts val="1105"/>
              </a:lnSpc>
            </a:pPr>
            <a:r>
              <a:rPr lang="en-US" sz="1005" b="true">
                <a:solidFill>
                  <a:srgbClr val="100643"/>
                </a:solidFill>
                <a:latin typeface="Poppins Bold"/>
                <a:ea typeface="Poppins Bold"/>
                <a:cs typeface="Poppins Bold"/>
                <a:sym typeface="Poppins Bold"/>
              </a:rPr>
              <a:t>Tỷ lệ sai lệch</a:t>
            </a:r>
            <a:r>
              <a:rPr lang="en-US" sz="1005">
                <a:solidFill>
                  <a:srgbClr val="100643"/>
                </a:solidFill>
                <a:latin typeface="Poppins"/>
                <a:ea typeface="Poppins"/>
                <a:cs typeface="Poppins"/>
                <a:sym typeface="Poppins"/>
              </a:rPr>
              <a:t> - Phần trăm giao dịch có chênh lệch</a:t>
            </a:r>
          </a:p>
          <a:p>
            <a:pPr algn="l">
              <a:lnSpc>
                <a:spcPts val="1105"/>
              </a:lnSpc>
            </a:pPr>
            <a:r>
              <a:rPr lang="en-US" sz="1005" b="true">
                <a:solidFill>
                  <a:srgbClr val="100643"/>
                </a:solidFill>
                <a:latin typeface="Poppins Bold"/>
                <a:ea typeface="Poppins Bold"/>
                <a:cs typeface="Poppins Bold"/>
                <a:sym typeface="Poppins Bold"/>
              </a:rPr>
              <a:t>Tỷ lệ khiếu nại</a:t>
            </a:r>
            <a:r>
              <a:rPr lang="en-US" sz="1005">
                <a:solidFill>
                  <a:srgbClr val="100643"/>
                </a:solidFill>
                <a:latin typeface="Poppins"/>
                <a:ea typeface="Poppins"/>
                <a:cs typeface="Poppins"/>
                <a:sym typeface="Poppins"/>
              </a:rPr>
              <a:t> - Phần trăm đơn phát sinh khiếu nại</a:t>
            </a:r>
          </a:p>
          <a:p>
            <a:pPr algn="l">
              <a:lnSpc>
                <a:spcPts val="1105"/>
              </a:lnSpc>
            </a:pPr>
            <a:r>
              <a:rPr lang="en-US" sz="1005" b="true">
                <a:solidFill>
                  <a:srgbClr val="100643"/>
                </a:solidFill>
                <a:latin typeface="Poppins Bold"/>
                <a:ea typeface="Poppins Bold"/>
                <a:cs typeface="Poppins Bold"/>
                <a:sym typeface="Poppins Bold"/>
              </a:rPr>
              <a:t>Tỷ lệ từ chối nhận</a:t>
            </a:r>
            <a:r>
              <a:rPr lang="en-US" sz="1005">
                <a:solidFill>
                  <a:srgbClr val="100643"/>
                </a:solidFill>
                <a:latin typeface="Poppins"/>
                <a:ea typeface="Poppins"/>
                <a:cs typeface="Poppins"/>
                <a:sym typeface="Poppins"/>
              </a:rPr>
              <a:t> - Phần trăm người nhận từ chối</a:t>
            </a:r>
          </a:p>
          <a:p>
            <a:pPr algn="l">
              <a:lnSpc>
                <a:spcPts val="1105"/>
              </a:lnSpc>
            </a:pPr>
            <a:r>
              <a:rPr lang="en-US" sz="1005" b="true">
                <a:solidFill>
                  <a:srgbClr val="100643"/>
                </a:solidFill>
                <a:latin typeface="Poppins Bold"/>
                <a:ea typeface="Poppins Bold"/>
                <a:cs typeface="Poppins Bold"/>
                <a:sym typeface="Poppins Bold"/>
              </a:rPr>
              <a:t>Throughput</a:t>
            </a:r>
            <a:r>
              <a:rPr lang="en-US" sz="1005">
                <a:solidFill>
                  <a:srgbClr val="100643"/>
                </a:solidFill>
                <a:latin typeface="Poppins"/>
                <a:ea typeface="Poppins"/>
                <a:cs typeface="Poppins"/>
                <a:sym typeface="Poppins"/>
              </a:rPr>
              <a:t> - Năng lực xử lý theo thời gian</a:t>
            </a:r>
          </a:p>
          <a:p>
            <a:pPr algn="l">
              <a:lnSpc>
                <a:spcPts val="1105"/>
              </a:lnSpc>
            </a:pPr>
            <a:r>
              <a:rPr lang="en-US" sz="1005" b="true">
                <a:solidFill>
                  <a:srgbClr val="100643"/>
                </a:solidFill>
                <a:latin typeface="Poppins Bold"/>
                <a:ea typeface="Poppins Bold"/>
                <a:cs typeface="Poppins Bold"/>
                <a:sym typeface="Poppins Bold"/>
              </a:rPr>
              <a:t>YoY</a:t>
            </a:r>
            <a:r>
              <a:rPr lang="en-US" sz="1005">
                <a:solidFill>
                  <a:srgbClr val="100643"/>
                </a:solidFill>
                <a:latin typeface="Poppins"/>
                <a:ea typeface="Poppins"/>
                <a:cs typeface="Poppins"/>
                <a:sym typeface="Poppins"/>
              </a:rPr>
              <a:t> - So sánh cùng kỳ</a:t>
            </a:r>
          </a:p>
        </p:txBody>
      </p:sp>
      <p:sp>
        <p:nvSpPr>
          <p:cNvPr name="TextBox 50" id="50"/>
          <p:cNvSpPr txBox="true"/>
          <p:nvPr/>
        </p:nvSpPr>
        <p:spPr>
          <a:xfrm rot="0">
            <a:off x="4872038" y="6057537"/>
            <a:ext cx="4062412" cy="2451449"/>
          </a:xfrm>
          <a:prstGeom prst="rect">
            <a:avLst/>
          </a:prstGeom>
        </p:spPr>
        <p:txBody>
          <a:bodyPr anchor="t" rtlCol="false" tIns="0" lIns="0" bIns="0" rIns="0">
            <a:spAutoFit/>
          </a:bodyPr>
          <a:lstStyle/>
          <a:p>
            <a:pPr algn="l">
              <a:lnSpc>
                <a:spcPts val="1130"/>
              </a:lnSpc>
            </a:pPr>
            <a:r>
              <a:rPr lang="en-US" sz="1027" b="true">
                <a:solidFill>
                  <a:srgbClr val="100643"/>
                </a:solidFill>
                <a:latin typeface="Poppins Bold"/>
                <a:ea typeface="Poppins Bold"/>
                <a:cs typeface="Poppins Bold"/>
                <a:sym typeface="Poppins Bold"/>
              </a:rPr>
              <a:t>BPMN</a:t>
            </a:r>
            <a:r>
              <a:rPr lang="en-US" sz="1027">
                <a:solidFill>
                  <a:srgbClr val="100643"/>
                </a:solidFill>
                <a:latin typeface="Poppins"/>
                <a:ea typeface="Poppins"/>
                <a:cs typeface="Poppins"/>
                <a:sym typeface="Poppins"/>
              </a:rPr>
              <a:t> - Ký hiệu và mô hình quy trình kinh doanh</a:t>
            </a:r>
          </a:p>
          <a:p>
            <a:pPr algn="l">
              <a:lnSpc>
                <a:spcPts val="1130"/>
              </a:lnSpc>
            </a:pPr>
            <a:r>
              <a:rPr lang="en-US" sz="1027" b="true">
                <a:solidFill>
                  <a:srgbClr val="100643"/>
                </a:solidFill>
                <a:latin typeface="Poppins Bold"/>
                <a:ea typeface="Poppins Bold"/>
                <a:cs typeface="Poppins Bold"/>
                <a:sym typeface="Poppins Bold"/>
              </a:rPr>
              <a:t>Activity</a:t>
            </a:r>
            <a:r>
              <a:rPr lang="en-US" sz="1027">
                <a:solidFill>
                  <a:srgbClr val="100643"/>
                </a:solidFill>
                <a:latin typeface="Poppins"/>
                <a:ea typeface="Poppins"/>
                <a:cs typeface="Poppins"/>
                <a:sym typeface="Poppins"/>
              </a:rPr>
              <a:t> - Hoạt động/bước thực hiện</a:t>
            </a:r>
          </a:p>
          <a:p>
            <a:pPr algn="l">
              <a:lnSpc>
                <a:spcPts val="1130"/>
              </a:lnSpc>
            </a:pPr>
            <a:r>
              <a:rPr lang="en-US" sz="1027" b="true">
                <a:solidFill>
                  <a:srgbClr val="100643"/>
                </a:solidFill>
                <a:latin typeface="Poppins Bold"/>
                <a:ea typeface="Poppins Bold"/>
                <a:cs typeface="Poppins Bold"/>
                <a:sym typeface="Poppins Bold"/>
              </a:rPr>
              <a:t>Gateway</a:t>
            </a:r>
            <a:r>
              <a:rPr lang="en-US" sz="1027">
                <a:solidFill>
                  <a:srgbClr val="100643"/>
                </a:solidFill>
                <a:latin typeface="Poppins"/>
                <a:ea typeface="Poppins"/>
                <a:cs typeface="Poppins"/>
                <a:sym typeface="Poppins"/>
              </a:rPr>
              <a:t> - Cổng quyết định</a:t>
            </a:r>
          </a:p>
          <a:p>
            <a:pPr algn="l">
              <a:lnSpc>
                <a:spcPts val="1130"/>
              </a:lnSpc>
            </a:pPr>
            <a:r>
              <a:rPr lang="en-US" sz="1027" b="true">
                <a:solidFill>
                  <a:srgbClr val="100643"/>
                </a:solidFill>
                <a:latin typeface="Poppins Bold"/>
                <a:ea typeface="Poppins Bold"/>
                <a:cs typeface="Poppins Bold"/>
                <a:sym typeface="Poppins Bold"/>
              </a:rPr>
              <a:t>Pool</a:t>
            </a:r>
            <a:r>
              <a:rPr lang="en-US" sz="1027">
                <a:solidFill>
                  <a:srgbClr val="100643"/>
                </a:solidFill>
                <a:latin typeface="Poppins"/>
                <a:ea typeface="Poppins"/>
                <a:cs typeface="Poppins"/>
                <a:sym typeface="Poppins"/>
              </a:rPr>
              <a:t> - Phạm vi quy trình/tác nhân</a:t>
            </a:r>
          </a:p>
          <a:p>
            <a:pPr algn="l">
              <a:lnSpc>
                <a:spcPts val="1130"/>
              </a:lnSpc>
            </a:pPr>
            <a:r>
              <a:rPr lang="en-US" sz="1027" b="true">
                <a:solidFill>
                  <a:srgbClr val="100643"/>
                </a:solidFill>
                <a:latin typeface="Poppins Bold"/>
                <a:ea typeface="Poppins Bold"/>
                <a:cs typeface="Poppins Bold"/>
                <a:sym typeface="Poppins Bold"/>
              </a:rPr>
              <a:t>Lane</a:t>
            </a:r>
            <a:r>
              <a:rPr lang="en-US" sz="1027">
                <a:solidFill>
                  <a:srgbClr val="100643"/>
                </a:solidFill>
                <a:latin typeface="Poppins"/>
                <a:ea typeface="Poppins"/>
                <a:cs typeface="Poppins"/>
                <a:sym typeface="Poppins"/>
              </a:rPr>
              <a:t> - Phân chia trách nhiệm</a:t>
            </a:r>
          </a:p>
          <a:p>
            <a:pPr algn="l">
              <a:lnSpc>
                <a:spcPts val="1130"/>
              </a:lnSpc>
            </a:pPr>
            <a:r>
              <a:rPr lang="en-US" sz="1027" b="true">
                <a:solidFill>
                  <a:srgbClr val="100643"/>
                </a:solidFill>
                <a:latin typeface="Poppins Bold"/>
                <a:ea typeface="Poppins Bold"/>
                <a:cs typeface="Poppins Bold"/>
                <a:sym typeface="Poppins Bold"/>
              </a:rPr>
              <a:t>Message Flow</a:t>
            </a:r>
            <a:r>
              <a:rPr lang="en-US" sz="1027">
                <a:solidFill>
                  <a:srgbClr val="100643"/>
                </a:solidFill>
                <a:latin typeface="Poppins"/>
                <a:ea typeface="Poppins"/>
                <a:cs typeface="Poppins"/>
                <a:sym typeface="Poppins"/>
              </a:rPr>
              <a:t> - Dòng thông điệp giữa các tác nhân</a:t>
            </a:r>
          </a:p>
          <a:p>
            <a:pPr algn="l">
              <a:lnSpc>
                <a:spcPts val="1130"/>
              </a:lnSpc>
            </a:pPr>
            <a:r>
              <a:rPr lang="en-US" sz="1027" b="true">
                <a:solidFill>
                  <a:srgbClr val="100643"/>
                </a:solidFill>
                <a:latin typeface="Poppins Bold"/>
                <a:ea typeface="Poppins Bold"/>
                <a:cs typeface="Poppins Bold"/>
                <a:sym typeface="Poppins Bold"/>
              </a:rPr>
              <a:t>pool + lane + gateway</a:t>
            </a:r>
            <a:r>
              <a:rPr lang="en-US" sz="1027">
                <a:solidFill>
                  <a:srgbClr val="100643"/>
                </a:solidFill>
                <a:latin typeface="Poppins"/>
                <a:ea typeface="Poppins"/>
                <a:cs typeface="Poppins"/>
                <a:sym typeface="Poppins"/>
              </a:rPr>
              <a:t> - Cấu trúc mô hình BPMN</a:t>
            </a:r>
          </a:p>
          <a:p>
            <a:pPr algn="l">
              <a:lnSpc>
                <a:spcPts val="1130"/>
              </a:lnSpc>
            </a:pPr>
            <a:r>
              <a:rPr lang="en-US" sz="1027" b="true">
                <a:solidFill>
                  <a:srgbClr val="100643"/>
                </a:solidFill>
                <a:latin typeface="Poppins Bold"/>
                <a:ea typeface="Poppins Bold"/>
                <a:cs typeface="Poppins Bold"/>
                <a:sym typeface="Poppins Bold"/>
              </a:rPr>
              <a:t>VA • BVA • NVA</a:t>
            </a:r>
            <a:r>
              <a:rPr lang="en-US" sz="1027">
                <a:solidFill>
                  <a:srgbClr val="100643"/>
                </a:solidFill>
                <a:latin typeface="Poppins"/>
                <a:ea typeface="Poppins"/>
                <a:cs typeface="Poppins"/>
                <a:sym typeface="Poppins"/>
              </a:rPr>
              <a:t> - Phân loại giá trị</a:t>
            </a:r>
          </a:p>
          <a:p>
            <a:pPr algn="l">
              <a:lnSpc>
                <a:spcPts val="1130"/>
              </a:lnSpc>
            </a:pPr>
            <a:r>
              <a:rPr lang="en-US" sz="1027" b="true">
                <a:solidFill>
                  <a:srgbClr val="100643"/>
                </a:solidFill>
                <a:latin typeface="Poppins Bold"/>
                <a:ea typeface="Poppins Bold"/>
                <a:cs typeface="Poppins Bold"/>
                <a:sym typeface="Poppins Bold"/>
              </a:rPr>
              <a:t>MOVE / Motion</a:t>
            </a:r>
            <a:r>
              <a:rPr lang="en-US" sz="1027">
                <a:solidFill>
                  <a:srgbClr val="100643"/>
                </a:solidFill>
                <a:latin typeface="Poppins"/>
                <a:ea typeface="Poppins"/>
                <a:cs typeface="Poppins"/>
                <a:sym typeface="Poppins"/>
              </a:rPr>
              <a:t> - Lãng phí do di chuyển</a:t>
            </a:r>
          </a:p>
          <a:p>
            <a:pPr algn="l">
              <a:lnSpc>
                <a:spcPts val="1130"/>
              </a:lnSpc>
            </a:pPr>
            <a:r>
              <a:rPr lang="en-US" sz="1027" b="true">
                <a:solidFill>
                  <a:srgbClr val="100643"/>
                </a:solidFill>
                <a:latin typeface="Poppins Bold"/>
                <a:ea typeface="Poppins Bold"/>
                <a:cs typeface="Poppins Bold"/>
                <a:sym typeface="Poppins Bold"/>
              </a:rPr>
              <a:t>HOLD / Waiting</a:t>
            </a:r>
            <a:r>
              <a:rPr lang="en-US" sz="1027">
                <a:solidFill>
                  <a:srgbClr val="100643"/>
                </a:solidFill>
                <a:latin typeface="Poppins"/>
                <a:ea typeface="Poppins"/>
                <a:cs typeface="Poppins"/>
                <a:sym typeface="Poppins"/>
              </a:rPr>
              <a:t> - Lãng phí do chờ hoặc tồn đọng</a:t>
            </a:r>
          </a:p>
          <a:p>
            <a:pPr algn="l">
              <a:lnSpc>
                <a:spcPts val="1130"/>
              </a:lnSpc>
            </a:pPr>
            <a:r>
              <a:rPr lang="en-US" sz="1027" b="true">
                <a:solidFill>
                  <a:srgbClr val="100643"/>
                </a:solidFill>
                <a:latin typeface="Poppins Bold"/>
                <a:ea typeface="Poppins Bold"/>
                <a:cs typeface="Poppins Bold"/>
                <a:sym typeface="Poppins Bold"/>
              </a:rPr>
              <a:t>OVERDO / Overprocessing</a:t>
            </a:r>
            <a:r>
              <a:rPr lang="en-US" sz="1027">
                <a:solidFill>
                  <a:srgbClr val="100643"/>
                </a:solidFill>
                <a:latin typeface="Poppins"/>
                <a:ea typeface="Poppins"/>
                <a:cs typeface="Poppins"/>
                <a:sym typeface="Poppins"/>
              </a:rPr>
              <a:t> - Lãng phí do xử lý quá mức</a:t>
            </a:r>
          </a:p>
          <a:p>
            <a:pPr algn="l">
              <a:lnSpc>
                <a:spcPts val="1130"/>
              </a:lnSpc>
            </a:pPr>
            <a:r>
              <a:rPr lang="en-US" sz="1027" b="true">
                <a:solidFill>
                  <a:srgbClr val="100643"/>
                </a:solidFill>
                <a:latin typeface="Poppins Bold"/>
                <a:ea typeface="Poppins Bold"/>
                <a:cs typeface="Poppins Bold"/>
                <a:sym typeface="Poppins Bold"/>
              </a:rPr>
              <a:t>Defects</a:t>
            </a:r>
            <a:r>
              <a:rPr lang="en-US" sz="1027">
                <a:solidFill>
                  <a:srgbClr val="100643"/>
                </a:solidFill>
                <a:latin typeface="Poppins"/>
                <a:ea typeface="Poppins"/>
                <a:cs typeface="Poppins"/>
                <a:sym typeface="Poppins"/>
              </a:rPr>
              <a:t> - Lỗi cần xử lý lại</a:t>
            </a:r>
          </a:p>
          <a:p>
            <a:pPr algn="l">
              <a:lnSpc>
                <a:spcPts val="1130"/>
              </a:lnSpc>
            </a:pPr>
            <a:r>
              <a:rPr lang="en-US" sz="1027" b="true">
                <a:solidFill>
                  <a:srgbClr val="100643"/>
                </a:solidFill>
                <a:latin typeface="Poppins Bold"/>
                <a:ea typeface="Poppins Bold"/>
                <a:cs typeface="Poppins Bold"/>
                <a:sym typeface="Poppins Bold"/>
              </a:rPr>
              <a:t>Non-utilized talent</a:t>
            </a:r>
            <a:r>
              <a:rPr lang="en-US" sz="1027">
                <a:solidFill>
                  <a:srgbClr val="100643"/>
                </a:solidFill>
                <a:latin typeface="Poppins"/>
                <a:ea typeface="Poppins"/>
                <a:cs typeface="Poppins"/>
                <a:sym typeface="Poppins"/>
              </a:rPr>
              <a:t> - Lãng phí năng lực nhân sự</a:t>
            </a:r>
          </a:p>
          <a:p>
            <a:pPr algn="l">
              <a:lnSpc>
                <a:spcPts val="1130"/>
              </a:lnSpc>
            </a:pPr>
            <a:r>
              <a:rPr lang="en-US" sz="1027" b="true">
                <a:solidFill>
                  <a:srgbClr val="100643"/>
                </a:solidFill>
                <a:latin typeface="Poppins Bold"/>
                <a:ea typeface="Poppins Bold"/>
                <a:cs typeface="Poppins Bold"/>
                <a:sym typeface="Poppins Bold"/>
              </a:rPr>
              <a:t>Lean</a:t>
            </a:r>
            <a:r>
              <a:rPr lang="en-US" sz="1027">
                <a:solidFill>
                  <a:srgbClr val="100643"/>
                </a:solidFill>
                <a:latin typeface="Poppins"/>
                <a:ea typeface="Poppins"/>
                <a:cs typeface="Poppins"/>
                <a:sym typeface="Poppins"/>
              </a:rPr>
              <a:t> - Triết lý loại bỏ lãng phí</a:t>
            </a:r>
          </a:p>
          <a:p>
            <a:pPr algn="l">
              <a:lnSpc>
                <a:spcPts val="1130"/>
              </a:lnSpc>
            </a:pPr>
            <a:r>
              <a:rPr lang="en-US" sz="1027" b="true">
                <a:solidFill>
                  <a:srgbClr val="100643"/>
                </a:solidFill>
                <a:latin typeface="Poppins Bold"/>
                <a:ea typeface="Poppins Bold"/>
                <a:cs typeface="Poppins Bold"/>
                <a:sym typeface="Poppins Bold"/>
              </a:rPr>
              <a:t>5Why / Root Cause Analysis</a:t>
            </a:r>
            <a:r>
              <a:rPr lang="en-US" sz="1027">
                <a:solidFill>
                  <a:srgbClr val="100643"/>
                </a:solidFill>
                <a:latin typeface="Poppins"/>
                <a:ea typeface="Poppins"/>
                <a:cs typeface="Poppins"/>
                <a:sym typeface="Poppins"/>
              </a:rPr>
              <a:t> - Phân tích nguyên nhân gốc rễ</a:t>
            </a:r>
          </a:p>
          <a:p>
            <a:pPr algn="l">
              <a:lnSpc>
                <a:spcPts val="1130"/>
              </a:lnSpc>
            </a:pPr>
            <a:r>
              <a:rPr lang="en-US" sz="1027" b="true">
                <a:solidFill>
                  <a:srgbClr val="100643"/>
                </a:solidFill>
                <a:latin typeface="Poppins Bold"/>
                <a:ea typeface="Poppins Bold"/>
                <a:cs typeface="Poppins Bold"/>
                <a:sym typeface="Poppins Bold"/>
              </a:rPr>
              <a:t>Fishbone Diagram / Ishikawa</a:t>
            </a:r>
            <a:r>
              <a:rPr lang="en-US" sz="1027">
                <a:solidFill>
                  <a:srgbClr val="100643"/>
                </a:solidFill>
                <a:latin typeface="Poppins"/>
                <a:ea typeface="Poppins"/>
                <a:cs typeface="Poppins"/>
                <a:sym typeface="Poppins"/>
              </a:rPr>
              <a:t> - Sơ đồ xương cá</a:t>
            </a:r>
          </a:p>
          <a:p>
            <a:pPr algn="l">
              <a:lnSpc>
                <a:spcPts val="1130"/>
              </a:lnSpc>
            </a:pPr>
            <a:r>
              <a:rPr lang="en-US" sz="1027" b="true">
                <a:solidFill>
                  <a:srgbClr val="100643"/>
                </a:solidFill>
                <a:latin typeface="Poppins Bold"/>
                <a:ea typeface="Poppins Bold"/>
                <a:cs typeface="Poppins Bold"/>
                <a:sym typeface="Poppins Bold"/>
              </a:rPr>
              <a:t>Pilot / Thí điểm</a:t>
            </a:r>
            <a:r>
              <a:rPr lang="en-US" sz="1027">
                <a:solidFill>
                  <a:srgbClr val="100643"/>
                </a:solidFill>
                <a:latin typeface="Poppins"/>
                <a:ea typeface="Poppins"/>
                <a:cs typeface="Poppins"/>
                <a:sym typeface="Poppins"/>
              </a:rPr>
              <a:t> - Triển khai thử nghiệm quy mô nhỏ</a:t>
            </a:r>
          </a:p>
        </p:txBody>
      </p:sp>
      <p:sp>
        <p:nvSpPr>
          <p:cNvPr name="TextBox 51" id="51"/>
          <p:cNvSpPr txBox="true"/>
          <p:nvPr/>
        </p:nvSpPr>
        <p:spPr>
          <a:xfrm rot="0">
            <a:off x="9248775" y="6028962"/>
            <a:ext cx="4429125" cy="2977896"/>
          </a:xfrm>
          <a:prstGeom prst="rect">
            <a:avLst/>
          </a:prstGeom>
        </p:spPr>
        <p:txBody>
          <a:bodyPr anchor="t" rtlCol="false" tIns="0" lIns="0" bIns="0" rIns="0">
            <a:spAutoFit/>
          </a:bodyPr>
          <a:lstStyle/>
          <a:p>
            <a:pPr algn="l">
              <a:lnSpc>
                <a:spcPts val="989"/>
              </a:lnSpc>
            </a:pPr>
            <a:r>
              <a:rPr lang="en-US" sz="989" b="true">
                <a:solidFill>
                  <a:srgbClr val="100643"/>
                </a:solidFill>
                <a:latin typeface="Poppins Bold"/>
                <a:ea typeface="Poppins Bold"/>
                <a:cs typeface="Poppins Bold"/>
                <a:sym typeface="Poppins Bold"/>
              </a:rPr>
              <a:t>ĐHĐCĐ</a:t>
            </a:r>
            <a:r>
              <a:rPr lang="en-US" sz="989">
                <a:solidFill>
                  <a:srgbClr val="100643"/>
                </a:solidFill>
                <a:latin typeface="Poppins"/>
                <a:ea typeface="Poppins"/>
                <a:cs typeface="Poppins"/>
                <a:sym typeface="Poppins"/>
              </a:rPr>
              <a:t> - Đại hội đồng cổ đông</a:t>
            </a:r>
          </a:p>
          <a:p>
            <a:pPr algn="l">
              <a:lnSpc>
                <a:spcPts val="989"/>
              </a:lnSpc>
            </a:pPr>
            <a:r>
              <a:rPr lang="en-US" sz="989" b="true">
                <a:solidFill>
                  <a:srgbClr val="100643"/>
                </a:solidFill>
                <a:latin typeface="Poppins Bold"/>
                <a:ea typeface="Poppins Bold"/>
                <a:cs typeface="Poppins Bold"/>
                <a:sym typeface="Poppins Bold"/>
              </a:rPr>
              <a:t>HĐQT</a:t>
            </a:r>
            <a:r>
              <a:rPr lang="en-US" sz="989">
                <a:solidFill>
                  <a:srgbClr val="100643"/>
                </a:solidFill>
                <a:latin typeface="Poppins"/>
                <a:ea typeface="Poppins"/>
                <a:cs typeface="Poppins"/>
                <a:sym typeface="Poppins"/>
              </a:rPr>
              <a:t> - Hội đồng quản trị</a:t>
            </a:r>
          </a:p>
          <a:p>
            <a:pPr algn="l">
              <a:lnSpc>
                <a:spcPts val="989"/>
              </a:lnSpc>
            </a:pPr>
            <a:r>
              <a:rPr lang="en-US" sz="989" b="true">
                <a:solidFill>
                  <a:srgbClr val="100643"/>
                </a:solidFill>
                <a:latin typeface="Poppins Bold"/>
                <a:ea typeface="Poppins Bold"/>
                <a:cs typeface="Poppins Bold"/>
                <a:sym typeface="Poppins Bold"/>
              </a:rPr>
              <a:t>BKS</a:t>
            </a:r>
            <a:r>
              <a:rPr lang="en-US" sz="989">
                <a:solidFill>
                  <a:srgbClr val="100643"/>
                </a:solidFill>
                <a:latin typeface="Poppins"/>
                <a:ea typeface="Poppins"/>
                <a:cs typeface="Poppins"/>
                <a:sym typeface="Poppins"/>
              </a:rPr>
              <a:t> - Ban kiểm soát</a:t>
            </a:r>
          </a:p>
          <a:p>
            <a:pPr algn="l">
              <a:lnSpc>
                <a:spcPts val="989"/>
              </a:lnSpc>
            </a:pPr>
            <a:r>
              <a:rPr lang="en-US" sz="989" b="true">
                <a:solidFill>
                  <a:srgbClr val="100643"/>
                </a:solidFill>
                <a:latin typeface="Poppins Bold"/>
                <a:ea typeface="Poppins Bold"/>
                <a:cs typeface="Poppins Bold"/>
                <a:sym typeface="Poppins Bold"/>
              </a:rPr>
              <a:t>TGĐ</a:t>
            </a:r>
            <a:r>
              <a:rPr lang="en-US" sz="989">
                <a:solidFill>
                  <a:srgbClr val="100643"/>
                </a:solidFill>
                <a:latin typeface="Poppins"/>
                <a:ea typeface="Poppins"/>
                <a:cs typeface="Poppins"/>
                <a:sym typeface="Poppins"/>
              </a:rPr>
              <a:t> - Tổng Giám đốc</a:t>
            </a:r>
          </a:p>
          <a:p>
            <a:pPr algn="l">
              <a:lnSpc>
                <a:spcPts val="989"/>
              </a:lnSpc>
            </a:pPr>
            <a:r>
              <a:rPr lang="en-US" sz="989" b="true">
                <a:solidFill>
                  <a:srgbClr val="110440"/>
                </a:solidFill>
                <a:latin typeface="Poppins Bold"/>
                <a:ea typeface="Poppins Bold"/>
                <a:cs typeface="Poppins Bold"/>
                <a:sym typeface="Poppins Bold"/>
              </a:rPr>
              <a:t>SBU</a:t>
            </a:r>
            <a:r>
              <a:rPr lang="en-US" sz="989">
                <a:solidFill>
                  <a:srgbClr val="110440"/>
                </a:solidFill>
                <a:latin typeface="Poppins"/>
                <a:ea typeface="Poppins"/>
                <a:cs typeface="Poppins"/>
                <a:sym typeface="Poppins"/>
              </a:rPr>
              <a:t> - Đơn vị kinh doanh chiến lược</a:t>
            </a:r>
          </a:p>
          <a:p>
            <a:pPr algn="l">
              <a:lnSpc>
                <a:spcPts val="989"/>
              </a:lnSpc>
            </a:pPr>
            <a:r>
              <a:rPr lang="en-US" sz="989" b="true">
                <a:solidFill>
                  <a:srgbClr val="110440"/>
                </a:solidFill>
                <a:latin typeface="Poppins Bold"/>
                <a:ea typeface="Poppins Bold"/>
                <a:cs typeface="Poppins Bold"/>
                <a:sym typeface="Poppins Bold"/>
              </a:rPr>
              <a:t>Ban Tổng Giám đốc</a:t>
            </a:r>
            <a:r>
              <a:rPr lang="en-US" sz="989">
                <a:solidFill>
                  <a:srgbClr val="110440"/>
                </a:solidFill>
                <a:latin typeface="Poppins"/>
                <a:ea typeface="Poppins"/>
                <a:cs typeface="Poppins"/>
                <a:sym typeface="Poppins"/>
              </a:rPr>
              <a:t> - Cấp điều hành cao nhất</a:t>
            </a:r>
          </a:p>
          <a:p>
            <a:pPr algn="l">
              <a:lnSpc>
                <a:spcPts val="989"/>
              </a:lnSpc>
            </a:pPr>
            <a:r>
              <a:rPr lang="en-US" sz="989" b="true">
                <a:solidFill>
                  <a:srgbClr val="110440"/>
                </a:solidFill>
                <a:latin typeface="Poppins Bold"/>
                <a:ea typeface="Poppins Bold"/>
                <a:cs typeface="Poppins Bold"/>
                <a:sym typeface="Poppins Bold"/>
              </a:rPr>
              <a:t>Ban Giám đốc</a:t>
            </a:r>
            <a:r>
              <a:rPr lang="en-US" sz="989">
                <a:solidFill>
                  <a:srgbClr val="110440"/>
                </a:solidFill>
                <a:latin typeface="Poppins"/>
                <a:ea typeface="Poppins"/>
                <a:cs typeface="Poppins"/>
                <a:sym typeface="Poppins"/>
              </a:rPr>
              <a:t> - Cấp quản lý và phê duyệt</a:t>
            </a:r>
          </a:p>
          <a:p>
            <a:pPr algn="l">
              <a:lnSpc>
                <a:spcPts val="989"/>
              </a:lnSpc>
            </a:pPr>
            <a:r>
              <a:rPr lang="en-US" sz="989" b="true">
                <a:solidFill>
                  <a:srgbClr val="110440"/>
                </a:solidFill>
                <a:latin typeface="Poppins Bold"/>
                <a:ea typeface="Poppins Bold"/>
                <a:cs typeface="Poppins Bold"/>
                <a:sym typeface="Poppins Bold"/>
              </a:rPr>
              <a:t>Phòng Pháp chế</a:t>
            </a:r>
            <a:r>
              <a:rPr lang="en-US" sz="989">
                <a:solidFill>
                  <a:srgbClr val="110440"/>
                </a:solidFill>
                <a:latin typeface="Poppins"/>
                <a:ea typeface="Poppins"/>
                <a:cs typeface="Poppins"/>
                <a:sym typeface="Poppins"/>
              </a:rPr>
              <a:t> - Tài chính - Xử lý pháp lý và tài chính</a:t>
            </a:r>
          </a:p>
          <a:p>
            <a:pPr algn="l">
              <a:lnSpc>
                <a:spcPts val="989"/>
              </a:lnSpc>
            </a:pPr>
            <a:r>
              <a:rPr lang="en-US" sz="989" b="true">
                <a:solidFill>
                  <a:srgbClr val="110440"/>
                </a:solidFill>
                <a:latin typeface="Poppins Bold"/>
                <a:ea typeface="Poppins Bold"/>
                <a:cs typeface="Poppins Bold"/>
                <a:sym typeface="Poppins Bold"/>
              </a:rPr>
              <a:t>Bộ phận Pháp chế</a:t>
            </a:r>
            <a:r>
              <a:rPr lang="en-US" sz="989">
                <a:solidFill>
                  <a:srgbClr val="110440"/>
                </a:solidFill>
                <a:latin typeface="Poppins"/>
                <a:ea typeface="Poppins"/>
                <a:cs typeface="Poppins"/>
                <a:sym typeface="Poppins"/>
              </a:rPr>
              <a:t> - Phụ trách pháp chế</a:t>
            </a:r>
          </a:p>
          <a:p>
            <a:pPr algn="l">
              <a:lnSpc>
                <a:spcPts val="989"/>
              </a:lnSpc>
            </a:pPr>
            <a:r>
              <a:rPr lang="en-US" sz="989" b="true">
                <a:solidFill>
                  <a:srgbClr val="110440"/>
                </a:solidFill>
                <a:latin typeface="Poppins Bold"/>
                <a:ea typeface="Poppins Bold"/>
                <a:cs typeface="Poppins Bold"/>
                <a:sym typeface="Poppins Bold"/>
              </a:rPr>
              <a:t>Bộ phận Khai thác vận tải</a:t>
            </a:r>
            <a:r>
              <a:rPr lang="en-US" sz="989">
                <a:solidFill>
                  <a:srgbClr val="110440"/>
                </a:solidFill>
                <a:latin typeface="Poppins"/>
                <a:ea typeface="Poppins"/>
                <a:cs typeface="Poppins"/>
                <a:sym typeface="Poppins"/>
              </a:rPr>
              <a:t> - Quản lý và điều phối vận tải</a:t>
            </a:r>
          </a:p>
          <a:p>
            <a:pPr algn="l">
              <a:lnSpc>
                <a:spcPts val="989"/>
              </a:lnSpc>
            </a:pPr>
            <a:r>
              <a:rPr lang="en-US" sz="989" b="true">
                <a:solidFill>
                  <a:srgbClr val="110440"/>
                </a:solidFill>
                <a:latin typeface="Poppins Bold"/>
                <a:ea typeface="Poppins Bold"/>
                <a:cs typeface="Poppins Bold"/>
                <a:sym typeface="Poppins Bold"/>
              </a:rPr>
              <a:t>Bộ phận Quản lý đối tác / Mua sắm</a:t>
            </a:r>
            <a:r>
              <a:rPr lang="en-US" sz="989">
                <a:solidFill>
                  <a:srgbClr val="110440"/>
                </a:solidFill>
                <a:latin typeface="Poppins"/>
                <a:ea typeface="Poppins"/>
                <a:cs typeface="Poppins"/>
                <a:sym typeface="Poppins"/>
              </a:rPr>
              <a:t> - Tiếp nhận, thẩm định, ký kết</a:t>
            </a:r>
          </a:p>
          <a:p>
            <a:pPr algn="l">
              <a:lnSpc>
                <a:spcPts val="989"/>
              </a:lnSpc>
            </a:pPr>
            <a:r>
              <a:rPr lang="en-US" sz="989" b="true">
                <a:solidFill>
                  <a:srgbClr val="110440"/>
                </a:solidFill>
                <a:latin typeface="Poppins Bold"/>
                <a:ea typeface="Poppins Bold"/>
                <a:cs typeface="Poppins Bold"/>
                <a:sym typeface="Poppins Bold"/>
              </a:rPr>
              <a:t>Phòng Nhân sự / HR</a:t>
            </a:r>
            <a:r>
              <a:rPr lang="en-US" sz="989">
                <a:solidFill>
                  <a:srgbClr val="110440"/>
                </a:solidFill>
                <a:latin typeface="Poppins"/>
                <a:ea typeface="Poppins"/>
                <a:cs typeface="Poppins"/>
                <a:sym typeface="Poppins"/>
              </a:rPr>
              <a:t> - Tuyển dụng, đào tạo, quản lý hợp đồng</a:t>
            </a:r>
          </a:p>
          <a:p>
            <a:pPr algn="l">
              <a:lnSpc>
                <a:spcPts val="989"/>
              </a:lnSpc>
            </a:pPr>
            <a:r>
              <a:rPr lang="en-US" sz="989" b="true">
                <a:solidFill>
                  <a:srgbClr val="110440"/>
                </a:solidFill>
                <a:latin typeface="Poppins Bold"/>
                <a:ea typeface="Poppins Bold"/>
                <a:cs typeface="Poppins Bold"/>
                <a:sym typeface="Poppins Bold"/>
              </a:rPr>
              <a:t>Bộ phận CSKH / CSKH</a:t>
            </a:r>
            <a:r>
              <a:rPr lang="en-US" sz="989">
                <a:solidFill>
                  <a:srgbClr val="110440"/>
                </a:solidFill>
                <a:latin typeface="Poppins"/>
                <a:ea typeface="Poppins"/>
                <a:cs typeface="Poppins"/>
                <a:sym typeface="Poppins"/>
              </a:rPr>
              <a:t> - Chăm sóc khách hàng, xử lý khiếu nại</a:t>
            </a:r>
          </a:p>
          <a:p>
            <a:pPr algn="l">
              <a:lnSpc>
                <a:spcPts val="989"/>
              </a:lnSpc>
            </a:pPr>
            <a:r>
              <a:rPr lang="en-US" sz="989" b="true">
                <a:solidFill>
                  <a:srgbClr val="110440"/>
                </a:solidFill>
                <a:latin typeface="Poppins Bold"/>
                <a:ea typeface="Poppins Bold"/>
                <a:cs typeface="Poppins Bold"/>
                <a:sym typeface="Poppins Bold"/>
              </a:rPr>
              <a:t>Bộ phận giao hàng / Người giao hàng</a:t>
            </a:r>
            <a:r>
              <a:rPr lang="en-US" sz="989">
                <a:solidFill>
                  <a:srgbClr val="110440"/>
                </a:solidFill>
                <a:latin typeface="Poppins"/>
                <a:ea typeface="Poppins"/>
                <a:cs typeface="Poppins"/>
                <a:sym typeface="Poppins"/>
              </a:rPr>
              <a:t> - Giao hàng và thu COD</a:t>
            </a:r>
          </a:p>
          <a:p>
            <a:pPr algn="l">
              <a:lnSpc>
                <a:spcPts val="989"/>
              </a:lnSpc>
            </a:pPr>
            <a:r>
              <a:rPr lang="en-US" sz="989" b="true">
                <a:solidFill>
                  <a:srgbClr val="110440"/>
                </a:solidFill>
                <a:latin typeface="Poppins Bold"/>
                <a:ea typeface="Poppins Bold"/>
                <a:cs typeface="Poppins Bold"/>
                <a:sym typeface="Poppins Bold"/>
              </a:rPr>
              <a:t>Bưu tá / Người lấy hàng / Shipper</a:t>
            </a:r>
            <a:r>
              <a:rPr lang="en-US" sz="989">
                <a:solidFill>
                  <a:srgbClr val="110440"/>
                </a:solidFill>
                <a:latin typeface="Poppins"/>
                <a:ea typeface="Poppins"/>
                <a:cs typeface="Poppins"/>
                <a:sym typeface="Poppins"/>
              </a:rPr>
              <a:t> - Thu gom và giao hàng</a:t>
            </a:r>
          </a:p>
          <a:p>
            <a:pPr algn="l">
              <a:lnSpc>
                <a:spcPts val="989"/>
              </a:lnSpc>
            </a:pPr>
            <a:r>
              <a:rPr lang="en-US" sz="989" b="true">
                <a:solidFill>
                  <a:srgbClr val="110440"/>
                </a:solidFill>
                <a:latin typeface="Poppins Bold"/>
                <a:ea typeface="Poppins Bold"/>
                <a:cs typeface="Poppins Bold"/>
                <a:sym typeface="Poppins Bold"/>
              </a:rPr>
              <a:t>Điều phối viên / Dispatcher</a:t>
            </a:r>
            <a:r>
              <a:rPr lang="en-US" sz="989">
                <a:solidFill>
                  <a:srgbClr val="110440"/>
                </a:solidFill>
                <a:latin typeface="Poppins"/>
                <a:ea typeface="Poppins"/>
                <a:cs typeface="Poppins"/>
                <a:sym typeface="Poppins"/>
              </a:rPr>
              <a:t> - Phân công vận chuyển</a:t>
            </a:r>
          </a:p>
          <a:p>
            <a:pPr algn="l">
              <a:lnSpc>
                <a:spcPts val="989"/>
              </a:lnSpc>
            </a:pPr>
            <a:r>
              <a:rPr lang="en-US" sz="989" b="true">
                <a:solidFill>
                  <a:srgbClr val="110440"/>
                </a:solidFill>
                <a:latin typeface="Poppins Bold"/>
                <a:ea typeface="Poppins Bold"/>
                <a:cs typeface="Poppins Bold"/>
                <a:sym typeface="Poppins Bold"/>
              </a:rPr>
              <a:t>Kế toán / Bộ phận kế toán</a:t>
            </a:r>
            <a:r>
              <a:rPr lang="en-US" sz="989">
                <a:solidFill>
                  <a:srgbClr val="110440"/>
                </a:solidFill>
                <a:latin typeface="Poppins"/>
                <a:ea typeface="Poppins"/>
                <a:cs typeface="Poppins"/>
                <a:sym typeface="Poppins"/>
              </a:rPr>
              <a:t> - Kiểm tra, đối soát, xác nhận chuyển tiền</a:t>
            </a:r>
          </a:p>
          <a:p>
            <a:pPr algn="l">
              <a:lnSpc>
                <a:spcPts val="989"/>
              </a:lnSpc>
            </a:pPr>
            <a:r>
              <a:rPr lang="en-US" sz="989" b="true">
                <a:solidFill>
                  <a:srgbClr val="110440"/>
                </a:solidFill>
                <a:latin typeface="Poppins Bold"/>
                <a:ea typeface="Poppins Bold"/>
                <a:cs typeface="Poppins Bold"/>
                <a:sym typeface="Poppins Bold"/>
              </a:rPr>
              <a:t>Đối tác vận tải</a:t>
            </a:r>
            <a:r>
              <a:rPr lang="en-US" sz="989">
                <a:solidFill>
                  <a:srgbClr val="110440"/>
                </a:solidFill>
                <a:latin typeface="Poppins"/>
                <a:ea typeface="Poppins"/>
                <a:cs typeface="Poppins"/>
                <a:sym typeface="Poppins"/>
              </a:rPr>
              <a:t> - Đơn vị vận chuyển hợp tác</a:t>
            </a:r>
          </a:p>
          <a:p>
            <a:pPr algn="l">
              <a:lnSpc>
                <a:spcPts val="989"/>
              </a:lnSpc>
            </a:pPr>
            <a:r>
              <a:rPr lang="en-US" sz="989" b="true">
                <a:solidFill>
                  <a:srgbClr val="110440"/>
                </a:solidFill>
                <a:latin typeface="Poppins Bold"/>
                <a:ea typeface="Poppins Bold"/>
                <a:cs typeface="Poppins Bold"/>
                <a:sym typeface="Poppins Bold"/>
              </a:rPr>
              <a:t>Khách hàng nội bộ</a:t>
            </a:r>
            <a:r>
              <a:rPr lang="en-US" sz="989">
                <a:solidFill>
                  <a:srgbClr val="110440"/>
                </a:solidFill>
                <a:latin typeface="Poppins"/>
                <a:ea typeface="Poppins"/>
                <a:cs typeface="Poppins"/>
                <a:sym typeface="Poppins"/>
              </a:rPr>
              <a:t> - Đơn vị sử dụng dịch vụ</a:t>
            </a:r>
          </a:p>
          <a:p>
            <a:pPr algn="l">
              <a:lnSpc>
                <a:spcPts val="989"/>
              </a:lnSpc>
            </a:pPr>
            <a:r>
              <a:rPr lang="en-US" sz="989" b="true">
                <a:solidFill>
                  <a:srgbClr val="110440"/>
                </a:solidFill>
                <a:latin typeface="Poppins Bold"/>
                <a:ea typeface="Poppins Bold"/>
                <a:cs typeface="Poppins Bold"/>
                <a:sym typeface="Poppins Bold"/>
              </a:rPr>
              <a:t>Người gửi hàng</a:t>
            </a:r>
            <a:r>
              <a:rPr lang="en-US" sz="989">
                <a:solidFill>
                  <a:srgbClr val="110440"/>
                </a:solidFill>
                <a:latin typeface="Poppins"/>
                <a:ea typeface="Poppins"/>
                <a:cs typeface="Poppins"/>
                <a:sym typeface="Poppins"/>
              </a:rPr>
              <a:t> - Chủ thể gửi hàng</a:t>
            </a:r>
          </a:p>
          <a:p>
            <a:pPr algn="l">
              <a:lnSpc>
                <a:spcPts val="989"/>
              </a:lnSpc>
            </a:pPr>
            <a:r>
              <a:rPr lang="en-US" sz="989" b="true">
                <a:solidFill>
                  <a:srgbClr val="110440"/>
                </a:solidFill>
                <a:latin typeface="Poppins Bold"/>
                <a:ea typeface="Poppins Bold"/>
                <a:cs typeface="Poppins Bold"/>
                <a:sym typeface="Poppins Bold"/>
              </a:rPr>
              <a:t>Người nhận hàng</a:t>
            </a:r>
            <a:r>
              <a:rPr lang="en-US" sz="989">
                <a:solidFill>
                  <a:srgbClr val="110440"/>
                </a:solidFill>
                <a:latin typeface="Poppins"/>
                <a:ea typeface="Poppins"/>
                <a:cs typeface="Poppins"/>
                <a:sym typeface="Poppins"/>
              </a:rPr>
              <a:t> - Chủ thể nhận hàng</a:t>
            </a:r>
          </a:p>
          <a:p>
            <a:pPr algn="l">
              <a:lnSpc>
                <a:spcPts val="989"/>
              </a:lnSpc>
            </a:pPr>
            <a:r>
              <a:rPr lang="en-US" sz="989" b="true">
                <a:solidFill>
                  <a:srgbClr val="100643"/>
                </a:solidFill>
                <a:latin typeface="Poppins Bold"/>
                <a:ea typeface="Poppins Bold"/>
                <a:cs typeface="Poppins Bold"/>
                <a:sym typeface="Poppins Bold"/>
              </a:rPr>
              <a:t>Ứng viên</a:t>
            </a:r>
            <a:r>
              <a:rPr lang="en-US" sz="989">
                <a:solidFill>
                  <a:srgbClr val="100643"/>
                </a:solidFill>
                <a:latin typeface="Poppins"/>
                <a:ea typeface="Poppins"/>
                <a:cs typeface="Poppins"/>
                <a:sym typeface="Poppins"/>
              </a:rPr>
              <a:t> - Người ứng tuyển</a:t>
            </a:r>
          </a:p>
          <a:p>
            <a:pPr algn="l">
              <a:lnSpc>
                <a:spcPts val="989"/>
              </a:lnSpc>
            </a:pPr>
            <a:r>
              <a:rPr lang="en-US" sz="989" b="true">
                <a:solidFill>
                  <a:srgbClr val="110440"/>
                </a:solidFill>
                <a:latin typeface="Poppins Bold"/>
                <a:ea typeface="Poppins Bold"/>
                <a:cs typeface="Poppins Bold"/>
                <a:sym typeface="Poppins Bold"/>
              </a:rPr>
              <a:t>Nhân viên mới</a:t>
            </a:r>
            <a:r>
              <a:rPr lang="en-US" sz="989">
                <a:solidFill>
                  <a:srgbClr val="110440"/>
                </a:solidFill>
                <a:latin typeface="Poppins"/>
                <a:ea typeface="Poppins"/>
                <a:cs typeface="Poppins"/>
                <a:sym typeface="Poppins"/>
              </a:rPr>
              <a:t> - Nhân sự trong giai đoạn đầu</a:t>
            </a:r>
          </a:p>
          <a:p>
            <a:pPr algn="l">
              <a:lnSpc>
                <a:spcPts val="989"/>
              </a:lnSpc>
            </a:pPr>
            <a:r>
              <a:rPr lang="en-US" sz="989" b="true">
                <a:solidFill>
                  <a:srgbClr val="100643"/>
                </a:solidFill>
                <a:latin typeface="Poppins Bold"/>
                <a:ea typeface="Poppins Bold"/>
                <a:cs typeface="Poppins Bold"/>
                <a:sym typeface="Poppins Bold"/>
              </a:rPr>
              <a:t>CTV</a:t>
            </a:r>
            <a:r>
              <a:rPr lang="en-US" sz="989">
                <a:solidFill>
                  <a:srgbClr val="100643"/>
                </a:solidFill>
                <a:latin typeface="Poppins"/>
                <a:ea typeface="Poppins"/>
                <a:cs typeface="Poppins"/>
                <a:sym typeface="Poppins"/>
              </a:rPr>
              <a:t> - Cộng tác viên</a:t>
            </a:r>
          </a:p>
        </p:txBody>
      </p:sp>
      <p:sp>
        <p:nvSpPr>
          <p:cNvPr name="TextBox 52" id="52"/>
          <p:cNvSpPr txBox="true"/>
          <p:nvPr/>
        </p:nvSpPr>
        <p:spPr>
          <a:xfrm rot="0">
            <a:off x="13716000" y="5984194"/>
            <a:ext cx="4424362" cy="3156585"/>
          </a:xfrm>
          <a:prstGeom prst="rect">
            <a:avLst/>
          </a:prstGeom>
        </p:spPr>
        <p:txBody>
          <a:bodyPr anchor="t" rtlCol="false" tIns="0" lIns="0" bIns="0" rIns="0">
            <a:spAutoFit/>
          </a:bodyPr>
          <a:lstStyle/>
          <a:p>
            <a:pPr algn="l">
              <a:lnSpc>
                <a:spcPts val="1155"/>
              </a:lnSpc>
            </a:pPr>
            <a:r>
              <a:rPr lang="en-US" sz="1050" b="true">
                <a:solidFill>
                  <a:srgbClr val="100643"/>
                </a:solidFill>
                <a:latin typeface="Poppins Bold"/>
                <a:ea typeface="Poppins Bold"/>
                <a:cs typeface="Poppins Bold"/>
                <a:sym typeface="Poppins Bold"/>
              </a:rPr>
              <a:t>Chuyển phát nhanh</a:t>
            </a:r>
            <a:r>
              <a:rPr lang="en-US" sz="1050">
                <a:solidFill>
                  <a:srgbClr val="100643"/>
                </a:solidFill>
                <a:latin typeface="Poppins"/>
                <a:ea typeface="Poppins"/>
                <a:cs typeface="Poppins"/>
                <a:sym typeface="Poppins"/>
              </a:rPr>
              <a:t> - Dịch vụ vận chuyển tốc độ cao</a:t>
            </a:r>
          </a:p>
          <a:p>
            <a:pPr algn="l">
              <a:lnSpc>
                <a:spcPts val="1155"/>
              </a:lnSpc>
            </a:pPr>
            <a:r>
              <a:rPr lang="en-US" sz="1050" b="true">
                <a:solidFill>
                  <a:srgbClr val="100643"/>
                </a:solidFill>
                <a:latin typeface="Poppins Bold"/>
                <a:ea typeface="Poppins Bold"/>
                <a:cs typeface="Poppins Bold"/>
                <a:sym typeface="Poppins Bold"/>
              </a:rPr>
              <a:t>Logistics</a:t>
            </a:r>
            <a:r>
              <a:rPr lang="en-US" sz="1050">
                <a:solidFill>
                  <a:srgbClr val="100643"/>
                </a:solidFill>
                <a:latin typeface="Poppins"/>
                <a:ea typeface="Poppins"/>
                <a:cs typeface="Poppins"/>
                <a:sym typeface="Poppins"/>
              </a:rPr>
              <a:t> - Vận chuyển, kho bãi và chuỗi cung ứng</a:t>
            </a:r>
          </a:p>
          <a:p>
            <a:pPr algn="l">
              <a:lnSpc>
                <a:spcPts val="1155"/>
              </a:lnSpc>
            </a:pPr>
            <a:r>
              <a:rPr lang="en-US" sz="1050" b="true">
                <a:solidFill>
                  <a:srgbClr val="100643"/>
                </a:solidFill>
                <a:latin typeface="Poppins Bold"/>
                <a:ea typeface="Poppins Bold"/>
                <a:cs typeface="Poppins Bold"/>
                <a:sym typeface="Poppins Bold"/>
              </a:rPr>
              <a:t>Thương mại điện tử</a:t>
            </a:r>
            <a:r>
              <a:rPr lang="en-US" sz="1050">
                <a:solidFill>
                  <a:srgbClr val="100643"/>
                </a:solidFill>
                <a:latin typeface="Poppins"/>
                <a:ea typeface="Poppins"/>
                <a:cs typeface="Poppins"/>
                <a:sym typeface="Poppins"/>
              </a:rPr>
              <a:t> - Bán hàng trực tuyến</a:t>
            </a:r>
          </a:p>
          <a:p>
            <a:pPr algn="l">
              <a:lnSpc>
                <a:spcPts val="1155"/>
              </a:lnSpc>
            </a:pPr>
            <a:r>
              <a:rPr lang="en-US" sz="1050" b="true">
                <a:solidFill>
                  <a:srgbClr val="100643"/>
                </a:solidFill>
                <a:latin typeface="Poppins Bold"/>
                <a:ea typeface="Poppins Bold"/>
                <a:cs typeface="Poppins Bold"/>
                <a:sym typeface="Poppins Bold"/>
              </a:rPr>
              <a:t>Fulfillment</a:t>
            </a:r>
            <a:r>
              <a:rPr lang="en-US" sz="1050">
                <a:solidFill>
                  <a:srgbClr val="100643"/>
                </a:solidFill>
                <a:latin typeface="Poppins"/>
                <a:ea typeface="Poppins"/>
                <a:cs typeface="Poppins"/>
                <a:sym typeface="Poppins"/>
              </a:rPr>
              <a:t> - Lưu kho, đóng gói và xử lý đơn</a:t>
            </a:r>
          </a:p>
          <a:p>
            <a:pPr algn="l">
              <a:lnSpc>
                <a:spcPts val="1155"/>
              </a:lnSpc>
            </a:pPr>
            <a:r>
              <a:rPr lang="en-US" sz="1050" b="true">
                <a:solidFill>
                  <a:srgbClr val="100643"/>
                </a:solidFill>
                <a:latin typeface="Poppins Bold"/>
                <a:ea typeface="Poppins Bold"/>
                <a:cs typeface="Poppins Bold"/>
                <a:sym typeface="Poppins Bold"/>
              </a:rPr>
              <a:t>Vận tải nguyên chuyến</a:t>
            </a:r>
            <a:r>
              <a:rPr lang="en-US" sz="1050">
                <a:solidFill>
                  <a:srgbClr val="100643"/>
                </a:solidFill>
                <a:latin typeface="Poppins"/>
                <a:ea typeface="Poppins"/>
                <a:cs typeface="Poppins"/>
                <a:sym typeface="Poppins"/>
              </a:rPr>
              <a:t> - Thuê trọn phương tiện</a:t>
            </a:r>
          </a:p>
          <a:p>
            <a:pPr algn="l">
              <a:lnSpc>
                <a:spcPts val="1155"/>
              </a:lnSpc>
            </a:pPr>
            <a:r>
              <a:rPr lang="en-US" sz="1050" b="true">
                <a:solidFill>
                  <a:srgbClr val="100643"/>
                </a:solidFill>
                <a:latin typeface="Poppins Bold"/>
                <a:ea typeface="Poppins Bold"/>
                <a:cs typeface="Poppins Bold"/>
                <a:sym typeface="Poppins Bold"/>
              </a:rPr>
              <a:t>Vận tải theo kiện</a:t>
            </a:r>
            <a:r>
              <a:rPr lang="en-US" sz="1050">
                <a:solidFill>
                  <a:srgbClr val="100643"/>
                </a:solidFill>
                <a:latin typeface="Poppins"/>
                <a:ea typeface="Poppins"/>
                <a:cs typeface="Poppins"/>
                <a:sym typeface="Poppins"/>
              </a:rPr>
              <a:t> - Vận chuyển từng kiện</a:t>
            </a:r>
          </a:p>
          <a:p>
            <a:pPr algn="l">
              <a:lnSpc>
                <a:spcPts val="1155"/>
              </a:lnSpc>
            </a:pPr>
            <a:r>
              <a:rPr lang="en-US" sz="1050" b="true">
                <a:solidFill>
                  <a:srgbClr val="100643"/>
                </a:solidFill>
                <a:latin typeface="Poppins Bold"/>
                <a:ea typeface="Poppins Bold"/>
                <a:cs typeface="Poppins Bold"/>
                <a:sym typeface="Poppins Bold"/>
              </a:rPr>
              <a:t>Vận tải hàng gom</a:t>
            </a:r>
            <a:r>
              <a:rPr lang="en-US" sz="1050">
                <a:solidFill>
                  <a:srgbClr val="100643"/>
                </a:solidFill>
                <a:latin typeface="Poppins"/>
                <a:ea typeface="Poppins"/>
                <a:cs typeface="Poppins"/>
                <a:sym typeface="Poppins"/>
              </a:rPr>
              <a:t> - Gom nhiều lô hàng</a:t>
            </a:r>
          </a:p>
          <a:p>
            <a:pPr algn="l">
              <a:lnSpc>
                <a:spcPts val="1155"/>
              </a:lnSpc>
            </a:pPr>
            <a:r>
              <a:rPr lang="en-US" sz="1050" b="true">
                <a:solidFill>
                  <a:srgbClr val="100643"/>
                </a:solidFill>
                <a:latin typeface="Poppins Bold"/>
                <a:ea typeface="Poppins Bold"/>
                <a:cs typeface="Poppins Bold"/>
                <a:sym typeface="Poppins Bold"/>
              </a:rPr>
              <a:t>Forwarding</a:t>
            </a:r>
            <a:r>
              <a:rPr lang="en-US" sz="1050">
                <a:solidFill>
                  <a:srgbClr val="100643"/>
                </a:solidFill>
                <a:latin typeface="Poppins"/>
                <a:ea typeface="Poppins"/>
                <a:cs typeface="Poppins"/>
                <a:sym typeface="Poppins"/>
              </a:rPr>
              <a:t> - Giao nhận vận tải</a:t>
            </a:r>
          </a:p>
          <a:p>
            <a:pPr algn="l">
              <a:lnSpc>
                <a:spcPts val="1155"/>
              </a:lnSpc>
            </a:pPr>
            <a:r>
              <a:rPr lang="en-US" sz="1050" b="true">
                <a:solidFill>
                  <a:srgbClr val="100643"/>
                </a:solidFill>
                <a:latin typeface="Poppins Bold"/>
                <a:ea typeface="Poppins Bold"/>
                <a:cs typeface="Poppins Bold"/>
                <a:sym typeface="Poppins Bold"/>
              </a:rPr>
              <a:t>Hải quan</a:t>
            </a:r>
            <a:r>
              <a:rPr lang="en-US" sz="1050">
                <a:solidFill>
                  <a:srgbClr val="100643"/>
                </a:solidFill>
                <a:latin typeface="Poppins"/>
                <a:ea typeface="Poppins"/>
                <a:cs typeface="Poppins"/>
                <a:sym typeface="Poppins"/>
              </a:rPr>
              <a:t> - Thủ tục thông quan</a:t>
            </a:r>
          </a:p>
          <a:p>
            <a:pPr algn="l">
              <a:lnSpc>
                <a:spcPts val="1155"/>
              </a:lnSpc>
            </a:pPr>
            <a:r>
              <a:rPr lang="en-US" sz="1050" b="true">
                <a:solidFill>
                  <a:srgbClr val="100643"/>
                </a:solidFill>
                <a:latin typeface="Poppins Bold"/>
                <a:ea typeface="Poppins Bold"/>
                <a:cs typeface="Poppins Bold"/>
                <a:sym typeface="Poppins Bold"/>
              </a:rPr>
              <a:t>Dịch vụ COD</a:t>
            </a:r>
            <a:r>
              <a:rPr lang="en-US" sz="1050">
                <a:solidFill>
                  <a:srgbClr val="100643"/>
                </a:solidFill>
                <a:latin typeface="Poppins"/>
                <a:ea typeface="Poppins"/>
                <a:cs typeface="Poppins"/>
                <a:sym typeface="Poppins"/>
              </a:rPr>
              <a:t> - Dịch vụ thu hộ</a:t>
            </a:r>
          </a:p>
          <a:p>
            <a:pPr algn="l">
              <a:lnSpc>
                <a:spcPts val="1155"/>
              </a:lnSpc>
            </a:pPr>
            <a:r>
              <a:rPr lang="en-US" sz="1050" b="true">
                <a:solidFill>
                  <a:srgbClr val="100643"/>
                </a:solidFill>
                <a:latin typeface="Poppins Bold"/>
                <a:ea typeface="Poppins Bold"/>
                <a:cs typeface="Poppins Bold"/>
                <a:sym typeface="Poppins Bold"/>
              </a:rPr>
              <a:t>Bưu cục</a:t>
            </a:r>
            <a:r>
              <a:rPr lang="en-US" sz="1050">
                <a:solidFill>
                  <a:srgbClr val="100643"/>
                </a:solidFill>
                <a:latin typeface="Poppins"/>
                <a:ea typeface="Poppins"/>
                <a:cs typeface="Poppins"/>
                <a:sym typeface="Poppins"/>
              </a:rPr>
              <a:t> - Điểm tiếp nhận/giao dịch</a:t>
            </a:r>
          </a:p>
          <a:p>
            <a:pPr algn="l">
              <a:lnSpc>
                <a:spcPts val="1155"/>
              </a:lnSpc>
            </a:pPr>
            <a:r>
              <a:rPr lang="en-US" sz="1050" b="true">
                <a:solidFill>
                  <a:srgbClr val="100643"/>
                </a:solidFill>
                <a:latin typeface="Poppins Bold"/>
                <a:ea typeface="Poppins Bold"/>
                <a:cs typeface="Poppins Bold"/>
                <a:sym typeface="Poppins Bold"/>
              </a:rPr>
              <a:t>Trung tâm</a:t>
            </a:r>
            <a:r>
              <a:rPr lang="en-US" sz="1050">
                <a:solidFill>
                  <a:srgbClr val="100643"/>
                </a:solidFill>
                <a:latin typeface="Poppins"/>
                <a:ea typeface="Poppins"/>
                <a:cs typeface="Poppins"/>
                <a:sym typeface="Poppins"/>
              </a:rPr>
              <a:t> - Điểm khai thác/phân loại</a:t>
            </a:r>
          </a:p>
          <a:p>
            <a:pPr algn="l">
              <a:lnSpc>
                <a:spcPts val="1155"/>
              </a:lnSpc>
            </a:pPr>
            <a:r>
              <a:rPr lang="en-US" sz="1050" b="true">
                <a:solidFill>
                  <a:srgbClr val="100643"/>
                </a:solidFill>
                <a:latin typeface="Poppins Bold"/>
                <a:ea typeface="Poppins Bold"/>
                <a:cs typeface="Poppins Bold"/>
                <a:sym typeface="Poppins Bold"/>
              </a:rPr>
              <a:t>Chi nhánh</a:t>
            </a:r>
            <a:r>
              <a:rPr lang="en-US" sz="1050">
                <a:solidFill>
                  <a:srgbClr val="100643"/>
                </a:solidFill>
                <a:latin typeface="Poppins"/>
                <a:ea typeface="Poppins"/>
                <a:cs typeface="Poppins"/>
                <a:sym typeface="Poppins"/>
              </a:rPr>
              <a:t> - Đơn vị theo khu vực</a:t>
            </a:r>
          </a:p>
          <a:p>
            <a:pPr algn="l">
              <a:lnSpc>
                <a:spcPts val="1155"/>
              </a:lnSpc>
            </a:pPr>
            <a:r>
              <a:rPr lang="en-US" sz="1050" b="true">
                <a:solidFill>
                  <a:srgbClr val="100643"/>
                </a:solidFill>
                <a:latin typeface="Poppins Bold"/>
                <a:ea typeface="Poppins Bold"/>
                <a:cs typeface="Poppins Bold"/>
                <a:sym typeface="Poppins Bold"/>
              </a:rPr>
              <a:t>Công ty thành viên</a:t>
            </a:r>
            <a:r>
              <a:rPr lang="en-US" sz="1050">
                <a:solidFill>
                  <a:srgbClr val="100643"/>
                </a:solidFill>
                <a:latin typeface="Poppins"/>
                <a:ea typeface="Poppins"/>
                <a:cs typeface="Poppins"/>
                <a:sym typeface="Poppins"/>
              </a:rPr>
              <a:t> - Đơn vị trực thuộc</a:t>
            </a:r>
          </a:p>
          <a:p>
            <a:pPr algn="l">
              <a:lnSpc>
                <a:spcPts val="1155"/>
              </a:lnSpc>
            </a:pPr>
            <a:r>
              <a:rPr lang="en-US" sz="1050" b="true">
                <a:solidFill>
                  <a:srgbClr val="100643"/>
                </a:solidFill>
                <a:latin typeface="Poppins Bold"/>
                <a:ea typeface="Poppins Bold"/>
                <a:cs typeface="Poppins Bold"/>
                <a:sym typeface="Poppins Bold"/>
              </a:rPr>
              <a:t>Đại lý thu gom</a:t>
            </a:r>
            <a:r>
              <a:rPr lang="en-US" sz="1050">
                <a:solidFill>
                  <a:srgbClr val="100643"/>
                </a:solidFill>
                <a:latin typeface="Poppins"/>
                <a:ea typeface="Poppins"/>
                <a:cs typeface="Poppins"/>
                <a:sym typeface="Poppins"/>
              </a:rPr>
              <a:t> - Điểm thu gom ngoài mạng lưới</a:t>
            </a:r>
          </a:p>
          <a:p>
            <a:pPr algn="l">
              <a:lnSpc>
                <a:spcPts val="1155"/>
              </a:lnSpc>
            </a:pPr>
            <a:r>
              <a:rPr lang="en-US" sz="1050" b="true">
                <a:solidFill>
                  <a:srgbClr val="100643"/>
                </a:solidFill>
                <a:latin typeface="Poppins Bold"/>
                <a:ea typeface="Poppins Bold"/>
                <a:cs typeface="Poppins Bold"/>
                <a:sym typeface="Poppins Bold"/>
              </a:rPr>
              <a:t>Tuyến phát đến tận hộ gia đình</a:t>
            </a:r>
            <a:r>
              <a:rPr lang="en-US" sz="1050">
                <a:solidFill>
                  <a:srgbClr val="100643"/>
                </a:solidFill>
                <a:latin typeface="Poppins"/>
                <a:ea typeface="Poppins"/>
                <a:cs typeface="Poppins"/>
                <a:sym typeface="Poppins"/>
              </a:rPr>
              <a:t> - Tuyến giao chặng cuối</a:t>
            </a:r>
          </a:p>
          <a:p>
            <a:pPr algn="l">
              <a:lnSpc>
                <a:spcPts val="1155"/>
              </a:lnSpc>
            </a:pPr>
            <a:r>
              <a:rPr lang="en-US" sz="1050" b="true">
                <a:solidFill>
                  <a:srgbClr val="110440"/>
                </a:solidFill>
                <a:latin typeface="Poppins Bold"/>
                <a:ea typeface="Poppins Bold"/>
                <a:cs typeface="Poppins Bold"/>
                <a:sym typeface="Poppins Bold"/>
              </a:rPr>
              <a:t>Giao thất bại / Giao không thành công</a:t>
            </a:r>
            <a:r>
              <a:rPr lang="en-US" sz="1050">
                <a:solidFill>
                  <a:srgbClr val="110440"/>
                </a:solidFill>
                <a:latin typeface="Poppins"/>
                <a:ea typeface="Poppins"/>
                <a:cs typeface="Poppins"/>
                <a:sym typeface="Poppins"/>
              </a:rPr>
              <a:t> - Không giao được hàng</a:t>
            </a:r>
          </a:p>
          <a:p>
            <a:pPr algn="l">
              <a:lnSpc>
                <a:spcPts val="1155"/>
              </a:lnSpc>
            </a:pPr>
            <a:r>
              <a:rPr lang="en-US" sz="1050" b="true">
                <a:solidFill>
                  <a:srgbClr val="100643"/>
                </a:solidFill>
                <a:latin typeface="Poppins Bold"/>
                <a:ea typeface="Poppins Bold"/>
                <a:cs typeface="Poppins Bold"/>
                <a:sym typeface="Poppins Bold"/>
              </a:rPr>
              <a:t>Từ chối nhận</a:t>
            </a:r>
            <a:r>
              <a:rPr lang="en-US" sz="1050">
                <a:solidFill>
                  <a:srgbClr val="100643"/>
                </a:solidFill>
                <a:latin typeface="Poppins"/>
                <a:ea typeface="Poppins"/>
                <a:cs typeface="Poppins"/>
                <a:sym typeface="Poppins"/>
              </a:rPr>
              <a:t> - Người nhận không nhận hàng</a:t>
            </a:r>
          </a:p>
          <a:p>
            <a:pPr algn="l">
              <a:lnSpc>
                <a:spcPts val="1155"/>
              </a:lnSpc>
            </a:pPr>
            <a:r>
              <a:rPr lang="en-US" sz="1050" b="true">
                <a:solidFill>
                  <a:srgbClr val="100643"/>
                </a:solidFill>
                <a:latin typeface="Poppins Bold"/>
                <a:ea typeface="Poppins Bold"/>
                <a:cs typeface="Poppins Bold"/>
                <a:sym typeface="Poppins Bold"/>
              </a:rPr>
              <a:t>Khiếu nại</a:t>
            </a:r>
            <a:r>
              <a:rPr lang="en-US" sz="1050">
                <a:solidFill>
                  <a:srgbClr val="100643"/>
                </a:solidFill>
                <a:latin typeface="Poppins"/>
                <a:ea typeface="Poppins"/>
                <a:cs typeface="Poppins"/>
                <a:sym typeface="Poppins"/>
              </a:rPr>
              <a:t> - Yêu cầu xử lý vấn đề</a:t>
            </a:r>
          </a:p>
          <a:p>
            <a:pPr algn="l">
              <a:lnSpc>
                <a:spcPts val="1155"/>
              </a:lnSpc>
            </a:pPr>
            <a:r>
              <a:rPr lang="en-US" sz="1050" b="true">
                <a:solidFill>
                  <a:srgbClr val="100643"/>
                </a:solidFill>
                <a:latin typeface="Poppins Bold"/>
                <a:ea typeface="Poppins Bold"/>
                <a:cs typeface="Poppins Bold"/>
                <a:sym typeface="Poppins Bold"/>
              </a:rPr>
              <a:t>Vỡ hỏng / mất mát</a:t>
            </a:r>
            <a:r>
              <a:rPr lang="en-US" sz="1050">
                <a:solidFill>
                  <a:srgbClr val="100643"/>
                </a:solidFill>
                <a:latin typeface="Poppins"/>
                <a:ea typeface="Poppins"/>
                <a:cs typeface="Poppins"/>
                <a:sym typeface="Poppins"/>
              </a:rPr>
              <a:t> - Tổn thất hàng hóa</a:t>
            </a:r>
          </a:p>
          <a:p>
            <a:pPr algn="l">
              <a:lnSpc>
                <a:spcPts val="1155"/>
              </a:lnSpc>
            </a:pPr>
            <a:r>
              <a:rPr lang="en-US" sz="1050" b="true">
                <a:solidFill>
                  <a:srgbClr val="100643"/>
                </a:solidFill>
                <a:latin typeface="Poppins Bold"/>
                <a:ea typeface="Poppins Bold"/>
                <a:cs typeface="Poppins Bold"/>
                <a:sym typeface="Poppins Bold"/>
              </a:rPr>
              <a:t>Báo cáo bất thường / Lỗi</a:t>
            </a:r>
            <a:r>
              <a:rPr lang="en-US" sz="1050">
                <a:solidFill>
                  <a:srgbClr val="100643"/>
                </a:solidFill>
                <a:latin typeface="Poppins"/>
                <a:ea typeface="Poppins"/>
                <a:cs typeface="Poppins"/>
                <a:sym typeface="Poppins"/>
              </a:rPr>
              <a:t> - Ghi nhận sự cố</a:t>
            </a:r>
          </a:p>
          <a:p>
            <a:pPr algn="l">
              <a:lnSpc>
                <a:spcPts val="1155"/>
              </a:lnSpc>
            </a:pPr>
            <a:r>
              <a:rPr lang="en-US" sz="1050" b="true">
                <a:solidFill>
                  <a:srgbClr val="100643"/>
                </a:solidFill>
                <a:latin typeface="Poppins Bold"/>
                <a:ea typeface="Poppins Bold"/>
                <a:cs typeface="Poppins Bold"/>
                <a:sym typeface="Poppins Bold"/>
              </a:rPr>
              <a:t>Phối hợp</a:t>
            </a:r>
            <a:r>
              <a:rPr lang="en-US" sz="1050">
                <a:solidFill>
                  <a:srgbClr val="100643"/>
                </a:solidFill>
                <a:latin typeface="Poppins"/>
                <a:ea typeface="Poppins"/>
                <a:cs typeface="Poppins"/>
                <a:sym typeface="Poppins"/>
              </a:rPr>
              <a:t> - Kết nối xử lý liên bộ phận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62600" y="1285875"/>
            <a:ext cx="11934825" cy="104775"/>
          </a:xfrm>
          <a:custGeom>
            <a:avLst/>
            <a:gdLst/>
            <a:ahLst/>
            <a:cxnLst/>
            <a:rect r="r" b="b" t="t" l="l"/>
            <a:pathLst>
              <a:path h="104775" w="11934825">
                <a:moveTo>
                  <a:pt x="0" y="0"/>
                </a:moveTo>
                <a:lnTo>
                  <a:pt x="11934825" y="0"/>
                </a:lnTo>
                <a:lnTo>
                  <a:pt x="11934825" y="104775"/>
                </a:lnTo>
                <a:lnTo>
                  <a:pt x="0" y="104775"/>
                </a:lnTo>
                <a:lnTo>
                  <a:pt x="0" y="0"/>
                </a:lnTo>
                <a:close/>
              </a:path>
            </a:pathLst>
          </a:custGeom>
          <a:blipFill>
            <a:blip r:embed="rId2"/>
            <a:stretch>
              <a:fillRect l="-1037" t="0" r="-1197" b="-109090"/>
            </a:stretch>
          </a:blipFill>
        </p:spPr>
      </p:sp>
      <p:sp>
        <p:nvSpPr>
          <p:cNvPr name="Freeform 3" id="3"/>
          <p:cNvSpPr/>
          <p:nvPr/>
        </p:nvSpPr>
        <p:spPr>
          <a:xfrm flipH="false" flipV="false" rot="0">
            <a:off x="190500" y="5442269"/>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3"/>
            <a:stretch>
              <a:fillRect l="-21730" t="-43195" r="-52930" b="0"/>
            </a:stretch>
          </a:blipFill>
        </p:spPr>
      </p:sp>
      <p:sp>
        <p:nvSpPr>
          <p:cNvPr name="Freeform 4" id="4"/>
          <p:cNvSpPr/>
          <p:nvPr/>
        </p:nvSpPr>
        <p:spPr>
          <a:xfrm flipH="false" flipV="false" rot="0">
            <a:off x="209550" y="5470844"/>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4"/>
            <a:stretch>
              <a:fillRect l="-11402" t="-1647" r="-10774" b="0"/>
            </a:stretch>
          </a:blipFill>
        </p:spPr>
      </p:sp>
      <p:sp>
        <p:nvSpPr>
          <p:cNvPr name="Freeform 5" id="5"/>
          <p:cNvSpPr/>
          <p:nvPr/>
        </p:nvSpPr>
        <p:spPr>
          <a:xfrm flipH="false" flipV="false" rot="0">
            <a:off x="190500" y="670909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5"/>
            <a:stretch>
              <a:fillRect l="-5524" t="0" r="-16448" b="0"/>
            </a:stretch>
          </a:blipFill>
        </p:spPr>
      </p:sp>
      <p:sp>
        <p:nvSpPr>
          <p:cNvPr name="Freeform 6" id="6"/>
          <p:cNvSpPr/>
          <p:nvPr/>
        </p:nvSpPr>
        <p:spPr>
          <a:xfrm flipH="false" flipV="false" rot="0">
            <a:off x="190500" y="787114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6"/>
            <a:stretch>
              <a:fillRect l="-11957" t="0" r="-11971" b="-13114"/>
            </a:stretch>
          </a:blipFill>
        </p:spPr>
      </p:sp>
      <p:sp>
        <p:nvSpPr>
          <p:cNvPr name="Freeform 7" id="7"/>
          <p:cNvSpPr/>
          <p:nvPr/>
        </p:nvSpPr>
        <p:spPr>
          <a:xfrm flipH="false" flipV="false" rot="0">
            <a:off x="209550" y="7899719"/>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7"/>
            <a:stretch>
              <a:fillRect l="-11783" t="0" r="-10340" b="-13114"/>
            </a:stretch>
          </a:blipFill>
        </p:spPr>
      </p:sp>
      <p:sp>
        <p:nvSpPr>
          <p:cNvPr name="Freeform 8" id="8"/>
          <p:cNvSpPr/>
          <p:nvPr/>
        </p:nvSpPr>
        <p:spPr>
          <a:xfrm flipH="false" flipV="false" rot="0">
            <a:off x="2219325" y="5442269"/>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8"/>
            <a:stretch>
              <a:fillRect l="-12245" t="-1647" r="-18959" b="0"/>
            </a:stretch>
          </a:blipFill>
        </p:spPr>
      </p:sp>
      <p:sp>
        <p:nvSpPr>
          <p:cNvPr name="Freeform 9" id="9"/>
          <p:cNvSpPr/>
          <p:nvPr/>
        </p:nvSpPr>
        <p:spPr>
          <a:xfrm flipH="false" flipV="false" rot="0">
            <a:off x="2219325" y="670909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9"/>
            <a:stretch>
              <a:fillRect l="-5846" t="0" r="-23232" b="0"/>
            </a:stretch>
          </a:blipFill>
        </p:spPr>
      </p:sp>
      <p:sp>
        <p:nvSpPr>
          <p:cNvPr name="Freeform 10" id="10"/>
          <p:cNvSpPr/>
          <p:nvPr/>
        </p:nvSpPr>
        <p:spPr>
          <a:xfrm flipH="false" flipV="false" rot="0">
            <a:off x="2219325" y="6709094"/>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0"/>
            <a:stretch>
              <a:fillRect l="-97424" t="0" r="-37961" b="0"/>
            </a:stretch>
          </a:blipFill>
        </p:spPr>
      </p:sp>
      <p:sp>
        <p:nvSpPr>
          <p:cNvPr name="Freeform 11" id="11"/>
          <p:cNvSpPr/>
          <p:nvPr/>
        </p:nvSpPr>
        <p:spPr>
          <a:xfrm flipH="false" flipV="false" rot="0">
            <a:off x="2219325" y="787114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11"/>
            <a:stretch>
              <a:fillRect l="-12654" t="0" r="-18493" b="-13114"/>
            </a:stretch>
          </a:blipFill>
        </p:spPr>
      </p:sp>
      <p:sp>
        <p:nvSpPr>
          <p:cNvPr name="Freeform 12" id="12"/>
          <p:cNvSpPr/>
          <p:nvPr/>
        </p:nvSpPr>
        <p:spPr>
          <a:xfrm flipH="false" flipV="false" rot="0">
            <a:off x="2219325" y="7947344"/>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2"/>
            <a:stretch>
              <a:fillRect l="-111524" t="-9200" r="-47087" b="-13114"/>
            </a:stretch>
          </a:blipFill>
        </p:spPr>
      </p:sp>
      <p:sp>
        <p:nvSpPr>
          <p:cNvPr name="Freeform 13" id="13"/>
          <p:cNvSpPr/>
          <p:nvPr/>
        </p:nvSpPr>
        <p:spPr>
          <a:xfrm flipH="false" flipV="false" rot="0">
            <a:off x="4248150" y="5442269"/>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13"/>
            <a:stretch>
              <a:fillRect l="-12217" t="-1647" r="-18686" b="0"/>
            </a:stretch>
          </a:blipFill>
        </p:spPr>
      </p:sp>
      <p:sp>
        <p:nvSpPr>
          <p:cNvPr name="Freeform 14" id="14"/>
          <p:cNvSpPr/>
          <p:nvPr/>
        </p:nvSpPr>
        <p:spPr>
          <a:xfrm flipH="false" flipV="false" rot="0">
            <a:off x="4248150" y="5442269"/>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4"/>
            <a:stretch>
              <a:fillRect l="-10927" t="-1647" r="-6158" b="0"/>
            </a:stretch>
          </a:blipFill>
        </p:spPr>
      </p:sp>
      <p:sp>
        <p:nvSpPr>
          <p:cNvPr name="Freeform 15" id="15"/>
          <p:cNvSpPr/>
          <p:nvPr/>
        </p:nvSpPr>
        <p:spPr>
          <a:xfrm flipH="false" flipV="false" rot="0">
            <a:off x="4248150" y="670909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15"/>
            <a:stretch>
              <a:fillRect l="-5833" t="0" r="-22949" b="0"/>
            </a:stretch>
          </a:blipFill>
        </p:spPr>
      </p:sp>
      <p:sp>
        <p:nvSpPr>
          <p:cNvPr name="Freeform 16" id="16"/>
          <p:cNvSpPr/>
          <p:nvPr/>
        </p:nvSpPr>
        <p:spPr>
          <a:xfrm flipH="false" flipV="false" rot="0">
            <a:off x="4248150" y="6709094"/>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6"/>
            <a:stretch>
              <a:fillRect l="-5217" t="0" r="-9971" b="0"/>
            </a:stretch>
          </a:blipFill>
        </p:spPr>
      </p:sp>
      <p:sp>
        <p:nvSpPr>
          <p:cNvPr name="Freeform 17" id="17"/>
          <p:cNvSpPr/>
          <p:nvPr/>
        </p:nvSpPr>
        <p:spPr>
          <a:xfrm flipH="false" flipV="false" rot="0">
            <a:off x="4248150" y="7871144"/>
            <a:ext cx="1933575" cy="1162050"/>
          </a:xfrm>
          <a:custGeom>
            <a:avLst/>
            <a:gdLst/>
            <a:ahLst/>
            <a:cxnLst/>
            <a:rect r="r" b="b" t="t" l="l"/>
            <a:pathLst>
              <a:path h="1162050" w="1933575">
                <a:moveTo>
                  <a:pt x="0" y="0"/>
                </a:moveTo>
                <a:lnTo>
                  <a:pt x="1933575" y="0"/>
                </a:lnTo>
                <a:lnTo>
                  <a:pt x="1933575" y="1162050"/>
                </a:lnTo>
                <a:lnTo>
                  <a:pt x="0" y="1162050"/>
                </a:lnTo>
                <a:lnTo>
                  <a:pt x="0" y="0"/>
                </a:lnTo>
                <a:close/>
              </a:path>
            </a:pathLst>
          </a:custGeom>
          <a:blipFill>
            <a:blip r:embed="rId17"/>
            <a:stretch>
              <a:fillRect l="-12625" t="0" r="-18221" b="-13114"/>
            </a:stretch>
          </a:blipFill>
        </p:spPr>
      </p:sp>
      <p:sp>
        <p:nvSpPr>
          <p:cNvPr name="Freeform 18" id="18"/>
          <p:cNvSpPr/>
          <p:nvPr/>
        </p:nvSpPr>
        <p:spPr>
          <a:xfrm flipH="false" flipV="false" rot="0">
            <a:off x="4248150" y="7861619"/>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8"/>
            <a:stretch>
              <a:fillRect l="-11292" t="0" r="-5742" b="-13114"/>
            </a:stretch>
          </a:blipFill>
        </p:spPr>
      </p:sp>
      <p:sp>
        <p:nvSpPr>
          <p:cNvPr name="Freeform 19" id="19"/>
          <p:cNvSpPr/>
          <p:nvPr/>
        </p:nvSpPr>
        <p:spPr>
          <a:xfrm flipH="false" flipV="false" rot="0">
            <a:off x="6217865" y="1676781"/>
            <a:ext cx="6039771" cy="7549714"/>
          </a:xfrm>
          <a:custGeom>
            <a:avLst/>
            <a:gdLst/>
            <a:ahLst/>
            <a:cxnLst/>
            <a:rect r="r" b="b" t="t" l="l"/>
            <a:pathLst>
              <a:path h="7549714" w="6039771">
                <a:moveTo>
                  <a:pt x="0" y="0"/>
                </a:moveTo>
                <a:lnTo>
                  <a:pt x="6039771" y="0"/>
                </a:lnTo>
                <a:lnTo>
                  <a:pt x="6039771" y="7549714"/>
                </a:lnTo>
                <a:lnTo>
                  <a:pt x="0" y="7549714"/>
                </a:lnTo>
                <a:lnTo>
                  <a:pt x="0" y="0"/>
                </a:lnTo>
                <a:close/>
              </a:path>
            </a:pathLst>
          </a:custGeom>
          <a:blipFill>
            <a:blip r:embed="rId19"/>
            <a:stretch>
              <a:fillRect l="0" t="0" r="0" b="0"/>
            </a:stretch>
          </a:blipFill>
        </p:spPr>
      </p:sp>
      <p:sp>
        <p:nvSpPr>
          <p:cNvPr name="TextBox 20" id="20"/>
          <p:cNvSpPr txBox="true"/>
          <p:nvPr/>
        </p:nvSpPr>
        <p:spPr>
          <a:xfrm rot="0">
            <a:off x="5559552" y="822333"/>
            <a:ext cx="4059936" cy="361950"/>
          </a:xfrm>
          <a:prstGeom prst="rect">
            <a:avLst/>
          </a:prstGeom>
        </p:spPr>
        <p:txBody>
          <a:bodyPr anchor="t" rtlCol="false" tIns="0" lIns="0" bIns="0" rIns="0">
            <a:spAutoFit/>
          </a:bodyPr>
          <a:lstStyle/>
          <a:p>
            <a:pPr algn="l">
              <a:lnSpc>
                <a:spcPts val="2624"/>
              </a:lnSpc>
            </a:pPr>
            <a:r>
              <a:rPr lang="en-US" b="true" sz="2499">
                <a:solidFill>
                  <a:srgbClr val="0A0047"/>
                </a:solidFill>
                <a:latin typeface="Poppins Bold"/>
                <a:ea typeface="Poppins Bold"/>
                <a:cs typeface="Poppins Bold"/>
                <a:sym typeface="Poppins Bold"/>
              </a:rPr>
              <a:t>Hồ sơ theo dòng xử lý</a:t>
            </a:r>
          </a:p>
        </p:txBody>
      </p:sp>
      <p:sp>
        <p:nvSpPr>
          <p:cNvPr name="TextBox 21" id="21"/>
          <p:cNvSpPr txBox="true"/>
          <p:nvPr/>
        </p:nvSpPr>
        <p:spPr>
          <a:xfrm rot="0">
            <a:off x="371475" y="5766119"/>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Yêu cầu tạo đơn - phiếu bưu gửi</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Thông báo lỗi đầu - xác nhận đơn</a:t>
            </a:r>
          </a:p>
        </p:txBody>
      </p:sp>
      <p:sp>
        <p:nvSpPr>
          <p:cNvPr name="TextBox 22" id="22"/>
          <p:cNvSpPr txBox="true"/>
          <p:nvPr/>
        </p:nvSpPr>
        <p:spPr>
          <a:xfrm rot="0">
            <a:off x="371475" y="7032944"/>
            <a:ext cx="1752600" cy="498157"/>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Khiếu nại - ticket CRM</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Biên bản xử lý - chứng từ bổ sung</a:t>
            </a:r>
          </a:p>
        </p:txBody>
      </p:sp>
      <p:sp>
        <p:nvSpPr>
          <p:cNvPr name="TextBox 23" id="23"/>
          <p:cNvSpPr txBox="true"/>
          <p:nvPr/>
        </p:nvSpPr>
        <p:spPr>
          <a:xfrm rot="0">
            <a:off x="371475" y="8194994"/>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Phiếu tuyển dụng - phiếu đào tạo</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Thi/test kết quả - hồ sơ đào tạo</a:t>
            </a:r>
          </a:p>
        </p:txBody>
      </p:sp>
      <p:sp>
        <p:nvSpPr>
          <p:cNvPr name="TextBox 24" id="24"/>
          <p:cNvSpPr txBox="true"/>
          <p:nvPr/>
        </p:nvSpPr>
        <p:spPr>
          <a:xfrm rot="0">
            <a:off x="2400300" y="5766119"/>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OTP / chữ ký / ảnh giao hàng</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Biên bản / trạng thái / eBook</a:t>
            </a:r>
          </a:p>
        </p:txBody>
      </p:sp>
      <p:sp>
        <p:nvSpPr>
          <p:cNvPr name="TextBox 25" id="25"/>
          <p:cNvSpPr txBox="true"/>
          <p:nvPr/>
        </p:nvSpPr>
        <p:spPr>
          <a:xfrm rot="0">
            <a:off x="2400300" y="7032944"/>
            <a:ext cx="1752600" cy="498157"/>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Vận đơn có phí COD</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Danh sách đối soát - xác nhận chuyển tiền</a:t>
            </a:r>
          </a:p>
        </p:txBody>
      </p:sp>
      <p:sp>
        <p:nvSpPr>
          <p:cNvPr name="TextBox 26" id="26"/>
          <p:cNvSpPr txBox="true"/>
          <p:nvPr/>
        </p:nvSpPr>
        <p:spPr>
          <a:xfrm rot="0">
            <a:off x="2400300" y="8194994"/>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Đầu vào: người xử lý - nơi tiếp nhận</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Kết quả: trạng thái - bằng chứng</a:t>
            </a:r>
          </a:p>
        </p:txBody>
      </p:sp>
      <p:sp>
        <p:nvSpPr>
          <p:cNvPr name="TextBox 27" id="27"/>
          <p:cNvSpPr txBox="true"/>
          <p:nvPr/>
        </p:nvSpPr>
        <p:spPr>
          <a:xfrm rot="0">
            <a:off x="4429125" y="5766119"/>
            <a:ext cx="1752600" cy="498157"/>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Phiếu yêu cầu hoàn trả</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Biên bản đối chiếu - nhập kho/HTMS</a:t>
            </a:r>
          </a:p>
        </p:txBody>
      </p:sp>
      <p:sp>
        <p:nvSpPr>
          <p:cNvPr name="TextBox 28" id="28"/>
          <p:cNvSpPr txBox="true"/>
          <p:nvPr/>
        </p:nvSpPr>
        <p:spPr>
          <a:xfrm rot="0">
            <a:off x="4429125" y="7032944"/>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Phiếu đăng ký - hồ sơ pháp lý</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Tờ trình - hợp đồng nguyên tắc</a:t>
            </a:r>
          </a:p>
        </p:txBody>
      </p:sp>
      <p:sp>
        <p:nvSpPr>
          <p:cNvPr name="TextBox 29" id="29"/>
          <p:cNvSpPr txBox="true"/>
          <p:nvPr/>
        </p:nvSpPr>
        <p:spPr>
          <a:xfrm rot="0">
            <a:off x="4429125" y="8194994"/>
            <a:ext cx="1752600" cy="660082"/>
          </a:xfrm>
          <a:prstGeom prst="rect">
            <a:avLst/>
          </a:prstGeom>
        </p:spPr>
        <p:txBody>
          <a:bodyPr anchor="t" rtlCol="false" tIns="0" lIns="0" bIns="0" rIns="0">
            <a:spAutoFit/>
          </a:bodyPr>
          <a:lstStyle/>
          <a:p>
            <a:pPr algn="l" marL="0" indent="0" lvl="0">
              <a:lnSpc>
                <a:spcPts val="1312"/>
              </a:lnSpc>
              <a:spcBef>
                <a:spcPct val="0"/>
              </a:spcBef>
            </a:pPr>
            <a:r>
              <a:rPr lang="en-US" sz="1050" strike="noStrike" u="none">
                <a:solidFill>
                  <a:srgbClr val="120441"/>
                </a:solidFill>
                <a:latin typeface="Poppins"/>
                <a:ea typeface="Poppins"/>
                <a:cs typeface="Poppins"/>
                <a:sym typeface="Poppins"/>
              </a:rPr>
              <a:t>• Đối chiếu và chẩn đoán báo lỗi</a:t>
            </a:r>
          </a:p>
          <a:p>
            <a:pPr algn="l" marL="0" indent="0" lvl="0">
              <a:lnSpc>
                <a:spcPts val="1312"/>
              </a:lnSpc>
              <a:spcBef>
                <a:spcPct val="0"/>
              </a:spcBef>
            </a:pPr>
            <a:r>
              <a:rPr lang="en-US" sz="1050" strike="noStrike" u="none">
                <a:solidFill>
                  <a:srgbClr val="120441"/>
                </a:solidFill>
                <a:latin typeface="Poppins"/>
                <a:ea typeface="Poppins"/>
                <a:cs typeface="Poppins"/>
                <a:sym typeface="Poppins"/>
              </a:rPr>
              <a:t>• Làm cơ sở phát hiện và xử lý sai lệch</a:t>
            </a:r>
          </a:p>
        </p:txBody>
      </p:sp>
      <p:sp>
        <p:nvSpPr>
          <p:cNvPr name="TextBox 30" id="30"/>
          <p:cNvSpPr txBox="true"/>
          <p:nvPr/>
        </p:nvSpPr>
        <p:spPr>
          <a:xfrm rot="0">
            <a:off x="371475" y="5575619"/>
            <a:ext cx="1752600" cy="169231"/>
          </a:xfrm>
          <a:prstGeom prst="rect">
            <a:avLst/>
          </a:prstGeom>
        </p:spPr>
        <p:txBody>
          <a:bodyPr anchor="t" rtlCol="false" tIns="0" lIns="0" bIns="0" rIns="0">
            <a:spAutoFit/>
          </a:bodyPr>
          <a:lstStyle/>
          <a:p>
            <a:pPr algn="l">
              <a:lnSpc>
                <a:spcPts val="1323"/>
              </a:lnSpc>
            </a:pPr>
            <a:r>
              <a:rPr lang="en-US" sz="1150">
                <a:solidFill>
                  <a:srgbClr val="0A0047"/>
                </a:solidFill>
                <a:latin typeface="Poppins"/>
                <a:ea typeface="Poppins"/>
                <a:cs typeface="Poppins"/>
                <a:sym typeface="Poppins"/>
              </a:rPr>
              <a:t>Tiếp nhận đơn hàng</a:t>
            </a:r>
          </a:p>
        </p:txBody>
      </p:sp>
      <p:sp>
        <p:nvSpPr>
          <p:cNvPr name="TextBox 31" id="31"/>
          <p:cNvSpPr txBox="true"/>
          <p:nvPr/>
        </p:nvSpPr>
        <p:spPr>
          <a:xfrm rot="0">
            <a:off x="2400300" y="5575619"/>
            <a:ext cx="1752600" cy="169231"/>
          </a:xfrm>
          <a:prstGeom prst="rect">
            <a:avLst/>
          </a:prstGeom>
        </p:spPr>
        <p:txBody>
          <a:bodyPr anchor="t" rtlCol="false" tIns="0" lIns="0" bIns="0" rIns="0">
            <a:spAutoFit/>
          </a:bodyPr>
          <a:lstStyle/>
          <a:p>
            <a:pPr algn="l">
              <a:lnSpc>
                <a:spcPts val="1323"/>
              </a:lnSpc>
            </a:pPr>
            <a:r>
              <a:rPr lang="en-US" sz="1150">
                <a:solidFill>
                  <a:srgbClr val="120441"/>
                </a:solidFill>
                <a:latin typeface="Poppins"/>
                <a:ea typeface="Poppins"/>
                <a:cs typeface="Poppins"/>
                <a:sym typeface="Poppins"/>
              </a:rPr>
              <a:t>Giao hàng &amp; xác nhận</a:t>
            </a:r>
          </a:p>
        </p:txBody>
      </p:sp>
      <p:sp>
        <p:nvSpPr>
          <p:cNvPr name="TextBox 32" id="32"/>
          <p:cNvSpPr txBox="true"/>
          <p:nvPr/>
        </p:nvSpPr>
        <p:spPr>
          <a:xfrm rot="0">
            <a:off x="4429125" y="5575619"/>
            <a:ext cx="1752600" cy="169231"/>
          </a:xfrm>
          <a:prstGeom prst="rect">
            <a:avLst/>
          </a:prstGeom>
        </p:spPr>
        <p:txBody>
          <a:bodyPr anchor="t" rtlCol="false" tIns="0" lIns="0" bIns="0" rIns="0">
            <a:spAutoFit/>
          </a:bodyPr>
          <a:lstStyle/>
          <a:p>
            <a:pPr algn="l">
              <a:lnSpc>
                <a:spcPts val="1323"/>
              </a:lnSpc>
            </a:pPr>
            <a:r>
              <a:rPr lang="en-US" sz="1150">
                <a:solidFill>
                  <a:srgbClr val="120441"/>
                </a:solidFill>
                <a:latin typeface="Poppins"/>
                <a:ea typeface="Poppins"/>
                <a:cs typeface="Poppins"/>
                <a:sym typeface="Poppins"/>
              </a:rPr>
              <a:t>Hoàn trả</a:t>
            </a:r>
          </a:p>
        </p:txBody>
      </p:sp>
      <p:sp>
        <p:nvSpPr>
          <p:cNvPr name="TextBox 33" id="33"/>
          <p:cNvSpPr txBox="true"/>
          <p:nvPr/>
        </p:nvSpPr>
        <p:spPr>
          <a:xfrm rot="0">
            <a:off x="371475" y="6832919"/>
            <a:ext cx="1752600" cy="178568"/>
          </a:xfrm>
          <a:prstGeom prst="rect">
            <a:avLst/>
          </a:prstGeom>
        </p:spPr>
        <p:txBody>
          <a:bodyPr anchor="t" rtlCol="false" tIns="0" lIns="0" bIns="0" rIns="0">
            <a:spAutoFit/>
          </a:bodyPr>
          <a:lstStyle/>
          <a:p>
            <a:pPr algn="l">
              <a:lnSpc>
                <a:spcPts val="1289"/>
              </a:lnSpc>
            </a:pPr>
            <a:r>
              <a:rPr lang="en-US" sz="1120">
                <a:solidFill>
                  <a:srgbClr val="120441"/>
                </a:solidFill>
                <a:latin typeface="Poppins"/>
                <a:ea typeface="Poppins"/>
                <a:cs typeface="Poppins"/>
                <a:sym typeface="Poppins"/>
              </a:rPr>
              <a:t>CSKH</a:t>
            </a:r>
          </a:p>
        </p:txBody>
      </p:sp>
      <p:sp>
        <p:nvSpPr>
          <p:cNvPr name="TextBox 34" id="34"/>
          <p:cNvSpPr txBox="true"/>
          <p:nvPr/>
        </p:nvSpPr>
        <p:spPr>
          <a:xfrm rot="0">
            <a:off x="2400300" y="6832919"/>
            <a:ext cx="1752600" cy="178568"/>
          </a:xfrm>
          <a:prstGeom prst="rect">
            <a:avLst/>
          </a:prstGeom>
        </p:spPr>
        <p:txBody>
          <a:bodyPr anchor="t" rtlCol="false" tIns="0" lIns="0" bIns="0" rIns="0">
            <a:spAutoFit/>
          </a:bodyPr>
          <a:lstStyle/>
          <a:p>
            <a:pPr algn="l" marL="0" indent="0" lvl="0">
              <a:lnSpc>
                <a:spcPts val="1289"/>
              </a:lnSpc>
              <a:spcBef>
                <a:spcPct val="0"/>
              </a:spcBef>
            </a:pPr>
            <a:r>
              <a:rPr lang="en-US" sz="1120" strike="noStrike" u="none">
                <a:solidFill>
                  <a:srgbClr val="120441"/>
                </a:solidFill>
                <a:latin typeface="Poppins"/>
                <a:ea typeface="Poppins"/>
                <a:cs typeface="Poppins"/>
                <a:sym typeface="Poppins"/>
              </a:rPr>
              <a:t>Thu phí COD</a:t>
            </a:r>
          </a:p>
        </p:txBody>
      </p:sp>
      <p:sp>
        <p:nvSpPr>
          <p:cNvPr name="TextBox 35" id="35"/>
          <p:cNvSpPr txBox="true"/>
          <p:nvPr/>
        </p:nvSpPr>
        <p:spPr>
          <a:xfrm rot="0">
            <a:off x="4429125" y="6832919"/>
            <a:ext cx="1752600" cy="178568"/>
          </a:xfrm>
          <a:prstGeom prst="rect">
            <a:avLst/>
          </a:prstGeom>
        </p:spPr>
        <p:txBody>
          <a:bodyPr anchor="t" rtlCol="false" tIns="0" lIns="0" bIns="0" rIns="0">
            <a:spAutoFit/>
          </a:bodyPr>
          <a:lstStyle/>
          <a:p>
            <a:pPr algn="l" marL="0" indent="0" lvl="0">
              <a:lnSpc>
                <a:spcPts val="1289"/>
              </a:lnSpc>
              <a:spcBef>
                <a:spcPct val="0"/>
              </a:spcBef>
            </a:pPr>
            <a:r>
              <a:rPr lang="en-US" sz="1120" strike="noStrike" u="none">
                <a:solidFill>
                  <a:srgbClr val="120441"/>
                </a:solidFill>
                <a:latin typeface="Poppins"/>
                <a:ea typeface="Poppins"/>
                <a:cs typeface="Poppins"/>
                <a:sym typeface="Poppins"/>
              </a:rPr>
              <a:t>Đối tác vận tải</a:t>
            </a:r>
          </a:p>
        </p:txBody>
      </p:sp>
      <p:sp>
        <p:nvSpPr>
          <p:cNvPr name="TextBox 36" id="36"/>
          <p:cNvSpPr txBox="true"/>
          <p:nvPr/>
        </p:nvSpPr>
        <p:spPr>
          <a:xfrm rot="0">
            <a:off x="371475" y="7994969"/>
            <a:ext cx="1752600" cy="178568"/>
          </a:xfrm>
          <a:prstGeom prst="rect">
            <a:avLst/>
          </a:prstGeom>
        </p:spPr>
        <p:txBody>
          <a:bodyPr anchor="t" rtlCol="false" tIns="0" lIns="0" bIns="0" rIns="0">
            <a:spAutoFit/>
          </a:bodyPr>
          <a:lstStyle/>
          <a:p>
            <a:pPr algn="l" marL="0" indent="0" lvl="0">
              <a:lnSpc>
                <a:spcPts val="1289"/>
              </a:lnSpc>
              <a:spcBef>
                <a:spcPct val="0"/>
              </a:spcBef>
            </a:pPr>
            <a:r>
              <a:rPr lang="en-US" sz="1120" strike="noStrike" u="none">
                <a:solidFill>
                  <a:srgbClr val="120441"/>
                </a:solidFill>
                <a:latin typeface="Poppins"/>
                <a:ea typeface="Poppins"/>
                <a:cs typeface="Poppins"/>
                <a:sym typeface="Poppins"/>
              </a:rPr>
              <a:t>Tuyển dụng - đào tạo</a:t>
            </a:r>
          </a:p>
        </p:txBody>
      </p:sp>
      <p:sp>
        <p:nvSpPr>
          <p:cNvPr name="TextBox 37" id="37"/>
          <p:cNvSpPr txBox="true"/>
          <p:nvPr/>
        </p:nvSpPr>
        <p:spPr>
          <a:xfrm rot="0">
            <a:off x="2400300" y="7994969"/>
            <a:ext cx="1752600" cy="178568"/>
          </a:xfrm>
          <a:prstGeom prst="rect">
            <a:avLst/>
          </a:prstGeom>
        </p:spPr>
        <p:txBody>
          <a:bodyPr anchor="t" rtlCol="false" tIns="0" lIns="0" bIns="0" rIns="0">
            <a:spAutoFit/>
          </a:bodyPr>
          <a:lstStyle/>
          <a:p>
            <a:pPr algn="l">
              <a:lnSpc>
                <a:spcPts val="1289"/>
              </a:lnSpc>
            </a:pPr>
            <a:r>
              <a:rPr lang="en-US" sz="1120">
                <a:solidFill>
                  <a:srgbClr val="120441"/>
                </a:solidFill>
                <a:latin typeface="Poppins"/>
                <a:ea typeface="Poppins"/>
                <a:cs typeface="Poppins"/>
                <a:sym typeface="Poppins"/>
              </a:rPr>
              <a:t>Điểm ghi nhận chung</a:t>
            </a:r>
          </a:p>
        </p:txBody>
      </p:sp>
      <p:sp>
        <p:nvSpPr>
          <p:cNvPr name="TextBox 38" id="38"/>
          <p:cNvSpPr txBox="true"/>
          <p:nvPr/>
        </p:nvSpPr>
        <p:spPr>
          <a:xfrm rot="0">
            <a:off x="4429125" y="7994969"/>
            <a:ext cx="1752600" cy="178568"/>
          </a:xfrm>
          <a:prstGeom prst="rect">
            <a:avLst/>
          </a:prstGeom>
        </p:spPr>
        <p:txBody>
          <a:bodyPr anchor="t" rtlCol="false" tIns="0" lIns="0" bIns="0" rIns="0">
            <a:spAutoFit/>
          </a:bodyPr>
          <a:lstStyle/>
          <a:p>
            <a:pPr algn="l">
              <a:lnSpc>
                <a:spcPts val="1289"/>
              </a:lnSpc>
            </a:pPr>
            <a:r>
              <a:rPr lang="en-US" sz="1120">
                <a:solidFill>
                  <a:srgbClr val="120441"/>
                </a:solidFill>
                <a:latin typeface="Poppins"/>
                <a:ea typeface="Poppins"/>
                <a:cs typeface="Poppins"/>
                <a:sym typeface="Poppins"/>
              </a:rPr>
              <a:t>Mục đích sử dụng</a:t>
            </a:r>
          </a:p>
        </p:txBody>
      </p:sp>
      <p:sp>
        <p:nvSpPr>
          <p:cNvPr name="Freeform 39" id="39"/>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40" id="40"/>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41" id="41"/>
          <p:cNvSpPr txBox="true"/>
          <p:nvPr/>
        </p:nvSpPr>
        <p:spPr>
          <a:xfrm rot="0">
            <a:off x="1595629" y="703987"/>
            <a:ext cx="2448396" cy="361950"/>
          </a:xfrm>
          <a:prstGeom prst="rect">
            <a:avLst/>
          </a:prstGeom>
        </p:spPr>
        <p:txBody>
          <a:bodyPr anchor="t" rtlCol="false" tIns="0" lIns="0" bIns="0" rIns="0">
            <a:spAutoFit/>
          </a:bodyPr>
          <a:lstStyle/>
          <a:p>
            <a:pPr algn="l" marL="0" indent="0" lvl="0">
              <a:lnSpc>
                <a:spcPts val="2624"/>
              </a:lnSpc>
              <a:spcBef>
                <a:spcPct val="0"/>
              </a:spcBef>
            </a:pPr>
            <a:r>
              <a:rPr lang="en-US" b="true" sz="2499" strike="noStrike" u="none">
                <a:solidFill>
                  <a:srgbClr val="242369"/>
                </a:solidFill>
                <a:latin typeface="Poppins Bold"/>
                <a:ea typeface="Poppins Bold"/>
                <a:cs typeface="Poppins Bold"/>
                <a:sym typeface="Poppins Bold"/>
              </a:rPr>
              <a:t>CHƯƠNG 4</a:t>
            </a:r>
          </a:p>
        </p:txBody>
      </p:sp>
      <p:sp>
        <p:nvSpPr>
          <p:cNvPr name="TextBox 42" id="42"/>
          <p:cNvSpPr txBox="true"/>
          <p:nvPr/>
        </p:nvSpPr>
        <p:spPr>
          <a:xfrm rot="0">
            <a:off x="1595629" y="1054449"/>
            <a:ext cx="3048901" cy="260937"/>
          </a:xfrm>
          <a:prstGeom prst="rect">
            <a:avLst/>
          </a:prstGeom>
        </p:spPr>
        <p:txBody>
          <a:bodyPr anchor="t" rtlCol="false" tIns="0" lIns="0" bIns="0" rIns="0">
            <a:spAutoFit/>
          </a:bodyPr>
          <a:lstStyle/>
          <a:p>
            <a:pPr algn="l">
              <a:lnSpc>
                <a:spcPts val="1987"/>
              </a:lnSpc>
            </a:pPr>
            <a:r>
              <a:rPr lang="en-US" sz="1743">
                <a:solidFill>
                  <a:srgbClr val="242369"/>
                </a:solidFill>
                <a:latin typeface="Poppins"/>
                <a:ea typeface="Poppins"/>
                <a:cs typeface="Poppins"/>
                <a:sym typeface="Poppins"/>
              </a:rPr>
              <a:t>PHƯƠNG PHÁP THỰC HIỆN</a:t>
            </a:r>
          </a:p>
        </p:txBody>
      </p:sp>
      <p:sp>
        <p:nvSpPr>
          <p:cNvPr name="TextBox 43" id="43"/>
          <p:cNvSpPr txBox="true"/>
          <p:nvPr/>
        </p:nvSpPr>
        <p:spPr>
          <a:xfrm rot="0">
            <a:off x="675779" y="1697209"/>
            <a:ext cx="3840480" cy="1498348"/>
          </a:xfrm>
          <a:prstGeom prst="rect">
            <a:avLst/>
          </a:prstGeom>
        </p:spPr>
        <p:txBody>
          <a:bodyPr anchor="t" rtlCol="false" tIns="0" lIns="0" bIns="0" rIns="0">
            <a:spAutoFit/>
          </a:bodyPr>
          <a:lstStyle/>
          <a:p>
            <a:pPr algn="l">
              <a:lnSpc>
                <a:spcPts val="5704"/>
              </a:lnSpc>
            </a:pPr>
            <a:r>
              <a:rPr lang="en-US" sz="4960" b="true">
                <a:solidFill>
                  <a:srgbClr val="0A0047"/>
                </a:solidFill>
                <a:latin typeface="Poppins Bold"/>
                <a:ea typeface="Poppins Bold"/>
                <a:cs typeface="Poppins Bold"/>
                <a:sym typeface="Poppins Bold"/>
              </a:rPr>
              <a:t>Hồ sơ &amp; biểu mẫu</a:t>
            </a:r>
          </a:p>
        </p:txBody>
      </p:sp>
      <p:sp>
        <p:nvSpPr>
          <p:cNvPr name="Freeform 44" id="44"/>
          <p:cNvSpPr/>
          <p:nvPr/>
        </p:nvSpPr>
        <p:spPr>
          <a:xfrm flipH="false" flipV="false" rot="0">
            <a:off x="759434" y="3341768"/>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45" id="4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46" id="4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TextBox 47" id="47"/>
          <p:cNvSpPr txBox="true"/>
          <p:nvPr/>
        </p:nvSpPr>
        <p:spPr>
          <a:xfrm rot="0">
            <a:off x="1430516" y="9493371"/>
            <a:ext cx="5340896" cy="360760"/>
          </a:xfrm>
          <a:prstGeom prst="rect">
            <a:avLst/>
          </a:prstGeom>
        </p:spPr>
        <p:txBody>
          <a:bodyPr anchor="t" rtlCol="false" tIns="0" lIns="0" bIns="0" rIns="0">
            <a:spAutoFit/>
          </a:bodyPr>
          <a:lstStyle/>
          <a:p>
            <a:pPr algn="l">
              <a:lnSpc>
                <a:spcPts val="2559"/>
              </a:lnSpc>
            </a:pPr>
            <a:r>
              <a:rPr lang="en-US" sz="2437" b="true">
                <a:solidFill>
                  <a:srgbClr val="0A0047"/>
                </a:solidFill>
                <a:latin typeface="Poppins Bold"/>
                <a:ea typeface="Poppins Bold"/>
                <a:cs typeface="Poppins Bold"/>
                <a:sym typeface="Poppins Bold"/>
              </a:rPr>
              <a:t>Dựa</a:t>
            </a:r>
            <a:r>
              <a:rPr lang="en-US" b="true" sz="2437">
                <a:solidFill>
                  <a:srgbClr val="0A0047"/>
                </a:solidFill>
                <a:latin typeface="Poppins Bold"/>
                <a:ea typeface="Poppins Bold"/>
                <a:cs typeface="Poppins Bold"/>
                <a:sym typeface="Poppins Bold"/>
              </a:rPr>
              <a:t> trên bằng chứng</a:t>
            </a:r>
          </a:p>
        </p:txBody>
      </p:sp>
      <p:sp>
        <p:nvSpPr>
          <p:cNvPr name="Freeform 48" id="4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49" id="49"/>
          <p:cNvSpPr/>
          <p:nvPr/>
        </p:nvSpPr>
        <p:spPr>
          <a:xfrm flipH="false" flipV="false" rot="0">
            <a:off x="12019629" y="1676781"/>
            <a:ext cx="6039771" cy="7549714"/>
          </a:xfrm>
          <a:custGeom>
            <a:avLst/>
            <a:gdLst/>
            <a:ahLst/>
            <a:cxnLst/>
            <a:rect r="r" b="b" t="t" l="l"/>
            <a:pathLst>
              <a:path h="7549714" w="6039771">
                <a:moveTo>
                  <a:pt x="0" y="0"/>
                </a:moveTo>
                <a:lnTo>
                  <a:pt x="6039771" y="0"/>
                </a:lnTo>
                <a:lnTo>
                  <a:pt x="6039771" y="7549714"/>
                </a:lnTo>
                <a:lnTo>
                  <a:pt x="0" y="7549714"/>
                </a:lnTo>
                <a:lnTo>
                  <a:pt x="0" y="0"/>
                </a:lnTo>
                <a:close/>
              </a:path>
            </a:pathLst>
          </a:custGeom>
          <a:blipFill>
            <a:blip r:embed="rId32"/>
            <a:stretch>
              <a:fillRect l="0" t="0" r="0" b="0"/>
            </a:stretch>
          </a:blipFill>
        </p:spPr>
      </p:sp>
      <p:sp>
        <p:nvSpPr>
          <p:cNvPr name="TextBox 50" id="50"/>
          <p:cNvSpPr txBox="true"/>
          <p:nvPr/>
        </p:nvSpPr>
        <p:spPr>
          <a:xfrm rot="0">
            <a:off x="17316450" y="9572625"/>
            <a:ext cx="533400" cy="304800"/>
          </a:xfrm>
          <a:prstGeom prst="rect">
            <a:avLst/>
          </a:prstGeom>
        </p:spPr>
        <p:txBody>
          <a:bodyPr anchor="t" rtlCol="false" tIns="0" lIns="0" bIns="0" rIns="0">
            <a:spAutoFit/>
          </a:bodyPr>
          <a:lstStyle/>
          <a:p>
            <a:pPr algn="ctr" marL="0" indent="0" lvl="0">
              <a:lnSpc>
                <a:spcPts val="2100"/>
              </a:lnSpc>
              <a:spcBef>
                <a:spcPct val="0"/>
              </a:spcBef>
            </a:pPr>
            <a:r>
              <a:rPr lang="en-US" b="true" sz="2000" strike="noStrike" u="none">
                <a:solidFill>
                  <a:srgbClr val="FFFFFF"/>
                </a:solidFill>
                <a:latin typeface="Poppins Bold"/>
                <a:ea typeface="Poppins Bold"/>
                <a:cs typeface="Poppins Bold"/>
                <a:sym typeface="Poppins Bold"/>
              </a:rPr>
              <a:t>19</a:t>
            </a:r>
          </a:p>
        </p:txBody>
      </p:sp>
      <p:sp>
        <p:nvSpPr>
          <p:cNvPr name="TextBox 51" id="51"/>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110442"/>
                </a:solidFill>
                <a:latin typeface="Poppins"/>
                <a:ea typeface="Poppins"/>
                <a:cs typeface="Poppins"/>
                <a:sym typeface="Poppins"/>
              </a:rPr>
              <a:t>VIETTEL POST </a:t>
            </a:r>
          </a:p>
        </p:txBody>
      </p:sp>
      <p:sp>
        <p:nvSpPr>
          <p:cNvPr name="Freeform 52" id="52"/>
          <p:cNvSpPr/>
          <p:nvPr/>
        </p:nvSpPr>
        <p:spPr>
          <a:xfrm flipH="false" flipV="false" rot="0">
            <a:off x="266700" y="6756719"/>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0"/>
            <a:stretch>
              <a:fillRect l="-97424" t="0" r="-37961" b="0"/>
            </a:stretch>
          </a:blipFill>
        </p:spPr>
      </p:sp>
      <p:sp>
        <p:nvSpPr>
          <p:cNvPr name="Freeform 53" id="53"/>
          <p:cNvSpPr/>
          <p:nvPr/>
        </p:nvSpPr>
        <p:spPr>
          <a:xfrm flipH="false" flipV="false" rot="0">
            <a:off x="2171700" y="5442269"/>
            <a:ext cx="114300" cy="1162050"/>
          </a:xfrm>
          <a:custGeom>
            <a:avLst/>
            <a:gdLst/>
            <a:ahLst/>
            <a:cxnLst/>
            <a:rect r="r" b="b" t="t" l="l"/>
            <a:pathLst>
              <a:path h="1162050" w="114300">
                <a:moveTo>
                  <a:pt x="0" y="0"/>
                </a:moveTo>
                <a:lnTo>
                  <a:pt x="114300" y="0"/>
                </a:lnTo>
                <a:lnTo>
                  <a:pt x="114300" y="1162050"/>
                </a:lnTo>
                <a:lnTo>
                  <a:pt x="0" y="1162050"/>
                </a:lnTo>
                <a:lnTo>
                  <a:pt x="0" y="0"/>
                </a:lnTo>
                <a:close/>
              </a:path>
            </a:pathLst>
          </a:custGeom>
          <a:blipFill>
            <a:blip r:embed="rId14"/>
            <a:stretch>
              <a:fillRect l="-10927" t="-1647" r="-6158" b="0"/>
            </a:stretch>
          </a:blipFill>
        </p:spPr>
      </p:sp>
      <p:sp>
        <p:nvSpPr>
          <p:cNvPr name="TextBox 54" id="54"/>
          <p:cNvSpPr txBox="true"/>
          <p:nvPr/>
        </p:nvSpPr>
        <p:spPr>
          <a:xfrm rot="0">
            <a:off x="560813" y="4098451"/>
            <a:ext cx="5398934" cy="689416"/>
          </a:xfrm>
          <a:prstGeom prst="rect">
            <a:avLst/>
          </a:prstGeom>
        </p:spPr>
        <p:txBody>
          <a:bodyPr anchor="t" rtlCol="false" tIns="0" lIns="0" bIns="0" rIns="0">
            <a:spAutoFit/>
          </a:bodyPr>
          <a:lstStyle/>
          <a:p>
            <a:pPr algn="l">
              <a:lnSpc>
                <a:spcPts val="1822"/>
              </a:lnSpc>
            </a:pPr>
            <a:r>
              <a:rPr lang="en-US" sz="1656">
                <a:solidFill>
                  <a:srgbClr val="110442"/>
                </a:solidFill>
                <a:latin typeface="Poppins"/>
                <a:ea typeface="Poppins"/>
                <a:cs typeface="Poppins"/>
                <a:sym typeface="Poppins"/>
              </a:rPr>
              <a:t>Xác định dữ liệu, chứng từ và thông tin luân chuyển trong quy trình, giúp mô hình hóa BPMN đầy đủ và chính xác.</a:t>
            </a:r>
          </a:p>
        </p:txBody>
      </p:sp>
      <p:sp>
        <p:nvSpPr>
          <p:cNvPr name="AutoShape 55" id="55"/>
          <p:cNvSpPr/>
          <p:nvPr/>
        </p:nvSpPr>
        <p:spPr>
          <a:xfrm>
            <a:off x="438148" y="4099647"/>
            <a:ext cx="6195" cy="687705"/>
          </a:xfrm>
          <a:prstGeom prst="line">
            <a:avLst/>
          </a:prstGeom>
          <a:ln cap="flat" w="114300">
            <a:solidFill>
              <a:srgbClr val="100643"/>
            </a:solidFill>
            <a:prstDash val="solid"/>
            <a:headEnd type="none" len="sm" w="sm"/>
            <a:tailEnd type="none" len="sm" w="sm"/>
          </a:ln>
        </p:spPr>
      </p:sp>
      <p:sp>
        <p:nvSpPr>
          <p:cNvPr name="TextBox 56" id="56"/>
          <p:cNvSpPr txBox="true"/>
          <p:nvPr/>
        </p:nvSpPr>
        <p:spPr>
          <a:xfrm rot="0">
            <a:off x="8441141" y="9381338"/>
            <a:ext cx="7831015" cy="259163"/>
          </a:xfrm>
          <a:prstGeom prst="rect">
            <a:avLst/>
          </a:prstGeom>
        </p:spPr>
        <p:txBody>
          <a:bodyPr anchor="t" rtlCol="false" tIns="0" lIns="0" bIns="0" rIns="0">
            <a:spAutoFit/>
          </a:bodyPr>
          <a:lstStyle/>
          <a:p>
            <a:pPr algn="just">
              <a:lnSpc>
                <a:spcPts val="1990"/>
              </a:lnSpc>
            </a:pPr>
            <a:r>
              <a:rPr lang="en-US" sz="1421">
                <a:solidFill>
                  <a:srgbClr val="110442"/>
                </a:solidFill>
                <a:latin typeface="Poppins"/>
                <a:ea typeface="Poppins"/>
                <a:cs typeface="Poppins"/>
                <a:sym typeface="Poppins"/>
              </a:rPr>
              <a:t>Các biểu mẫu do nhóm đề xuất: Phiếu yêu cầu tạo đơn và Hồ sơ đăng ký hợp tác vận tải</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180484" cy="1509566"/>
          </a:xfrm>
          <a:custGeom>
            <a:avLst/>
            <a:gdLst/>
            <a:ahLst/>
            <a:cxnLst/>
            <a:rect r="r" b="b" t="t" l="l"/>
            <a:pathLst>
              <a:path h="1509566" w="2180484">
                <a:moveTo>
                  <a:pt x="0" y="0"/>
                </a:moveTo>
                <a:lnTo>
                  <a:pt x="2180484" y="0"/>
                </a:lnTo>
                <a:lnTo>
                  <a:pt x="2180484" y="1509566"/>
                </a:lnTo>
                <a:lnTo>
                  <a:pt x="0" y="1509566"/>
                </a:lnTo>
                <a:lnTo>
                  <a:pt x="0" y="0"/>
                </a:lnTo>
                <a:close/>
              </a:path>
            </a:pathLst>
          </a:custGeom>
          <a:blipFill>
            <a:blip r:embed="rId2"/>
            <a:stretch>
              <a:fillRect l="0" t="0" r="-5641" b="0"/>
            </a:stretch>
          </a:blipFill>
        </p:spPr>
      </p:sp>
      <p:sp>
        <p:nvSpPr>
          <p:cNvPr name="TextBox 3" id="3"/>
          <p:cNvSpPr txBox="true"/>
          <p:nvPr/>
        </p:nvSpPr>
        <p:spPr>
          <a:xfrm rot="0">
            <a:off x="886587" y="5424173"/>
            <a:ext cx="3748418" cy="2174367"/>
          </a:xfrm>
          <a:prstGeom prst="rect">
            <a:avLst/>
          </a:prstGeom>
        </p:spPr>
        <p:txBody>
          <a:bodyPr anchor="t" rtlCol="false" tIns="0" lIns="0" bIns="0" rIns="0">
            <a:spAutoFit/>
          </a:bodyPr>
          <a:lstStyle/>
          <a:p>
            <a:pPr algn="l">
              <a:lnSpc>
                <a:spcPts val="1881"/>
              </a:lnSpc>
            </a:pPr>
            <a:r>
              <a:rPr lang="en-US" sz="1710">
                <a:solidFill>
                  <a:srgbClr val="242369"/>
                </a:solidFill>
                <a:latin typeface="Poppins"/>
                <a:ea typeface="Poppins"/>
                <a:cs typeface="Poppins"/>
                <a:sym typeface="Poppins"/>
              </a:rPr>
              <a:t>Câu hỏi có cấu trúc có phương án;</a:t>
            </a:r>
          </a:p>
          <a:p>
            <a:pPr algn="l">
              <a:lnSpc>
                <a:spcPts val="1881"/>
              </a:lnSpc>
            </a:pPr>
            <a:r>
              <a:rPr lang="en-US" sz="1710">
                <a:solidFill>
                  <a:srgbClr val="242369"/>
                </a:solidFill>
                <a:latin typeface="Poppins"/>
                <a:ea typeface="Poppins"/>
                <a:cs typeface="Poppins"/>
                <a:sym typeface="Poppins"/>
              </a:rPr>
              <a:t>câu hỏi mở khai thác ngoại lệ.</a:t>
            </a:r>
          </a:p>
          <a:p>
            <a:pPr algn="l">
              <a:lnSpc>
                <a:spcPts val="1881"/>
              </a:lnSpc>
            </a:pPr>
          </a:p>
          <a:p>
            <a:pPr algn="l">
              <a:lnSpc>
                <a:spcPts val="1881"/>
              </a:lnSpc>
            </a:pPr>
            <a:r>
              <a:rPr lang="en-US" sz="1710">
                <a:solidFill>
                  <a:srgbClr val="242369"/>
                </a:solidFill>
                <a:latin typeface="Poppins"/>
                <a:ea typeface="Poppins"/>
                <a:cs typeface="Poppins"/>
                <a:sym typeface="Poppins"/>
              </a:rPr>
              <a:t>Giúp </a:t>
            </a:r>
            <a:r>
              <a:rPr lang="en-US" b="true" sz="1710">
                <a:solidFill>
                  <a:srgbClr val="242369"/>
                </a:solidFill>
                <a:latin typeface="Poppins Bold"/>
                <a:ea typeface="Poppins Bold"/>
                <a:cs typeface="Poppins Bold"/>
                <a:sym typeface="Poppins Bold"/>
              </a:rPr>
              <a:t>khám phá vấn đề, nguyên nhân, ngoại lệ và điểm nghẽn thực tế</a:t>
            </a:r>
            <a:r>
              <a:rPr lang="en-US" sz="1710">
                <a:solidFill>
                  <a:srgbClr val="242369"/>
                </a:solidFill>
                <a:latin typeface="Poppins"/>
                <a:ea typeface="Poppins"/>
                <a:cs typeface="Poppins"/>
                <a:sym typeface="Poppins"/>
              </a:rPr>
              <a:t> trong quá trình vận hành thông qua ý kiến và trải nghiệm của các bên liên quan.</a:t>
            </a:r>
          </a:p>
          <a:p>
            <a:pPr algn="l">
              <a:lnSpc>
                <a:spcPts val="1881"/>
              </a:lnSpc>
            </a:pPr>
          </a:p>
        </p:txBody>
      </p:sp>
      <p:sp>
        <p:nvSpPr>
          <p:cNvPr name="TextBox 4" id="4"/>
          <p:cNvSpPr txBox="true"/>
          <p:nvPr/>
        </p:nvSpPr>
        <p:spPr>
          <a:xfrm rot="0">
            <a:off x="5907024" y="701873"/>
            <a:ext cx="3127248" cy="361950"/>
          </a:xfrm>
          <a:prstGeom prst="rect">
            <a:avLst/>
          </a:prstGeom>
        </p:spPr>
        <p:txBody>
          <a:bodyPr anchor="t" rtlCol="false" tIns="0" lIns="0" bIns="0" rIns="0">
            <a:spAutoFit/>
          </a:bodyPr>
          <a:lstStyle/>
          <a:p>
            <a:pPr algn="l">
              <a:lnSpc>
                <a:spcPts val="2624"/>
              </a:lnSpc>
            </a:pPr>
            <a:r>
              <a:rPr lang="en-US" b="true" sz="2499">
                <a:solidFill>
                  <a:srgbClr val="0A0047"/>
                </a:solidFill>
                <a:latin typeface="Poppins Bold"/>
                <a:ea typeface="Poppins Bold"/>
                <a:cs typeface="Poppins Bold"/>
                <a:sym typeface="Poppins Bold"/>
              </a:rPr>
              <a:t>Danh sách câu hỏi</a:t>
            </a:r>
          </a:p>
        </p:txBody>
      </p:sp>
      <p:sp>
        <p:nvSpPr>
          <p:cNvPr name="Freeform 5" id="5"/>
          <p:cNvSpPr/>
          <p:nvPr/>
        </p:nvSpPr>
        <p:spPr>
          <a:xfrm flipH="false" flipV="false" rot="0">
            <a:off x="5876925" y="1419225"/>
            <a:ext cx="5324475" cy="514350"/>
          </a:xfrm>
          <a:custGeom>
            <a:avLst/>
            <a:gdLst/>
            <a:ahLst/>
            <a:cxnLst/>
            <a:rect r="r" b="b" t="t" l="l"/>
            <a:pathLst>
              <a:path h="514350" w="5324475">
                <a:moveTo>
                  <a:pt x="0" y="0"/>
                </a:moveTo>
                <a:lnTo>
                  <a:pt x="5324475" y="0"/>
                </a:lnTo>
                <a:lnTo>
                  <a:pt x="5324475" y="514350"/>
                </a:lnTo>
                <a:lnTo>
                  <a:pt x="0" y="514350"/>
                </a:lnTo>
                <a:lnTo>
                  <a:pt x="0" y="0"/>
                </a:lnTo>
                <a:close/>
              </a:path>
            </a:pathLst>
          </a:custGeom>
          <a:blipFill>
            <a:blip r:embed="rId3"/>
            <a:stretch>
              <a:fillRect l="-178" t="-33333" r="-2146" b="-33333"/>
            </a:stretch>
          </a:blipFill>
        </p:spPr>
      </p:sp>
      <p:sp>
        <p:nvSpPr>
          <p:cNvPr name="TextBox 6" id="6"/>
          <p:cNvSpPr txBox="true"/>
          <p:nvPr/>
        </p:nvSpPr>
        <p:spPr>
          <a:xfrm rot="0">
            <a:off x="6089904" y="1582415"/>
            <a:ext cx="2542032" cy="270510"/>
          </a:xfrm>
          <a:prstGeom prst="rect">
            <a:avLst/>
          </a:prstGeom>
        </p:spPr>
        <p:txBody>
          <a:bodyPr anchor="t" rtlCol="false" tIns="0" lIns="0" bIns="0" rIns="0">
            <a:spAutoFit/>
          </a:bodyPr>
          <a:lstStyle/>
          <a:p>
            <a:pPr algn="l" marL="0" indent="0" lvl="0">
              <a:lnSpc>
                <a:spcPts val="1980"/>
              </a:lnSpc>
              <a:spcBef>
                <a:spcPct val="0"/>
              </a:spcBef>
            </a:pPr>
            <a:r>
              <a:rPr lang="en-US" b="true" sz="1800" strike="noStrike" u="none">
                <a:solidFill>
                  <a:srgbClr val="0A0047"/>
                </a:solidFill>
                <a:latin typeface="Poppins Bold"/>
                <a:ea typeface="Poppins Bold"/>
                <a:cs typeface="Poppins Bold"/>
                <a:sym typeface="Poppins Bold"/>
              </a:rPr>
              <a:t>Có cấu trúc - 05 câu</a:t>
            </a:r>
          </a:p>
        </p:txBody>
      </p:sp>
      <p:sp>
        <p:nvSpPr>
          <p:cNvPr name="Freeform 7" id="7"/>
          <p:cNvSpPr/>
          <p:nvPr/>
        </p:nvSpPr>
        <p:spPr>
          <a:xfrm flipH="false" flipV="false" rot="0">
            <a:off x="11544300" y="1400175"/>
            <a:ext cx="5324475" cy="514350"/>
          </a:xfrm>
          <a:custGeom>
            <a:avLst/>
            <a:gdLst/>
            <a:ahLst/>
            <a:cxnLst/>
            <a:rect r="r" b="b" t="t" l="l"/>
            <a:pathLst>
              <a:path h="514350" w="5324475">
                <a:moveTo>
                  <a:pt x="0" y="0"/>
                </a:moveTo>
                <a:lnTo>
                  <a:pt x="5324475" y="0"/>
                </a:lnTo>
                <a:lnTo>
                  <a:pt x="5324475" y="514350"/>
                </a:lnTo>
                <a:lnTo>
                  <a:pt x="0" y="514350"/>
                </a:lnTo>
                <a:lnTo>
                  <a:pt x="0" y="0"/>
                </a:lnTo>
                <a:close/>
              </a:path>
            </a:pathLst>
          </a:custGeom>
          <a:blipFill>
            <a:blip r:embed="rId4"/>
            <a:stretch>
              <a:fillRect l="-4293" t="-33333" r="-2146" b="-33333"/>
            </a:stretch>
          </a:blipFill>
        </p:spPr>
      </p:sp>
      <p:sp>
        <p:nvSpPr>
          <p:cNvPr name="TextBox 8" id="8"/>
          <p:cNvSpPr txBox="true"/>
          <p:nvPr/>
        </p:nvSpPr>
        <p:spPr>
          <a:xfrm rot="0">
            <a:off x="11740896" y="1582415"/>
            <a:ext cx="3364992" cy="270510"/>
          </a:xfrm>
          <a:prstGeom prst="rect">
            <a:avLst/>
          </a:prstGeom>
        </p:spPr>
        <p:txBody>
          <a:bodyPr anchor="t" rtlCol="false" tIns="0" lIns="0" bIns="0" rIns="0">
            <a:spAutoFit/>
          </a:bodyPr>
          <a:lstStyle/>
          <a:p>
            <a:pPr algn="l" marL="0" indent="0" lvl="0">
              <a:lnSpc>
                <a:spcPts val="1980"/>
              </a:lnSpc>
              <a:spcBef>
                <a:spcPct val="0"/>
              </a:spcBef>
            </a:pPr>
            <a:r>
              <a:rPr lang="en-US" b="true" sz="1800" strike="noStrike" u="none">
                <a:solidFill>
                  <a:srgbClr val="0A0047"/>
                </a:solidFill>
                <a:latin typeface="Poppins Bold"/>
                <a:ea typeface="Poppins Bold"/>
                <a:cs typeface="Poppins Bold"/>
                <a:sym typeface="Poppins Bold"/>
              </a:rPr>
              <a:t>Không có cấu trúc - 05 câu</a:t>
            </a:r>
          </a:p>
        </p:txBody>
      </p:sp>
      <p:sp>
        <p:nvSpPr>
          <p:cNvPr name="Freeform 9" id="9"/>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0" id="10"/>
          <p:cNvSpPr txBox="true"/>
          <p:nvPr/>
        </p:nvSpPr>
        <p:spPr>
          <a:xfrm rot="0">
            <a:off x="1595629" y="703987"/>
            <a:ext cx="2448396" cy="361950"/>
          </a:xfrm>
          <a:prstGeom prst="rect">
            <a:avLst/>
          </a:prstGeom>
        </p:spPr>
        <p:txBody>
          <a:bodyPr anchor="t" rtlCol="false" tIns="0" lIns="0" bIns="0" rIns="0">
            <a:spAutoFit/>
          </a:bodyPr>
          <a:lstStyle/>
          <a:p>
            <a:pPr algn="l" marL="0" indent="0" lvl="0">
              <a:lnSpc>
                <a:spcPts val="2624"/>
              </a:lnSpc>
              <a:spcBef>
                <a:spcPct val="0"/>
              </a:spcBef>
            </a:pPr>
            <a:r>
              <a:rPr lang="en-US" b="true" sz="2499" strike="noStrike" u="none">
                <a:solidFill>
                  <a:srgbClr val="0A0047"/>
                </a:solidFill>
                <a:latin typeface="Poppins Bold"/>
                <a:ea typeface="Poppins Bold"/>
                <a:cs typeface="Poppins Bold"/>
                <a:sym typeface="Poppins Bold"/>
              </a:rPr>
              <a:t>CHƯƠNG 4</a:t>
            </a:r>
          </a:p>
        </p:txBody>
      </p:sp>
      <p:sp>
        <p:nvSpPr>
          <p:cNvPr name="TextBox 11" id="11"/>
          <p:cNvSpPr txBox="true"/>
          <p:nvPr/>
        </p:nvSpPr>
        <p:spPr>
          <a:xfrm rot="0">
            <a:off x="1595629" y="1054449"/>
            <a:ext cx="3048901" cy="270510"/>
          </a:xfrm>
          <a:prstGeom prst="rect">
            <a:avLst/>
          </a:prstGeom>
        </p:spPr>
        <p:txBody>
          <a:bodyPr anchor="t" rtlCol="false" tIns="0" lIns="0" bIns="0" rIns="0">
            <a:spAutoFit/>
          </a:bodyPr>
          <a:lstStyle/>
          <a:p>
            <a:pPr algn="l">
              <a:lnSpc>
                <a:spcPts val="1980"/>
              </a:lnSpc>
            </a:pPr>
            <a:r>
              <a:rPr lang="en-US" sz="1800">
                <a:solidFill>
                  <a:srgbClr val="000231"/>
                </a:solidFill>
                <a:latin typeface="Poppins"/>
                <a:ea typeface="Poppins"/>
                <a:cs typeface="Poppins"/>
                <a:sym typeface="Poppins"/>
              </a:rPr>
              <a:t>PHƯƠNG PHÁP THỰC HIỆN</a:t>
            </a:r>
          </a:p>
        </p:txBody>
      </p:sp>
      <p:sp>
        <p:nvSpPr>
          <p:cNvPr name="Freeform 12" id="12"/>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3" id="13"/>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1430516" y="9506850"/>
            <a:ext cx="2983825" cy="347281"/>
          </a:xfrm>
          <a:prstGeom prst="rect">
            <a:avLst/>
          </a:prstGeom>
        </p:spPr>
        <p:txBody>
          <a:bodyPr anchor="t" rtlCol="false" tIns="0" lIns="0" bIns="0" rIns="0">
            <a:spAutoFit/>
          </a:bodyPr>
          <a:lstStyle/>
          <a:p>
            <a:pPr algn="l">
              <a:lnSpc>
                <a:spcPts val="2518"/>
              </a:lnSpc>
            </a:pPr>
            <a:r>
              <a:rPr lang="en-US" sz="2189" b="true">
                <a:solidFill>
                  <a:srgbClr val="000231"/>
                </a:solidFill>
                <a:latin typeface="Poppins Bold"/>
                <a:ea typeface="Poppins Bold"/>
                <a:cs typeface="Poppins Bold"/>
                <a:sym typeface="Poppins Bold"/>
              </a:rPr>
              <a:t>Dựa trên phỏng vấn</a:t>
            </a:r>
          </a:p>
        </p:txBody>
      </p:sp>
      <p:sp>
        <p:nvSpPr>
          <p:cNvPr name="TextBox 15" id="15"/>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000231"/>
                </a:solidFill>
                <a:latin typeface="Poppins"/>
                <a:ea typeface="Poppins"/>
                <a:cs typeface="Poppins"/>
                <a:sym typeface="Poppins"/>
              </a:rPr>
              <a:t>VIETTEL POST </a:t>
            </a:r>
          </a:p>
        </p:txBody>
      </p:sp>
      <p:sp>
        <p:nvSpPr>
          <p:cNvPr name="Freeform 16" id="16"/>
          <p:cNvSpPr/>
          <p:nvPr/>
        </p:nvSpPr>
        <p:spPr>
          <a:xfrm flipH="false" flipV="false" rot="0">
            <a:off x="15030450" y="7877175"/>
            <a:ext cx="3483096" cy="2409825"/>
          </a:xfrm>
          <a:custGeom>
            <a:avLst/>
            <a:gdLst/>
            <a:ahLst/>
            <a:cxnLst/>
            <a:rect r="r" b="b" t="t" l="l"/>
            <a:pathLst>
              <a:path h="2409825" w="3483096">
                <a:moveTo>
                  <a:pt x="0" y="0"/>
                </a:moveTo>
                <a:lnTo>
                  <a:pt x="3483096" y="0"/>
                </a:lnTo>
                <a:lnTo>
                  <a:pt x="3483096" y="2409825"/>
                </a:lnTo>
                <a:lnTo>
                  <a:pt x="0" y="2409825"/>
                </a:lnTo>
                <a:lnTo>
                  <a:pt x="0" y="0"/>
                </a:lnTo>
                <a:close/>
              </a:path>
            </a:pathLst>
          </a:custGeom>
          <a:blipFill>
            <a:blip r:embed="rId11"/>
            <a:stretch>
              <a:fillRect l="-7017" t="-10646" r="0" b="-3461"/>
            </a:stretch>
          </a:blipFill>
        </p:spPr>
      </p:sp>
      <p:sp>
        <p:nvSpPr>
          <p:cNvPr name="Freeform 17" id="17"/>
          <p:cNvSpPr/>
          <p:nvPr/>
        </p:nvSpPr>
        <p:spPr>
          <a:xfrm flipH="false" flipV="false" rot="0">
            <a:off x="15668625" y="9429750"/>
            <a:ext cx="2619375" cy="857250"/>
          </a:xfrm>
          <a:custGeom>
            <a:avLst/>
            <a:gdLst/>
            <a:ahLst/>
            <a:cxnLst/>
            <a:rect r="r" b="b" t="t" l="l"/>
            <a:pathLst>
              <a:path h="857250" w="2619375">
                <a:moveTo>
                  <a:pt x="0" y="0"/>
                </a:moveTo>
                <a:lnTo>
                  <a:pt x="2619375" y="0"/>
                </a:lnTo>
                <a:lnTo>
                  <a:pt x="2619375" y="857250"/>
                </a:lnTo>
                <a:lnTo>
                  <a:pt x="0" y="857250"/>
                </a:lnTo>
                <a:lnTo>
                  <a:pt x="0" y="0"/>
                </a:lnTo>
                <a:close/>
              </a:path>
            </a:pathLst>
          </a:custGeom>
          <a:blipFill>
            <a:blip r:embed="rId12"/>
            <a:stretch>
              <a:fillRect l="0" t="0" r="0" b="0"/>
            </a:stretch>
          </a:blipFill>
        </p:spPr>
      </p:sp>
      <p:sp>
        <p:nvSpPr>
          <p:cNvPr name="Freeform 18" id="1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9" id="19"/>
          <p:cNvSpPr txBox="true"/>
          <p:nvPr/>
        </p:nvSpPr>
        <p:spPr>
          <a:xfrm rot="0">
            <a:off x="17324276" y="9572625"/>
            <a:ext cx="533400" cy="304800"/>
          </a:xfrm>
          <a:prstGeom prst="rect">
            <a:avLst/>
          </a:prstGeom>
        </p:spPr>
        <p:txBody>
          <a:bodyPr anchor="t" rtlCol="false" tIns="0" lIns="0" bIns="0" rIns="0">
            <a:spAutoFit/>
          </a:bodyPr>
          <a:lstStyle/>
          <a:p>
            <a:pPr algn="ctr" marL="0" indent="0" lvl="0">
              <a:lnSpc>
                <a:spcPts val="2100"/>
              </a:lnSpc>
              <a:spcBef>
                <a:spcPct val="0"/>
              </a:spcBef>
            </a:pPr>
            <a:r>
              <a:rPr lang="en-US" b="true" sz="2000" strike="noStrike" u="none">
                <a:solidFill>
                  <a:srgbClr val="FFFFFF"/>
                </a:solidFill>
                <a:latin typeface="Poppins Bold"/>
                <a:ea typeface="Poppins Bold"/>
                <a:cs typeface="Poppins Bold"/>
                <a:sym typeface="Poppins Bold"/>
              </a:rPr>
              <a:t>20</a:t>
            </a:r>
          </a:p>
        </p:txBody>
      </p:sp>
      <p:sp>
        <p:nvSpPr>
          <p:cNvPr name="AutoShape 20" id="20"/>
          <p:cNvSpPr/>
          <p:nvPr/>
        </p:nvSpPr>
        <p:spPr>
          <a:xfrm flipH="true">
            <a:off x="692489" y="5387349"/>
            <a:ext cx="18223" cy="2000241"/>
          </a:xfrm>
          <a:prstGeom prst="line">
            <a:avLst/>
          </a:prstGeom>
          <a:ln cap="flat" w="114300">
            <a:solidFill>
              <a:srgbClr val="100643"/>
            </a:solidFill>
            <a:prstDash val="solid"/>
            <a:headEnd type="none" len="sm" w="sm"/>
            <a:tailEnd type="none" len="sm" w="sm"/>
          </a:ln>
        </p:spPr>
      </p:sp>
      <p:grpSp>
        <p:nvGrpSpPr>
          <p:cNvPr name="Group 21" id="21"/>
          <p:cNvGrpSpPr/>
          <p:nvPr/>
        </p:nvGrpSpPr>
        <p:grpSpPr>
          <a:xfrm rot="0">
            <a:off x="5715000" y="2095500"/>
            <a:ext cx="5619750" cy="1381125"/>
            <a:chOff x="0" y="0"/>
            <a:chExt cx="7493000" cy="1841500"/>
          </a:xfrm>
        </p:grpSpPr>
        <p:sp>
          <p:nvSpPr>
            <p:cNvPr name="Freeform 22" id="22"/>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23" id="23"/>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5715000" y="2095500"/>
            <a:ext cx="66675" cy="1381125"/>
            <a:chOff x="0" y="0"/>
            <a:chExt cx="88900" cy="1841500"/>
          </a:xfrm>
        </p:grpSpPr>
        <p:sp>
          <p:nvSpPr>
            <p:cNvPr name="Freeform 25" id="25"/>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26" id="26"/>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5715000" y="3514725"/>
            <a:ext cx="5619750" cy="1381125"/>
            <a:chOff x="0" y="0"/>
            <a:chExt cx="7493000" cy="1841500"/>
          </a:xfrm>
        </p:grpSpPr>
        <p:sp>
          <p:nvSpPr>
            <p:cNvPr name="Freeform 28" id="28"/>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29" id="29"/>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5715000" y="3514725"/>
            <a:ext cx="66675" cy="1381125"/>
            <a:chOff x="0" y="0"/>
            <a:chExt cx="88900" cy="1841500"/>
          </a:xfrm>
        </p:grpSpPr>
        <p:sp>
          <p:nvSpPr>
            <p:cNvPr name="Freeform 31" id="31"/>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32" id="32"/>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5715000" y="4933950"/>
            <a:ext cx="5619750" cy="1381125"/>
            <a:chOff x="0" y="0"/>
            <a:chExt cx="7493000" cy="1841500"/>
          </a:xfrm>
        </p:grpSpPr>
        <p:sp>
          <p:nvSpPr>
            <p:cNvPr name="Freeform 34" id="34"/>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35" id="35"/>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5715000" y="4933950"/>
            <a:ext cx="66675" cy="1381125"/>
            <a:chOff x="0" y="0"/>
            <a:chExt cx="88900" cy="1841500"/>
          </a:xfrm>
        </p:grpSpPr>
        <p:sp>
          <p:nvSpPr>
            <p:cNvPr name="Freeform 37" id="37"/>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38" id="38"/>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39" id="39"/>
          <p:cNvGrpSpPr/>
          <p:nvPr/>
        </p:nvGrpSpPr>
        <p:grpSpPr>
          <a:xfrm rot="0">
            <a:off x="5715000" y="6353175"/>
            <a:ext cx="5619750" cy="1381125"/>
            <a:chOff x="0" y="0"/>
            <a:chExt cx="7493000" cy="1841500"/>
          </a:xfrm>
        </p:grpSpPr>
        <p:sp>
          <p:nvSpPr>
            <p:cNvPr name="Freeform 40" id="40"/>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41" id="41"/>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5715000" y="6353175"/>
            <a:ext cx="66675" cy="1381125"/>
            <a:chOff x="0" y="0"/>
            <a:chExt cx="88900" cy="1841500"/>
          </a:xfrm>
        </p:grpSpPr>
        <p:sp>
          <p:nvSpPr>
            <p:cNvPr name="Freeform 43" id="43"/>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44" id="44"/>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45" id="45"/>
          <p:cNvGrpSpPr/>
          <p:nvPr/>
        </p:nvGrpSpPr>
        <p:grpSpPr>
          <a:xfrm rot="0">
            <a:off x="5715000" y="7772400"/>
            <a:ext cx="5619750" cy="1628775"/>
            <a:chOff x="0" y="0"/>
            <a:chExt cx="7493000" cy="2171700"/>
          </a:xfrm>
        </p:grpSpPr>
        <p:sp>
          <p:nvSpPr>
            <p:cNvPr name="Freeform 46" id="46"/>
            <p:cNvSpPr/>
            <p:nvPr/>
          </p:nvSpPr>
          <p:spPr>
            <a:xfrm flipH="false" flipV="false" rot="0">
              <a:off x="0" y="0"/>
              <a:ext cx="7493000" cy="2171700"/>
            </a:xfrm>
            <a:custGeom>
              <a:avLst/>
              <a:gdLst/>
              <a:ahLst/>
              <a:cxnLst/>
              <a:rect r="r" b="b" t="t" l="l"/>
              <a:pathLst>
                <a:path h="2171700" w="7493000">
                  <a:moveTo>
                    <a:pt x="80426" y="0"/>
                  </a:moveTo>
                  <a:lnTo>
                    <a:pt x="7412574" y="0"/>
                  </a:lnTo>
                  <a:cubicBezTo>
                    <a:pt x="7456992" y="0"/>
                    <a:pt x="7493000" y="41670"/>
                    <a:pt x="7493000" y="93073"/>
                  </a:cubicBezTo>
                  <a:lnTo>
                    <a:pt x="7493000" y="2078627"/>
                  </a:lnTo>
                  <a:cubicBezTo>
                    <a:pt x="7493000" y="2130030"/>
                    <a:pt x="7456992" y="2171700"/>
                    <a:pt x="7412574" y="2171700"/>
                  </a:cubicBezTo>
                  <a:lnTo>
                    <a:pt x="80426" y="2171700"/>
                  </a:lnTo>
                  <a:cubicBezTo>
                    <a:pt x="36008" y="2171700"/>
                    <a:pt x="0" y="2130030"/>
                    <a:pt x="0" y="2078627"/>
                  </a:cubicBezTo>
                  <a:lnTo>
                    <a:pt x="0" y="93073"/>
                  </a:lnTo>
                  <a:cubicBezTo>
                    <a:pt x="0" y="41670"/>
                    <a:pt x="36008" y="0"/>
                    <a:pt x="80426" y="0"/>
                  </a:cubicBezTo>
                  <a:close/>
                </a:path>
              </a:pathLst>
            </a:custGeom>
            <a:solidFill>
              <a:srgbClr val="FFFFFF"/>
            </a:solidFill>
            <a:ln w="9525" cap="sq">
              <a:solidFill>
                <a:srgbClr val="D9DCE8"/>
              </a:solidFill>
              <a:prstDash val="solid"/>
              <a:miter/>
            </a:ln>
          </p:spPr>
        </p:sp>
        <p:sp>
          <p:nvSpPr>
            <p:cNvPr name="TextBox 47" id="47"/>
            <p:cNvSpPr txBox="true"/>
            <p:nvPr/>
          </p:nvSpPr>
          <p:spPr>
            <a:xfrm>
              <a:off x="0" y="-38100"/>
              <a:ext cx="7493000" cy="2209800"/>
            </a:xfrm>
            <a:prstGeom prst="rect">
              <a:avLst/>
            </a:prstGeom>
          </p:spPr>
          <p:txBody>
            <a:bodyPr anchor="ctr" rtlCol="false" tIns="50800" lIns="50800" bIns="50800" rIns="50800"/>
            <a:lstStyle/>
            <a:p>
              <a:pPr algn="l">
                <a:lnSpc>
                  <a:spcPts val="1679"/>
                </a:lnSpc>
              </a:pPr>
            </a:p>
          </p:txBody>
        </p:sp>
      </p:grpSp>
      <p:grpSp>
        <p:nvGrpSpPr>
          <p:cNvPr name="Group 48" id="48"/>
          <p:cNvGrpSpPr/>
          <p:nvPr/>
        </p:nvGrpSpPr>
        <p:grpSpPr>
          <a:xfrm rot="0">
            <a:off x="5715000" y="7772400"/>
            <a:ext cx="66675" cy="1628775"/>
            <a:chOff x="0" y="0"/>
            <a:chExt cx="88900" cy="2171700"/>
          </a:xfrm>
        </p:grpSpPr>
        <p:sp>
          <p:nvSpPr>
            <p:cNvPr name="Freeform 49" id="49"/>
            <p:cNvSpPr/>
            <p:nvPr/>
          </p:nvSpPr>
          <p:spPr>
            <a:xfrm flipH="false" flipV="false" rot="0">
              <a:off x="0" y="0"/>
              <a:ext cx="88900" cy="2171700"/>
            </a:xfrm>
            <a:custGeom>
              <a:avLst/>
              <a:gdLst/>
              <a:ahLst/>
              <a:cxnLst/>
              <a:rect r="r" b="b" t="t" l="l"/>
              <a:pathLst>
                <a:path h="2171700" w="88900">
                  <a:moveTo>
                    <a:pt x="38100" y="0"/>
                  </a:moveTo>
                  <a:lnTo>
                    <a:pt x="50800" y="0"/>
                  </a:lnTo>
                  <a:cubicBezTo>
                    <a:pt x="71842" y="0"/>
                    <a:pt x="88900" y="20835"/>
                    <a:pt x="88900" y="46536"/>
                  </a:cubicBezTo>
                  <a:lnTo>
                    <a:pt x="88900" y="2125163"/>
                  </a:lnTo>
                  <a:cubicBezTo>
                    <a:pt x="88900" y="2150865"/>
                    <a:pt x="71842" y="2171700"/>
                    <a:pt x="50800" y="2171700"/>
                  </a:cubicBezTo>
                  <a:lnTo>
                    <a:pt x="38100" y="2171700"/>
                  </a:lnTo>
                  <a:cubicBezTo>
                    <a:pt x="17058" y="2171700"/>
                    <a:pt x="0" y="2150865"/>
                    <a:pt x="0" y="2125163"/>
                  </a:cubicBezTo>
                  <a:lnTo>
                    <a:pt x="0" y="46536"/>
                  </a:lnTo>
                  <a:cubicBezTo>
                    <a:pt x="0" y="20835"/>
                    <a:pt x="17058" y="0"/>
                    <a:pt x="38100" y="0"/>
                  </a:cubicBezTo>
                  <a:close/>
                </a:path>
              </a:pathLst>
            </a:custGeom>
            <a:solidFill>
              <a:srgbClr val="D71949"/>
            </a:solidFill>
          </p:spPr>
        </p:sp>
        <p:sp>
          <p:nvSpPr>
            <p:cNvPr name="TextBox 50" id="50"/>
            <p:cNvSpPr txBox="true"/>
            <p:nvPr/>
          </p:nvSpPr>
          <p:spPr>
            <a:xfrm>
              <a:off x="0" y="-38100"/>
              <a:ext cx="88900" cy="22098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11430000" y="2095500"/>
            <a:ext cx="5619750" cy="1381125"/>
            <a:chOff x="0" y="0"/>
            <a:chExt cx="7493000" cy="1841500"/>
          </a:xfrm>
        </p:grpSpPr>
        <p:sp>
          <p:nvSpPr>
            <p:cNvPr name="Freeform 52" id="52"/>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53" id="53"/>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54" id="54"/>
          <p:cNvGrpSpPr/>
          <p:nvPr/>
        </p:nvGrpSpPr>
        <p:grpSpPr>
          <a:xfrm rot="0">
            <a:off x="11430000" y="2095500"/>
            <a:ext cx="66675" cy="1381125"/>
            <a:chOff x="0" y="0"/>
            <a:chExt cx="88900" cy="1841500"/>
          </a:xfrm>
        </p:grpSpPr>
        <p:sp>
          <p:nvSpPr>
            <p:cNvPr name="Freeform 55" id="55"/>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56" id="56"/>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11430000" y="3514725"/>
            <a:ext cx="5619750" cy="1381125"/>
            <a:chOff x="0" y="0"/>
            <a:chExt cx="7493000" cy="1841500"/>
          </a:xfrm>
        </p:grpSpPr>
        <p:sp>
          <p:nvSpPr>
            <p:cNvPr name="Freeform 58" id="58"/>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59" id="59"/>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11430000" y="3514725"/>
            <a:ext cx="66675" cy="1381125"/>
            <a:chOff x="0" y="0"/>
            <a:chExt cx="88900" cy="1841500"/>
          </a:xfrm>
        </p:grpSpPr>
        <p:sp>
          <p:nvSpPr>
            <p:cNvPr name="Freeform 61" id="61"/>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62" id="62"/>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63" id="63"/>
          <p:cNvGrpSpPr/>
          <p:nvPr/>
        </p:nvGrpSpPr>
        <p:grpSpPr>
          <a:xfrm rot="0">
            <a:off x="11430000" y="4933950"/>
            <a:ext cx="5619750" cy="1381125"/>
            <a:chOff x="0" y="0"/>
            <a:chExt cx="7493000" cy="1841500"/>
          </a:xfrm>
        </p:grpSpPr>
        <p:sp>
          <p:nvSpPr>
            <p:cNvPr name="Freeform 64" id="64"/>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65" id="65"/>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66" id="66"/>
          <p:cNvGrpSpPr/>
          <p:nvPr/>
        </p:nvGrpSpPr>
        <p:grpSpPr>
          <a:xfrm rot="0">
            <a:off x="11430000" y="4933950"/>
            <a:ext cx="66675" cy="1381125"/>
            <a:chOff x="0" y="0"/>
            <a:chExt cx="88900" cy="1841500"/>
          </a:xfrm>
        </p:grpSpPr>
        <p:sp>
          <p:nvSpPr>
            <p:cNvPr name="Freeform 67" id="67"/>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68" id="68"/>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69" id="69"/>
          <p:cNvGrpSpPr/>
          <p:nvPr/>
        </p:nvGrpSpPr>
        <p:grpSpPr>
          <a:xfrm rot="0">
            <a:off x="11430000" y="6353175"/>
            <a:ext cx="5619750" cy="1381125"/>
            <a:chOff x="0" y="0"/>
            <a:chExt cx="7493000" cy="1841500"/>
          </a:xfrm>
        </p:grpSpPr>
        <p:sp>
          <p:nvSpPr>
            <p:cNvPr name="Freeform 70" id="70"/>
            <p:cNvSpPr/>
            <p:nvPr/>
          </p:nvSpPr>
          <p:spPr>
            <a:xfrm flipH="false" flipV="false" rot="0">
              <a:off x="0" y="0"/>
              <a:ext cx="7493000" cy="1841500"/>
            </a:xfrm>
            <a:custGeom>
              <a:avLst/>
              <a:gdLst/>
              <a:ahLst/>
              <a:cxnLst/>
              <a:rect r="r" b="b" t="t" l="l"/>
              <a:pathLst>
                <a:path h="1841500" w="7493000">
                  <a:moveTo>
                    <a:pt x="80426" y="0"/>
                  </a:moveTo>
                  <a:lnTo>
                    <a:pt x="7412574" y="0"/>
                  </a:lnTo>
                  <a:cubicBezTo>
                    <a:pt x="7456992" y="0"/>
                    <a:pt x="7493000" y="35334"/>
                    <a:pt x="7493000" y="78921"/>
                  </a:cubicBezTo>
                  <a:lnTo>
                    <a:pt x="7493000" y="1762579"/>
                  </a:lnTo>
                  <a:cubicBezTo>
                    <a:pt x="7493000" y="1806166"/>
                    <a:pt x="7456992" y="1841500"/>
                    <a:pt x="7412574" y="1841500"/>
                  </a:cubicBezTo>
                  <a:lnTo>
                    <a:pt x="80426" y="1841500"/>
                  </a:lnTo>
                  <a:cubicBezTo>
                    <a:pt x="36008" y="1841500"/>
                    <a:pt x="0" y="1806166"/>
                    <a:pt x="0" y="1762579"/>
                  </a:cubicBezTo>
                  <a:lnTo>
                    <a:pt x="0" y="78921"/>
                  </a:lnTo>
                  <a:cubicBezTo>
                    <a:pt x="0" y="35334"/>
                    <a:pt x="36008" y="0"/>
                    <a:pt x="80426" y="0"/>
                  </a:cubicBezTo>
                  <a:close/>
                </a:path>
              </a:pathLst>
            </a:custGeom>
            <a:solidFill>
              <a:srgbClr val="FFFFFF"/>
            </a:solidFill>
            <a:ln w="9525" cap="sq">
              <a:solidFill>
                <a:srgbClr val="D9DCE8"/>
              </a:solidFill>
              <a:prstDash val="solid"/>
              <a:miter/>
            </a:ln>
          </p:spPr>
        </p:sp>
        <p:sp>
          <p:nvSpPr>
            <p:cNvPr name="TextBox 71" id="71"/>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72" id="72"/>
          <p:cNvGrpSpPr/>
          <p:nvPr/>
        </p:nvGrpSpPr>
        <p:grpSpPr>
          <a:xfrm rot="0">
            <a:off x="11430000" y="6353175"/>
            <a:ext cx="66675" cy="1381125"/>
            <a:chOff x="0" y="0"/>
            <a:chExt cx="88900" cy="1841500"/>
          </a:xfrm>
        </p:grpSpPr>
        <p:sp>
          <p:nvSpPr>
            <p:cNvPr name="Freeform 73" id="73"/>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74" id="74"/>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75" id="75"/>
          <p:cNvGrpSpPr/>
          <p:nvPr/>
        </p:nvGrpSpPr>
        <p:grpSpPr>
          <a:xfrm rot="0">
            <a:off x="11430000" y="7772400"/>
            <a:ext cx="5619750" cy="1631986"/>
            <a:chOff x="0" y="0"/>
            <a:chExt cx="7493000" cy="2175981"/>
          </a:xfrm>
        </p:grpSpPr>
        <p:sp>
          <p:nvSpPr>
            <p:cNvPr name="Freeform 76" id="76"/>
            <p:cNvSpPr/>
            <p:nvPr/>
          </p:nvSpPr>
          <p:spPr>
            <a:xfrm flipH="false" flipV="false" rot="0">
              <a:off x="0" y="0"/>
              <a:ext cx="7493000" cy="2175982"/>
            </a:xfrm>
            <a:custGeom>
              <a:avLst/>
              <a:gdLst/>
              <a:ahLst/>
              <a:cxnLst/>
              <a:rect r="r" b="b" t="t" l="l"/>
              <a:pathLst>
                <a:path h="2175982" w="7493000">
                  <a:moveTo>
                    <a:pt x="80426" y="0"/>
                  </a:moveTo>
                  <a:lnTo>
                    <a:pt x="7412574" y="0"/>
                  </a:lnTo>
                  <a:cubicBezTo>
                    <a:pt x="7456992" y="0"/>
                    <a:pt x="7493000" y="41752"/>
                    <a:pt x="7493000" y="93256"/>
                  </a:cubicBezTo>
                  <a:lnTo>
                    <a:pt x="7493000" y="2082725"/>
                  </a:lnTo>
                  <a:cubicBezTo>
                    <a:pt x="7493000" y="2134229"/>
                    <a:pt x="7456992" y="2175982"/>
                    <a:pt x="7412574" y="2175982"/>
                  </a:cubicBezTo>
                  <a:lnTo>
                    <a:pt x="80426" y="2175982"/>
                  </a:lnTo>
                  <a:cubicBezTo>
                    <a:pt x="36008" y="2175982"/>
                    <a:pt x="0" y="2134229"/>
                    <a:pt x="0" y="2082725"/>
                  </a:cubicBezTo>
                  <a:lnTo>
                    <a:pt x="0" y="93256"/>
                  </a:lnTo>
                  <a:cubicBezTo>
                    <a:pt x="0" y="41752"/>
                    <a:pt x="36008" y="0"/>
                    <a:pt x="80426" y="0"/>
                  </a:cubicBezTo>
                  <a:close/>
                </a:path>
              </a:pathLst>
            </a:custGeom>
            <a:solidFill>
              <a:srgbClr val="FFFFFF"/>
            </a:solidFill>
            <a:ln w="9525" cap="sq">
              <a:solidFill>
                <a:srgbClr val="D9DCE8"/>
              </a:solidFill>
              <a:prstDash val="solid"/>
              <a:miter/>
            </a:ln>
          </p:spPr>
        </p:sp>
        <p:sp>
          <p:nvSpPr>
            <p:cNvPr name="TextBox 77" id="77"/>
            <p:cNvSpPr txBox="true"/>
            <p:nvPr/>
          </p:nvSpPr>
          <p:spPr>
            <a:xfrm>
              <a:off x="0" y="-38100"/>
              <a:ext cx="7493000" cy="2214081"/>
            </a:xfrm>
            <a:prstGeom prst="rect">
              <a:avLst/>
            </a:prstGeom>
          </p:spPr>
          <p:txBody>
            <a:bodyPr anchor="ctr" rtlCol="false" tIns="50800" lIns="50800" bIns="50800" rIns="50800"/>
            <a:lstStyle/>
            <a:p>
              <a:pPr algn="l">
                <a:lnSpc>
                  <a:spcPts val="1679"/>
                </a:lnSpc>
              </a:pPr>
            </a:p>
          </p:txBody>
        </p:sp>
      </p:grpSp>
      <p:grpSp>
        <p:nvGrpSpPr>
          <p:cNvPr name="Group 78" id="78"/>
          <p:cNvGrpSpPr/>
          <p:nvPr/>
        </p:nvGrpSpPr>
        <p:grpSpPr>
          <a:xfrm rot="0">
            <a:off x="11416665" y="7772400"/>
            <a:ext cx="80010" cy="1657350"/>
            <a:chOff x="0" y="0"/>
            <a:chExt cx="88900" cy="1841500"/>
          </a:xfrm>
        </p:grpSpPr>
        <p:sp>
          <p:nvSpPr>
            <p:cNvPr name="Freeform 79" id="79"/>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7667"/>
                    <a:pt x="88900" y="39461"/>
                  </a:cubicBezTo>
                  <a:lnTo>
                    <a:pt x="88900" y="1802039"/>
                  </a:lnTo>
                  <a:cubicBezTo>
                    <a:pt x="88900" y="1823833"/>
                    <a:pt x="71842" y="1841500"/>
                    <a:pt x="50800" y="1841500"/>
                  </a:cubicBezTo>
                  <a:lnTo>
                    <a:pt x="38100" y="1841500"/>
                  </a:lnTo>
                  <a:cubicBezTo>
                    <a:pt x="17058" y="1841500"/>
                    <a:pt x="0" y="1823833"/>
                    <a:pt x="0" y="1802039"/>
                  </a:cubicBezTo>
                  <a:lnTo>
                    <a:pt x="0" y="39461"/>
                  </a:lnTo>
                  <a:cubicBezTo>
                    <a:pt x="0" y="17667"/>
                    <a:pt x="17058" y="0"/>
                    <a:pt x="38100" y="0"/>
                  </a:cubicBezTo>
                  <a:close/>
                </a:path>
              </a:pathLst>
            </a:custGeom>
            <a:solidFill>
              <a:srgbClr val="D71949"/>
            </a:solidFill>
          </p:spPr>
        </p:sp>
        <p:sp>
          <p:nvSpPr>
            <p:cNvPr name="TextBox 80" id="80"/>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sp>
        <p:nvSpPr>
          <p:cNvPr name="TextBox 81" id="81"/>
          <p:cNvSpPr txBox="true"/>
          <p:nvPr/>
        </p:nvSpPr>
        <p:spPr>
          <a:xfrm rot="0">
            <a:off x="692489" y="2460956"/>
            <a:ext cx="3840480" cy="1498348"/>
          </a:xfrm>
          <a:prstGeom prst="rect">
            <a:avLst/>
          </a:prstGeom>
        </p:spPr>
        <p:txBody>
          <a:bodyPr anchor="t" rtlCol="false" tIns="0" lIns="0" bIns="0" rIns="0">
            <a:spAutoFit/>
          </a:bodyPr>
          <a:lstStyle/>
          <a:p>
            <a:pPr algn="l">
              <a:lnSpc>
                <a:spcPts val="5704"/>
              </a:lnSpc>
            </a:pPr>
            <a:r>
              <a:rPr lang="en-US" sz="4960" b="true">
                <a:solidFill>
                  <a:srgbClr val="0A0047"/>
                </a:solidFill>
                <a:latin typeface="Poppins Bold"/>
                <a:ea typeface="Poppins Bold"/>
                <a:cs typeface="Poppins Bold"/>
                <a:sym typeface="Poppins Bold"/>
              </a:rPr>
              <a:t>Phỏng vấn định tính</a:t>
            </a:r>
          </a:p>
        </p:txBody>
      </p:sp>
      <p:sp>
        <p:nvSpPr>
          <p:cNvPr name="Freeform 82" id="82"/>
          <p:cNvSpPr/>
          <p:nvPr/>
        </p:nvSpPr>
        <p:spPr>
          <a:xfrm flipH="false" flipV="false" rot="0">
            <a:off x="776144" y="4105515"/>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83" id="83"/>
          <p:cNvSpPr txBox="true"/>
          <p:nvPr/>
        </p:nvSpPr>
        <p:spPr>
          <a:xfrm rot="0">
            <a:off x="5857875" y="2171700"/>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DT-01 - GIAO HÀNG</a:t>
            </a:r>
          </a:p>
        </p:txBody>
      </p:sp>
      <p:sp>
        <p:nvSpPr>
          <p:cNvPr name="TextBox 84" id="84"/>
          <p:cNvSpPr txBox="true"/>
          <p:nvPr/>
        </p:nvSpPr>
        <p:spPr>
          <a:xfrm rot="0">
            <a:off x="5857875" y="243840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Các bước thực tế có tuân theo BPMN khi cập nhật kết quả không?</a:t>
            </a:r>
          </a:p>
        </p:txBody>
      </p:sp>
      <p:sp>
        <p:nvSpPr>
          <p:cNvPr name="TextBox 85" id="85"/>
          <p:cNvSpPr txBox="true"/>
          <p:nvPr/>
        </p:nvSpPr>
        <p:spPr>
          <a:xfrm rot="0">
            <a:off x="5857875" y="2969895"/>
            <a:ext cx="5334000" cy="36766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A. Tuân thủ đúng - B. Sai khâu được kiểm soát - C. Chưa thống nhất</a:t>
            </a:r>
          </a:p>
        </p:txBody>
      </p:sp>
      <p:sp>
        <p:nvSpPr>
          <p:cNvPr name="TextBox 86" id="86"/>
          <p:cNvSpPr txBox="true"/>
          <p:nvPr/>
        </p:nvSpPr>
        <p:spPr>
          <a:xfrm rot="0">
            <a:off x="11668125" y="2171700"/>
            <a:ext cx="523875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DT-06 - GIAO HÀNG</a:t>
            </a:r>
          </a:p>
        </p:txBody>
      </p:sp>
      <p:sp>
        <p:nvSpPr>
          <p:cNvPr name="TextBox 87" id="87"/>
          <p:cNvSpPr txBox="true"/>
          <p:nvPr/>
        </p:nvSpPr>
        <p:spPr>
          <a:xfrm rot="0">
            <a:off x="11668125" y="243840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Hãy kể về một ca giao khó gần đây và cách anh/chị xử lý.</a:t>
            </a:r>
          </a:p>
        </p:txBody>
      </p:sp>
      <p:sp>
        <p:nvSpPr>
          <p:cNvPr name="TextBox 88" id="88"/>
          <p:cNvSpPr txBox="true"/>
          <p:nvPr/>
        </p:nvSpPr>
        <p:spPr>
          <a:xfrm rot="0">
            <a:off x="11668125" y="3023440"/>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Đối tượng: Nhân viên giao hàng</a:t>
            </a:r>
          </a:p>
        </p:txBody>
      </p:sp>
      <p:sp>
        <p:nvSpPr>
          <p:cNvPr name="TextBox 89" id="89"/>
          <p:cNvSpPr txBox="true"/>
          <p:nvPr/>
        </p:nvSpPr>
        <p:spPr>
          <a:xfrm rot="0">
            <a:off x="5857875" y="3590925"/>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DT-02 - TIẾP NHẬN ĐƠN</a:t>
            </a:r>
          </a:p>
        </p:txBody>
      </p:sp>
      <p:sp>
        <p:nvSpPr>
          <p:cNvPr name="TextBox 90" id="90"/>
          <p:cNvSpPr txBox="true"/>
          <p:nvPr/>
        </p:nvSpPr>
        <p:spPr>
          <a:xfrm rot="0">
            <a:off x="5857875" y="3857625"/>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Những trường nào bắt buộc ở từng lần tạo đơn?</a:t>
            </a:r>
          </a:p>
        </p:txBody>
      </p:sp>
      <p:sp>
        <p:nvSpPr>
          <p:cNvPr name="TextBox 91" id="91"/>
          <p:cNvSpPr txBox="true"/>
          <p:nvPr/>
        </p:nvSpPr>
        <p:spPr>
          <a:xfrm rot="0">
            <a:off x="5857875" y="4398645"/>
            <a:ext cx="5334000" cy="36766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A. Mỗi kênh tự quy định - B. Dùng bộ quy tắc chung - C. Kết hợp chung + riêng</a:t>
            </a:r>
          </a:p>
        </p:txBody>
      </p:sp>
      <p:sp>
        <p:nvSpPr>
          <p:cNvPr name="TextBox 92" id="92"/>
          <p:cNvSpPr txBox="true"/>
          <p:nvPr/>
        </p:nvSpPr>
        <p:spPr>
          <a:xfrm rot="0">
            <a:off x="11668125" y="3590925"/>
            <a:ext cx="523875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DT-07 - TIẾP NHẬN ĐƠN</a:t>
            </a:r>
          </a:p>
        </p:txBody>
      </p:sp>
      <p:sp>
        <p:nvSpPr>
          <p:cNvPr name="TextBox 93" id="93"/>
          <p:cNvSpPr txBox="true"/>
          <p:nvPr/>
        </p:nvSpPr>
        <p:spPr>
          <a:xfrm rot="0">
            <a:off x="11668125" y="3857625"/>
            <a:ext cx="5334000" cy="2647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Ngoại lệ nào không được thể hiện trên sơ đồ?</a:t>
            </a:r>
          </a:p>
        </p:txBody>
      </p:sp>
      <p:sp>
        <p:nvSpPr>
          <p:cNvPr name="TextBox 94" id="94"/>
          <p:cNvSpPr txBox="true"/>
          <p:nvPr/>
        </p:nvSpPr>
        <p:spPr>
          <a:xfrm rot="0">
            <a:off x="5857875" y="5010150"/>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DT-03 - HOÀN TRẢ</a:t>
            </a:r>
          </a:p>
        </p:txBody>
      </p:sp>
      <p:sp>
        <p:nvSpPr>
          <p:cNvPr name="TextBox 95" id="95"/>
          <p:cNvSpPr txBox="true"/>
          <p:nvPr/>
        </p:nvSpPr>
        <p:spPr>
          <a:xfrm rot="0">
            <a:off x="5857875" y="527685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WMS đáp ứng việc kiểm tra ngoại quan hàng hoàn?</a:t>
            </a:r>
          </a:p>
        </p:txBody>
      </p:sp>
      <p:sp>
        <p:nvSpPr>
          <p:cNvPr name="TextBox 96" id="96"/>
          <p:cNvSpPr txBox="true"/>
          <p:nvPr/>
        </p:nvSpPr>
        <p:spPr>
          <a:xfrm rot="0">
            <a:off x="5857875" y="5846445"/>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A. Đáp ứng tốt - B. Một phần - C. Chưa đáp ứng</a:t>
            </a:r>
          </a:p>
        </p:txBody>
      </p:sp>
      <p:sp>
        <p:nvSpPr>
          <p:cNvPr name="TextBox 97" id="97"/>
          <p:cNvSpPr txBox="true"/>
          <p:nvPr/>
        </p:nvSpPr>
        <p:spPr>
          <a:xfrm rot="0">
            <a:off x="11668125" y="5010150"/>
            <a:ext cx="523875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DT-08 - HOÀN TRẢ</a:t>
            </a:r>
          </a:p>
        </p:txBody>
      </p:sp>
      <p:sp>
        <p:nvSpPr>
          <p:cNvPr name="TextBox 98" id="98"/>
          <p:cNvSpPr txBox="true"/>
          <p:nvPr/>
        </p:nvSpPr>
        <p:spPr>
          <a:xfrm rot="0">
            <a:off x="11668125" y="527685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Điểm nghẽn lớn nhất khi xác minh nguyên nhân hoàn trả là gì?</a:t>
            </a:r>
          </a:p>
        </p:txBody>
      </p:sp>
      <p:sp>
        <p:nvSpPr>
          <p:cNvPr name="TextBox 99" id="99"/>
          <p:cNvSpPr txBox="true"/>
          <p:nvPr/>
        </p:nvSpPr>
        <p:spPr>
          <a:xfrm rot="0">
            <a:off x="11668125" y="5874067"/>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Đối tượng: Kho/CSKH</a:t>
            </a:r>
          </a:p>
        </p:txBody>
      </p:sp>
      <p:sp>
        <p:nvSpPr>
          <p:cNvPr name="TextBox 100" id="100"/>
          <p:cNvSpPr txBox="true"/>
          <p:nvPr/>
        </p:nvSpPr>
        <p:spPr>
          <a:xfrm rot="0">
            <a:off x="5857875" y="6429375"/>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DT-04 - VỠ HỎNG / MẤT MÁT</a:t>
            </a:r>
          </a:p>
        </p:txBody>
      </p:sp>
      <p:sp>
        <p:nvSpPr>
          <p:cNvPr name="TextBox 101" id="101"/>
          <p:cNvSpPr txBox="true"/>
          <p:nvPr/>
        </p:nvSpPr>
        <p:spPr>
          <a:xfrm rot="0">
            <a:off x="5857875" y="6696075"/>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Khó khăn lớn nhất khi xác minh vỡ hỏng / mất mát?</a:t>
            </a:r>
          </a:p>
        </p:txBody>
      </p:sp>
      <p:sp>
        <p:nvSpPr>
          <p:cNvPr name="TextBox 102" id="102"/>
          <p:cNvSpPr txBox="true"/>
          <p:nvPr/>
        </p:nvSpPr>
        <p:spPr>
          <a:xfrm rot="0">
            <a:off x="5857875" y="7275195"/>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A. Thiếu ảnh - B. Khó theo dõi số - C. Lỗi hệ thống</a:t>
            </a:r>
          </a:p>
        </p:txBody>
      </p:sp>
      <p:sp>
        <p:nvSpPr>
          <p:cNvPr name="TextBox 103" id="103"/>
          <p:cNvSpPr txBox="true"/>
          <p:nvPr/>
        </p:nvSpPr>
        <p:spPr>
          <a:xfrm rot="0">
            <a:off x="11668125" y="6429375"/>
            <a:ext cx="523875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DT-09 - ĐỐI SOÁT</a:t>
            </a:r>
          </a:p>
        </p:txBody>
      </p:sp>
      <p:sp>
        <p:nvSpPr>
          <p:cNvPr name="TextBox 104" id="104"/>
          <p:cNvSpPr txBox="true"/>
          <p:nvPr/>
        </p:nvSpPr>
        <p:spPr>
          <a:xfrm rot="0">
            <a:off x="11668125" y="6696075"/>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Giải pháp nào giúp rút ngắn đối soát giữa CSKH và Kho?</a:t>
            </a:r>
          </a:p>
        </p:txBody>
      </p:sp>
      <p:sp>
        <p:nvSpPr>
          <p:cNvPr name="TextBox 105" id="105"/>
          <p:cNvSpPr txBox="true"/>
          <p:nvPr/>
        </p:nvSpPr>
        <p:spPr>
          <a:xfrm rot="0">
            <a:off x="11668125" y="7275195"/>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Đối tượng: Kho/CSKH</a:t>
            </a:r>
          </a:p>
        </p:txBody>
      </p:sp>
      <p:sp>
        <p:nvSpPr>
          <p:cNvPr name="TextBox 106" id="106"/>
          <p:cNvSpPr txBox="true"/>
          <p:nvPr/>
        </p:nvSpPr>
        <p:spPr>
          <a:xfrm rot="0">
            <a:off x="5857875" y="7848600"/>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DT-05 - ĐÀO TẠO</a:t>
            </a:r>
          </a:p>
        </p:txBody>
      </p:sp>
      <p:sp>
        <p:nvSpPr>
          <p:cNvPr name="TextBox 107" id="107"/>
          <p:cNvSpPr txBox="true"/>
          <p:nvPr/>
        </p:nvSpPr>
        <p:spPr>
          <a:xfrm rot="0">
            <a:off x="5857875" y="811530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Đào tạo hội nhập và xử lý khi nhân viên chưa đạt lần đầu?</a:t>
            </a:r>
          </a:p>
        </p:txBody>
      </p:sp>
      <p:sp>
        <p:nvSpPr>
          <p:cNvPr name="TextBox 108" id="108"/>
          <p:cNvSpPr txBox="true"/>
          <p:nvPr/>
        </p:nvSpPr>
        <p:spPr>
          <a:xfrm rot="0">
            <a:off x="11668125" y="7848600"/>
            <a:ext cx="523875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DT-10 - ĐÀO TẠO</a:t>
            </a:r>
          </a:p>
        </p:txBody>
      </p:sp>
      <p:sp>
        <p:nvSpPr>
          <p:cNvPr name="TextBox 109" id="109"/>
          <p:cNvSpPr txBox="true"/>
          <p:nvPr/>
        </p:nvSpPr>
        <p:spPr>
          <a:xfrm rot="0">
            <a:off x="11668125" y="8115300"/>
            <a:ext cx="5334000" cy="493395"/>
          </a:xfrm>
          <a:prstGeom prst="rect">
            <a:avLst/>
          </a:prstGeom>
        </p:spPr>
        <p:txBody>
          <a:bodyPr anchor="t" rtlCol="false" tIns="0" lIns="0" bIns="0" rIns="0">
            <a:spAutoFit/>
          </a:bodyPr>
          <a:lstStyle/>
          <a:p>
            <a:pPr algn="l">
              <a:lnSpc>
                <a:spcPts val="1800"/>
              </a:lnSpc>
            </a:pPr>
            <a:r>
              <a:rPr lang="en-US" sz="1800" b="true">
                <a:solidFill>
                  <a:srgbClr val="0A0047"/>
                </a:solidFill>
                <a:latin typeface="Poppins Bold"/>
                <a:ea typeface="Poppins Bold"/>
                <a:cs typeface="Poppins Bold"/>
                <a:sym typeface="Poppins Bold"/>
              </a:rPr>
              <a:t>Điểm nghẽn lớn nhất khi phối hợp tuyển dụng - đào tạo là gì?</a:t>
            </a:r>
          </a:p>
        </p:txBody>
      </p:sp>
      <p:sp>
        <p:nvSpPr>
          <p:cNvPr name="TextBox 110" id="110"/>
          <p:cNvSpPr txBox="true"/>
          <p:nvPr/>
        </p:nvSpPr>
        <p:spPr>
          <a:xfrm rot="0">
            <a:off x="11668125" y="8694420"/>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Đối tượng: Phòng Nhân sự</a:t>
            </a:r>
          </a:p>
        </p:txBody>
      </p:sp>
      <p:sp>
        <p:nvSpPr>
          <p:cNvPr name="TextBox 111" id="111"/>
          <p:cNvSpPr txBox="true"/>
          <p:nvPr/>
        </p:nvSpPr>
        <p:spPr>
          <a:xfrm rot="0">
            <a:off x="11668125" y="4312920"/>
            <a:ext cx="5334000" cy="19621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Đối tượng: Điều phối / vận hành</a:t>
            </a:r>
          </a:p>
        </p:txBody>
      </p:sp>
      <p:sp>
        <p:nvSpPr>
          <p:cNvPr name="TextBox 112" id="112"/>
          <p:cNvSpPr txBox="true"/>
          <p:nvPr/>
        </p:nvSpPr>
        <p:spPr>
          <a:xfrm rot="0">
            <a:off x="5857875" y="8733473"/>
            <a:ext cx="5334000" cy="367665"/>
          </a:xfrm>
          <a:prstGeom prst="rect">
            <a:avLst/>
          </a:prstGeom>
        </p:spPr>
        <p:txBody>
          <a:bodyPr anchor="t" rtlCol="false" tIns="0" lIns="0" bIns="0" rIns="0">
            <a:spAutoFit/>
          </a:bodyPr>
          <a:lstStyle/>
          <a:p>
            <a:pPr algn="l">
              <a:lnSpc>
                <a:spcPts val="1350"/>
              </a:lnSpc>
            </a:pPr>
            <a:r>
              <a:rPr lang="en-US" sz="1350">
                <a:solidFill>
                  <a:srgbClr val="343841"/>
                </a:solidFill>
                <a:latin typeface="Poppins"/>
                <a:ea typeface="Poppins"/>
                <a:cs typeface="Poppins"/>
                <a:sym typeface="Poppins"/>
              </a:rPr>
              <a:t>A. Hướng dẫn một buổi - B. Đào tạo + đánh giá + bổ sung - C. Đánh giá một lần</a:t>
            </a:r>
          </a:p>
        </p:txBody>
      </p:sp>
      <p:sp>
        <p:nvSpPr>
          <p:cNvPr name="Freeform 113" id="113"/>
          <p:cNvSpPr/>
          <p:nvPr/>
        </p:nvSpPr>
        <p:spPr>
          <a:xfrm flipH="false" flipV="false" rot="0">
            <a:off x="5767951" y="1238250"/>
            <a:ext cx="11106150" cy="219075"/>
          </a:xfrm>
          <a:custGeom>
            <a:avLst/>
            <a:gdLst/>
            <a:ahLst/>
            <a:cxnLst/>
            <a:rect r="r" b="b" t="t" l="l"/>
            <a:pathLst>
              <a:path h="219075" w="11106150">
                <a:moveTo>
                  <a:pt x="0" y="0"/>
                </a:moveTo>
                <a:lnTo>
                  <a:pt x="11106150" y="0"/>
                </a:lnTo>
                <a:lnTo>
                  <a:pt x="11106150" y="219075"/>
                </a:lnTo>
                <a:lnTo>
                  <a:pt x="0" y="219075"/>
                </a:lnTo>
                <a:lnTo>
                  <a:pt x="0" y="0"/>
                </a:lnTo>
                <a:close/>
              </a:path>
            </a:pathLst>
          </a:custGeom>
          <a:blipFill>
            <a:blip r:embed="rId1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2390775" cy="1390650"/>
          </a:xfrm>
          <a:custGeom>
            <a:avLst/>
            <a:gdLst/>
            <a:ahLst/>
            <a:cxnLst/>
            <a:rect r="r" b="b" t="t" l="l"/>
            <a:pathLst>
              <a:path h="1390650" w="2390775">
                <a:moveTo>
                  <a:pt x="0" y="0"/>
                </a:moveTo>
                <a:lnTo>
                  <a:pt x="2390775" y="0"/>
                </a:lnTo>
                <a:lnTo>
                  <a:pt x="2390775" y="1390650"/>
                </a:lnTo>
                <a:lnTo>
                  <a:pt x="0" y="1390650"/>
                </a:lnTo>
                <a:lnTo>
                  <a:pt x="0" y="0"/>
                </a:lnTo>
                <a:close/>
              </a:path>
            </a:pathLst>
          </a:custGeom>
          <a:blipFill>
            <a:blip r:embed="rId2"/>
            <a:stretch>
              <a:fillRect l="0" t="0" r="-398" b="-8219"/>
            </a:stretch>
          </a:blipFill>
        </p:spPr>
      </p:sp>
      <p:sp>
        <p:nvSpPr>
          <p:cNvPr name="TextBox 3" id="3"/>
          <p:cNvSpPr txBox="true"/>
          <p:nvPr/>
        </p:nvSpPr>
        <p:spPr>
          <a:xfrm rot="0">
            <a:off x="640080" y="9611226"/>
            <a:ext cx="274320" cy="250508"/>
          </a:xfrm>
          <a:prstGeom prst="rect">
            <a:avLst/>
          </a:prstGeom>
        </p:spPr>
        <p:txBody>
          <a:bodyPr anchor="t" rtlCol="false" tIns="0" lIns="0" bIns="0" rIns="0">
            <a:spAutoFit/>
          </a:bodyPr>
          <a:lstStyle/>
          <a:p>
            <a:pPr algn="ctr">
              <a:lnSpc>
                <a:spcPts val="1897"/>
              </a:lnSpc>
            </a:pPr>
            <a:r>
              <a:rPr lang="en-US" b="true" sz="1725">
                <a:solidFill>
                  <a:srgbClr val="FFFFFF"/>
                </a:solidFill>
                <a:latin typeface="Poppins Bold"/>
                <a:ea typeface="Poppins Bold"/>
                <a:cs typeface="Poppins Bold"/>
                <a:sym typeface="Poppins Bold"/>
              </a:rPr>
              <a:t>20</a:t>
            </a:r>
          </a:p>
        </p:txBody>
      </p:sp>
      <p:sp>
        <p:nvSpPr>
          <p:cNvPr name="Freeform 4" id="4"/>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430516" y="9506850"/>
            <a:ext cx="3102453" cy="347281"/>
          </a:xfrm>
          <a:prstGeom prst="rect">
            <a:avLst/>
          </a:prstGeom>
        </p:spPr>
        <p:txBody>
          <a:bodyPr anchor="t" rtlCol="false" tIns="0" lIns="0" bIns="0" rIns="0">
            <a:spAutoFit/>
          </a:bodyPr>
          <a:lstStyle/>
          <a:p>
            <a:pPr algn="l">
              <a:lnSpc>
                <a:spcPts val="2518"/>
              </a:lnSpc>
            </a:pPr>
            <a:r>
              <a:rPr lang="en-US" b="true" sz="2189">
                <a:solidFill>
                  <a:srgbClr val="0A0047"/>
                </a:solidFill>
                <a:latin typeface="Poppins Bold"/>
                <a:ea typeface="Poppins Bold"/>
                <a:cs typeface="Poppins Bold"/>
                <a:sym typeface="Poppins Bold"/>
              </a:rPr>
              <a:t>Dựa trên phỏng vấn</a:t>
            </a:r>
          </a:p>
        </p:txBody>
      </p:sp>
      <p:sp>
        <p:nvSpPr>
          <p:cNvPr name="TextBox 7" id="7"/>
          <p:cNvSpPr txBox="true"/>
          <p:nvPr/>
        </p:nvSpPr>
        <p:spPr>
          <a:xfrm rot="0">
            <a:off x="1430516" y="9172372"/>
            <a:ext cx="2331008" cy="327788"/>
          </a:xfrm>
          <a:prstGeom prst="rect">
            <a:avLst/>
          </a:prstGeom>
        </p:spPr>
        <p:txBody>
          <a:bodyPr anchor="t" rtlCol="false" tIns="0" lIns="0" bIns="0" rIns="0">
            <a:spAutoFit/>
          </a:bodyPr>
          <a:lstStyle/>
          <a:p>
            <a:pPr algn="l">
              <a:lnSpc>
                <a:spcPts val="2438"/>
              </a:lnSpc>
            </a:pPr>
            <a:r>
              <a:rPr lang="en-US" sz="2120">
                <a:solidFill>
                  <a:srgbClr val="0A0047"/>
                </a:solidFill>
                <a:latin typeface="Poppins"/>
                <a:ea typeface="Poppins"/>
                <a:cs typeface="Poppins"/>
                <a:sym typeface="Poppins"/>
              </a:rPr>
              <a:t>VIETTEL POST </a:t>
            </a:r>
          </a:p>
        </p:txBody>
      </p:sp>
      <p:sp>
        <p:nvSpPr>
          <p:cNvPr name="Freeform 8" id="8"/>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595629" y="703987"/>
            <a:ext cx="2448396" cy="361950"/>
          </a:xfrm>
          <a:prstGeom prst="rect">
            <a:avLst/>
          </a:prstGeom>
        </p:spPr>
        <p:txBody>
          <a:bodyPr anchor="t" rtlCol="false" tIns="0" lIns="0" bIns="0" rIns="0">
            <a:spAutoFit/>
          </a:bodyPr>
          <a:lstStyle/>
          <a:p>
            <a:pPr algn="l" marL="0" indent="0" lvl="0">
              <a:lnSpc>
                <a:spcPts val="2624"/>
              </a:lnSpc>
              <a:spcBef>
                <a:spcPct val="0"/>
              </a:spcBef>
            </a:pPr>
            <a:r>
              <a:rPr lang="en-US" b="true" sz="2499" strike="noStrike" u="none">
                <a:solidFill>
                  <a:srgbClr val="100643"/>
                </a:solidFill>
                <a:latin typeface="Poppins Bold"/>
                <a:ea typeface="Poppins Bold"/>
                <a:cs typeface="Poppins Bold"/>
                <a:sym typeface="Poppins Bold"/>
              </a:rPr>
              <a:t>CHƯƠNG 4</a:t>
            </a:r>
          </a:p>
        </p:txBody>
      </p:sp>
      <p:sp>
        <p:nvSpPr>
          <p:cNvPr name="TextBox 10" id="10"/>
          <p:cNvSpPr txBox="true"/>
          <p:nvPr/>
        </p:nvSpPr>
        <p:spPr>
          <a:xfrm rot="0">
            <a:off x="1595629" y="1054449"/>
            <a:ext cx="3048901" cy="270510"/>
          </a:xfrm>
          <a:prstGeom prst="rect">
            <a:avLst/>
          </a:prstGeom>
        </p:spPr>
        <p:txBody>
          <a:bodyPr anchor="t" rtlCol="false" tIns="0" lIns="0" bIns="0" rIns="0">
            <a:spAutoFit/>
          </a:bodyPr>
          <a:lstStyle/>
          <a:p>
            <a:pPr algn="l">
              <a:lnSpc>
                <a:spcPts val="1980"/>
              </a:lnSpc>
            </a:pPr>
            <a:r>
              <a:rPr lang="en-US" sz="1800">
                <a:solidFill>
                  <a:srgbClr val="000231"/>
                </a:solidFill>
                <a:latin typeface="Poppins"/>
                <a:ea typeface="Poppins"/>
                <a:cs typeface="Poppins"/>
                <a:sym typeface="Poppins"/>
              </a:rPr>
              <a:t>PHƯƠNG PHÁP THỰC HIỆN</a:t>
            </a:r>
          </a:p>
        </p:txBody>
      </p:sp>
      <p:sp>
        <p:nvSpPr>
          <p:cNvPr name="TextBox 11" id="11"/>
          <p:cNvSpPr txBox="true"/>
          <p:nvPr/>
        </p:nvSpPr>
        <p:spPr>
          <a:xfrm rot="0">
            <a:off x="866775" y="5457825"/>
            <a:ext cx="3945622" cy="1631013"/>
          </a:xfrm>
          <a:prstGeom prst="rect">
            <a:avLst/>
          </a:prstGeom>
        </p:spPr>
        <p:txBody>
          <a:bodyPr anchor="t" rtlCol="false" tIns="0" lIns="0" bIns="0" rIns="0">
            <a:spAutoFit/>
          </a:bodyPr>
          <a:lstStyle/>
          <a:p>
            <a:pPr algn="l" marL="0" indent="0" lvl="0">
              <a:lnSpc>
                <a:spcPts val="1843"/>
              </a:lnSpc>
              <a:spcBef>
                <a:spcPct val="0"/>
              </a:spcBef>
            </a:pPr>
            <a:r>
              <a:rPr lang="en-US" sz="1676" strike="noStrike" u="none">
                <a:solidFill>
                  <a:srgbClr val="242369"/>
                </a:solidFill>
                <a:latin typeface="Poppins"/>
                <a:ea typeface="Poppins"/>
                <a:cs typeface="Poppins"/>
                <a:sym typeface="Poppins"/>
              </a:rPr>
              <a:t>Cùng một khung đo cho thời gian, chất lượng và dữ liệu vận hành.</a:t>
            </a:r>
          </a:p>
          <a:p>
            <a:pPr algn="l" marL="0" indent="0" lvl="0">
              <a:lnSpc>
                <a:spcPts val="1843"/>
              </a:lnSpc>
              <a:spcBef>
                <a:spcPct val="0"/>
              </a:spcBef>
            </a:pPr>
          </a:p>
          <a:p>
            <a:pPr algn="l" marL="0" indent="0" lvl="0">
              <a:lnSpc>
                <a:spcPts val="1843"/>
              </a:lnSpc>
              <a:spcBef>
                <a:spcPct val="0"/>
              </a:spcBef>
            </a:pPr>
            <a:r>
              <a:rPr lang="en-US" sz="1676" strike="noStrike" u="none">
                <a:solidFill>
                  <a:srgbClr val="242369"/>
                </a:solidFill>
                <a:latin typeface="Poppins"/>
                <a:ea typeface="Poppins"/>
                <a:cs typeface="Poppins"/>
                <a:sym typeface="Poppins"/>
              </a:rPr>
              <a:t>Giúp </a:t>
            </a:r>
            <a:r>
              <a:rPr lang="en-US" b="true" sz="1676" strike="noStrike" u="none">
                <a:solidFill>
                  <a:srgbClr val="242369"/>
                </a:solidFill>
                <a:latin typeface="Poppins Bold"/>
                <a:ea typeface="Poppins Bold"/>
                <a:cs typeface="Poppins Bold"/>
                <a:sym typeface="Poppins Bold"/>
              </a:rPr>
              <a:t>đo lường hiệu suất và mức độ của vấn đề bằng số liệu cụ thể</a:t>
            </a:r>
            <a:r>
              <a:rPr lang="en-US" sz="1676" strike="noStrike" u="none">
                <a:solidFill>
                  <a:srgbClr val="242369"/>
                </a:solidFill>
                <a:latin typeface="Poppins"/>
                <a:ea typeface="Poppins"/>
                <a:cs typeface="Poppins"/>
                <a:sym typeface="Poppins"/>
              </a:rPr>
              <a:t>, từ đó đánh giá quy trình, so sánh với KPI và làm cơ sở đề xuất cải tiến.</a:t>
            </a:r>
          </a:p>
        </p:txBody>
      </p:sp>
      <p:sp>
        <p:nvSpPr>
          <p:cNvPr name="Freeform 12" id="12"/>
          <p:cNvSpPr/>
          <p:nvPr/>
        </p:nvSpPr>
        <p:spPr>
          <a:xfrm flipH="false" flipV="false" rot="0">
            <a:off x="15030450" y="7877175"/>
            <a:ext cx="3483096" cy="2409825"/>
          </a:xfrm>
          <a:custGeom>
            <a:avLst/>
            <a:gdLst/>
            <a:ahLst/>
            <a:cxnLst/>
            <a:rect r="r" b="b" t="t" l="l"/>
            <a:pathLst>
              <a:path h="2409825" w="3483096">
                <a:moveTo>
                  <a:pt x="0" y="0"/>
                </a:moveTo>
                <a:lnTo>
                  <a:pt x="3483096" y="0"/>
                </a:lnTo>
                <a:lnTo>
                  <a:pt x="3483096" y="2409825"/>
                </a:lnTo>
                <a:lnTo>
                  <a:pt x="0" y="2409825"/>
                </a:lnTo>
                <a:lnTo>
                  <a:pt x="0" y="0"/>
                </a:lnTo>
                <a:close/>
              </a:path>
            </a:pathLst>
          </a:custGeom>
          <a:blipFill>
            <a:blip r:embed="rId9"/>
            <a:stretch>
              <a:fillRect l="-7017" t="-10646" r="0" b="-3461"/>
            </a:stretch>
          </a:blipFill>
        </p:spPr>
      </p:sp>
      <p:sp>
        <p:nvSpPr>
          <p:cNvPr name="Freeform 13" id="13"/>
          <p:cNvSpPr/>
          <p:nvPr/>
        </p:nvSpPr>
        <p:spPr>
          <a:xfrm flipH="false" flipV="false" rot="0">
            <a:off x="15668625" y="9429750"/>
            <a:ext cx="2619375" cy="857250"/>
          </a:xfrm>
          <a:custGeom>
            <a:avLst/>
            <a:gdLst/>
            <a:ahLst/>
            <a:cxnLst/>
            <a:rect r="r" b="b" t="t" l="l"/>
            <a:pathLst>
              <a:path h="857250" w="2619375">
                <a:moveTo>
                  <a:pt x="0" y="0"/>
                </a:moveTo>
                <a:lnTo>
                  <a:pt x="2619375" y="0"/>
                </a:lnTo>
                <a:lnTo>
                  <a:pt x="2619375" y="857250"/>
                </a:lnTo>
                <a:lnTo>
                  <a:pt x="0" y="857250"/>
                </a:lnTo>
                <a:lnTo>
                  <a:pt x="0" y="0"/>
                </a:lnTo>
                <a:close/>
              </a:path>
            </a:pathLst>
          </a:custGeom>
          <a:blipFill>
            <a:blip r:embed="rId10"/>
            <a:stretch>
              <a:fillRect l="0" t="0" r="0" b="0"/>
            </a:stretch>
          </a:blipFill>
        </p:spPr>
      </p:sp>
      <p:sp>
        <p:nvSpPr>
          <p:cNvPr name="TextBox 14" id="14"/>
          <p:cNvSpPr txBox="true"/>
          <p:nvPr/>
        </p:nvSpPr>
        <p:spPr>
          <a:xfrm rot="0">
            <a:off x="5905500" y="704850"/>
            <a:ext cx="3401568" cy="361950"/>
          </a:xfrm>
          <a:prstGeom prst="rect">
            <a:avLst/>
          </a:prstGeom>
        </p:spPr>
        <p:txBody>
          <a:bodyPr anchor="t" rtlCol="false" tIns="0" lIns="0" bIns="0" rIns="0">
            <a:spAutoFit/>
          </a:bodyPr>
          <a:lstStyle/>
          <a:p>
            <a:pPr algn="l">
              <a:lnSpc>
                <a:spcPts val="2624"/>
              </a:lnSpc>
            </a:pPr>
            <a:r>
              <a:rPr lang="en-US" b="true" sz="2499">
                <a:solidFill>
                  <a:srgbClr val="0A0047"/>
                </a:solidFill>
                <a:latin typeface="Poppins Bold"/>
                <a:ea typeface="Poppins Bold"/>
                <a:cs typeface="Poppins Bold"/>
                <a:sym typeface="Poppins Bold"/>
              </a:rPr>
              <a:t>Danh sách câu hỏi</a:t>
            </a:r>
          </a:p>
        </p:txBody>
      </p:sp>
      <p:sp>
        <p:nvSpPr>
          <p:cNvPr name="Freeform 15" id="15"/>
          <p:cNvSpPr/>
          <p:nvPr/>
        </p:nvSpPr>
        <p:spPr>
          <a:xfrm flipH="false" flipV="false" rot="0">
            <a:off x="5767951" y="1238250"/>
            <a:ext cx="11106150" cy="219075"/>
          </a:xfrm>
          <a:custGeom>
            <a:avLst/>
            <a:gdLst/>
            <a:ahLst/>
            <a:cxnLst/>
            <a:rect r="r" b="b" t="t" l="l"/>
            <a:pathLst>
              <a:path h="219075" w="11106150">
                <a:moveTo>
                  <a:pt x="0" y="0"/>
                </a:moveTo>
                <a:lnTo>
                  <a:pt x="11106150" y="0"/>
                </a:lnTo>
                <a:lnTo>
                  <a:pt x="11106150" y="219075"/>
                </a:lnTo>
                <a:lnTo>
                  <a:pt x="0" y="219075"/>
                </a:lnTo>
                <a:lnTo>
                  <a:pt x="0" y="0"/>
                </a:lnTo>
                <a:close/>
              </a:path>
            </a:pathLst>
          </a:custGeom>
          <a:blipFill>
            <a:blip r:embed="rId11"/>
            <a:stretch>
              <a:fillRect l="0" t="0" r="0" b="0"/>
            </a:stretch>
          </a:blipFill>
        </p:spPr>
      </p:sp>
      <p:sp>
        <p:nvSpPr>
          <p:cNvPr name="Freeform 16" id="16"/>
          <p:cNvSpPr/>
          <p:nvPr/>
        </p:nvSpPr>
        <p:spPr>
          <a:xfrm flipH="false" flipV="false" rot="0">
            <a:off x="5905500" y="1381125"/>
            <a:ext cx="5181600" cy="609600"/>
          </a:xfrm>
          <a:custGeom>
            <a:avLst/>
            <a:gdLst/>
            <a:ahLst/>
            <a:cxnLst/>
            <a:rect r="r" b="b" t="t" l="l"/>
            <a:pathLst>
              <a:path h="609600" w="5181600">
                <a:moveTo>
                  <a:pt x="0" y="0"/>
                </a:moveTo>
                <a:lnTo>
                  <a:pt x="5181600" y="0"/>
                </a:lnTo>
                <a:lnTo>
                  <a:pt x="5181600" y="609600"/>
                </a:lnTo>
                <a:lnTo>
                  <a:pt x="0" y="609600"/>
                </a:lnTo>
                <a:lnTo>
                  <a:pt x="0" y="0"/>
                </a:lnTo>
                <a:close/>
              </a:path>
            </a:pathLst>
          </a:custGeom>
          <a:blipFill>
            <a:blip r:embed="rId12"/>
            <a:stretch>
              <a:fillRect l="-2022" t="-17187" r="-3125" b="-25000"/>
            </a:stretch>
          </a:blipFill>
        </p:spPr>
      </p:sp>
      <p:sp>
        <p:nvSpPr>
          <p:cNvPr name="TextBox 17" id="17"/>
          <p:cNvSpPr txBox="true"/>
          <p:nvPr/>
        </p:nvSpPr>
        <p:spPr>
          <a:xfrm rot="0">
            <a:off x="6076950" y="1581150"/>
            <a:ext cx="2651760" cy="270510"/>
          </a:xfrm>
          <a:prstGeom prst="rect">
            <a:avLst/>
          </a:prstGeom>
        </p:spPr>
        <p:txBody>
          <a:bodyPr anchor="t" rtlCol="false" tIns="0" lIns="0" bIns="0" rIns="0">
            <a:spAutoFit/>
          </a:bodyPr>
          <a:lstStyle/>
          <a:p>
            <a:pPr algn="l" marL="0" indent="0" lvl="0">
              <a:lnSpc>
                <a:spcPts val="1980"/>
              </a:lnSpc>
              <a:spcBef>
                <a:spcPct val="0"/>
              </a:spcBef>
            </a:pPr>
            <a:r>
              <a:rPr lang="en-US" b="true" sz="1800" strike="noStrike" u="none">
                <a:solidFill>
                  <a:srgbClr val="0A0047"/>
                </a:solidFill>
                <a:latin typeface="Poppins Bold"/>
                <a:ea typeface="Poppins Bold"/>
                <a:cs typeface="Poppins Bold"/>
                <a:sym typeface="Poppins Bold"/>
              </a:rPr>
              <a:t>Có cấu trúc - 05 câu</a:t>
            </a:r>
          </a:p>
        </p:txBody>
      </p:sp>
      <p:sp>
        <p:nvSpPr>
          <p:cNvPr name="Freeform 18" id="18"/>
          <p:cNvSpPr/>
          <p:nvPr/>
        </p:nvSpPr>
        <p:spPr>
          <a:xfrm flipH="false" flipV="false" rot="0">
            <a:off x="11430000" y="1411605"/>
            <a:ext cx="5295900" cy="609600"/>
          </a:xfrm>
          <a:custGeom>
            <a:avLst/>
            <a:gdLst/>
            <a:ahLst/>
            <a:cxnLst/>
            <a:rect r="r" b="b" t="t" l="l"/>
            <a:pathLst>
              <a:path h="609600" w="5295900">
                <a:moveTo>
                  <a:pt x="0" y="0"/>
                </a:moveTo>
                <a:lnTo>
                  <a:pt x="5295900" y="0"/>
                </a:lnTo>
                <a:lnTo>
                  <a:pt x="5295900" y="609600"/>
                </a:lnTo>
                <a:lnTo>
                  <a:pt x="0" y="609600"/>
                </a:lnTo>
                <a:lnTo>
                  <a:pt x="0" y="0"/>
                </a:lnTo>
                <a:close/>
              </a:path>
            </a:pathLst>
          </a:custGeom>
          <a:blipFill>
            <a:blip r:embed="rId13"/>
            <a:stretch>
              <a:fillRect l="-719" t="-17187" r="-2158" b="-25000"/>
            </a:stretch>
          </a:blipFill>
        </p:spPr>
      </p:sp>
      <p:sp>
        <p:nvSpPr>
          <p:cNvPr name="TextBox 19" id="19"/>
          <p:cNvSpPr txBox="true"/>
          <p:nvPr/>
        </p:nvSpPr>
        <p:spPr>
          <a:xfrm rot="0">
            <a:off x="11744325" y="1581150"/>
            <a:ext cx="3584448" cy="270510"/>
          </a:xfrm>
          <a:prstGeom prst="rect">
            <a:avLst/>
          </a:prstGeom>
        </p:spPr>
        <p:txBody>
          <a:bodyPr anchor="t" rtlCol="false" tIns="0" lIns="0" bIns="0" rIns="0">
            <a:spAutoFit/>
          </a:bodyPr>
          <a:lstStyle/>
          <a:p>
            <a:pPr algn="l" marL="0" indent="0" lvl="0">
              <a:lnSpc>
                <a:spcPts val="1980"/>
              </a:lnSpc>
              <a:spcBef>
                <a:spcPct val="0"/>
              </a:spcBef>
            </a:pPr>
            <a:r>
              <a:rPr lang="en-US" b="true" sz="1800" strike="noStrike" u="none">
                <a:solidFill>
                  <a:srgbClr val="0A0047"/>
                </a:solidFill>
                <a:latin typeface="Poppins Bold"/>
                <a:ea typeface="Poppins Bold"/>
                <a:cs typeface="Poppins Bold"/>
                <a:sym typeface="Poppins Bold"/>
              </a:rPr>
              <a:t>Không có cấu trúc - 05 câu</a:t>
            </a:r>
          </a:p>
        </p:txBody>
      </p:sp>
      <p:sp>
        <p:nvSpPr>
          <p:cNvPr name="Freeform 20" id="20"/>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1" id="2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21</a:t>
            </a:r>
          </a:p>
        </p:txBody>
      </p:sp>
      <p:sp>
        <p:nvSpPr>
          <p:cNvPr name="AutoShape 22" id="22"/>
          <p:cNvSpPr/>
          <p:nvPr/>
        </p:nvSpPr>
        <p:spPr>
          <a:xfrm flipH="true">
            <a:off x="682139" y="5371093"/>
            <a:ext cx="4944" cy="1820282"/>
          </a:xfrm>
          <a:prstGeom prst="line">
            <a:avLst/>
          </a:prstGeom>
          <a:ln cap="flat" w="114300">
            <a:solidFill>
              <a:srgbClr val="100643"/>
            </a:solidFill>
            <a:prstDash val="solid"/>
            <a:headEnd type="none" len="sm" w="sm"/>
            <a:tailEnd type="none" len="sm" w="sm"/>
          </a:ln>
        </p:spPr>
      </p:sp>
      <p:grpSp>
        <p:nvGrpSpPr>
          <p:cNvPr name="Group 23" id="23"/>
          <p:cNvGrpSpPr/>
          <p:nvPr/>
        </p:nvGrpSpPr>
        <p:grpSpPr>
          <a:xfrm rot="0">
            <a:off x="5715000" y="2095500"/>
            <a:ext cx="5619750" cy="1381125"/>
            <a:chOff x="0" y="0"/>
            <a:chExt cx="7493000" cy="1841500"/>
          </a:xfrm>
        </p:grpSpPr>
        <p:sp>
          <p:nvSpPr>
            <p:cNvPr name="Freeform 24" id="24"/>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25" id="25"/>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5715000" y="2095500"/>
            <a:ext cx="66675" cy="1381125"/>
            <a:chOff x="0" y="0"/>
            <a:chExt cx="88900" cy="1841500"/>
          </a:xfrm>
        </p:grpSpPr>
        <p:sp>
          <p:nvSpPr>
            <p:cNvPr name="Freeform 27" id="27"/>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28" id="28"/>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29" id="29"/>
          <p:cNvGrpSpPr/>
          <p:nvPr/>
        </p:nvGrpSpPr>
        <p:grpSpPr>
          <a:xfrm rot="0">
            <a:off x="5715000" y="3514725"/>
            <a:ext cx="5619750" cy="1381125"/>
            <a:chOff x="0" y="0"/>
            <a:chExt cx="7493000" cy="1841500"/>
          </a:xfrm>
        </p:grpSpPr>
        <p:sp>
          <p:nvSpPr>
            <p:cNvPr name="Freeform 30" id="30"/>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31" id="31"/>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32" id="32"/>
          <p:cNvGrpSpPr/>
          <p:nvPr/>
        </p:nvGrpSpPr>
        <p:grpSpPr>
          <a:xfrm rot="0">
            <a:off x="5715000" y="3514725"/>
            <a:ext cx="66675" cy="1381125"/>
            <a:chOff x="0" y="0"/>
            <a:chExt cx="88900" cy="1841500"/>
          </a:xfrm>
        </p:grpSpPr>
        <p:sp>
          <p:nvSpPr>
            <p:cNvPr name="Freeform 33" id="33"/>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34" id="34"/>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35" id="35"/>
          <p:cNvGrpSpPr/>
          <p:nvPr/>
        </p:nvGrpSpPr>
        <p:grpSpPr>
          <a:xfrm rot="0">
            <a:off x="5715000" y="4933950"/>
            <a:ext cx="5619750" cy="1381125"/>
            <a:chOff x="0" y="0"/>
            <a:chExt cx="7493000" cy="1841500"/>
          </a:xfrm>
        </p:grpSpPr>
        <p:sp>
          <p:nvSpPr>
            <p:cNvPr name="Freeform 36" id="36"/>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37" id="37"/>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38" id="38"/>
          <p:cNvGrpSpPr/>
          <p:nvPr/>
        </p:nvGrpSpPr>
        <p:grpSpPr>
          <a:xfrm rot="0">
            <a:off x="5715000" y="4933950"/>
            <a:ext cx="66675" cy="1381125"/>
            <a:chOff x="0" y="0"/>
            <a:chExt cx="88900" cy="1841500"/>
          </a:xfrm>
        </p:grpSpPr>
        <p:sp>
          <p:nvSpPr>
            <p:cNvPr name="Freeform 39" id="39"/>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40" id="40"/>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41" id="41"/>
          <p:cNvGrpSpPr/>
          <p:nvPr/>
        </p:nvGrpSpPr>
        <p:grpSpPr>
          <a:xfrm rot="0">
            <a:off x="5715000" y="6353175"/>
            <a:ext cx="5619750" cy="1381125"/>
            <a:chOff x="0" y="0"/>
            <a:chExt cx="7493000" cy="1841500"/>
          </a:xfrm>
        </p:grpSpPr>
        <p:sp>
          <p:nvSpPr>
            <p:cNvPr name="Freeform 42" id="42"/>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43" id="43"/>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44" id="44"/>
          <p:cNvGrpSpPr/>
          <p:nvPr/>
        </p:nvGrpSpPr>
        <p:grpSpPr>
          <a:xfrm rot="0">
            <a:off x="5715000" y="6353175"/>
            <a:ext cx="66675" cy="1381125"/>
            <a:chOff x="0" y="0"/>
            <a:chExt cx="88900" cy="1841500"/>
          </a:xfrm>
        </p:grpSpPr>
        <p:sp>
          <p:nvSpPr>
            <p:cNvPr name="Freeform 45" id="45"/>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46" id="46"/>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5715000" y="7772400"/>
            <a:ext cx="5619750" cy="1381125"/>
            <a:chOff x="0" y="0"/>
            <a:chExt cx="7493000" cy="1841500"/>
          </a:xfrm>
        </p:grpSpPr>
        <p:sp>
          <p:nvSpPr>
            <p:cNvPr name="Freeform 48" id="48"/>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49" id="49"/>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50" id="50"/>
          <p:cNvGrpSpPr/>
          <p:nvPr/>
        </p:nvGrpSpPr>
        <p:grpSpPr>
          <a:xfrm rot="0">
            <a:off x="5715000" y="7772400"/>
            <a:ext cx="66675" cy="1381125"/>
            <a:chOff x="0" y="0"/>
            <a:chExt cx="88900" cy="1841500"/>
          </a:xfrm>
        </p:grpSpPr>
        <p:sp>
          <p:nvSpPr>
            <p:cNvPr name="Freeform 51" id="51"/>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52" id="52"/>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53" id="53"/>
          <p:cNvGrpSpPr/>
          <p:nvPr/>
        </p:nvGrpSpPr>
        <p:grpSpPr>
          <a:xfrm rot="0">
            <a:off x="11430000" y="2095500"/>
            <a:ext cx="5619750" cy="1381125"/>
            <a:chOff x="0" y="0"/>
            <a:chExt cx="7493000" cy="1841500"/>
          </a:xfrm>
        </p:grpSpPr>
        <p:sp>
          <p:nvSpPr>
            <p:cNvPr name="Freeform 54" id="54"/>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55" id="55"/>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56" id="56"/>
          <p:cNvGrpSpPr/>
          <p:nvPr/>
        </p:nvGrpSpPr>
        <p:grpSpPr>
          <a:xfrm rot="0">
            <a:off x="11430000" y="2095500"/>
            <a:ext cx="66675" cy="1381125"/>
            <a:chOff x="0" y="0"/>
            <a:chExt cx="88900" cy="1841500"/>
          </a:xfrm>
        </p:grpSpPr>
        <p:sp>
          <p:nvSpPr>
            <p:cNvPr name="Freeform 57" id="57"/>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58" id="58"/>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59" id="59"/>
          <p:cNvGrpSpPr/>
          <p:nvPr/>
        </p:nvGrpSpPr>
        <p:grpSpPr>
          <a:xfrm rot="0">
            <a:off x="11430000" y="3514725"/>
            <a:ext cx="5619750" cy="1381125"/>
            <a:chOff x="0" y="0"/>
            <a:chExt cx="7493000" cy="1841500"/>
          </a:xfrm>
        </p:grpSpPr>
        <p:sp>
          <p:nvSpPr>
            <p:cNvPr name="Freeform 60" id="60"/>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61" id="61"/>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62" id="62"/>
          <p:cNvGrpSpPr/>
          <p:nvPr/>
        </p:nvGrpSpPr>
        <p:grpSpPr>
          <a:xfrm rot="0">
            <a:off x="11430000" y="3514725"/>
            <a:ext cx="66675" cy="1381125"/>
            <a:chOff x="0" y="0"/>
            <a:chExt cx="88900" cy="1841500"/>
          </a:xfrm>
        </p:grpSpPr>
        <p:sp>
          <p:nvSpPr>
            <p:cNvPr name="Freeform 63" id="63"/>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64" id="64"/>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65" id="65"/>
          <p:cNvGrpSpPr/>
          <p:nvPr/>
        </p:nvGrpSpPr>
        <p:grpSpPr>
          <a:xfrm rot="0">
            <a:off x="11430000" y="4933950"/>
            <a:ext cx="5619750" cy="1381125"/>
            <a:chOff x="0" y="0"/>
            <a:chExt cx="7493000" cy="1841500"/>
          </a:xfrm>
        </p:grpSpPr>
        <p:sp>
          <p:nvSpPr>
            <p:cNvPr name="Freeform 66" id="66"/>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67" id="67"/>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68" id="68"/>
          <p:cNvGrpSpPr/>
          <p:nvPr/>
        </p:nvGrpSpPr>
        <p:grpSpPr>
          <a:xfrm rot="0">
            <a:off x="11430000" y="4933950"/>
            <a:ext cx="66675" cy="1381125"/>
            <a:chOff x="0" y="0"/>
            <a:chExt cx="88900" cy="1841500"/>
          </a:xfrm>
        </p:grpSpPr>
        <p:sp>
          <p:nvSpPr>
            <p:cNvPr name="Freeform 69" id="69"/>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70" id="70"/>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71" id="71"/>
          <p:cNvGrpSpPr/>
          <p:nvPr/>
        </p:nvGrpSpPr>
        <p:grpSpPr>
          <a:xfrm rot="0">
            <a:off x="11430000" y="6353175"/>
            <a:ext cx="5619750" cy="1381125"/>
            <a:chOff x="0" y="0"/>
            <a:chExt cx="7493000" cy="1841500"/>
          </a:xfrm>
        </p:grpSpPr>
        <p:sp>
          <p:nvSpPr>
            <p:cNvPr name="Freeform 72" id="72"/>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73" id="73"/>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74" id="74"/>
          <p:cNvGrpSpPr/>
          <p:nvPr/>
        </p:nvGrpSpPr>
        <p:grpSpPr>
          <a:xfrm rot="0">
            <a:off x="11430000" y="6353175"/>
            <a:ext cx="66675" cy="1381125"/>
            <a:chOff x="0" y="0"/>
            <a:chExt cx="88900" cy="1841500"/>
          </a:xfrm>
        </p:grpSpPr>
        <p:sp>
          <p:nvSpPr>
            <p:cNvPr name="Freeform 75" id="75"/>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76" id="76"/>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grpSp>
        <p:nvGrpSpPr>
          <p:cNvPr name="Group 77" id="77"/>
          <p:cNvGrpSpPr/>
          <p:nvPr/>
        </p:nvGrpSpPr>
        <p:grpSpPr>
          <a:xfrm rot="0">
            <a:off x="11430000" y="7772400"/>
            <a:ext cx="5619750" cy="1381125"/>
            <a:chOff x="0" y="0"/>
            <a:chExt cx="7493000" cy="1841500"/>
          </a:xfrm>
        </p:grpSpPr>
        <p:sp>
          <p:nvSpPr>
            <p:cNvPr name="Freeform 78" id="78"/>
            <p:cNvSpPr/>
            <p:nvPr/>
          </p:nvSpPr>
          <p:spPr>
            <a:xfrm flipH="false" flipV="false" rot="0">
              <a:off x="0" y="0"/>
              <a:ext cx="7493000" cy="1841500"/>
            </a:xfrm>
            <a:custGeom>
              <a:avLst/>
              <a:gdLst/>
              <a:ahLst/>
              <a:cxnLst/>
              <a:rect r="r" b="b" t="t" l="l"/>
              <a:pathLst>
                <a:path h="1841500" w="7493000">
                  <a:moveTo>
                    <a:pt x="80860" y="0"/>
                  </a:moveTo>
                  <a:lnTo>
                    <a:pt x="7412141" y="0"/>
                  </a:lnTo>
                  <a:cubicBezTo>
                    <a:pt x="7456798" y="0"/>
                    <a:pt x="7493000" y="37476"/>
                    <a:pt x="7493000" y="83705"/>
                  </a:cubicBezTo>
                  <a:lnTo>
                    <a:pt x="7493000" y="1757795"/>
                  </a:lnTo>
                  <a:cubicBezTo>
                    <a:pt x="7493000" y="1804024"/>
                    <a:pt x="7456798" y="1841500"/>
                    <a:pt x="7412141" y="1841500"/>
                  </a:cubicBezTo>
                  <a:lnTo>
                    <a:pt x="80860" y="1841500"/>
                  </a:lnTo>
                  <a:cubicBezTo>
                    <a:pt x="36202" y="1841500"/>
                    <a:pt x="0" y="1804024"/>
                    <a:pt x="0" y="1757795"/>
                  </a:cubicBezTo>
                  <a:lnTo>
                    <a:pt x="0" y="83705"/>
                  </a:lnTo>
                  <a:cubicBezTo>
                    <a:pt x="0" y="37476"/>
                    <a:pt x="36202" y="0"/>
                    <a:pt x="80860" y="0"/>
                  </a:cubicBezTo>
                  <a:close/>
                </a:path>
              </a:pathLst>
            </a:custGeom>
            <a:solidFill>
              <a:srgbClr val="FFFFFF"/>
            </a:solidFill>
            <a:ln w="9525" cap="sq">
              <a:solidFill>
                <a:srgbClr val="D9DCE8"/>
              </a:solidFill>
              <a:prstDash val="solid"/>
              <a:miter/>
            </a:ln>
          </p:spPr>
        </p:sp>
        <p:sp>
          <p:nvSpPr>
            <p:cNvPr name="TextBox 79" id="79"/>
            <p:cNvSpPr txBox="true"/>
            <p:nvPr/>
          </p:nvSpPr>
          <p:spPr>
            <a:xfrm>
              <a:off x="0" y="-38100"/>
              <a:ext cx="7493000" cy="1879600"/>
            </a:xfrm>
            <a:prstGeom prst="rect">
              <a:avLst/>
            </a:prstGeom>
          </p:spPr>
          <p:txBody>
            <a:bodyPr anchor="ctr" rtlCol="false" tIns="50800" lIns="50800" bIns="50800" rIns="50800"/>
            <a:lstStyle/>
            <a:p>
              <a:pPr algn="l">
                <a:lnSpc>
                  <a:spcPts val="1679"/>
                </a:lnSpc>
              </a:pPr>
            </a:p>
          </p:txBody>
        </p:sp>
      </p:grpSp>
      <p:grpSp>
        <p:nvGrpSpPr>
          <p:cNvPr name="Group 80" id="80"/>
          <p:cNvGrpSpPr/>
          <p:nvPr/>
        </p:nvGrpSpPr>
        <p:grpSpPr>
          <a:xfrm rot="0">
            <a:off x="11430000" y="7772400"/>
            <a:ext cx="66675" cy="1381125"/>
            <a:chOff x="0" y="0"/>
            <a:chExt cx="88900" cy="1841500"/>
          </a:xfrm>
        </p:grpSpPr>
        <p:sp>
          <p:nvSpPr>
            <p:cNvPr name="Freeform 81" id="81"/>
            <p:cNvSpPr/>
            <p:nvPr/>
          </p:nvSpPr>
          <p:spPr>
            <a:xfrm flipH="false" flipV="false" rot="0">
              <a:off x="0" y="0"/>
              <a:ext cx="88900" cy="1841500"/>
            </a:xfrm>
            <a:custGeom>
              <a:avLst/>
              <a:gdLst/>
              <a:ahLst/>
              <a:cxnLst/>
              <a:rect r="r" b="b" t="t" l="l"/>
              <a:pathLst>
                <a:path h="1841500" w="88900">
                  <a:moveTo>
                    <a:pt x="38100" y="0"/>
                  </a:moveTo>
                  <a:lnTo>
                    <a:pt x="50800" y="0"/>
                  </a:lnTo>
                  <a:cubicBezTo>
                    <a:pt x="71842" y="0"/>
                    <a:pt x="88900" y="18738"/>
                    <a:pt x="88900" y="41852"/>
                  </a:cubicBezTo>
                  <a:lnTo>
                    <a:pt x="88900" y="1799648"/>
                  </a:lnTo>
                  <a:cubicBezTo>
                    <a:pt x="88900" y="1822762"/>
                    <a:pt x="71842" y="1841500"/>
                    <a:pt x="50800" y="1841500"/>
                  </a:cubicBezTo>
                  <a:lnTo>
                    <a:pt x="38100" y="1841500"/>
                  </a:lnTo>
                  <a:cubicBezTo>
                    <a:pt x="17058" y="1841500"/>
                    <a:pt x="0" y="1822762"/>
                    <a:pt x="0" y="1799648"/>
                  </a:cubicBezTo>
                  <a:lnTo>
                    <a:pt x="0" y="41852"/>
                  </a:lnTo>
                  <a:cubicBezTo>
                    <a:pt x="0" y="18738"/>
                    <a:pt x="17058" y="0"/>
                    <a:pt x="38100" y="0"/>
                  </a:cubicBezTo>
                  <a:close/>
                </a:path>
              </a:pathLst>
            </a:custGeom>
            <a:solidFill>
              <a:srgbClr val="29147A"/>
            </a:solidFill>
          </p:spPr>
        </p:sp>
        <p:sp>
          <p:nvSpPr>
            <p:cNvPr name="TextBox 82" id="82"/>
            <p:cNvSpPr txBox="true"/>
            <p:nvPr/>
          </p:nvSpPr>
          <p:spPr>
            <a:xfrm>
              <a:off x="0" y="-38100"/>
              <a:ext cx="88900" cy="1879600"/>
            </a:xfrm>
            <a:prstGeom prst="rect">
              <a:avLst/>
            </a:prstGeom>
          </p:spPr>
          <p:txBody>
            <a:bodyPr anchor="ctr" rtlCol="false" tIns="50800" lIns="50800" bIns="50800" rIns="50800"/>
            <a:lstStyle/>
            <a:p>
              <a:pPr algn="l">
                <a:lnSpc>
                  <a:spcPts val="1679"/>
                </a:lnSpc>
              </a:pPr>
            </a:p>
          </p:txBody>
        </p:sp>
      </p:grpSp>
      <p:sp>
        <p:nvSpPr>
          <p:cNvPr name="TextBox 83" id="83"/>
          <p:cNvSpPr txBox="true"/>
          <p:nvPr/>
        </p:nvSpPr>
        <p:spPr>
          <a:xfrm rot="0">
            <a:off x="692489" y="2460956"/>
            <a:ext cx="3840480" cy="1498348"/>
          </a:xfrm>
          <a:prstGeom prst="rect">
            <a:avLst/>
          </a:prstGeom>
        </p:spPr>
        <p:txBody>
          <a:bodyPr anchor="t" rtlCol="false" tIns="0" lIns="0" bIns="0" rIns="0">
            <a:spAutoFit/>
          </a:bodyPr>
          <a:lstStyle/>
          <a:p>
            <a:pPr algn="l">
              <a:lnSpc>
                <a:spcPts val="5704"/>
              </a:lnSpc>
            </a:pPr>
            <a:r>
              <a:rPr lang="en-US" sz="4960" b="true">
                <a:solidFill>
                  <a:srgbClr val="0A0047"/>
                </a:solidFill>
                <a:latin typeface="Poppins Bold"/>
                <a:ea typeface="Poppins Bold"/>
                <a:cs typeface="Poppins Bold"/>
                <a:sym typeface="Poppins Bold"/>
              </a:rPr>
              <a:t>Phỏng vấn định lượng</a:t>
            </a:r>
          </a:p>
        </p:txBody>
      </p:sp>
      <p:sp>
        <p:nvSpPr>
          <p:cNvPr name="TextBox 84" id="84"/>
          <p:cNvSpPr txBox="true"/>
          <p:nvPr/>
        </p:nvSpPr>
        <p:spPr>
          <a:xfrm rot="0">
            <a:off x="5857875" y="2171700"/>
            <a:ext cx="5334000" cy="219075"/>
          </a:xfrm>
          <a:prstGeom prst="rect">
            <a:avLst/>
          </a:prstGeom>
        </p:spPr>
        <p:txBody>
          <a:bodyPr anchor="t" rtlCol="false" tIns="0" lIns="0" bIns="0" rIns="0">
            <a:spAutoFit/>
          </a:bodyPr>
          <a:lstStyle/>
          <a:p>
            <a:pPr algn="l">
              <a:lnSpc>
                <a:spcPts val="1620"/>
              </a:lnSpc>
            </a:pPr>
            <a:r>
              <a:rPr lang="en-US" sz="1350" b="true">
                <a:solidFill>
                  <a:srgbClr val="A61B2B"/>
                </a:solidFill>
                <a:latin typeface="Poppins Bold"/>
                <a:ea typeface="Poppins Bold"/>
                <a:cs typeface="Poppins Bold"/>
                <a:sym typeface="Poppins Bold"/>
              </a:rPr>
              <a:t>DL-01 - PT</a:t>
            </a:r>
          </a:p>
        </p:txBody>
      </p:sp>
      <p:sp>
        <p:nvSpPr>
          <p:cNvPr name="TextBox 85" id="85"/>
          <p:cNvSpPr txBox="true"/>
          <p:nvPr/>
        </p:nvSpPr>
        <p:spPr>
          <a:xfrm rot="0">
            <a:off x="5857875" y="2476500"/>
            <a:ext cx="5334000" cy="2857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Thời gian xử lý một activity là bao lâu?</a:t>
            </a:r>
          </a:p>
        </p:txBody>
      </p:sp>
      <p:sp>
        <p:nvSpPr>
          <p:cNvPr name="TextBox 86" id="86"/>
          <p:cNvSpPr txBox="true"/>
          <p:nvPr/>
        </p:nvSpPr>
        <p:spPr>
          <a:xfrm rot="0">
            <a:off x="5857875" y="2828925"/>
            <a:ext cx="5334000" cy="285750"/>
          </a:xfrm>
          <a:prstGeom prst="rect">
            <a:avLst/>
          </a:prstGeom>
        </p:spPr>
        <p:txBody>
          <a:bodyPr anchor="t" rtlCol="false" tIns="0" lIns="0" bIns="0" rIns="0">
            <a:spAutoFit/>
          </a:bodyPr>
          <a:lstStyle/>
          <a:p>
            <a:pPr algn="l" marL="0" indent="0" lvl="0">
              <a:lnSpc>
                <a:spcPts val="2160"/>
              </a:lnSpc>
              <a:spcBef>
                <a:spcPct val="0"/>
              </a:spcBef>
            </a:pPr>
            <a:r>
              <a:rPr lang="en-US" sz="1800" strike="noStrike" u="none">
                <a:solidFill>
                  <a:srgbClr val="343841"/>
                </a:solidFill>
                <a:latin typeface="Poppins"/>
                <a:ea typeface="Poppins"/>
                <a:cs typeface="Poppins"/>
                <a:sym typeface="Poppins"/>
              </a:rPr>
              <a:t>A. Dưới 3 phút   B. Từ 3-7 phút   C. Trên 7 phút</a:t>
            </a:r>
          </a:p>
        </p:txBody>
      </p:sp>
      <p:sp>
        <p:nvSpPr>
          <p:cNvPr name="TextBox 87" id="87"/>
          <p:cNvSpPr txBox="true"/>
          <p:nvPr/>
        </p:nvSpPr>
        <p:spPr>
          <a:xfrm rot="0">
            <a:off x="11668125" y="2171700"/>
            <a:ext cx="523875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DL-06 - Theo kênh</a:t>
            </a:r>
          </a:p>
        </p:txBody>
      </p:sp>
      <p:sp>
        <p:nvSpPr>
          <p:cNvPr name="TextBox 88" id="88"/>
          <p:cNvSpPr txBox="true"/>
          <p:nvPr/>
        </p:nvSpPr>
        <p:spPr>
          <a:xfrm rot="0">
            <a:off x="11668125" y="2476500"/>
            <a:ext cx="523875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PT và WT biến động theo Web, App và Quầy ra sao?</a:t>
            </a:r>
          </a:p>
        </p:txBody>
      </p:sp>
      <p:sp>
        <p:nvSpPr>
          <p:cNvPr name="TextBox 89" id="89"/>
          <p:cNvSpPr txBox="true"/>
          <p:nvPr/>
        </p:nvSpPr>
        <p:spPr>
          <a:xfrm rot="0">
            <a:off x="11668125" y="3048000"/>
            <a:ext cx="5238750" cy="285750"/>
          </a:xfrm>
          <a:prstGeom prst="rect">
            <a:avLst/>
          </a:prstGeom>
        </p:spPr>
        <p:txBody>
          <a:bodyPr anchor="t" rtlCol="false" tIns="0" lIns="0" bIns="0" rIns="0">
            <a:spAutoFit/>
          </a:bodyPr>
          <a:lstStyle/>
          <a:p>
            <a:pPr algn="l" marL="0" indent="0" lvl="0">
              <a:lnSpc>
                <a:spcPts val="2160"/>
              </a:lnSpc>
              <a:spcBef>
                <a:spcPct val="0"/>
              </a:spcBef>
            </a:pPr>
            <a:r>
              <a:rPr lang="en-US" sz="1800" strike="noStrike" u="none">
                <a:solidFill>
                  <a:srgbClr val="343841"/>
                </a:solidFill>
                <a:latin typeface="Poppins"/>
                <a:ea typeface="Poppins"/>
                <a:cs typeface="Poppins"/>
                <a:sym typeface="Poppins"/>
              </a:rPr>
              <a:t>Ghi nhận: PT, WT theo kênh</a:t>
            </a:r>
          </a:p>
        </p:txBody>
      </p:sp>
      <p:sp>
        <p:nvSpPr>
          <p:cNvPr name="TextBox 90" id="90"/>
          <p:cNvSpPr txBox="true"/>
          <p:nvPr/>
        </p:nvSpPr>
        <p:spPr>
          <a:xfrm rot="0">
            <a:off x="5857875" y="3590925"/>
            <a:ext cx="533400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DL-02 - WT</a:t>
            </a:r>
          </a:p>
        </p:txBody>
      </p:sp>
      <p:sp>
        <p:nvSpPr>
          <p:cNvPr name="TextBox 91" id="91"/>
          <p:cNvSpPr txBox="true"/>
          <p:nvPr/>
        </p:nvSpPr>
        <p:spPr>
          <a:xfrm rot="0">
            <a:off x="5857875" y="3895725"/>
            <a:ext cx="533400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Thời gian chờ của hồ sơ hoặc phản hồi là bao lâu?</a:t>
            </a:r>
          </a:p>
        </p:txBody>
      </p:sp>
      <p:sp>
        <p:nvSpPr>
          <p:cNvPr name="TextBox 92" id="92"/>
          <p:cNvSpPr txBox="true"/>
          <p:nvPr/>
        </p:nvSpPr>
        <p:spPr>
          <a:xfrm rot="0">
            <a:off x="11668125" y="3590925"/>
            <a:ext cx="523875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DL-07 - Nhóm lỗi</a:t>
            </a:r>
          </a:p>
        </p:txBody>
      </p:sp>
      <p:sp>
        <p:nvSpPr>
          <p:cNvPr name="TextBox 93" id="93"/>
          <p:cNvSpPr txBox="true"/>
          <p:nvPr/>
        </p:nvSpPr>
        <p:spPr>
          <a:xfrm rot="0">
            <a:off x="11668125" y="3895725"/>
            <a:ext cx="523875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Lỗi địa chỉ, COD, hàng hóa và dịch vụ có tần suất ra sao?</a:t>
            </a:r>
          </a:p>
        </p:txBody>
      </p:sp>
      <p:sp>
        <p:nvSpPr>
          <p:cNvPr name="TextBox 94" id="94"/>
          <p:cNvSpPr txBox="true"/>
          <p:nvPr/>
        </p:nvSpPr>
        <p:spPr>
          <a:xfrm rot="0">
            <a:off x="11668125" y="4467225"/>
            <a:ext cx="523875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Ghi nhận: nhóm lỗi - số lượng - tỷ lệ</a:t>
            </a:r>
          </a:p>
        </p:txBody>
      </p:sp>
      <p:sp>
        <p:nvSpPr>
          <p:cNvPr name="TextBox 95" id="95"/>
          <p:cNvSpPr txBox="true"/>
          <p:nvPr/>
        </p:nvSpPr>
        <p:spPr>
          <a:xfrm rot="0">
            <a:off x="5857875" y="5010150"/>
            <a:ext cx="533400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DL-03 - CT</a:t>
            </a:r>
          </a:p>
        </p:txBody>
      </p:sp>
      <p:sp>
        <p:nvSpPr>
          <p:cNvPr name="TextBox 96" id="96"/>
          <p:cNvSpPr txBox="true"/>
          <p:nvPr/>
        </p:nvSpPr>
        <p:spPr>
          <a:xfrm rot="0">
            <a:off x="5857875" y="5314950"/>
            <a:ext cx="533400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Từ nhận yêu cầu đến gửi xác nhận mất bao lâu?</a:t>
            </a:r>
          </a:p>
        </p:txBody>
      </p:sp>
      <p:sp>
        <p:nvSpPr>
          <p:cNvPr name="TextBox 97" id="97"/>
          <p:cNvSpPr txBox="true"/>
          <p:nvPr/>
        </p:nvSpPr>
        <p:spPr>
          <a:xfrm rot="0">
            <a:off x="5857875" y="5886450"/>
            <a:ext cx="533400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A. Dưới 5 phút   B. Từ 5-10 phút   C. Trên 10 phút</a:t>
            </a:r>
          </a:p>
        </p:txBody>
      </p:sp>
      <p:sp>
        <p:nvSpPr>
          <p:cNvPr name="TextBox 98" id="98"/>
          <p:cNvSpPr txBox="true"/>
          <p:nvPr/>
        </p:nvSpPr>
        <p:spPr>
          <a:xfrm rot="0">
            <a:off x="11668125" y="5010150"/>
            <a:ext cx="523875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DL-08 - queue</a:t>
            </a:r>
          </a:p>
        </p:txBody>
      </p:sp>
      <p:sp>
        <p:nvSpPr>
          <p:cNvPr name="TextBox 99" id="99"/>
          <p:cNvSpPr txBox="true"/>
          <p:nvPr/>
        </p:nvSpPr>
        <p:spPr>
          <a:xfrm rot="0">
            <a:off x="11668125" y="5314950"/>
            <a:ext cx="523875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Yêu cầu bị dội tồn trong queue bao lâu trước khi đóng?</a:t>
            </a:r>
          </a:p>
        </p:txBody>
      </p:sp>
      <p:sp>
        <p:nvSpPr>
          <p:cNvPr name="TextBox 100" id="100"/>
          <p:cNvSpPr txBox="true"/>
          <p:nvPr/>
        </p:nvSpPr>
        <p:spPr>
          <a:xfrm rot="0">
            <a:off x="11668125" y="5886450"/>
            <a:ext cx="523875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A. Dưới 1 phút   B. Từ 3-7 phút   C. Trên 7 phút</a:t>
            </a:r>
          </a:p>
        </p:txBody>
      </p:sp>
      <p:sp>
        <p:nvSpPr>
          <p:cNvPr name="TextBox 101" id="101"/>
          <p:cNvSpPr txBox="true"/>
          <p:nvPr/>
        </p:nvSpPr>
        <p:spPr>
          <a:xfrm rot="0">
            <a:off x="5857875" y="6429375"/>
            <a:ext cx="533400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DL-04 - FPY</a:t>
            </a:r>
          </a:p>
        </p:txBody>
      </p:sp>
      <p:sp>
        <p:nvSpPr>
          <p:cNvPr name="TextBox 102" id="102"/>
          <p:cNvSpPr txBox="true"/>
          <p:nvPr/>
        </p:nvSpPr>
        <p:spPr>
          <a:xfrm rot="0">
            <a:off x="5857875" y="6734175"/>
            <a:ext cx="5334000" cy="2857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Bao nhiêu yêu cầu hợp lệ ngay từ lần đầu?</a:t>
            </a:r>
          </a:p>
        </p:txBody>
      </p:sp>
      <p:sp>
        <p:nvSpPr>
          <p:cNvPr name="TextBox 103" id="103"/>
          <p:cNvSpPr txBox="true"/>
          <p:nvPr/>
        </p:nvSpPr>
        <p:spPr>
          <a:xfrm rot="0">
            <a:off x="5857875" y="7038975"/>
            <a:ext cx="533400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A. Trên 95%   B. Từ 85-90%   C. Dưới 85%</a:t>
            </a:r>
          </a:p>
        </p:txBody>
      </p:sp>
      <p:sp>
        <p:nvSpPr>
          <p:cNvPr name="TextBox 104" id="104"/>
          <p:cNvSpPr txBox="true"/>
          <p:nvPr/>
        </p:nvSpPr>
        <p:spPr>
          <a:xfrm rot="0">
            <a:off x="11668125" y="6429375"/>
            <a:ext cx="523875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DL-09 - Chi phí</a:t>
            </a:r>
          </a:p>
        </p:txBody>
      </p:sp>
      <p:sp>
        <p:nvSpPr>
          <p:cNvPr name="TextBox 105" id="105"/>
          <p:cNvSpPr txBox="true"/>
          <p:nvPr/>
        </p:nvSpPr>
        <p:spPr>
          <a:xfrm rot="0">
            <a:off x="11668125" y="6734175"/>
            <a:ext cx="523875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Chi phí CSKH và retry thay đổi theo loại ngoại lệ thế nào?</a:t>
            </a:r>
          </a:p>
        </p:txBody>
      </p:sp>
      <p:sp>
        <p:nvSpPr>
          <p:cNvPr name="TextBox 106" id="106"/>
          <p:cNvSpPr txBox="true"/>
          <p:nvPr/>
        </p:nvSpPr>
        <p:spPr>
          <a:xfrm rot="0">
            <a:off x="11668125" y="7305675"/>
            <a:ext cx="523875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Ghi nhận: effort - đơn giá - chi phí/lần</a:t>
            </a:r>
          </a:p>
        </p:txBody>
      </p:sp>
      <p:sp>
        <p:nvSpPr>
          <p:cNvPr name="TextBox 107" id="107"/>
          <p:cNvSpPr txBox="true"/>
          <p:nvPr/>
        </p:nvSpPr>
        <p:spPr>
          <a:xfrm rot="0">
            <a:off x="5857875" y="7848600"/>
            <a:ext cx="533400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DL-05 - Waybill</a:t>
            </a:r>
          </a:p>
        </p:txBody>
      </p:sp>
      <p:sp>
        <p:nvSpPr>
          <p:cNvPr name="TextBox 108" id="108"/>
          <p:cNvSpPr txBox="true"/>
          <p:nvPr/>
        </p:nvSpPr>
        <p:spPr>
          <a:xfrm rot="0">
            <a:off x="5857875" y="8153400"/>
            <a:ext cx="5334000" cy="2857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Tỷ lệ tạo vận đơn thành công là bao nhiêu?</a:t>
            </a:r>
          </a:p>
        </p:txBody>
      </p:sp>
      <p:sp>
        <p:nvSpPr>
          <p:cNvPr name="TextBox 109" id="109"/>
          <p:cNvSpPr txBox="true"/>
          <p:nvPr/>
        </p:nvSpPr>
        <p:spPr>
          <a:xfrm rot="0">
            <a:off x="5857875" y="8458200"/>
            <a:ext cx="5334000" cy="285750"/>
          </a:xfrm>
          <a:prstGeom prst="rect">
            <a:avLst/>
          </a:prstGeom>
        </p:spPr>
        <p:txBody>
          <a:bodyPr anchor="t" rtlCol="false" tIns="0" lIns="0" bIns="0" rIns="0">
            <a:spAutoFit/>
          </a:bodyPr>
          <a:lstStyle/>
          <a:p>
            <a:pPr algn="l">
              <a:lnSpc>
                <a:spcPts val="2160"/>
              </a:lnSpc>
            </a:pPr>
            <a:r>
              <a:rPr lang="en-US" sz="1800">
                <a:solidFill>
                  <a:srgbClr val="343841"/>
                </a:solidFill>
                <a:latin typeface="Poppins"/>
                <a:ea typeface="Poppins"/>
                <a:cs typeface="Poppins"/>
                <a:sym typeface="Poppins"/>
              </a:rPr>
              <a:t>A. Trên 99%   B. Từ 95-99%   C. Dưới 95%</a:t>
            </a:r>
          </a:p>
        </p:txBody>
      </p:sp>
      <p:sp>
        <p:nvSpPr>
          <p:cNvPr name="TextBox 110" id="110"/>
          <p:cNvSpPr txBox="true"/>
          <p:nvPr/>
        </p:nvSpPr>
        <p:spPr>
          <a:xfrm rot="0">
            <a:off x="11668125" y="7848600"/>
            <a:ext cx="5238750" cy="219075"/>
          </a:xfrm>
          <a:prstGeom prst="rect">
            <a:avLst/>
          </a:prstGeom>
        </p:spPr>
        <p:txBody>
          <a:bodyPr anchor="t" rtlCol="false" tIns="0" lIns="0" bIns="0" rIns="0">
            <a:spAutoFit/>
          </a:bodyPr>
          <a:lstStyle/>
          <a:p>
            <a:pPr algn="l" marL="0" indent="0" lvl="0">
              <a:lnSpc>
                <a:spcPts val="1620"/>
              </a:lnSpc>
              <a:spcBef>
                <a:spcPct val="0"/>
              </a:spcBef>
            </a:pPr>
            <a:r>
              <a:rPr lang="en-US" b="true" sz="1350" strike="noStrike" u="none">
                <a:solidFill>
                  <a:srgbClr val="A61B2B"/>
                </a:solidFill>
                <a:latin typeface="Poppins Bold"/>
                <a:ea typeface="Poppins Bold"/>
                <a:cs typeface="Poppins Bold"/>
                <a:sym typeface="Poppins Bold"/>
              </a:rPr>
              <a:t>DL-10 - Giới hạn điểm</a:t>
            </a:r>
          </a:p>
        </p:txBody>
      </p:sp>
      <p:sp>
        <p:nvSpPr>
          <p:cNvPr name="TextBox 111" id="111"/>
          <p:cNvSpPr txBox="true"/>
          <p:nvPr/>
        </p:nvSpPr>
        <p:spPr>
          <a:xfrm rot="0">
            <a:off x="11668125" y="8153400"/>
            <a:ext cx="5238750" cy="552450"/>
          </a:xfrm>
          <a:prstGeom prst="rect">
            <a:avLst/>
          </a:prstGeom>
        </p:spPr>
        <p:txBody>
          <a:bodyPr anchor="t" rtlCol="false" tIns="0" lIns="0" bIns="0" rIns="0">
            <a:spAutoFit/>
          </a:bodyPr>
          <a:lstStyle/>
          <a:p>
            <a:pPr algn="l">
              <a:lnSpc>
                <a:spcPts val="2160"/>
              </a:lnSpc>
            </a:pPr>
            <a:r>
              <a:rPr lang="en-US" sz="1800" b="true">
                <a:solidFill>
                  <a:srgbClr val="0A0047"/>
                </a:solidFill>
                <a:latin typeface="Poppins Bold"/>
                <a:ea typeface="Poppins Bold"/>
                <a:cs typeface="Poppins Bold"/>
                <a:sym typeface="Poppins Bold"/>
              </a:rPr>
              <a:t>PT, WT, CTV và tỷ lệ thành công</a:t>
            </a:r>
          </a:p>
          <a:p>
            <a:pPr algn="l">
              <a:lnSpc>
                <a:spcPts val="2160"/>
              </a:lnSpc>
            </a:pPr>
            <a:r>
              <a:rPr lang="en-US" sz="1800" b="true">
                <a:solidFill>
                  <a:srgbClr val="0A0047"/>
                </a:solidFill>
                <a:latin typeface="Poppins Bold"/>
                <a:ea typeface="Poppins Bold"/>
                <a:cs typeface="Poppins Bold"/>
                <a:sym typeface="Poppins Bold"/>
              </a:rPr>
              <a:t>phân tán thế nào theo giờ?</a:t>
            </a:r>
          </a:p>
        </p:txBody>
      </p:sp>
      <p:sp>
        <p:nvSpPr>
          <p:cNvPr name="TextBox 112" id="112"/>
          <p:cNvSpPr txBox="true"/>
          <p:nvPr/>
        </p:nvSpPr>
        <p:spPr>
          <a:xfrm rot="0">
            <a:off x="5857875" y="4429125"/>
            <a:ext cx="5334000" cy="325755"/>
          </a:xfrm>
          <a:prstGeom prst="rect">
            <a:avLst/>
          </a:prstGeom>
        </p:spPr>
        <p:txBody>
          <a:bodyPr anchor="t" rtlCol="false" tIns="0" lIns="0" bIns="0" rIns="0">
            <a:spAutoFit/>
          </a:bodyPr>
          <a:lstStyle/>
          <a:p>
            <a:pPr algn="l">
              <a:lnSpc>
                <a:spcPts val="2520"/>
              </a:lnSpc>
            </a:pPr>
            <a:r>
              <a:rPr lang="en-US" sz="1800">
                <a:solidFill>
                  <a:srgbClr val="343841"/>
                </a:solidFill>
                <a:latin typeface="Poppins"/>
                <a:ea typeface="Poppins"/>
                <a:cs typeface="Poppins"/>
                <a:sym typeface="Poppins"/>
              </a:rPr>
              <a:t>A. Dưới 1 phút   B. Từ 1-3 phút   C. Trên 3 phút</a:t>
            </a:r>
          </a:p>
        </p:txBody>
      </p:sp>
      <p:sp>
        <p:nvSpPr>
          <p:cNvPr name="TextBox 113" id="113"/>
          <p:cNvSpPr txBox="true"/>
          <p:nvPr/>
        </p:nvSpPr>
        <p:spPr>
          <a:xfrm rot="0">
            <a:off x="11668125" y="8686800"/>
            <a:ext cx="5238750" cy="325755"/>
          </a:xfrm>
          <a:prstGeom prst="rect">
            <a:avLst/>
          </a:prstGeom>
        </p:spPr>
        <p:txBody>
          <a:bodyPr anchor="t" rtlCol="false" tIns="0" lIns="0" bIns="0" rIns="0">
            <a:spAutoFit/>
          </a:bodyPr>
          <a:lstStyle/>
          <a:p>
            <a:pPr algn="l">
              <a:lnSpc>
                <a:spcPts val="2520"/>
              </a:lnSpc>
            </a:pPr>
            <a:r>
              <a:rPr lang="en-US" sz="1800">
                <a:solidFill>
                  <a:srgbClr val="343841"/>
                </a:solidFill>
                <a:latin typeface="Poppins"/>
                <a:ea typeface="Poppins"/>
                <a:cs typeface="Poppins"/>
                <a:sym typeface="Poppins"/>
              </a:rPr>
              <a:t>Ghi nhận: timestamp - percentile - volume</a:t>
            </a:r>
          </a:p>
        </p:txBody>
      </p:sp>
      <p:sp>
        <p:nvSpPr>
          <p:cNvPr name="Freeform 114" id="114"/>
          <p:cNvSpPr/>
          <p:nvPr/>
        </p:nvSpPr>
        <p:spPr>
          <a:xfrm flipH="false" flipV="false" rot="0">
            <a:off x="776144" y="4105515"/>
            <a:ext cx="3756825" cy="375683"/>
          </a:xfrm>
          <a:custGeom>
            <a:avLst/>
            <a:gdLst/>
            <a:ahLst/>
            <a:cxnLst/>
            <a:rect r="r" b="b" t="t" l="l"/>
            <a:pathLst>
              <a:path h="375683" w="3756825">
                <a:moveTo>
                  <a:pt x="0" y="0"/>
                </a:moveTo>
                <a:lnTo>
                  <a:pt x="3756825" y="0"/>
                </a:lnTo>
                <a:lnTo>
                  <a:pt x="3756825" y="375683"/>
                </a:lnTo>
                <a:lnTo>
                  <a:pt x="0" y="37568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406261" y="1177279"/>
            <a:ext cx="9451273" cy="7932442"/>
          </a:xfrm>
          <a:custGeom>
            <a:avLst/>
            <a:gdLst/>
            <a:ahLst/>
            <a:cxnLst/>
            <a:rect r="r" b="b" t="t" l="l"/>
            <a:pathLst>
              <a:path h="7932442" w="9451273">
                <a:moveTo>
                  <a:pt x="0" y="0"/>
                </a:moveTo>
                <a:lnTo>
                  <a:pt x="9451273" y="0"/>
                </a:lnTo>
                <a:lnTo>
                  <a:pt x="9451273" y="7932442"/>
                </a:lnTo>
                <a:lnTo>
                  <a:pt x="0" y="7932442"/>
                </a:lnTo>
                <a:lnTo>
                  <a:pt x="0" y="0"/>
                </a:lnTo>
                <a:close/>
              </a:path>
            </a:pathLst>
          </a:custGeom>
          <a:blipFill>
            <a:blip r:embed="rId8"/>
            <a:stretch>
              <a:fillRect l="0" t="0" r="0" b="0"/>
            </a:stretch>
          </a:blipFill>
        </p:spPr>
      </p:sp>
      <p:sp>
        <p:nvSpPr>
          <p:cNvPr name="TextBox 6" id="6"/>
          <p:cNvSpPr txBox="true"/>
          <p:nvPr/>
        </p:nvSpPr>
        <p:spPr>
          <a:xfrm rot="0">
            <a:off x="2384092" y="158273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7" id="7"/>
          <p:cNvSpPr txBox="true"/>
          <p:nvPr/>
        </p:nvSpPr>
        <p:spPr>
          <a:xfrm rot="0">
            <a:off x="2384092" y="1952248"/>
            <a:ext cx="3042936" cy="511977"/>
          </a:xfrm>
          <a:prstGeom prst="rect">
            <a:avLst/>
          </a:prstGeom>
        </p:spPr>
        <p:txBody>
          <a:bodyPr anchor="t" rtlCol="false" tIns="0" lIns="0" bIns="0" rIns="0">
            <a:spAutoFit/>
          </a:bodyPr>
          <a:lstStyle/>
          <a:p>
            <a:pPr algn="l" marL="0" indent="0" lvl="0">
              <a:lnSpc>
                <a:spcPts val="1987"/>
              </a:lnSpc>
              <a:spcBef>
                <a:spcPct val="0"/>
              </a:spcBef>
            </a:pPr>
            <a:r>
              <a:rPr lang="en-US" sz="1743">
                <a:solidFill>
                  <a:srgbClr val="100643"/>
                </a:solidFill>
                <a:latin typeface="Poppins"/>
                <a:ea typeface="Poppins"/>
                <a:cs typeface="Poppins"/>
                <a:sym typeface="Poppins"/>
              </a:rPr>
              <a:t>MÔ HÌ</a:t>
            </a:r>
            <a:r>
              <a:rPr lang="en-US" sz="1743" strike="noStrike" u="none">
                <a:solidFill>
                  <a:srgbClr val="100643"/>
                </a:solidFill>
                <a:latin typeface="Poppins"/>
                <a:ea typeface="Poppins"/>
                <a:cs typeface="Poppins"/>
                <a:sym typeface="Poppins"/>
              </a:rPr>
              <a:t>N</a:t>
            </a:r>
            <a:r>
              <a:rPr lang="en-US" sz="1743" strike="noStrike" u="none">
                <a:solidFill>
                  <a:srgbClr val="100643"/>
                </a:solidFill>
                <a:latin typeface="Poppins"/>
                <a:ea typeface="Poppins"/>
                <a:cs typeface="Poppins"/>
                <a:sym typeface="Poppins"/>
              </a:rPr>
              <a:t>H</a:t>
            </a:r>
            <a:r>
              <a:rPr lang="en-US" sz="1743" strike="noStrike" u="none">
                <a:solidFill>
                  <a:srgbClr val="100643"/>
                </a:solidFill>
                <a:latin typeface="Poppins"/>
                <a:ea typeface="Poppins"/>
                <a:cs typeface="Poppins"/>
                <a:sym typeface="Poppins"/>
              </a:rPr>
              <a:t> </a:t>
            </a:r>
            <a:r>
              <a:rPr lang="en-US" sz="1743" strike="noStrike" u="none">
                <a:solidFill>
                  <a:srgbClr val="100643"/>
                </a:solidFill>
                <a:latin typeface="Poppins"/>
                <a:ea typeface="Poppins"/>
                <a:cs typeface="Poppins"/>
                <a:sym typeface="Poppins"/>
              </a:rPr>
              <a:t>HÓA,</a:t>
            </a:r>
            <a:r>
              <a:rPr lang="en-US" sz="1743" strike="noStrike" u="none">
                <a:solidFill>
                  <a:srgbClr val="100643"/>
                </a:solidFill>
                <a:latin typeface="Poppins"/>
                <a:ea typeface="Poppins"/>
                <a:cs typeface="Poppins"/>
                <a:sym typeface="Poppins"/>
              </a:rPr>
              <a:t> </a:t>
            </a:r>
            <a:r>
              <a:rPr lang="en-US" sz="1743" strike="noStrike" u="none">
                <a:solidFill>
                  <a:srgbClr val="100643"/>
                </a:solidFill>
                <a:latin typeface="Poppins"/>
                <a:ea typeface="Poppins"/>
                <a:cs typeface="Poppins"/>
                <a:sym typeface="Poppins"/>
              </a:rPr>
              <a:t>PHÂN</a:t>
            </a:r>
            <a:r>
              <a:rPr lang="en-US" sz="1743" strike="noStrike" u="none">
                <a:solidFill>
                  <a:srgbClr val="100643"/>
                </a:solidFill>
                <a:latin typeface="Poppins"/>
                <a:ea typeface="Poppins"/>
                <a:cs typeface="Poppins"/>
                <a:sym typeface="Poppins"/>
              </a:rPr>
              <a:t> T</a:t>
            </a:r>
            <a:r>
              <a:rPr lang="en-US" sz="1743" strike="noStrike" u="none">
                <a:solidFill>
                  <a:srgbClr val="100643"/>
                </a:solidFill>
                <a:latin typeface="Poppins"/>
                <a:ea typeface="Poppins"/>
                <a:cs typeface="Poppins"/>
                <a:sym typeface="Poppins"/>
              </a:rPr>
              <a:t>ÍC</a:t>
            </a:r>
            <a:r>
              <a:rPr lang="en-US" sz="1743" strike="noStrike" u="none">
                <a:solidFill>
                  <a:srgbClr val="100643"/>
                </a:solidFill>
                <a:latin typeface="Poppins"/>
                <a:ea typeface="Poppins"/>
                <a:cs typeface="Poppins"/>
                <a:sym typeface="Poppins"/>
              </a:rPr>
              <a:t>H VÀ </a:t>
            </a:r>
            <a:r>
              <a:rPr lang="en-US" sz="1743" strike="noStrike" u="none">
                <a:solidFill>
                  <a:srgbClr val="100643"/>
                </a:solidFill>
                <a:latin typeface="Poppins"/>
                <a:ea typeface="Poppins"/>
                <a:cs typeface="Poppins"/>
                <a:sym typeface="Poppins"/>
              </a:rPr>
              <a:t>CẢI</a:t>
            </a:r>
            <a:r>
              <a:rPr lang="en-US" sz="1743" strike="noStrike" u="none">
                <a:solidFill>
                  <a:srgbClr val="100643"/>
                </a:solidFill>
                <a:latin typeface="Poppins"/>
                <a:ea typeface="Poppins"/>
                <a:cs typeface="Poppins"/>
                <a:sym typeface="Poppins"/>
              </a:rPr>
              <a:t> </a:t>
            </a:r>
            <a:r>
              <a:rPr lang="en-US" sz="1743" strike="noStrike" u="none">
                <a:solidFill>
                  <a:srgbClr val="100643"/>
                </a:solidFill>
                <a:latin typeface="Poppins"/>
                <a:ea typeface="Poppins"/>
                <a:cs typeface="Poppins"/>
                <a:sym typeface="Poppins"/>
              </a:rPr>
              <a:t>TIẾ</a:t>
            </a:r>
            <a:r>
              <a:rPr lang="en-US" sz="1743" strike="noStrike" u="none">
                <a:solidFill>
                  <a:srgbClr val="100643"/>
                </a:solidFill>
                <a:latin typeface="Poppins"/>
                <a:ea typeface="Poppins"/>
                <a:cs typeface="Poppins"/>
                <a:sym typeface="Poppins"/>
              </a:rPr>
              <a:t>N QUY TRÌNH</a:t>
            </a:r>
          </a:p>
        </p:txBody>
      </p:sp>
      <p:sp>
        <p:nvSpPr>
          <p:cNvPr name="TextBox 8" id="8"/>
          <p:cNvSpPr txBox="true"/>
          <p:nvPr/>
        </p:nvSpPr>
        <p:spPr>
          <a:xfrm rot="0">
            <a:off x="1325322" y="3027236"/>
            <a:ext cx="8203410" cy="1807845"/>
          </a:xfrm>
          <a:prstGeom prst="rect">
            <a:avLst/>
          </a:prstGeom>
        </p:spPr>
        <p:txBody>
          <a:bodyPr anchor="t" rtlCol="false" tIns="0" lIns="0" bIns="0" rIns="0">
            <a:spAutoFit/>
          </a:bodyPr>
          <a:lstStyle/>
          <a:p>
            <a:pPr algn="l" marL="0" indent="0" lvl="0">
              <a:lnSpc>
                <a:spcPts val="6839"/>
              </a:lnSpc>
              <a:spcBef>
                <a:spcPct val="0"/>
              </a:spcBef>
            </a:pPr>
            <a:r>
              <a:rPr lang="en-US" b="true" sz="6000" strike="noStrike" u="none">
                <a:solidFill>
                  <a:srgbClr val="100643"/>
                </a:solidFill>
                <a:latin typeface="Poppins Bold"/>
                <a:ea typeface="Poppins Bold"/>
                <a:cs typeface="Poppins Bold"/>
                <a:sym typeface="Poppins Bold"/>
              </a:rPr>
              <a:t>Lựa chọn ba quy trình phân tích</a:t>
            </a:r>
          </a:p>
        </p:txBody>
      </p:sp>
      <p:sp>
        <p:nvSpPr>
          <p:cNvPr name="TextBox 9" id="9"/>
          <p:cNvSpPr txBox="true"/>
          <p:nvPr/>
        </p:nvSpPr>
        <p:spPr>
          <a:xfrm rot="0">
            <a:off x="1395184" y="5133975"/>
            <a:ext cx="4968915" cy="7054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Từ sơ đồ kiến trúc quy trình tổng thể, nhóm lựa chọn 03 quy trình đại diện cho 03 tầng để phân tích chuyên sâu trong báo cáo.</a:t>
            </a:r>
          </a:p>
        </p:txBody>
      </p:sp>
      <p:sp>
        <p:nvSpPr>
          <p:cNvPr name="TextBox 10" id="10"/>
          <p:cNvSpPr txBox="true"/>
          <p:nvPr/>
        </p:nvSpPr>
        <p:spPr>
          <a:xfrm rot="0">
            <a:off x="2288840" y="8474434"/>
            <a:ext cx="5340896"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2288840" y="8140004"/>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1395184" y="6091673"/>
            <a:ext cx="4968915"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Quản lý: Quy trình định hướng &amp; kiểm soát</a:t>
            </a:r>
          </a:p>
        </p:txBody>
      </p:sp>
      <p:sp>
        <p:nvSpPr>
          <p:cNvPr name="TextBox 13" id="13"/>
          <p:cNvSpPr txBox="true"/>
          <p:nvPr/>
        </p:nvSpPr>
        <p:spPr>
          <a:xfrm rot="0">
            <a:off x="1395184" y="6530443"/>
            <a:ext cx="4968915"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Cốt lõi: Quy trình tạo giá trị trực tiếp</a:t>
            </a:r>
          </a:p>
        </p:txBody>
      </p:sp>
      <p:sp>
        <p:nvSpPr>
          <p:cNvPr name="TextBox 14" id="14"/>
          <p:cNvSpPr txBox="true"/>
          <p:nvPr/>
        </p:nvSpPr>
        <p:spPr>
          <a:xfrm rot="0">
            <a:off x="1395184" y="6972102"/>
            <a:ext cx="4968915" cy="248270"/>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 Hỗ trợ: Quy trình nền tảng vận hành</a:t>
            </a:r>
          </a:p>
        </p:txBody>
      </p:sp>
      <p:sp>
        <p:nvSpPr>
          <p:cNvPr name="Freeform 15" id="1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7031287" y="1948684"/>
          <a:ext cx="10429562" cy="6671355"/>
        </p:xfrm>
        <a:graphic>
          <a:graphicData uri="http://schemas.openxmlformats.org/drawingml/2006/table">
            <a:tbl>
              <a:tblPr/>
              <a:tblGrid>
                <a:gridCol w="879166"/>
                <a:gridCol w="2383886"/>
                <a:gridCol w="7166509"/>
              </a:tblGrid>
              <a:tr h="1058685">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Tên Tác nhân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Vai trò trong quy trình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1139235">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Bộ phận Khai thác vận tải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Đánh giá năng lực đội xe nội bộ, xác định nhu cầu và tiêu chuẩn xe, tuyến chạy.</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39235">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Bộ phận Quản lý đối tác / Mua sắm</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Phát hành thư mời, tiếp nhận hồ sơ, thẩm định, đàm phán và kích hoạt đối tác.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39235">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Đơn vị cung ứng phương tiện vận tải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Tiếp nhận thư mời, nộp hồ sơ, cung cấp phương tiện và ký hợp đồng.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055729">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Cấp quản lý phê duyệt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Xem xét và phê duyệt phương án hợp tác.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139235">
                <a:tc>
                  <a:txBody>
                    <a:bodyPr anchor="t" rtlCol="false"/>
                    <a:lstStyle/>
                    <a:p>
                      <a:pPr algn="ctr">
                        <a:lnSpc>
                          <a:spcPts val="1819"/>
                        </a:lnSpc>
                        <a:defRPr/>
                      </a:pPr>
                      <a:r>
                        <a:rPr lang="en-US" sz="1299">
                          <a:solidFill>
                            <a:srgbClr val="000000"/>
                          </a:solidFill>
                          <a:latin typeface="Poppins"/>
                          <a:ea typeface="Poppins"/>
                          <a:cs typeface="Poppins"/>
                          <a:sym typeface="Poppins"/>
                        </a:rPr>
                        <a:t>5</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Bộ phận Pháp chế - Tài chính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Soạn thảo, gửi và tiếp nhận hợp đồng đã ký.</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348804"/>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383" y="734611"/>
            <a:ext cx="3046340"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889635"/>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Quản lý đối tác cung ứng phương tiện: Tổng quan</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2134555"/>
            <a:ext cx="5663407" cy="2080895"/>
          </a:xfrm>
          <a:prstGeom prst="rect">
            <a:avLst/>
          </a:prstGeom>
        </p:spPr>
        <p:txBody>
          <a:bodyPr anchor="t" rtlCol="false" tIns="0" lIns="0" bIns="0" rIns="0">
            <a:spAutoFit/>
          </a:bodyPr>
          <a:lstStyle/>
          <a:p>
            <a:pPr algn="l">
              <a:lnSpc>
                <a:spcPts val="2380"/>
              </a:lnSpc>
              <a:spcBef>
                <a:spcPct val="0"/>
              </a:spcBef>
            </a:pPr>
            <a:r>
              <a:rPr lang="en-US" sz="1700">
                <a:solidFill>
                  <a:srgbClr val="000000"/>
                </a:solidFill>
                <a:latin typeface="Poppins"/>
                <a:ea typeface="Poppins"/>
                <a:cs typeface="Poppins"/>
                <a:sym typeface="Poppins"/>
              </a:rPr>
              <a:t>Q</a:t>
            </a:r>
            <a:r>
              <a:rPr lang="en-US" sz="1700">
                <a:solidFill>
                  <a:srgbClr val="000000"/>
                </a:solidFill>
                <a:latin typeface="Poppins"/>
                <a:ea typeface="Poppins"/>
                <a:cs typeface="Poppins"/>
                <a:sym typeface="Poppins"/>
              </a:rPr>
              <a:t>uy trình bắt đầu khi </a:t>
            </a:r>
            <a:r>
              <a:rPr lang="en-US" sz="1700">
                <a:solidFill>
                  <a:srgbClr val="000000"/>
                </a:solidFill>
                <a:latin typeface="Poppins"/>
                <a:ea typeface="Poppins"/>
                <a:cs typeface="Poppins"/>
                <a:sym typeface="Poppins"/>
              </a:rPr>
              <a:t>phát sinh nhu cầu xe</a:t>
            </a:r>
            <a:r>
              <a:rPr lang="en-US" sz="1700">
                <a:solidFill>
                  <a:srgbClr val="000000"/>
                </a:solidFill>
                <a:latin typeface="Poppins"/>
                <a:ea typeface="Poppins"/>
                <a:cs typeface="Poppins"/>
                <a:sym typeface="Poppins"/>
              </a:rPr>
              <a:t>. Đội xe nội bộ được kiểm tra trướ</a:t>
            </a:r>
            <a:r>
              <a:rPr lang="en-US" sz="1700">
                <a:solidFill>
                  <a:srgbClr val="000000"/>
                </a:solidFill>
                <a:latin typeface="Poppins"/>
                <a:ea typeface="Poppins"/>
                <a:cs typeface="Poppins"/>
                <a:sym typeface="Poppins"/>
              </a:rPr>
              <a:t>c</a:t>
            </a:r>
            <a:r>
              <a:rPr lang="en-US" sz="1700">
                <a:solidFill>
                  <a:srgbClr val="000000"/>
                </a:solidFill>
                <a:latin typeface="Poppins"/>
                <a:ea typeface="Poppins"/>
                <a:cs typeface="Poppins"/>
                <a:sym typeface="Poppins"/>
              </a:rPr>
              <a:t>;</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c</a:t>
            </a:r>
            <a:r>
              <a:rPr lang="en-US" sz="1700">
                <a:solidFill>
                  <a:srgbClr val="000000"/>
                </a:solidFill>
                <a:latin typeface="Poppins"/>
                <a:ea typeface="Poppins"/>
                <a:cs typeface="Poppins"/>
                <a:sym typeface="Poppins"/>
              </a:rPr>
              <a:t>h</a:t>
            </a:r>
            <a:r>
              <a:rPr lang="en-US" sz="1700">
                <a:solidFill>
                  <a:srgbClr val="000000"/>
                </a:solidFill>
                <a:latin typeface="Poppins"/>
                <a:ea typeface="Poppins"/>
                <a:cs typeface="Poppins"/>
                <a:sym typeface="Poppins"/>
              </a:rPr>
              <a:t>ỉ</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kh</a:t>
            </a:r>
            <a:r>
              <a:rPr lang="en-US" sz="1700">
                <a:solidFill>
                  <a:srgbClr val="000000"/>
                </a:solidFill>
                <a:latin typeface="Poppins"/>
                <a:ea typeface="Poppins"/>
                <a:cs typeface="Poppins"/>
                <a:sym typeface="Poppins"/>
              </a:rPr>
              <a:t>i ch</a:t>
            </a:r>
            <a:r>
              <a:rPr lang="en-US" sz="1700">
                <a:solidFill>
                  <a:srgbClr val="000000"/>
                </a:solidFill>
                <a:latin typeface="Poppins"/>
                <a:ea typeface="Poppins"/>
                <a:cs typeface="Poppins"/>
                <a:sym typeface="Poppins"/>
              </a:rPr>
              <a:t>ưa</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đ</a:t>
            </a:r>
            <a:r>
              <a:rPr lang="en-US" sz="1700">
                <a:solidFill>
                  <a:srgbClr val="000000"/>
                </a:solidFill>
                <a:latin typeface="Poppins"/>
                <a:ea typeface="Poppins"/>
                <a:cs typeface="Poppins"/>
                <a:sym typeface="Poppins"/>
              </a:rPr>
              <a:t>áp </a:t>
            </a:r>
            <a:r>
              <a:rPr lang="en-US" sz="1700">
                <a:solidFill>
                  <a:srgbClr val="000000"/>
                </a:solidFill>
                <a:latin typeface="Poppins"/>
                <a:ea typeface="Poppins"/>
                <a:cs typeface="Poppins"/>
                <a:sym typeface="Poppins"/>
              </a:rPr>
              <a:t>ứ</a:t>
            </a:r>
            <a:r>
              <a:rPr lang="en-US" sz="1700">
                <a:solidFill>
                  <a:srgbClr val="000000"/>
                </a:solidFill>
                <a:latin typeface="Poppins"/>
                <a:ea typeface="Poppins"/>
                <a:cs typeface="Poppins"/>
                <a:sym typeface="Poppins"/>
              </a:rPr>
              <a:t>n</a:t>
            </a:r>
            <a:r>
              <a:rPr lang="en-US" sz="1700">
                <a:solidFill>
                  <a:srgbClr val="000000"/>
                </a:solidFill>
                <a:latin typeface="Poppins"/>
                <a:ea typeface="Poppins"/>
                <a:cs typeface="Poppins"/>
                <a:sym typeface="Poppins"/>
              </a:rPr>
              <a:t>g</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mới</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mời</a:t>
            </a:r>
            <a:r>
              <a:rPr lang="en-US" sz="1700">
                <a:solidFill>
                  <a:srgbClr val="000000"/>
                </a:solidFill>
                <a:latin typeface="Poppins"/>
                <a:ea typeface="Poppins"/>
                <a:cs typeface="Poppins"/>
                <a:sym typeface="Poppins"/>
              </a:rPr>
              <a:t> đối tác</a:t>
            </a:r>
            <a:r>
              <a:rPr lang="en-US" sz="1700">
                <a:solidFill>
                  <a:srgbClr val="000000"/>
                </a:solidFill>
                <a:latin typeface="Poppins"/>
                <a:ea typeface="Poppins"/>
                <a:cs typeface="Poppins"/>
                <a:sym typeface="Poppins"/>
              </a:rPr>
              <a:t>. Đối tác được kiểm tra hồ sơ, thẩm định xe/GPS, đánh giá điểm và đàm phán cước trước khi trình phê duyệt. Phương án được</a:t>
            </a:r>
            <a:r>
              <a:rPr lang="en-US" sz="1700">
                <a:solidFill>
                  <a:srgbClr val="000000"/>
                </a:solidFill>
                <a:latin typeface="Poppins"/>
                <a:ea typeface="Poppins"/>
                <a:cs typeface="Poppins"/>
                <a:sym typeface="Poppins"/>
              </a:rPr>
              <a:t> duyệt sẽ chuyển sang</a:t>
            </a:r>
            <a:r>
              <a:rPr lang="en-US" sz="1700">
                <a:solidFill>
                  <a:srgbClr val="000000"/>
                </a:solidFill>
                <a:latin typeface="Poppins"/>
                <a:ea typeface="Poppins"/>
                <a:cs typeface="Poppins"/>
                <a:sym typeface="Poppins"/>
              </a:rPr>
              <a:t> ký</a:t>
            </a:r>
            <a:r>
              <a:rPr lang="en-US" sz="1700">
                <a:solidFill>
                  <a:srgbClr val="000000"/>
                </a:solidFill>
                <a:latin typeface="Poppins"/>
                <a:ea typeface="Poppins"/>
                <a:cs typeface="Poppins"/>
                <a:sym typeface="Poppins"/>
              </a:rPr>
              <a:t> hợp đồng và kích hoạt trên </a:t>
            </a:r>
            <a:r>
              <a:rPr lang="en-US" sz="1700">
                <a:solidFill>
                  <a:srgbClr val="000000"/>
                </a:solidFill>
                <a:latin typeface="Poppins"/>
                <a:ea typeface="Poppins"/>
                <a:cs typeface="Poppins"/>
                <a:sym typeface="Poppins"/>
              </a:rPr>
              <a:t>TMS; p</a:t>
            </a:r>
            <a:r>
              <a:rPr lang="en-US" sz="1700">
                <a:solidFill>
                  <a:srgbClr val="000000"/>
                </a:solidFill>
                <a:latin typeface="Poppins"/>
                <a:ea typeface="Poppins"/>
                <a:cs typeface="Poppins"/>
                <a:sym typeface="Poppins"/>
              </a:rPr>
              <a:t>h</a:t>
            </a:r>
            <a:r>
              <a:rPr lang="en-US" sz="1700">
                <a:solidFill>
                  <a:srgbClr val="000000"/>
                </a:solidFill>
                <a:latin typeface="Poppins"/>
                <a:ea typeface="Poppins"/>
                <a:cs typeface="Poppins"/>
                <a:sym typeface="Poppins"/>
              </a:rPr>
              <a:t>ương án cần chỉnh sửa được</a:t>
            </a:r>
            <a:r>
              <a:rPr lang="en-US" sz="1700">
                <a:solidFill>
                  <a:srgbClr val="000000"/>
                </a:solidFill>
                <a:latin typeface="Poppins"/>
                <a:ea typeface="Poppins"/>
                <a:cs typeface="Poppins"/>
                <a:sym typeface="Poppins"/>
              </a:rPr>
              <a:t> t</a:t>
            </a:r>
            <a:r>
              <a:rPr lang="en-US" sz="1700">
                <a:solidFill>
                  <a:srgbClr val="000000"/>
                </a:solidFill>
                <a:latin typeface="Poppins"/>
                <a:ea typeface="Poppins"/>
                <a:cs typeface="Poppins"/>
                <a:sym typeface="Poppins"/>
              </a:rPr>
              <a:t>rìn</a:t>
            </a:r>
            <a:r>
              <a:rPr lang="en-US" sz="1700">
                <a:solidFill>
                  <a:srgbClr val="000000"/>
                </a:solidFill>
                <a:latin typeface="Poppins"/>
                <a:ea typeface="Poppins"/>
                <a:cs typeface="Poppins"/>
                <a:sym typeface="Poppins"/>
              </a:rPr>
              <a:t>h</a:t>
            </a:r>
            <a:r>
              <a:rPr lang="en-US" sz="1700">
                <a:solidFill>
                  <a:srgbClr val="000000"/>
                </a:solidFill>
                <a:latin typeface="Poppins"/>
                <a:ea typeface="Poppins"/>
                <a:cs typeface="Poppins"/>
                <a:sym typeface="Poppins"/>
              </a:rPr>
              <a:t> lại t</a:t>
            </a:r>
            <a:r>
              <a:rPr lang="en-US" sz="1700">
                <a:solidFill>
                  <a:srgbClr val="000000"/>
                </a:solidFill>
                <a:latin typeface="Poppins"/>
                <a:ea typeface="Poppins"/>
                <a:cs typeface="Poppins"/>
                <a:sym typeface="Poppins"/>
              </a:rPr>
              <a:t>ố</a:t>
            </a:r>
            <a:r>
              <a:rPr lang="en-US" sz="1700">
                <a:solidFill>
                  <a:srgbClr val="000000"/>
                </a:solidFill>
                <a:latin typeface="Poppins"/>
                <a:ea typeface="Poppins"/>
                <a:cs typeface="Poppins"/>
                <a:sym typeface="Poppins"/>
              </a:rPr>
              <a:t>i đa 3</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lượt.</a:t>
            </a:r>
          </a:p>
        </p:txBody>
      </p:sp>
      <p:sp>
        <p:nvSpPr>
          <p:cNvPr name="TextBox 13" id="13"/>
          <p:cNvSpPr txBox="true"/>
          <p:nvPr/>
        </p:nvSpPr>
        <p:spPr>
          <a:xfrm rot="0">
            <a:off x="7031287" y="1502867"/>
            <a:ext cx="4544616"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tác nhân chính trong quy trình</a:t>
            </a:r>
          </a:p>
        </p:txBody>
      </p:sp>
      <p:sp>
        <p:nvSpPr>
          <p:cNvPr name="TextBox 14" id="14"/>
          <p:cNvSpPr txBox="true"/>
          <p:nvPr/>
        </p:nvSpPr>
        <p:spPr>
          <a:xfrm rot="0">
            <a:off x="781330" y="4358325"/>
            <a:ext cx="5364258" cy="3729990"/>
          </a:xfrm>
          <a:prstGeom prst="rect">
            <a:avLst/>
          </a:prstGeom>
        </p:spPr>
        <p:txBody>
          <a:bodyPr anchor="t" rtlCol="false" tIns="0" lIns="0" bIns="0" rIns="0">
            <a:spAutoFit/>
          </a:bodyPr>
          <a:lstStyle/>
          <a:p>
            <a:pPr algn="l">
              <a:lnSpc>
                <a:spcPts val="2294"/>
              </a:lnSpc>
            </a:pPr>
            <a:r>
              <a:rPr lang="en-US" sz="1699" b="true">
                <a:solidFill>
                  <a:srgbClr val="000000"/>
                </a:solidFill>
                <a:latin typeface="Poppins Bold"/>
                <a:ea typeface="Poppins Bold"/>
                <a:cs typeface="Poppins Bold"/>
                <a:sym typeface="Poppins Bold"/>
              </a:rPr>
              <a:t>Các bước thực hiện</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Đánh</a:t>
            </a:r>
            <a:r>
              <a:rPr lang="en-US" sz="1699">
                <a:solidFill>
                  <a:srgbClr val="000000"/>
                </a:solidFill>
                <a:latin typeface="Poppins"/>
                <a:ea typeface="Poppins"/>
                <a:cs typeface="Poppins"/>
                <a:sym typeface="Poppins"/>
              </a:rPr>
              <a:t> giá năng lực đội xe nội bộ.</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Xác định tiêu chuẩn xe và tuyến chạy.</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Phát hành thông báo mời hợp tác.</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Tiếp nhận và kiểm tra hồ sơ đối tác.</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Thẩm định thực địa xe và thiết bị GPS.</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Đánh giá điểm nhà cung ứng.</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Đàm phán thương mại và đơn giá cước.</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Trình duyệt; hoàn thiện và trình lại phương án khi cần, tối đa 3 lượt.</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Soạn thảo, ký, rà soát hợp đồng và kích hoạt đối tác trên TMS.</a:t>
            </a:r>
          </a:p>
          <a:p>
            <a:pPr algn="l">
              <a:lnSpc>
                <a:spcPts val="2294"/>
              </a:lnSpc>
            </a:pPr>
          </a:p>
        </p:txBody>
      </p:sp>
      <p:sp>
        <p:nvSpPr>
          <p:cNvPr name="TextBox 15" id="15"/>
          <p:cNvSpPr txBox="true"/>
          <p:nvPr/>
        </p:nvSpPr>
        <p:spPr>
          <a:xfrm rot="0">
            <a:off x="781330" y="1502867"/>
            <a:ext cx="2628503"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Tổng quan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6369688" y="1910650"/>
          <a:ext cx="11552964" cy="5337355"/>
        </p:xfrm>
        <a:graphic>
          <a:graphicData uri="http://schemas.openxmlformats.org/drawingml/2006/table">
            <a:tbl>
              <a:tblPr/>
              <a:tblGrid>
                <a:gridCol w="799128"/>
                <a:gridCol w="2608892"/>
                <a:gridCol w="8144944"/>
              </a:tblGrid>
              <a:tr h="810970">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L</a:t>
                      </a:r>
                      <a:r>
                        <a:rPr lang="en-US" sz="1599">
                          <a:solidFill>
                            <a:srgbClr val="FFFFFF"/>
                          </a:solidFill>
                          <a:latin typeface="Poppins"/>
                          <a:ea typeface="Poppins"/>
                          <a:cs typeface="Poppins"/>
                          <a:sym typeface="Poppins"/>
                        </a:rPr>
                        <a:t>oại giá trị</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M</a:t>
                      </a:r>
                      <a:r>
                        <a:rPr lang="en-US" sz="1599">
                          <a:solidFill>
                            <a:srgbClr val="FFFFFF"/>
                          </a:solidFill>
                          <a:latin typeface="Poppins"/>
                          <a:ea typeface="Poppins"/>
                          <a:cs typeface="Poppins"/>
                          <a:sym typeface="Poppins"/>
                        </a:rPr>
                        <a:t>ô tả</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715652">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Nội bộ đáp ứng: Đội xe nội bộ đủ năng lực; không cần thuê ngoài và quy trình kết thúc.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44661">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Đối tác kích hoạt </a:t>
                      </a:r>
                      <a:r>
                        <a:rPr lang="en-US" sz="1299">
                          <a:solidFill>
                            <a:srgbClr val="000000"/>
                          </a:solidFill>
                          <a:latin typeface="Poppins"/>
                          <a:ea typeface="Poppins"/>
                          <a:cs typeface="Poppins"/>
                          <a:sym typeface="Poppins"/>
                        </a:rPr>
                        <a:t>thành</a:t>
                      </a:r>
                      <a:r>
                        <a:rPr lang="en-US" sz="1299">
                          <a:solidFill>
                            <a:srgbClr val="000000"/>
                          </a:solidFill>
                          <a:latin typeface="Poppins"/>
                          <a:ea typeface="Poppins"/>
                          <a:cs typeface="Poppins"/>
                          <a:sym typeface="Poppins"/>
                        </a:rPr>
                        <a:t> công: Phương án được phê duyệt, hợp đồng đã ký và rà soát hoàn tất; đối tác được kích hoạt trên TMS.</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57003">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Đối tác bị loại: Hồ sơ không hợp lệ, thẩm định không đạt hoặc không thống nhất được cước; gửi thông báo từ chối.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61940">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Đối tác không đạt ngưỡng đánh giá: Điểm nhà cung ứng thấp hơn ngưỡng chính sách nội bộ; gửi thông báo không đạt riêng.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47129">
                <a:tc>
                  <a:txBody>
                    <a:bodyPr anchor="t" rtlCol="false"/>
                    <a:lstStyle/>
                    <a:p>
                      <a:pPr algn="ctr">
                        <a:lnSpc>
                          <a:spcPts val="1819"/>
                        </a:lnSpc>
                        <a:defRPr/>
                      </a:pPr>
                      <a:r>
                        <a:rPr lang="en-US" sz="1299">
                          <a:solidFill>
                            <a:srgbClr val="000000"/>
                          </a:solidFill>
                          <a:latin typeface="Poppins"/>
                          <a:ea typeface="Poppins"/>
                          <a:cs typeface="Poppins"/>
                          <a:sym typeface="Poppins"/>
                        </a:rPr>
                        <a:t>5</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Tờ trình bị từ chối phê duyệt: Phương án bị bác bỏ hoặc hết lượt chỉnh sửa; tờ trình kết thúc.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348804"/>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383" y="718316"/>
            <a:ext cx="2955630"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889635"/>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Quản lý đối tác cung ứng phương tiện: Phân tích</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1908633"/>
            <a:ext cx="4960247" cy="2376170"/>
          </a:xfrm>
          <a:prstGeom prst="rect">
            <a:avLst/>
          </a:prstGeom>
        </p:spPr>
        <p:txBody>
          <a:bodyPr anchor="t" rtlCol="false" tIns="0" lIns="0" bIns="0" rIns="0">
            <a:spAutoFit/>
          </a:bodyPr>
          <a:lstStyle/>
          <a:p>
            <a:pPr algn="l" marL="367031" indent="-183515" lvl="1">
              <a:lnSpc>
                <a:spcPts val="2380"/>
              </a:lnSpc>
              <a:spcBef>
                <a:spcPct val="0"/>
              </a:spcBef>
              <a:buFont typeface="Arial"/>
              <a:buChar char="•"/>
            </a:pPr>
            <a:r>
              <a:rPr lang="en-US" b="true" sz="1700">
                <a:solidFill>
                  <a:srgbClr val="000000"/>
                </a:solidFill>
                <a:latin typeface="Poppins Bold"/>
                <a:ea typeface="Poppins Bold"/>
                <a:cs typeface="Poppins Bold"/>
                <a:sym typeface="Poppins Bold"/>
              </a:rPr>
              <a:t>Khách hàn</a:t>
            </a:r>
            <a:r>
              <a:rPr lang="en-US" b="true" sz="1700">
                <a:solidFill>
                  <a:srgbClr val="000000"/>
                </a:solidFill>
                <a:latin typeface="Poppins Bold"/>
                <a:ea typeface="Poppins Bold"/>
                <a:cs typeface="Poppins Bold"/>
                <a:sym typeface="Poppins Bold"/>
              </a:rPr>
              <a:t>g nội bộ trực tiếp</a:t>
            </a:r>
            <a:r>
              <a:rPr lang="en-US" sz="1700">
                <a:solidFill>
                  <a:srgbClr val="000000"/>
                </a:solidFill>
                <a:latin typeface="Poppins"/>
                <a:ea typeface="Poppins"/>
                <a:cs typeface="Poppins"/>
                <a:sym typeface="Poppins"/>
              </a:rPr>
              <a:t>: Bộ phận Khai thác vận tải, cần bổ sung năng lực phương tiện khi đội xe nội bộ chưa đáp ứng.</a:t>
            </a:r>
          </a:p>
          <a:p>
            <a:pPr algn="l" marL="367031" indent="-183515" lvl="1">
              <a:lnSpc>
                <a:spcPts val="2380"/>
              </a:lnSpc>
              <a:spcBef>
                <a:spcPct val="0"/>
              </a:spcBef>
              <a:buFont typeface="Arial"/>
              <a:buChar char="•"/>
            </a:pPr>
            <a:r>
              <a:rPr lang="en-US" b="true" sz="1700">
                <a:solidFill>
                  <a:srgbClr val="000000"/>
                </a:solidFill>
                <a:latin typeface="Poppins Bold"/>
                <a:ea typeface="Poppins Bold"/>
                <a:cs typeface="Poppins Bold"/>
                <a:sym typeface="Poppins Bold"/>
              </a:rPr>
              <a:t>Đối</a:t>
            </a:r>
            <a:r>
              <a:rPr lang="en-US" b="true" sz="1700">
                <a:solidFill>
                  <a:srgbClr val="000000"/>
                </a:solidFill>
                <a:latin typeface="Poppins Bold"/>
                <a:ea typeface="Poppins Bold"/>
                <a:cs typeface="Poppins Bold"/>
                <a:sym typeface="Poppins Bold"/>
              </a:rPr>
              <a:t> tượng thụ hưởng gián tiếp</a:t>
            </a:r>
            <a:r>
              <a:rPr lang="en-US" sz="1700">
                <a:solidFill>
                  <a:srgbClr val="000000"/>
                </a:solidFill>
                <a:latin typeface="Poppins"/>
                <a:ea typeface="Poppins"/>
                <a:cs typeface="Poppins"/>
                <a:sym typeface="Poppins"/>
              </a:rPr>
              <a:t>: Người sử dụng dịch vụ chuyển phát Viettel Post, hưởng</a:t>
            </a:r>
            <a:r>
              <a:rPr lang="en-US" sz="1700">
                <a:solidFill>
                  <a:srgbClr val="000000"/>
                </a:solidFill>
                <a:latin typeface="Poppins"/>
                <a:ea typeface="Poppins"/>
                <a:cs typeface="Poppins"/>
                <a:sym typeface="Poppins"/>
              </a:rPr>
              <a:t> lợi từ năng lực vận chuyển phù hợp và ổn định.</a:t>
            </a:r>
          </a:p>
          <a:p>
            <a:pPr algn="l">
              <a:lnSpc>
                <a:spcPts val="2380"/>
              </a:lnSpc>
              <a:spcBef>
                <a:spcPct val="0"/>
              </a:spcBef>
            </a:pPr>
          </a:p>
        </p:txBody>
      </p:sp>
      <p:sp>
        <p:nvSpPr>
          <p:cNvPr name="TextBox 13" id="13"/>
          <p:cNvSpPr txBox="true"/>
          <p:nvPr/>
        </p:nvSpPr>
        <p:spPr>
          <a:xfrm rot="0">
            <a:off x="6369688" y="1464833"/>
            <a:ext cx="2650596"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giá trị &amp; kết quả </a:t>
            </a:r>
          </a:p>
        </p:txBody>
      </p:sp>
      <p:sp>
        <p:nvSpPr>
          <p:cNvPr name="TextBox 14" id="14"/>
          <p:cNvSpPr txBox="true"/>
          <p:nvPr/>
        </p:nvSpPr>
        <p:spPr>
          <a:xfrm rot="0">
            <a:off x="781330" y="1464833"/>
            <a:ext cx="3691467"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Đ</a:t>
            </a:r>
            <a:r>
              <a:rPr lang="en-US" b="true" sz="1991">
                <a:solidFill>
                  <a:srgbClr val="000000"/>
                </a:solidFill>
                <a:latin typeface="Poppins Bold"/>
                <a:ea typeface="Poppins Bold"/>
                <a:cs typeface="Poppins Bold"/>
                <a:sym typeface="Poppins Bold"/>
              </a:rPr>
              <a:t>ối tượng khách hàng chính</a:t>
            </a:r>
          </a:p>
        </p:txBody>
      </p:sp>
      <p:sp>
        <p:nvSpPr>
          <p:cNvPr name="TextBox 15" id="15"/>
          <p:cNvSpPr txBox="true"/>
          <p:nvPr/>
        </p:nvSpPr>
        <p:spPr>
          <a:xfrm rot="0">
            <a:off x="781330" y="4294328"/>
            <a:ext cx="2025385"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G</a:t>
            </a:r>
            <a:r>
              <a:rPr lang="en-US" b="true" sz="1991">
                <a:solidFill>
                  <a:srgbClr val="000000"/>
                </a:solidFill>
                <a:latin typeface="Poppins Bold"/>
                <a:ea typeface="Poppins Bold"/>
                <a:cs typeface="Poppins Bold"/>
                <a:sym typeface="Poppins Bold"/>
              </a:rPr>
              <a:t>iá trị mang lại </a:t>
            </a:r>
          </a:p>
        </p:txBody>
      </p:sp>
      <p:sp>
        <p:nvSpPr>
          <p:cNvPr name="TextBox 16" id="16"/>
          <p:cNvSpPr txBox="true"/>
          <p:nvPr/>
        </p:nvSpPr>
        <p:spPr>
          <a:xfrm rot="0">
            <a:off x="781330" y="4566677"/>
            <a:ext cx="5406126" cy="2671445"/>
          </a:xfrm>
          <a:prstGeom prst="rect">
            <a:avLst/>
          </a:prstGeom>
        </p:spPr>
        <p:txBody>
          <a:bodyPr anchor="t" rtlCol="false" tIns="0" lIns="0" bIns="0" rIns="0">
            <a:spAutoFit/>
          </a:bodyPr>
          <a:lstStyle/>
          <a:p>
            <a:pPr algn="l" marL="367031" indent="-183515" lvl="1">
              <a:lnSpc>
                <a:spcPts val="2380"/>
              </a:lnSpc>
              <a:buFont typeface="Arial"/>
              <a:buChar char="•"/>
            </a:pPr>
            <a:r>
              <a:rPr lang="en-US" sz="1700">
                <a:solidFill>
                  <a:srgbClr val="000000"/>
                </a:solidFill>
                <a:latin typeface="Poppins"/>
                <a:ea typeface="Poppins"/>
                <a:cs typeface="Poppins"/>
                <a:sym typeface="Poppins"/>
              </a:rPr>
              <a:t>Bổ sung năng lực vận tải khi đội xe nội bộ chưa đáp ứng.</a:t>
            </a:r>
          </a:p>
          <a:p>
            <a:pPr algn="l" marL="367031" indent="-183515" lvl="1">
              <a:lnSpc>
                <a:spcPts val="2380"/>
              </a:lnSpc>
              <a:buFont typeface="Arial"/>
              <a:buChar char="•"/>
            </a:pPr>
            <a:r>
              <a:rPr lang="en-US" sz="1700">
                <a:solidFill>
                  <a:srgbClr val="000000"/>
                </a:solidFill>
                <a:latin typeface="Poppins"/>
                <a:ea typeface="Poppins"/>
                <a:cs typeface="Poppins"/>
                <a:sym typeface="Poppins"/>
              </a:rPr>
              <a:t>Sàng lọc đối tác qua hồ sơ, phương tiện/GPS, điểm đánh giá và điều kiện thương mại.</a:t>
            </a:r>
          </a:p>
          <a:p>
            <a:pPr algn="l" marL="367031" indent="-183515" lvl="1">
              <a:lnSpc>
                <a:spcPts val="2380"/>
              </a:lnSpc>
              <a:buFont typeface="Arial"/>
              <a:buChar char="•"/>
            </a:pPr>
            <a:r>
              <a:rPr lang="en-US" sz="1700">
                <a:solidFill>
                  <a:srgbClr val="000000"/>
                </a:solidFill>
                <a:latin typeface="Poppins"/>
                <a:ea typeface="Poppins"/>
                <a:cs typeface="Poppins"/>
                <a:sym typeface="Poppins"/>
              </a:rPr>
              <a:t>Minh bạch hóa quá trì</a:t>
            </a:r>
            <a:r>
              <a:rPr lang="en-US" sz="1700">
                <a:solidFill>
                  <a:srgbClr val="000000"/>
                </a:solidFill>
                <a:latin typeface="Poppins"/>
                <a:ea typeface="Poppins"/>
                <a:cs typeface="Poppins"/>
                <a:sym typeface="Poppins"/>
              </a:rPr>
              <a:t>nh trình duyệt và xử</a:t>
            </a:r>
            <a:r>
              <a:rPr lang="en-US" sz="1700">
                <a:solidFill>
                  <a:srgbClr val="000000"/>
                </a:solidFill>
                <a:latin typeface="Poppins"/>
                <a:ea typeface="Poppins"/>
                <a:cs typeface="Poppins"/>
                <a:sym typeface="Poppins"/>
              </a:rPr>
              <a:t> lý cá</a:t>
            </a:r>
            <a:r>
              <a:rPr lang="en-US" sz="1700">
                <a:solidFill>
                  <a:srgbClr val="000000"/>
                </a:solidFill>
                <a:latin typeface="Poppins"/>
                <a:ea typeface="Poppins"/>
                <a:cs typeface="Poppins"/>
                <a:sym typeface="Poppins"/>
              </a:rPr>
              <a:t>c phương án chưa đạt.</a:t>
            </a:r>
          </a:p>
          <a:p>
            <a:pPr algn="l" marL="367031" indent="-183515" lvl="1">
              <a:lnSpc>
                <a:spcPts val="2380"/>
              </a:lnSpc>
              <a:spcBef>
                <a:spcPct val="0"/>
              </a:spcBef>
              <a:buFont typeface="Arial"/>
              <a:buChar char="•"/>
            </a:pPr>
            <a:r>
              <a:rPr lang="en-US" sz="1700">
                <a:solidFill>
                  <a:srgbClr val="000000"/>
                </a:solidFill>
                <a:latin typeface="Poppins"/>
                <a:ea typeface="Poppins"/>
                <a:cs typeface="Poppins"/>
                <a:sym typeface="Poppins"/>
              </a:rPr>
              <a:t>Hoàn tất hợp đồng trước khi kích hoạt</a:t>
            </a:r>
            <a:r>
              <a:rPr lang="en-US" sz="1700">
                <a:solidFill>
                  <a:srgbClr val="000000"/>
                </a:solidFill>
                <a:latin typeface="Poppins"/>
                <a:ea typeface="Poppins"/>
                <a:cs typeface="Poppins"/>
                <a:sym typeface="Poppins"/>
              </a:rPr>
              <a:t> đối tác</a:t>
            </a:r>
            <a:r>
              <a:rPr lang="en-US" sz="1700">
                <a:solidFill>
                  <a:srgbClr val="000000"/>
                </a:solidFill>
                <a:latin typeface="Poppins"/>
                <a:ea typeface="Poppins"/>
                <a:cs typeface="Poppins"/>
                <a:sym typeface="Poppins"/>
              </a:rPr>
              <a:t> trên</a:t>
            </a:r>
            <a:r>
              <a:rPr lang="en-US" sz="1700">
                <a:solidFill>
                  <a:srgbClr val="000000"/>
                </a:solidFill>
                <a:latin typeface="Poppins"/>
                <a:ea typeface="Poppins"/>
                <a:cs typeface="Poppins"/>
                <a:sym typeface="Poppins"/>
              </a:rPr>
              <a:t> </a:t>
            </a:r>
            <a:r>
              <a:rPr lang="en-US" sz="1700">
                <a:solidFill>
                  <a:srgbClr val="000000"/>
                </a:solidFill>
                <a:latin typeface="Poppins"/>
                <a:ea typeface="Poppins"/>
                <a:cs typeface="Poppins"/>
                <a:sym typeface="Poppins"/>
              </a:rPr>
              <a:t>TMS.</a:t>
            </a:r>
          </a:p>
          <a:p>
            <a:pPr algn="l">
              <a:lnSpc>
                <a:spcPts val="2380"/>
              </a:lnSpc>
              <a:spcBef>
                <a:spcPct val="0"/>
              </a:spcBef>
            </a:pPr>
          </a:p>
        </p:txBody>
      </p:sp>
      <p:sp>
        <p:nvSpPr>
          <p:cNvPr name="TextBox 17" id="1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66969"/>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1290721"/>
            <a:ext cx="18318867" cy="7842765"/>
          </a:xfrm>
          <a:custGeom>
            <a:avLst/>
            <a:gdLst/>
            <a:ahLst/>
            <a:cxnLst/>
            <a:rect r="r" b="b" t="t" l="l"/>
            <a:pathLst>
              <a:path h="7842765" w="18318867">
                <a:moveTo>
                  <a:pt x="0" y="0"/>
                </a:moveTo>
                <a:lnTo>
                  <a:pt x="18318867" y="0"/>
                </a:lnTo>
                <a:lnTo>
                  <a:pt x="18318867" y="7842765"/>
                </a:lnTo>
                <a:lnTo>
                  <a:pt x="0" y="78427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606721" y="13558"/>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06721" y="333598"/>
            <a:ext cx="6280358"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8236721" y="13558"/>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Quản lý đối tác cung ứng phương tiện: BPMN</a:t>
            </a:r>
          </a:p>
        </p:txBody>
      </p:sp>
      <p:sp>
        <p:nvSpPr>
          <p:cNvPr name="TextBox 10" id="10"/>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25</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6369688" y="1609725"/>
          <a:ext cx="11552964" cy="7648575"/>
        </p:xfrm>
        <a:graphic>
          <a:graphicData uri="http://schemas.openxmlformats.org/drawingml/2006/table">
            <a:tbl>
              <a:tblPr/>
              <a:tblGrid>
                <a:gridCol w="799128"/>
                <a:gridCol w="2608892"/>
                <a:gridCol w="8144944"/>
              </a:tblGrid>
              <a:tr h="810533">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Tên Tác nhân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Vai trò trong quy trình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970294">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Người gửi hàng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khách hàng, chủ doanh nghiệp/shop (tạo vận đơn, khai báo số tiền và  nhận COD sau khi đơn hàng hoàn tất.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0294">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Người nhận hàng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người nhận đơn hàng, thanh toán COD hoặc từ chối nhận nếu đơn hàng không đạt yêu cầu</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0294">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Người lấy hàng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bưu tá, tiếp nhận thông tin, lấy hàng từ người gửi và luân chuyển đơn hàng về trung tâm của bưu cục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0294">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Bưu cục Viettel</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tổ chức, hệ thống quản lý các vận đơn, ghi nhận các yêu cầu vận chuyển, phí COD , ghi nhận dữ liệu đối soát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70294">
                <a:tc>
                  <a:txBody>
                    <a:bodyPr anchor="t" rtlCol="false"/>
                    <a:lstStyle/>
                    <a:p>
                      <a:pPr algn="ctr">
                        <a:lnSpc>
                          <a:spcPts val="1819"/>
                        </a:lnSpc>
                        <a:defRPr/>
                      </a:pPr>
                      <a:r>
                        <a:rPr lang="en-US" sz="1299">
                          <a:solidFill>
                            <a:srgbClr val="000000"/>
                          </a:solidFill>
                          <a:latin typeface="Poppins"/>
                          <a:ea typeface="Poppins"/>
                          <a:cs typeface="Poppins"/>
                          <a:sym typeface="Poppins"/>
                        </a:rPr>
                        <a:t>5</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Người giao hàng</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bộ phận giao hàng, thu phí COD, cập nhập kết quả và bàn giao các chứng từ liên quan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44151">
                <a:tc>
                  <a:txBody>
                    <a:bodyPr anchor="t" rtlCol="false"/>
                    <a:lstStyle/>
                    <a:p>
                      <a:pPr algn="ctr">
                        <a:lnSpc>
                          <a:spcPts val="1819"/>
                        </a:lnSpc>
                        <a:defRPr/>
                      </a:pPr>
                      <a:r>
                        <a:rPr lang="en-US" sz="1299">
                          <a:solidFill>
                            <a:srgbClr val="000000"/>
                          </a:solidFill>
                          <a:latin typeface="Poppins"/>
                          <a:ea typeface="Poppins"/>
                          <a:cs typeface="Poppins"/>
                          <a:sym typeface="Poppins"/>
                        </a:rPr>
                        <a:t>6</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Kế toán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người tiếp nhận thông tin, kiểm tra và đối soát COD, tính toán các khấu trừ và xác nhận các thông tin chuyển tiền </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042420">
                <a:tc>
                  <a:txBody>
                    <a:bodyPr anchor="t" rtlCol="false"/>
                    <a:lstStyle/>
                    <a:p>
                      <a:pPr algn="ctr">
                        <a:lnSpc>
                          <a:spcPts val="1819"/>
                        </a:lnSpc>
                        <a:defRPr/>
                      </a:pPr>
                      <a:r>
                        <a:rPr lang="en-US" sz="1299">
                          <a:solidFill>
                            <a:srgbClr val="000000"/>
                          </a:solidFill>
                          <a:latin typeface="Poppins"/>
                          <a:ea typeface="Poppins"/>
                          <a:cs typeface="Poppins"/>
                          <a:sym typeface="Poppins"/>
                        </a:rPr>
                        <a:t>7</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CSKH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Là bộ phận tiếp nhận, phối hợp xử lý khiếu nại khi phát sinh sai lệch tiền COD, chậm thanh toán hoặc chuyển tiền thất bại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312884"/>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383" y="632880"/>
            <a:ext cx="2759748"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Thu hộ COD và chuyển tiền: Tổng quan</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1795595"/>
            <a:ext cx="5074210" cy="1785620"/>
          </a:xfrm>
          <a:prstGeom prst="rect">
            <a:avLst/>
          </a:prstGeom>
        </p:spPr>
        <p:txBody>
          <a:bodyPr anchor="t" rtlCol="false" tIns="0" lIns="0" bIns="0" rIns="0">
            <a:spAutoFit/>
          </a:bodyPr>
          <a:lstStyle/>
          <a:p>
            <a:pPr algn="l">
              <a:lnSpc>
                <a:spcPts val="2380"/>
              </a:lnSpc>
              <a:spcBef>
                <a:spcPct val="0"/>
              </a:spcBef>
            </a:pPr>
            <a:r>
              <a:rPr lang="en-US" b="true" sz="1700">
                <a:solidFill>
                  <a:srgbClr val="000000"/>
                </a:solidFill>
                <a:latin typeface="Poppins Bold"/>
                <a:ea typeface="Poppins Bold"/>
                <a:cs typeface="Poppins Bold"/>
                <a:sym typeface="Poppins Bold"/>
              </a:rPr>
              <a:t>Q</a:t>
            </a:r>
            <a:r>
              <a:rPr lang="en-US" b="true" sz="1700">
                <a:solidFill>
                  <a:srgbClr val="000000"/>
                </a:solidFill>
                <a:latin typeface="Poppins Bold"/>
                <a:ea typeface="Poppins Bold"/>
                <a:cs typeface="Poppins Bold"/>
                <a:sym typeface="Poppins Bold"/>
              </a:rPr>
              <a:t>uy trình xử lý thu hộ COD </a:t>
            </a:r>
            <a:r>
              <a:rPr lang="en-US" sz="1700">
                <a:solidFill>
                  <a:srgbClr val="000000"/>
                </a:solidFill>
                <a:latin typeface="Poppins"/>
                <a:ea typeface="Poppins"/>
                <a:cs typeface="Poppins"/>
                <a:sym typeface="Poppins"/>
              </a:rPr>
              <a:t>là quy trình nghiệp vụ liên quan đến việc </a:t>
            </a:r>
            <a:r>
              <a:rPr lang="en-US" b="true" sz="1700">
                <a:solidFill>
                  <a:srgbClr val="000000"/>
                </a:solidFill>
                <a:latin typeface="Poppins Bold"/>
                <a:ea typeface="Poppins Bold"/>
                <a:cs typeface="Poppins Bold"/>
                <a:sym typeface="Poppins Bold"/>
              </a:rPr>
              <a:t>tiếp nhận đơn hàng</a:t>
            </a:r>
            <a:r>
              <a:rPr lang="en-US" sz="1700">
                <a:solidFill>
                  <a:srgbClr val="000000"/>
                </a:solidFill>
                <a:latin typeface="Poppins"/>
                <a:ea typeface="Poppins"/>
                <a:cs typeface="Poppins"/>
                <a:sym typeface="Poppins"/>
              </a:rPr>
              <a:t> có </a:t>
            </a:r>
            <a:r>
              <a:rPr lang="en-US" sz="1700">
                <a:solidFill>
                  <a:srgbClr val="000000"/>
                </a:solidFill>
                <a:latin typeface="Poppins"/>
                <a:ea typeface="Poppins"/>
                <a:cs typeface="Poppins"/>
                <a:sym typeface="Poppins"/>
              </a:rPr>
              <a:t>yêu cầu thu hộ</a:t>
            </a:r>
            <a:r>
              <a:rPr lang="en-US" sz="1700">
                <a:solidFill>
                  <a:srgbClr val="000000"/>
                </a:solidFill>
                <a:latin typeface="Poppins"/>
                <a:ea typeface="Poppins"/>
                <a:cs typeface="Poppins"/>
                <a:sym typeface="Poppins"/>
              </a:rPr>
              <a:t>, hệ thống </a:t>
            </a:r>
            <a:r>
              <a:rPr lang="en-US" b="true" sz="1700">
                <a:solidFill>
                  <a:srgbClr val="000000"/>
                </a:solidFill>
                <a:latin typeface="Poppins Bold"/>
                <a:ea typeface="Poppins Bold"/>
                <a:cs typeface="Poppins Bold"/>
                <a:sym typeface="Poppins Bold"/>
              </a:rPr>
              <a:t>thực hiện giao hàng</a:t>
            </a:r>
            <a:r>
              <a:rPr lang="en-US" sz="1700">
                <a:solidFill>
                  <a:srgbClr val="000000"/>
                </a:solidFill>
                <a:latin typeface="Poppins"/>
                <a:ea typeface="Poppins"/>
                <a:cs typeface="Poppins"/>
                <a:sym typeface="Poppins"/>
              </a:rPr>
              <a:t> và </a:t>
            </a:r>
            <a:r>
              <a:rPr lang="en-US" b="true" sz="1700">
                <a:solidFill>
                  <a:srgbClr val="000000"/>
                </a:solidFill>
                <a:latin typeface="Poppins Bold"/>
                <a:ea typeface="Poppins Bold"/>
                <a:cs typeface="Poppins Bold"/>
                <a:sym typeface="Poppins Bold"/>
              </a:rPr>
              <a:t>thu tiền từ người nhận</a:t>
            </a:r>
            <a:r>
              <a:rPr lang="en-US" sz="1700">
                <a:solidFill>
                  <a:srgbClr val="000000"/>
                </a:solidFill>
                <a:latin typeface="Poppins"/>
                <a:ea typeface="Poppins"/>
                <a:cs typeface="Poppins"/>
                <a:sym typeface="Poppins"/>
              </a:rPr>
              <a:t>, ghi nhận kết quả giao hàng, </a:t>
            </a:r>
            <a:r>
              <a:rPr lang="en-US" b="true" sz="1700">
                <a:solidFill>
                  <a:srgbClr val="000000"/>
                </a:solidFill>
                <a:latin typeface="Poppins Bold"/>
                <a:ea typeface="Poppins Bold"/>
                <a:cs typeface="Poppins Bold"/>
                <a:sym typeface="Poppins Bold"/>
              </a:rPr>
              <a:t>đối soát số tiền COD</a:t>
            </a:r>
            <a:r>
              <a:rPr lang="en-US" sz="1700">
                <a:solidFill>
                  <a:srgbClr val="000000"/>
                </a:solidFill>
                <a:latin typeface="Poppins"/>
                <a:ea typeface="Poppins"/>
                <a:cs typeface="Poppins"/>
                <a:sym typeface="Poppins"/>
              </a:rPr>
              <a:t> và chuyển số tiền đủ điều kiện </a:t>
            </a:r>
            <a:r>
              <a:rPr lang="en-US" b="true" sz="1700">
                <a:solidFill>
                  <a:srgbClr val="000000"/>
                </a:solidFill>
                <a:latin typeface="Poppins Bold"/>
                <a:ea typeface="Poppins Bold"/>
                <a:cs typeface="Poppins Bold"/>
                <a:sym typeface="Poppins Bold"/>
              </a:rPr>
              <a:t>thanh toán cho người gửi.</a:t>
            </a:r>
          </a:p>
        </p:txBody>
      </p:sp>
      <p:sp>
        <p:nvSpPr>
          <p:cNvPr name="TextBox 13" id="13"/>
          <p:cNvSpPr txBox="true"/>
          <p:nvPr/>
        </p:nvSpPr>
        <p:spPr>
          <a:xfrm rot="0">
            <a:off x="6369688" y="1163908"/>
            <a:ext cx="4501428"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tác nhân chính trong hệ thống</a:t>
            </a:r>
          </a:p>
        </p:txBody>
      </p:sp>
      <p:sp>
        <p:nvSpPr>
          <p:cNvPr name="TextBox 14" id="14"/>
          <p:cNvSpPr txBox="true"/>
          <p:nvPr/>
        </p:nvSpPr>
        <p:spPr>
          <a:xfrm rot="0">
            <a:off x="770017" y="3952382"/>
            <a:ext cx="4971560" cy="2586990"/>
          </a:xfrm>
          <a:prstGeom prst="rect">
            <a:avLst/>
          </a:prstGeom>
        </p:spPr>
        <p:txBody>
          <a:bodyPr anchor="t" rtlCol="false" tIns="0" lIns="0" bIns="0" rIns="0">
            <a:spAutoFit/>
          </a:bodyPr>
          <a:lstStyle/>
          <a:p>
            <a:pPr algn="l">
              <a:lnSpc>
                <a:spcPts val="2294"/>
              </a:lnSpc>
            </a:pPr>
            <a:r>
              <a:rPr lang="en-US" sz="1699" b="true">
                <a:solidFill>
                  <a:srgbClr val="000000"/>
                </a:solidFill>
                <a:latin typeface="Poppins Bold"/>
                <a:ea typeface="Poppins Bold"/>
                <a:cs typeface="Poppins Bold"/>
                <a:sym typeface="Poppins Bold"/>
              </a:rPr>
              <a:t>Các bước thực hiện</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Tạo &amp; tiếp nhận đơn hàng cần xử lý</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 Kiểm tra điều kiện &amp; thông tin đơn hàng</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 Lấy, phân loại &amp; luân chuyển hàng tới các trung tâm Bưu cục </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Giao hàng và thu phí COD </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Ghi nhận kết quả &amp; đối soát chi phí.</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Thực hiện thanh toán hoàn tất đơn cho Người gửi</a:t>
            </a:r>
          </a:p>
        </p:txBody>
      </p:sp>
      <p:sp>
        <p:nvSpPr>
          <p:cNvPr name="TextBox 15" id="15"/>
          <p:cNvSpPr txBox="true"/>
          <p:nvPr/>
        </p:nvSpPr>
        <p:spPr>
          <a:xfrm rot="0">
            <a:off x="781330" y="1163908"/>
            <a:ext cx="2628503"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Tổng quan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26</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6369688" y="1609725"/>
          <a:ext cx="11552964" cy="4845659"/>
        </p:xfrm>
        <a:graphic>
          <a:graphicData uri="http://schemas.openxmlformats.org/drawingml/2006/table">
            <a:tbl>
              <a:tblPr/>
              <a:tblGrid>
                <a:gridCol w="799128"/>
                <a:gridCol w="2608892"/>
                <a:gridCol w="8144944"/>
              </a:tblGrid>
              <a:tr h="811118">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L</a:t>
                      </a:r>
                      <a:r>
                        <a:rPr lang="en-US" sz="1599">
                          <a:solidFill>
                            <a:srgbClr val="FFFFFF"/>
                          </a:solidFill>
                          <a:latin typeface="Poppins"/>
                          <a:ea typeface="Poppins"/>
                          <a:cs typeface="Poppins"/>
                          <a:sym typeface="Poppins"/>
                        </a:rPr>
                        <a:t>oại giá trị</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M</a:t>
                      </a:r>
                      <a:r>
                        <a:rPr lang="en-US" sz="1599">
                          <a:solidFill>
                            <a:srgbClr val="FFFFFF"/>
                          </a:solidFill>
                          <a:latin typeface="Poppins"/>
                          <a:ea typeface="Poppins"/>
                          <a:cs typeface="Poppins"/>
                          <a:sym typeface="Poppins"/>
                        </a:rPr>
                        <a:t>ô tả</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715782">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Người gửi hàng nhận thông tin trạng thái đơn hàng thành công hoặc thất bại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44832">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Đơn hàng được đối soát thành công và khoản tiền đủ điều kiện được chuyển cho người gửi hoàn tất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782">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Xử lý các khiếu nại từ đơn hàng hoàn tất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942363">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Đơn hàng bị hoàn trả do giao không thành công không liên hệ được khách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782">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Đơn hàng được hoàn trả vì không đạt yêu cầu</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20217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730" y="590550"/>
            <a:ext cx="2823414"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Thu hộ COD và chuyển tiền: Phân tích</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1607708"/>
            <a:ext cx="4960247" cy="2376170"/>
          </a:xfrm>
          <a:prstGeom prst="rect">
            <a:avLst/>
          </a:prstGeom>
        </p:spPr>
        <p:txBody>
          <a:bodyPr anchor="t" rtlCol="false" tIns="0" lIns="0" bIns="0" rIns="0">
            <a:spAutoFit/>
          </a:bodyPr>
          <a:lstStyle/>
          <a:p>
            <a:pPr algn="l" marL="367031" indent="-183515" lvl="1">
              <a:lnSpc>
                <a:spcPts val="2380"/>
              </a:lnSpc>
              <a:spcBef>
                <a:spcPct val="0"/>
              </a:spcBef>
              <a:buFont typeface="Arial"/>
              <a:buChar char="•"/>
            </a:pPr>
            <a:r>
              <a:rPr lang="en-US" b="true" sz="1700">
                <a:solidFill>
                  <a:srgbClr val="000000"/>
                </a:solidFill>
                <a:latin typeface="Poppins Bold"/>
                <a:ea typeface="Poppins Bold"/>
                <a:cs typeface="Poppins Bold"/>
                <a:sym typeface="Poppins Bold"/>
              </a:rPr>
              <a:t>Người gửi hàng</a:t>
            </a:r>
            <a:r>
              <a:rPr lang="en-US" sz="1700">
                <a:solidFill>
                  <a:srgbClr val="000000"/>
                </a:solidFill>
                <a:latin typeface="Poppins"/>
                <a:ea typeface="Poppins"/>
                <a:cs typeface="Poppins"/>
                <a:sym typeface="Poppins"/>
              </a:rPr>
              <a:t> chủ các shop/</a:t>
            </a:r>
            <a:r>
              <a:rPr lang="en-US" b="true" sz="1700">
                <a:solidFill>
                  <a:srgbClr val="000000"/>
                </a:solidFill>
                <a:latin typeface="Poppins Bold"/>
                <a:ea typeface="Poppins Bold"/>
                <a:cs typeface="Poppins Bold"/>
                <a:sym typeface="Poppins Bold"/>
              </a:rPr>
              <a:t>doanh nghiệp bán hàng online sử dụng dịch vụ COD</a:t>
            </a:r>
            <a:r>
              <a:rPr lang="en-US" sz="1700">
                <a:solidFill>
                  <a:srgbClr val="000000"/>
                </a:solidFill>
                <a:latin typeface="Poppins"/>
                <a:ea typeface="Poppins"/>
                <a:cs typeface="Poppins"/>
                <a:sym typeface="Poppins"/>
              </a:rPr>
              <a:t> là đối tượng ảnh hưởng trực tiếp từ bước bắt đầu và kết thúc của quy trình</a:t>
            </a:r>
          </a:p>
          <a:p>
            <a:pPr algn="l" marL="367031" indent="-183515" lvl="1">
              <a:lnSpc>
                <a:spcPts val="2380"/>
              </a:lnSpc>
              <a:spcBef>
                <a:spcPct val="0"/>
              </a:spcBef>
              <a:buFont typeface="Arial"/>
              <a:buChar char="•"/>
            </a:pPr>
            <a:r>
              <a:rPr lang="en-US" b="true" sz="1700">
                <a:solidFill>
                  <a:srgbClr val="000000"/>
                </a:solidFill>
                <a:latin typeface="Poppins Bold"/>
                <a:ea typeface="Poppins Bold"/>
                <a:cs typeface="Poppins Bold"/>
                <a:sym typeface="Poppins Bold"/>
              </a:rPr>
              <a:t>Người nhận hàng </a:t>
            </a:r>
            <a:r>
              <a:rPr lang="en-US" sz="1700">
                <a:solidFill>
                  <a:srgbClr val="000000"/>
                </a:solidFill>
                <a:latin typeface="Poppins"/>
                <a:ea typeface="Poppins"/>
                <a:cs typeface="Poppins"/>
                <a:sym typeface="Poppins"/>
              </a:rPr>
              <a:t>là người nhận kết quả và tạo ra giá trị cuối của quy trình.</a:t>
            </a:r>
          </a:p>
          <a:p>
            <a:pPr algn="l">
              <a:lnSpc>
                <a:spcPts val="2380"/>
              </a:lnSpc>
              <a:spcBef>
                <a:spcPct val="0"/>
              </a:spcBef>
            </a:pPr>
          </a:p>
          <a:p>
            <a:pPr algn="l">
              <a:lnSpc>
                <a:spcPts val="2380"/>
              </a:lnSpc>
              <a:spcBef>
                <a:spcPct val="0"/>
              </a:spcBef>
            </a:pPr>
          </a:p>
        </p:txBody>
      </p:sp>
      <p:sp>
        <p:nvSpPr>
          <p:cNvPr name="TextBox 13" id="13"/>
          <p:cNvSpPr txBox="true"/>
          <p:nvPr/>
        </p:nvSpPr>
        <p:spPr>
          <a:xfrm rot="0">
            <a:off x="6369688" y="1163908"/>
            <a:ext cx="2650596"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giá trị &amp; kết quả </a:t>
            </a:r>
          </a:p>
        </p:txBody>
      </p:sp>
      <p:sp>
        <p:nvSpPr>
          <p:cNvPr name="TextBox 14" id="14"/>
          <p:cNvSpPr txBox="true"/>
          <p:nvPr/>
        </p:nvSpPr>
        <p:spPr>
          <a:xfrm rot="0">
            <a:off x="781330" y="1163908"/>
            <a:ext cx="3691467"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Đ</a:t>
            </a:r>
            <a:r>
              <a:rPr lang="en-US" b="true" sz="1991">
                <a:solidFill>
                  <a:srgbClr val="000000"/>
                </a:solidFill>
                <a:latin typeface="Poppins Bold"/>
                <a:ea typeface="Poppins Bold"/>
                <a:cs typeface="Poppins Bold"/>
                <a:sym typeface="Poppins Bold"/>
              </a:rPr>
              <a:t>ối tượng khách hàng chính</a:t>
            </a:r>
          </a:p>
        </p:txBody>
      </p:sp>
      <p:sp>
        <p:nvSpPr>
          <p:cNvPr name="TextBox 15" id="15"/>
          <p:cNvSpPr txBox="true"/>
          <p:nvPr/>
        </p:nvSpPr>
        <p:spPr>
          <a:xfrm rot="0">
            <a:off x="781330" y="3974353"/>
            <a:ext cx="2025385"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G</a:t>
            </a:r>
            <a:r>
              <a:rPr lang="en-US" b="true" sz="1991">
                <a:solidFill>
                  <a:srgbClr val="000000"/>
                </a:solidFill>
                <a:latin typeface="Poppins Bold"/>
                <a:ea typeface="Poppins Bold"/>
                <a:cs typeface="Poppins Bold"/>
                <a:sym typeface="Poppins Bold"/>
              </a:rPr>
              <a:t>iá trị mang lại </a:t>
            </a:r>
          </a:p>
        </p:txBody>
      </p:sp>
      <p:sp>
        <p:nvSpPr>
          <p:cNvPr name="TextBox 16" id="16"/>
          <p:cNvSpPr txBox="true"/>
          <p:nvPr/>
        </p:nvSpPr>
        <p:spPr>
          <a:xfrm rot="0">
            <a:off x="781330" y="4418153"/>
            <a:ext cx="4960247" cy="2080895"/>
          </a:xfrm>
          <a:prstGeom prst="rect">
            <a:avLst/>
          </a:prstGeom>
        </p:spPr>
        <p:txBody>
          <a:bodyPr anchor="t" rtlCol="false" tIns="0" lIns="0" bIns="0" rIns="0">
            <a:spAutoFit/>
          </a:bodyPr>
          <a:lstStyle/>
          <a:p>
            <a:pPr algn="l" marL="367031" indent="-183515" lvl="1">
              <a:lnSpc>
                <a:spcPts val="2380"/>
              </a:lnSpc>
              <a:buFont typeface="Arial"/>
              <a:buChar char="•"/>
            </a:pPr>
            <a:r>
              <a:rPr lang="en-US" sz="1700">
                <a:solidFill>
                  <a:srgbClr val="000000"/>
                </a:solidFill>
                <a:latin typeface="Poppins"/>
                <a:ea typeface="Poppins"/>
                <a:cs typeface="Poppins"/>
                <a:sym typeface="Poppins"/>
              </a:rPr>
              <a:t>Đảm bảo an toàn giao dịch cho hai bên Mua - Bán sản phẩm trong thương mại điện tử</a:t>
            </a:r>
          </a:p>
          <a:p>
            <a:pPr algn="l" marL="367031" indent="-183515" lvl="1">
              <a:lnSpc>
                <a:spcPts val="2380"/>
              </a:lnSpc>
              <a:spcBef>
                <a:spcPct val="0"/>
              </a:spcBef>
              <a:buFont typeface="Arial"/>
              <a:buChar char="•"/>
            </a:pPr>
            <a:r>
              <a:rPr lang="en-US" sz="1700">
                <a:solidFill>
                  <a:srgbClr val="000000"/>
                </a:solidFill>
                <a:latin typeface="Poppins"/>
                <a:ea typeface="Poppins"/>
                <a:cs typeface="Poppins"/>
                <a:sym typeface="Poppins"/>
              </a:rPr>
              <a:t>Tạo dòng tiền minh bạch, có kiểm soát thông qua cơ chế đối soát định kỳ</a:t>
            </a:r>
          </a:p>
          <a:p>
            <a:pPr algn="l">
              <a:lnSpc>
                <a:spcPts val="2380"/>
              </a:lnSpc>
              <a:spcBef>
                <a:spcPct val="0"/>
              </a:spcBef>
            </a:pPr>
            <a:r>
              <a:rPr lang="en-US" sz="1700">
                <a:solidFill>
                  <a:srgbClr val="000000"/>
                </a:solidFill>
                <a:latin typeface="Poppins"/>
                <a:ea typeface="Poppins"/>
                <a:cs typeface="Poppins"/>
                <a:sym typeface="Poppins"/>
              </a:rPr>
              <a:t> </a:t>
            </a:r>
          </a:p>
          <a:p>
            <a:pPr algn="l">
              <a:lnSpc>
                <a:spcPts val="2380"/>
              </a:lnSpc>
              <a:spcBef>
                <a:spcPct val="0"/>
              </a:spcBef>
            </a:pPr>
          </a:p>
        </p:txBody>
      </p:sp>
      <p:sp>
        <p:nvSpPr>
          <p:cNvPr name="TextBox 17" id="1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27</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0" y="869553"/>
            <a:ext cx="18317699" cy="8540627"/>
          </a:xfrm>
          <a:custGeom>
            <a:avLst/>
            <a:gdLst/>
            <a:ahLst/>
            <a:cxnLst/>
            <a:rect r="r" b="b" t="t" l="l"/>
            <a:pathLst>
              <a:path h="8540627" w="18317699">
                <a:moveTo>
                  <a:pt x="0" y="0"/>
                </a:moveTo>
                <a:lnTo>
                  <a:pt x="18317699" y="0"/>
                </a:lnTo>
                <a:lnTo>
                  <a:pt x="18317699" y="8540627"/>
                </a:lnTo>
                <a:lnTo>
                  <a:pt x="0" y="85406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366101" y="1458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1" id="11"/>
          <p:cNvSpPr txBox="true"/>
          <p:nvPr/>
        </p:nvSpPr>
        <p:spPr>
          <a:xfrm rot="0">
            <a:off x="1366101" y="306134"/>
            <a:ext cx="2873544"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2" id="12"/>
          <p:cNvSpPr txBox="true"/>
          <p:nvPr/>
        </p:nvSpPr>
        <p:spPr>
          <a:xfrm rot="0">
            <a:off x="7490342" y="33294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Thu hộ COD và chuyển tiền: BPMN</a:t>
            </a:r>
          </a:p>
        </p:txBody>
      </p:sp>
      <p:sp>
        <p:nvSpPr>
          <p:cNvPr name="TextBox 13" id="13"/>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28</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4750347" y="864626"/>
            <a:ext cx="11984375" cy="9422374"/>
          </a:xfrm>
          <a:custGeom>
            <a:avLst/>
            <a:gdLst/>
            <a:ahLst/>
            <a:cxnLst/>
            <a:rect r="r" b="b" t="t" l="l"/>
            <a:pathLst>
              <a:path h="9422374" w="11984375">
                <a:moveTo>
                  <a:pt x="0" y="0"/>
                </a:moveTo>
                <a:lnTo>
                  <a:pt x="11984375" y="0"/>
                </a:lnTo>
                <a:lnTo>
                  <a:pt x="11984375" y="9422374"/>
                </a:lnTo>
                <a:lnTo>
                  <a:pt x="0" y="942237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366101" y="218360"/>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1" id="11"/>
          <p:cNvSpPr txBox="true"/>
          <p:nvPr/>
        </p:nvSpPr>
        <p:spPr>
          <a:xfrm rot="0">
            <a:off x="1366101" y="587871"/>
            <a:ext cx="2988163"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2" id="12"/>
          <p:cNvSpPr txBox="true"/>
          <p:nvPr/>
        </p:nvSpPr>
        <p:spPr>
          <a:xfrm rot="0">
            <a:off x="5848279" y="326855"/>
            <a:ext cx="11577950"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Thu hộ COD và chuyển tiền: BPMN – Giai đoạn 1</a:t>
            </a:r>
          </a:p>
        </p:txBody>
      </p:sp>
      <p:sp>
        <p:nvSpPr>
          <p:cNvPr name="TextBox 13" id="13"/>
          <p:cNvSpPr txBox="true"/>
          <p:nvPr/>
        </p:nvSpPr>
        <p:spPr>
          <a:xfrm rot="0">
            <a:off x="536860" y="1309346"/>
            <a:ext cx="4025561" cy="1490345"/>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Giai đoạn 1 :</a:t>
            </a:r>
          </a:p>
          <a:p>
            <a:pPr algn="l">
              <a:lnSpc>
                <a:spcPts val="2380"/>
              </a:lnSpc>
              <a:spcBef>
                <a:spcPct val="0"/>
              </a:spcBef>
            </a:pPr>
            <a:r>
              <a:rPr lang="en-US" sz="1700">
                <a:solidFill>
                  <a:srgbClr val="000000"/>
                </a:solidFill>
                <a:latin typeface="Poppins"/>
                <a:ea typeface="Poppins"/>
                <a:cs typeface="Poppins"/>
                <a:sym typeface="Poppins"/>
              </a:rPr>
              <a:t>Quy trình tạo đơn, sắp xếp phân loại và luân chuyển hàng hoá giữa Người Gửi Hàng, Bưu cục Viettel Post và Người Lấy Hàng</a:t>
            </a:r>
          </a:p>
        </p:txBody>
      </p:sp>
      <p:sp>
        <p:nvSpPr>
          <p:cNvPr name="TextBox 14" id="14"/>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29</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2594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307332" y="1747004"/>
            <a:ext cx="17383877" cy="8452910"/>
          </a:xfrm>
          <a:custGeom>
            <a:avLst/>
            <a:gdLst/>
            <a:ahLst/>
            <a:cxnLst/>
            <a:rect r="r" b="b" t="t" l="l"/>
            <a:pathLst>
              <a:path h="8452910" w="17383877">
                <a:moveTo>
                  <a:pt x="0" y="0"/>
                </a:moveTo>
                <a:lnTo>
                  <a:pt x="17383877" y="0"/>
                </a:lnTo>
                <a:lnTo>
                  <a:pt x="17383877" y="8452910"/>
                </a:lnTo>
                <a:lnTo>
                  <a:pt x="0" y="84529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0" id="10"/>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1" id="11"/>
          <p:cNvSpPr txBox="true"/>
          <p:nvPr/>
        </p:nvSpPr>
        <p:spPr>
          <a:xfrm rot="0">
            <a:off x="5690018" y="212270"/>
            <a:ext cx="11900958"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a:t>
            </a:r>
            <a:r>
              <a:rPr lang="en-US" b="true" sz="3000" strike="noStrike" u="none">
                <a:solidFill>
                  <a:srgbClr val="EB2427"/>
                </a:solidFill>
                <a:latin typeface="Poppins Bold"/>
                <a:ea typeface="Poppins Bold"/>
                <a:cs typeface="Poppins Bold"/>
                <a:sym typeface="Poppins Bold"/>
              </a:rPr>
              <a:t>h</a:t>
            </a:r>
            <a:r>
              <a:rPr lang="en-US" b="true" sz="3000" strike="noStrike" u="none">
                <a:solidFill>
                  <a:srgbClr val="EB2427"/>
                </a:solidFill>
                <a:latin typeface="Poppins Bold"/>
                <a:ea typeface="Poppins Bold"/>
                <a:cs typeface="Poppins Bold"/>
                <a:sym typeface="Poppins Bold"/>
              </a:rPr>
              <a:t>u </a:t>
            </a:r>
            <a:r>
              <a:rPr lang="en-US" b="true" sz="3000" strike="noStrike" u="none">
                <a:solidFill>
                  <a:srgbClr val="EB2427"/>
                </a:solidFill>
                <a:latin typeface="Poppins Bold"/>
                <a:ea typeface="Poppins Bold"/>
                <a:cs typeface="Poppins Bold"/>
                <a:sym typeface="Poppins Bold"/>
              </a:rPr>
              <a:t>hộ COD</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chuyển</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iề</a:t>
            </a:r>
            <a:r>
              <a:rPr lang="en-US" b="true" sz="3000" strike="noStrike" u="none">
                <a:solidFill>
                  <a:srgbClr val="EB2427"/>
                </a:solidFill>
                <a:latin typeface="Poppins Bold"/>
                <a:ea typeface="Poppins Bold"/>
                <a:cs typeface="Poppins Bold"/>
                <a:sym typeface="Poppins Bold"/>
              </a:rPr>
              <a:t>n: </a:t>
            </a:r>
            <a:r>
              <a:rPr lang="en-US" b="true" sz="3000" strike="noStrike" u="none">
                <a:solidFill>
                  <a:srgbClr val="EB2427"/>
                </a:solidFill>
                <a:latin typeface="Poppins Bold"/>
                <a:ea typeface="Poppins Bold"/>
                <a:cs typeface="Poppins Bold"/>
                <a:sym typeface="Poppins Bold"/>
              </a:rPr>
              <a:t>BPMN –</a:t>
            </a:r>
            <a:r>
              <a:rPr lang="en-US" b="true" sz="3000" strike="noStrike" u="none">
                <a:solidFill>
                  <a:srgbClr val="EB2427"/>
                </a:solidFill>
                <a:latin typeface="Poppins Bold"/>
                <a:ea typeface="Poppins Bold"/>
                <a:cs typeface="Poppins Bold"/>
                <a:sym typeface="Poppins Bold"/>
              </a:rPr>
              <a:t> </a:t>
            </a:r>
            <a:r>
              <a:rPr lang="en-US" b="true" sz="3000" strike="noStrike" u="none">
                <a:solidFill>
                  <a:srgbClr val="EB2427"/>
                </a:solidFill>
                <a:latin typeface="Poppins Bold"/>
                <a:ea typeface="Poppins Bold"/>
                <a:cs typeface="Poppins Bold"/>
                <a:sym typeface="Poppins Bold"/>
              </a:rPr>
              <a:t>Gi</a:t>
            </a:r>
            <a:r>
              <a:rPr lang="en-US" b="true" sz="3000" strike="noStrike" u="none">
                <a:solidFill>
                  <a:srgbClr val="EB2427"/>
                </a:solidFill>
                <a:latin typeface="Poppins Bold"/>
                <a:ea typeface="Poppins Bold"/>
                <a:cs typeface="Poppins Bold"/>
                <a:sym typeface="Poppins Bold"/>
              </a:rPr>
              <a:t>a</a:t>
            </a:r>
            <a:r>
              <a:rPr lang="en-US" b="true" sz="3000" strike="noStrike" u="none">
                <a:solidFill>
                  <a:srgbClr val="EB2427"/>
                </a:solidFill>
                <a:latin typeface="Poppins Bold"/>
                <a:ea typeface="Poppins Bold"/>
                <a:cs typeface="Poppins Bold"/>
                <a:sym typeface="Poppins Bold"/>
              </a:rPr>
              <a:t>i đoạ</a:t>
            </a:r>
            <a:r>
              <a:rPr lang="en-US" b="true" sz="3000" strike="noStrike" u="none">
                <a:solidFill>
                  <a:srgbClr val="EB2427"/>
                </a:solidFill>
                <a:latin typeface="Poppins Bold"/>
                <a:ea typeface="Poppins Bold"/>
                <a:cs typeface="Poppins Bold"/>
                <a:sym typeface="Poppins Bold"/>
              </a:rPr>
              <a:t>n 2</a:t>
            </a:r>
          </a:p>
        </p:txBody>
      </p:sp>
      <p:sp>
        <p:nvSpPr>
          <p:cNvPr name="TextBox 12" id="12"/>
          <p:cNvSpPr txBox="true"/>
          <p:nvPr/>
        </p:nvSpPr>
        <p:spPr>
          <a:xfrm rot="0">
            <a:off x="307332" y="1091623"/>
            <a:ext cx="17383877" cy="604520"/>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Giai đoạn 2 :</a:t>
            </a:r>
          </a:p>
          <a:p>
            <a:pPr algn="l">
              <a:lnSpc>
                <a:spcPts val="2380"/>
              </a:lnSpc>
              <a:spcBef>
                <a:spcPct val="0"/>
              </a:spcBef>
            </a:pPr>
            <a:r>
              <a:rPr lang="en-US" sz="1700">
                <a:solidFill>
                  <a:srgbClr val="000000"/>
                </a:solidFill>
                <a:latin typeface="Poppins"/>
                <a:ea typeface="Poppins"/>
                <a:cs typeface="Poppins"/>
                <a:sym typeface="Poppins"/>
              </a:rPr>
              <a:t>Quy trình Giao đơn , thu phí COD và đối soát dữ liệu, chứng từ và hoàn tất vận đơn giữa Người Giao hàng, Bưu cục Viettel, Kết toán và Người nhận và Người gửi</a:t>
            </a:r>
          </a:p>
        </p:txBody>
      </p:sp>
      <p:sp>
        <p:nvSpPr>
          <p:cNvPr name="TextBox 13" id="13"/>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30</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2594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9" id="9"/>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0" id="10"/>
          <p:cNvSpPr txBox="true"/>
          <p:nvPr/>
        </p:nvSpPr>
        <p:spPr>
          <a:xfrm rot="0">
            <a:off x="5690018" y="212270"/>
            <a:ext cx="11900958"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a:t>
            </a:r>
            <a:r>
              <a:rPr lang="en-US" b="true" sz="3000" strike="noStrike" u="none">
                <a:solidFill>
                  <a:srgbClr val="EB2427"/>
                </a:solidFill>
                <a:latin typeface="Poppins Bold"/>
                <a:ea typeface="Poppins Bold"/>
                <a:cs typeface="Poppins Bold"/>
                <a:sym typeface="Poppins Bold"/>
              </a:rPr>
              <a:t>h</a:t>
            </a:r>
            <a:r>
              <a:rPr lang="en-US" b="true" sz="3000" strike="noStrike" u="none">
                <a:solidFill>
                  <a:srgbClr val="EB2427"/>
                </a:solidFill>
                <a:latin typeface="Poppins Bold"/>
                <a:ea typeface="Poppins Bold"/>
                <a:cs typeface="Poppins Bold"/>
                <a:sym typeface="Poppins Bold"/>
              </a:rPr>
              <a:t>u </a:t>
            </a:r>
            <a:r>
              <a:rPr lang="en-US" b="true" sz="3000" strike="noStrike" u="none">
                <a:solidFill>
                  <a:srgbClr val="EB2427"/>
                </a:solidFill>
                <a:latin typeface="Poppins Bold"/>
                <a:ea typeface="Poppins Bold"/>
                <a:cs typeface="Poppins Bold"/>
                <a:sym typeface="Poppins Bold"/>
              </a:rPr>
              <a:t>hộ COD</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chuyển</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iề</a:t>
            </a:r>
            <a:r>
              <a:rPr lang="en-US" b="true" sz="3000" strike="noStrike" u="none">
                <a:solidFill>
                  <a:srgbClr val="EB2427"/>
                </a:solidFill>
                <a:latin typeface="Poppins Bold"/>
                <a:ea typeface="Poppins Bold"/>
                <a:cs typeface="Poppins Bold"/>
                <a:sym typeface="Poppins Bold"/>
              </a:rPr>
              <a:t>n: </a:t>
            </a:r>
            <a:r>
              <a:rPr lang="en-US" b="true" sz="3000" strike="noStrike" u="none">
                <a:solidFill>
                  <a:srgbClr val="EB2427"/>
                </a:solidFill>
                <a:latin typeface="Poppins Bold"/>
                <a:ea typeface="Poppins Bold"/>
                <a:cs typeface="Poppins Bold"/>
                <a:sym typeface="Poppins Bold"/>
              </a:rPr>
              <a:t>BPMN –</a:t>
            </a:r>
            <a:r>
              <a:rPr lang="en-US" b="true" sz="3000" strike="noStrike" u="none">
                <a:solidFill>
                  <a:srgbClr val="EB2427"/>
                </a:solidFill>
                <a:latin typeface="Poppins Bold"/>
                <a:ea typeface="Poppins Bold"/>
                <a:cs typeface="Poppins Bold"/>
                <a:sym typeface="Poppins Bold"/>
              </a:rPr>
              <a:t> Sơ đồ định lượng</a:t>
            </a:r>
          </a:p>
        </p:txBody>
      </p:sp>
      <p:sp>
        <p:nvSpPr>
          <p:cNvPr name="TextBox 11" id="1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30</a:t>
            </a:r>
          </a:p>
        </p:txBody>
      </p:sp>
      <p:sp>
        <p:nvSpPr>
          <p:cNvPr name="Freeform 12" id="12"/>
          <p:cNvSpPr/>
          <p:nvPr/>
        </p:nvSpPr>
        <p:spPr>
          <a:xfrm flipH="false" flipV="false" rot="0">
            <a:off x="0" y="1189300"/>
            <a:ext cx="18288000" cy="7418070"/>
          </a:xfrm>
          <a:custGeom>
            <a:avLst/>
            <a:gdLst/>
            <a:ahLst/>
            <a:cxnLst/>
            <a:rect r="r" b="b" t="t" l="l"/>
            <a:pathLst>
              <a:path h="7418070" w="18288000">
                <a:moveTo>
                  <a:pt x="0" y="0"/>
                </a:moveTo>
                <a:lnTo>
                  <a:pt x="18288000" y="0"/>
                </a:lnTo>
                <a:lnTo>
                  <a:pt x="18288000" y="7418070"/>
                </a:lnTo>
                <a:lnTo>
                  <a:pt x="0" y="741807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3" id="13"/>
          <p:cNvSpPr txBox="true"/>
          <p:nvPr/>
        </p:nvSpPr>
        <p:spPr>
          <a:xfrm rot="0">
            <a:off x="483734" y="4908137"/>
            <a:ext cx="34926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3p</a:t>
            </a:r>
          </a:p>
        </p:txBody>
      </p:sp>
      <p:sp>
        <p:nvSpPr>
          <p:cNvPr name="TextBox 14" id="14"/>
          <p:cNvSpPr txBox="true"/>
          <p:nvPr/>
        </p:nvSpPr>
        <p:spPr>
          <a:xfrm rot="0">
            <a:off x="1461047" y="4887006"/>
            <a:ext cx="34926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3p</a:t>
            </a:r>
          </a:p>
        </p:txBody>
      </p:sp>
      <p:sp>
        <p:nvSpPr>
          <p:cNvPr name="TextBox 15" id="15"/>
          <p:cNvSpPr txBox="true"/>
          <p:nvPr/>
        </p:nvSpPr>
        <p:spPr>
          <a:xfrm rot="0">
            <a:off x="1313129" y="4041762"/>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16" id="16"/>
          <p:cNvSpPr txBox="true"/>
          <p:nvPr/>
        </p:nvSpPr>
        <p:spPr>
          <a:xfrm rot="0">
            <a:off x="1968182" y="4041762"/>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17" id="17"/>
          <p:cNvSpPr txBox="true"/>
          <p:nvPr/>
        </p:nvSpPr>
        <p:spPr>
          <a:xfrm rot="0">
            <a:off x="3721694" y="134422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18" id="18"/>
          <p:cNvSpPr txBox="true"/>
          <p:nvPr/>
        </p:nvSpPr>
        <p:spPr>
          <a:xfrm rot="0">
            <a:off x="3416822" y="4062829"/>
            <a:ext cx="42400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20p</a:t>
            </a:r>
          </a:p>
        </p:txBody>
      </p:sp>
      <p:sp>
        <p:nvSpPr>
          <p:cNvPr name="TextBox 19" id="19"/>
          <p:cNvSpPr txBox="true"/>
          <p:nvPr/>
        </p:nvSpPr>
        <p:spPr>
          <a:xfrm rot="0">
            <a:off x="3215121" y="4899577"/>
            <a:ext cx="34926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20" id="20"/>
          <p:cNvSpPr txBox="true"/>
          <p:nvPr/>
        </p:nvSpPr>
        <p:spPr>
          <a:xfrm rot="0">
            <a:off x="3131619" y="5504726"/>
            <a:ext cx="471441"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10h</a:t>
            </a:r>
          </a:p>
        </p:txBody>
      </p:sp>
      <p:sp>
        <p:nvSpPr>
          <p:cNvPr name="TextBox 21" id="21"/>
          <p:cNvSpPr txBox="true"/>
          <p:nvPr/>
        </p:nvSpPr>
        <p:spPr>
          <a:xfrm rot="0">
            <a:off x="3988007" y="5504726"/>
            <a:ext cx="396701"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2h</a:t>
            </a:r>
          </a:p>
        </p:txBody>
      </p:sp>
      <p:sp>
        <p:nvSpPr>
          <p:cNvPr name="TextBox 22" id="22"/>
          <p:cNvSpPr txBox="true"/>
          <p:nvPr/>
        </p:nvSpPr>
        <p:spPr>
          <a:xfrm rot="0">
            <a:off x="4620428" y="5504726"/>
            <a:ext cx="471441"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27h</a:t>
            </a:r>
          </a:p>
        </p:txBody>
      </p:sp>
      <p:sp>
        <p:nvSpPr>
          <p:cNvPr name="TextBox 23" id="23"/>
          <p:cNvSpPr txBox="true"/>
          <p:nvPr/>
        </p:nvSpPr>
        <p:spPr>
          <a:xfrm rot="0">
            <a:off x="5341117" y="4906860"/>
            <a:ext cx="34926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24" id="24"/>
          <p:cNvSpPr txBox="true"/>
          <p:nvPr/>
        </p:nvSpPr>
        <p:spPr>
          <a:xfrm rot="0">
            <a:off x="5129061" y="6178623"/>
            <a:ext cx="42411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12p</a:t>
            </a:r>
          </a:p>
        </p:txBody>
      </p:sp>
      <p:sp>
        <p:nvSpPr>
          <p:cNvPr name="TextBox 25" id="25"/>
          <p:cNvSpPr txBox="true"/>
          <p:nvPr/>
        </p:nvSpPr>
        <p:spPr>
          <a:xfrm rot="0">
            <a:off x="6548078" y="5908898"/>
            <a:ext cx="42411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20p</a:t>
            </a:r>
          </a:p>
        </p:txBody>
      </p:sp>
      <p:sp>
        <p:nvSpPr>
          <p:cNvPr name="TextBox 26" id="26"/>
          <p:cNvSpPr txBox="true"/>
          <p:nvPr/>
        </p:nvSpPr>
        <p:spPr>
          <a:xfrm rot="0">
            <a:off x="6045489" y="6135061"/>
            <a:ext cx="267333"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95%</a:t>
            </a:r>
          </a:p>
        </p:txBody>
      </p:sp>
      <p:sp>
        <p:nvSpPr>
          <p:cNvPr name="TextBox 27" id="27"/>
          <p:cNvSpPr txBox="true"/>
          <p:nvPr/>
        </p:nvSpPr>
        <p:spPr>
          <a:xfrm rot="0">
            <a:off x="6045489" y="6606235"/>
            <a:ext cx="192620"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5%</a:t>
            </a:r>
          </a:p>
        </p:txBody>
      </p:sp>
      <p:sp>
        <p:nvSpPr>
          <p:cNvPr name="TextBox 28" id="28"/>
          <p:cNvSpPr txBox="true"/>
          <p:nvPr/>
        </p:nvSpPr>
        <p:spPr>
          <a:xfrm rot="0">
            <a:off x="6760134" y="2848173"/>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29" id="29"/>
          <p:cNvSpPr txBox="true"/>
          <p:nvPr/>
        </p:nvSpPr>
        <p:spPr>
          <a:xfrm rot="0">
            <a:off x="7863116" y="257403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30" id="30"/>
          <p:cNvSpPr txBox="true"/>
          <p:nvPr/>
        </p:nvSpPr>
        <p:spPr>
          <a:xfrm rot="0">
            <a:off x="7676407" y="6135061"/>
            <a:ext cx="535992"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1,65p</a:t>
            </a:r>
          </a:p>
        </p:txBody>
      </p:sp>
      <p:sp>
        <p:nvSpPr>
          <p:cNvPr name="TextBox 31" id="31"/>
          <p:cNvSpPr txBox="true"/>
          <p:nvPr/>
        </p:nvSpPr>
        <p:spPr>
          <a:xfrm rot="0">
            <a:off x="10764475" y="6256605"/>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4p</a:t>
            </a:r>
          </a:p>
        </p:txBody>
      </p:sp>
      <p:sp>
        <p:nvSpPr>
          <p:cNvPr name="TextBox 32" id="32"/>
          <p:cNvSpPr txBox="true"/>
          <p:nvPr/>
        </p:nvSpPr>
        <p:spPr>
          <a:xfrm rot="0">
            <a:off x="10711427" y="4964987"/>
            <a:ext cx="536183"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5,95p</a:t>
            </a:r>
          </a:p>
        </p:txBody>
      </p:sp>
      <p:sp>
        <p:nvSpPr>
          <p:cNvPr name="TextBox 33" id="33"/>
          <p:cNvSpPr txBox="true"/>
          <p:nvPr/>
        </p:nvSpPr>
        <p:spPr>
          <a:xfrm rot="0">
            <a:off x="10735489" y="5541847"/>
            <a:ext cx="471626"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24h</a:t>
            </a:r>
          </a:p>
        </p:txBody>
      </p:sp>
      <p:sp>
        <p:nvSpPr>
          <p:cNvPr name="TextBox 34" id="34"/>
          <p:cNvSpPr txBox="true"/>
          <p:nvPr/>
        </p:nvSpPr>
        <p:spPr>
          <a:xfrm rot="0">
            <a:off x="11731148" y="7863488"/>
            <a:ext cx="42411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15p</a:t>
            </a:r>
          </a:p>
        </p:txBody>
      </p:sp>
      <p:sp>
        <p:nvSpPr>
          <p:cNvPr name="TextBox 35" id="35"/>
          <p:cNvSpPr txBox="true"/>
          <p:nvPr/>
        </p:nvSpPr>
        <p:spPr>
          <a:xfrm rot="0">
            <a:off x="7389822" y="2574036"/>
            <a:ext cx="192620"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8%</a:t>
            </a:r>
          </a:p>
        </p:txBody>
      </p:sp>
      <p:sp>
        <p:nvSpPr>
          <p:cNvPr name="TextBox 36" id="36"/>
          <p:cNvSpPr txBox="true"/>
          <p:nvPr/>
        </p:nvSpPr>
        <p:spPr>
          <a:xfrm rot="0">
            <a:off x="7448776" y="3520480"/>
            <a:ext cx="267333"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92%</a:t>
            </a:r>
          </a:p>
        </p:txBody>
      </p:sp>
      <p:sp>
        <p:nvSpPr>
          <p:cNvPr name="TextBox 37" id="37"/>
          <p:cNvSpPr txBox="true"/>
          <p:nvPr/>
        </p:nvSpPr>
        <p:spPr>
          <a:xfrm rot="0">
            <a:off x="559048" y="1422208"/>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38" id="38"/>
          <p:cNvSpPr txBox="true"/>
          <p:nvPr/>
        </p:nvSpPr>
        <p:spPr>
          <a:xfrm rot="0">
            <a:off x="12108620" y="600893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39" id="39"/>
          <p:cNvSpPr txBox="true"/>
          <p:nvPr/>
        </p:nvSpPr>
        <p:spPr>
          <a:xfrm rot="0">
            <a:off x="12045797" y="7076580"/>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40" id="40"/>
          <p:cNvSpPr txBox="true"/>
          <p:nvPr/>
        </p:nvSpPr>
        <p:spPr>
          <a:xfrm rot="0">
            <a:off x="15358930" y="6998598"/>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41" id="41"/>
          <p:cNvSpPr txBox="true"/>
          <p:nvPr/>
        </p:nvSpPr>
        <p:spPr>
          <a:xfrm rot="0">
            <a:off x="15358959" y="747550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4p</a:t>
            </a:r>
          </a:p>
        </p:txBody>
      </p:sp>
      <p:sp>
        <p:nvSpPr>
          <p:cNvPr name="TextBox 42" id="42"/>
          <p:cNvSpPr txBox="true"/>
          <p:nvPr/>
        </p:nvSpPr>
        <p:spPr>
          <a:xfrm rot="0">
            <a:off x="16186360" y="7030009"/>
            <a:ext cx="471626"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24h</a:t>
            </a:r>
          </a:p>
        </p:txBody>
      </p:sp>
      <p:sp>
        <p:nvSpPr>
          <p:cNvPr name="TextBox 43" id="43"/>
          <p:cNvSpPr txBox="true"/>
          <p:nvPr/>
        </p:nvSpPr>
        <p:spPr>
          <a:xfrm rot="0">
            <a:off x="16186360" y="7760875"/>
            <a:ext cx="471626"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72h</a:t>
            </a:r>
          </a:p>
        </p:txBody>
      </p:sp>
      <p:sp>
        <p:nvSpPr>
          <p:cNvPr name="TextBox 44" id="44"/>
          <p:cNvSpPr txBox="true"/>
          <p:nvPr/>
        </p:nvSpPr>
        <p:spPr>
          <a:xfrm rot="0">
            <a:off x="15032673" y="6998598"/>
            <a:ext cx="267333"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95%</a:t>
            </a:r>
          </a:p>
        </p:txBody>
      </p:sp>
      <p:sp>
        <p:nvSpPr>
          <p:cNvPr name="TextBox 45" id="45"/>
          <p:cNvSpPr txBox="true"/>
          <p:nvPr/>
        </p:nvSpPr>
        <p:spPr>
          <a:xfrm rot="0">
            <a:off x="15107386" y="7553488"/>
            <a:ext cx="192620"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5%</a:t>
            </a:r>
          </a:p>
        </p:txBody>
      </p:sp>
      <p:sp>
        <p:nvSpPr>
          <p:cNvPr name="TextBox 46" id="46"/>
          <p:cNvSpPr txBox="true"/>
          <p:nvPr/>
        </p:nvSpPr>
        <p:spPr>
          <a:xfrm rot="0">
            <a:off x="16889274" y="714156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47" id="47"/>
          <p:cNvSpPr txBox="true"/>
          <p:nvPr/>
        </p:nvSpPr>
        <p:spPr>
          <a:xfrm rot="0">
            <a:off x="17322769" y="5203376"/>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2p</a:t>
            </a:r>
          </a:p>
        </p:txBody>
      </p:sp>
      <p:sp>
        <p:nvSpPr>
          <p:cNvPr name="TextBox 48" id="48"/>
          <p:cNvSpPr txBox="true"/>
          <p:nvPr/>
        </p:nvSpPr>
        <p:spPr>
          <a:xfrm rot="0">
            <a:off x="8658310" y="6057080"/>
            <a:ext cx="267333"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35%</a:t>
            </a:r>
          </a:p>
        </p:txBody>
      </p:sp>
      <p:sp>
        <p:nvSpPr>
          <p:cNvPr name="TextBox 49" id="49"/>
          <p:cNvSpPr txBox="true"/>
          <p:nvPr/>
        </p:nvSpPr>
        <p:spPr>
          <a:xfrm rot="0">
            <a:off x="8677301" y="6662600"/>
            <a:ext cx="267333"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65%</a:t>
            </a:r>
          </a:p>
        </p:txBody>
      </p:sp>
      <p:sp>
        <p:nvSpPr>
          <p:cNvPr name="TextBox 50" id="50"/>
          <p:cNvSpPr txBox="true"/>
          <p:nvPr/>
        </p:nvSpPr>
        <p:spPr>
          <a:xfrm rot="0">
            <a:off x="2140371" y="1266244"/>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51" id="51"/>
          <p:cNvSpPr txBox="true"/>
          <p:nvPr/>
        </p:nvSpPr>
        <p:spPr>
          <a:xfrm rot="0">
            <a:off x="2142824" y="1751503"/>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52" id="52"/>
          <p:cNvSpPr txBox="true"/>
          <p:nvPr/>
        </p:nvSpPr>
        <p:spPr>
          <a:xfrm rot="0">
            <a:off x="2142824" y="2229594"/>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53" id="53"/>
          <p:cNvSpPr txBox="true"/>
          <p:nvPr/>
        </p:nvSpPr>
        <p:spPr>
          <a:xfrm rot="0">
            <a:off x="2956977" y="1370974"/>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0p</a:t>
            </a:r>
          </a:p>
        </p:txBody>
      </p:sp>
      <p:sp>
        <p:nvSpPr>
          <p:cNvPr name="TextBox 54" id="54"/>
          <p:cNvSpPr txBox="true"/>
          <p:nvPr/>
        </p:nvSpPr>
        <p:spPr>
          <a:xfrm rot="0">
            <a:off x="13337754" y="6818564"/>
            <a:ext cx="461353"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1,5p</a:t>
            </a:r>
          </a:p>
        </p:txBody>
      </p:sp>
      <p:sp>
        <p:nvSpPr>
          <p:cNvPr name="TextBox 55" id="55"/>
          <p:cNvSpPr txBox="true"/>
          <p:nvPr/>
        </p:nvSpPr>
        <p:spPr>
          <a:xfrm rot="0">
            <a:off x="13281979" y="7941470"/>
            <a:ext cx="461353"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1,5p</a:t>
            </a:r>
          </a:p>
        </p:txBody>
      </p:sp>
      <p:sp>
        <p:nvSpPr>
          <p:cNvPr name="TextBox 56" id="56"/>
          <p:cNvSpPr txBox="true"/>
          <p:nvPr/>
        </p:nvSpPr>
        <p:spPr>
          <a:xfrm rot="0">
            <a:off x="14347547" y="7063584"/>
            <a:ext cx="349284" cy="175014"/>
          </a:xfrm>
          <a:prstGeom prst="rect">
            <a:avLst/>
          </a:prstGeom>
        </p:spPr>
        <p:txBody>
          <a:bodyPr anchor="t" rtlCol="false" tIns="0" lIns="0" bIns="0" rIns="0">
            <a:spAutoFit/>
          </a:bodyPr>
          <a:lstStyle/>
          <a:p>
            <a:pPr algn="l">
              <a:lnSpc>
                <a:spcPts val="1441"/>
              </a:lnSpc>
              <a:spcBef>
                <a:spcPct val="0"/>
              </a:spcBef>
            </a:pPr>
            <a:r>
              <a:rPr lang="en-US" b="true" sz="1029">
                <a:solidFill>
                  <a:srgbClr val="1800AD"/>
                </a:solidFill>
                <a:latin typeface="Noto Sans Bold"/>
                <a:ea typeface="Noto Sans Bold"/>
                <a:cs typeface="Noto Sans Bold"/>
                <a:sym typeface="Noto Sans Bold"/>
              </a:rPr>
              <a:t>PT 5p</a:t>
            </a:r>
          </a:p>
        </p:txBody>
      </p:sp>
      <p:sp>
        <p:nvSpPr>
          <p:cNvPr name="TextBox 57" id="57"/>
          <p:cNvSpPr txBox="true"/>
          <p:nvPr/>
        </p:nvSpPr>
        <p:spPr>
          <a:xfrm rot="0">
            <a:off x="17139284" y="5582707"/>
            <a:ext cx="471626" cy="175014"/>
          </a:xfrm>
          <a:prstGeom prst="rect">
            <a:avLst/>
          </a:prstGeom>
        </p:spPr>
        <p:txBody>
          <a:bodyPr anchor="t" rtlCol="false" tIns="0" lIns="0" bIns="0" rIns="0">
            <a:spAutoFit/>
          </a:bodyPr>
          <a:lstStyle/>
          <a:p>
            <a:pPr algn="l">
              <a:lnSpc>
                <a:spcPts val="1441"/>
              </a:lnSpc>
              <a:spcBef>
                <a:spcPct val="0"/>
              </a:spcBef>
            </a:pPr>
            <a:r>
              <a:rPr lang="en-US" b="true" sz="1029">
                <a:solidFill>
                  <a:srgbClr val="FF3131"/>
                </a:solidFill>
                <a:latin typeface="Noto Sans Bold"/>
                <a:ea typeface="Noto Sans Bold"/>
                <a:cs typeface="Noto Sans Bold"/>
                <a:sym typeface="Noto Sans Bold"/>
              </a:rPr>
              <a:t>WT 24h</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2594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9" id="9"/>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0" id="10"/>
          <p:cNvSpPr txBox="true"/>
          <p:nvPr/>
        </p:nvSpPr>
        <p:spPr>
          <a:xfrm rot="0">
            <a:off x="5690018" y="212270"/>
            <a:ext cx="11900958"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a:t>
            </a:r>
            <a:r>
              <a:rPr lang="en-US" b="true" sz="3000" strike="noStrike" u="none">
                <a:solidFill>
                  <a:srgbClr val="EB2427"/>
                </a:solidFill>
                <a:latin typeface="Poppins Bold"/>
                <a:ea typeface="Poppins Bold"/>
                <a:cs typeface="Poppins Bold"/>
                <a:sym typeface="Poppins Bold"/>
              </a:rPr>
              <a:t>h</a:t>
            </a:r>
            <a:r>
              <a:rPr lang="en-US" b="true" sz="3000" strike="noStrike" u="none">
                <a:solidFill>
                  <a:srgbClr val="EB2427"/>
                </a:solidFill>
                <a:latin typeface="Poppins Bold"/>
                <a:ea typeface="Poppins Bold"/>
                <a:cs typeface="Poppins Bold"/>
                <a:sym typeface="Poppins Bold"/>
              </a:rPr>
              <a:t>u </a:t>
            </a:r>
            <a:r>
              <a:rPr lang="en-US" b="true" sz="3000" strike="noStrike" u="none">
                <a:solidFill>
                  <a:srgbClr val="EB2427"/>
                </a:solidFill>
                <a:latin typeface="Poppins Bold"/>
                <a:ea typeface="Poppins Bold"/>
                <a:cs typeface="Poppins Bold"/>
                <a:sym typeface="Poppins Bold"/>
              </a:rPr>
              <a:t>hộ COD</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chuyển</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iề</a:t>
            </a:r>
            <a:r>
              <a:rPr lang="en-US" b="true" sz="3000" strike="noStrike" u="none">
                <a:solidFill>
                  <a:srgbClr val="EB2427"/>
                </a:solidFill>
                <a:latin typeface="Poppins Bold"/>
                <a:ea typeface="Poppins Bold"/>
                <a:cs typeface="Poppins Bold"/>
                <a:sym typeface="Poppins Bold"/>
              </a:rPr>
              <a:t>n: </a:t>
            </a:r>
            <a:r>
              <a:rPr lang="en-US" b="true" sz="3000" strike="noStrike" u="none">
                <a:solidFill>
                  <a:srgbClr val="EB2427"/>
                </a:solidFill>
                <a:latin typeface="Poppins Bold"/>
                <a:ea typeface="Poppins Bold"/>
                <a:cs typeface="Poppins Bold"/>
                <a:sym typeface="Poppins Bold"/>
              </a:rPr>
              <a:t>BPMN –</a:t>
            </a:r>
            <a:r>
              <a:rPr lang="en-US" b="true" sz="3000" strike="noStrike" u="none">
                <a:solidFill>
                  <a:srgbClr val="EB2427"/>
                </a:solidFill>
                <a:latin typeface="Poppins Bold"/>
                <a:ea typeface="Poppins Bold"/>
                <a:cs typeface="Poppins Bold"/>
                <a:sym typeface="Poppins Bold"/>
              </a:rPr>
              <a:t> Sơ đồ giá trị gia tăng</a:t>
            </a:r>
          </a:p>
        </p:txBody>
      </p:sp>
      <p:sp>
        <p:nvSpPr>
          <p:cNvPr name="TextBox 11" id="1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30</a:t>
            </a:r>
          </a:p>
        </p:txBody>
      </p:sp>
      <p:grpSp>
        <p:nvGrpSpPr>
          <p:cNvPr name="Group 12" id="12"/>
          <p:cNvGrpSpPr/>
          <p:nvPr/>
        </p:nvGrpSpPr>
        <p:grpSpPr>
          <a:xfrm rot="0">
            <a:off x="0" y="1118153"/>
            <a:ext cx="18288000" cy="7418070"/>
            <a:chOff x="0" y="0"/>
            <a:chExt cx="24384000" cy="9890760"/>
          </a:xfrm>
        </p:grpSpPr>
        <p:sp>
          <p:nvSpPr>
            <p:cNvPr name="Freeform 13" id="13"/>
            <p:cNvSpPr/>
            <p:nvPr/>
          </p:nvSpPr>
          <p:spPr>
            <a:xfrm flipH="false" flipV="false" rot="0">
              <a:off x="0" y="0"/>
              <a:ext cx="24384000" cy="9890760"/>
            </a:xfrm>
            <a:custGeom>
              <a:avLst/>
              <a:gdLst/>
              <a:ahLst/>
              <a:cxnLst/>
              <a:rect r="r" b="b" t="t" l="l"/>
              <a:pathLst>
                <a:path h="9890760" w="24384000">
                  <a:moveTo>
                    <a:pt x="0" y="0"/>
                  </a:moveTo>
                  <a:lnTo>
                    <a:pt x="24384000" y="0"/>
                  </a:lnTo>
                  <a:lnTo>
                    <a:pt x="24384000" y="9890760"/>
                  </a:lnTo>
                  <a:lnTo>
                    <a:pt x="0" y="98907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4" id="14"/>
            <p:cNvSpPr txBox="true"/>
            <p:nvPr/>
          </p:nvSpPr>
          <p:spPr>
            <a:xfrm rot="0">
              <a:off x="1307796" y="7532196"/>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15" id="15"/>
            <p:cNvSpPr txBox="true"/>
            <p:nvPr/>
          </p:nvSpPr>
          <p:spPr>
            <a:xfrm rot="0">
              <a:off x="1556948" y="7510393"/>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16" id="16"/>
            <p:cNvSpPr txBox="true"/>
            <p:nvPr/>
          </p:nvSpPr>
          <p:spPr>
            <a:xfrm rot="0">
              <a:off x="1557277" y="7437504"/>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17" id="17"/>
            <p:cNvSpPr txBox="true"/>
            <p:nvPr/>
          </p:nvSpPr>
          <p:spPr>
            <a:xfrm rot="0">
              <a:off x="1555888" y="7589257"/>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18" id="18"/>
            <p:cNvSpPr txBox="true"/>
            <p:nvPr/>
          </p:nvSpPr>
          <p:spPr>
            <a:xfrm rot="0">
              <a:off x="1556948" y="7653781"/>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19" id="19"/>
            <p:cNvSpPr txBox="true"/>
            <p:nvPr/>
          </p:nvSpPr>
          <p:spPr>
            <a:xfrm rot="0">
              <a:off x="1692107" y="7510393"/>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0" id="20"/>
            <p:cNvSpPr txBox="true"/>
            <p:nvPr/>
          </p:nvSpPr>
          <p:spPr>
            <a:xfrm rot="0">
              <a:off x="1320015" y="8177547"/>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1" id="21"/>
            <p:cNvSpPr txBox="true"/>
            <p:nvPr/>
          </p:nvSpPr>
          <p:spPr>
            <a:xfrm rot="0">
              <a:off x="1423639" y="8177547"/>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2" id="22"/>
            <p:cNvSpPr txBox="true"/>
            <p:nvPr/>
          </p:nvSpPr>
          <p:spPr>
            <a:xfrm rot="0">
              <a:off x="1423639" y="7946124"/>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3" id="23"/>
            <p:cNvSpPr txBox="true"/>
            <p:nvPr/>
          </p:nvSpPr>
          <p:spPr>
            <a:xfrm rot="0">
              <a:off x="1538561" y="7946124"/>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4" id="24"/>
            <p:cNvSpPr txBox="true"/>
            <p:nvPr/>
          </p:nvSpPr>
          <p:spPr>
            <a:xfrm rot="0">
              <a:off x="1616018" y="7946124"/>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5" id="25"/>
            <p:cNvSpPr txBox="true"/>
            <p:nvPr/>
          </p:nvSpPr>
          <p:spPr>
            <a:xfrm rot="0">
              <a:off x="1755822" y="7946124"/>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6" id="26"/>
            <p:cNvSpPr txBox="true"/>
            <p:nvPr/>
          </p:nvSpPr>
          <p:spPr>
            <a:xfrm rot="0">
              <a:off x="1803727" y="7521158"/>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7" id="27"/>
            <p:cNvSpPr txBox="true"/>
            <p:nvPr/>
          </p:nvSpPr>
          <p:spPr>
            <a:xfrm rot="0">
              <a:off x="1761990" y="8177718"/>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28" id="28"/>
            <p:cNvSpPr txBox="true"/>
            <p:nvPr/>
          </p:nvSpPr>
          <p:spPr>
            <a:xfrm rot="0">
              <a:off x="1853913" y="8177718"/>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29" id="29"/>
            <p:cNvSpPr txBox="true"/>
            <p:nvPr/>
          </p:nvSpPr>
          <p:spPr>
            <a:xfrm rot="0">
              <a:off x="1971207" y="8177547"/>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0" id="30"/>
            <p:cNvSpPr txBox="true"/>
            <p:nvPr/>
          </p:nvSpPr>
          <p:spPr>
            <a:xfrm rot="0">
              <a:off x="2076165" y="8077346"/>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31" id="31"/>
            <p:cNvSpPr txBox="true"/>
            <p:nvPr/>
          </p:nvSpPr>
          <p:spPr>
            <a:xfrm rot="0">
              <a:off x="2039391" y="8276098"/>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32" id="32"/>
            <p:cNvSpPr txBox="true"/>
            <p:nvPr/>
          </p:nvSpPr>
          <p:spPr>
            <a:xfrm rot="0">
              <a:off x="2199365" y="8276098"/>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3" id="33"/>
            <p:cNvSpPr txBox="true"/>
            <p:nvPr/>
          </p:nvSpPr>
          <p:spPr>
            <a:xfrm rot="0">
              <a:off x="2268998" y="7756229"/>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4" id="34"/>
            <p:cNvSpPr txBox="true"/>
            <p:nvPr/>
          </p:nvSpPr>
          <p:spPr>
            <a:xfrm rot="0">
              <a:off x="2491017" y="7845300"/>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5" id="35"/>
            <p:cNvSpPr txBox="true"/>
            <p:nvPr/>
          </p:nvSpPr>
          <p:spPr>
            <a:xfrm rot="0">
              <a:off x="2484849" y="7734153"/>
              <a:ext cx="3677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BVA</a:t>
              </a:r>
            </a:p>
          </p:txBody>
        </p:sp>
        <p:sp>
          <p:nvSpPr>
            <p:cNvPr name="TextBox 36" id="36"/>
            <p:cNvSpPr txBox="true"/>
            <p:nvPr/>
          </p:nvSpPr>
          <p:spPr>
            <a:xfrm rot="0">
              <a:off x="2387399" y="8272775"/>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7" id="37"/>
            <p:cNvSpPr txBox="true"/>
            <p:nvPr/>
          </p:nvSpPr>
          <p:spPr>
            <a:xfrm rot="0">
              <a:off x="2647417" y="8215434"/>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8" id="38"/>
            <p:cNvSpPr txBox="true"/>
            <p:nvPr/>
          </p:nvSpPr>
          <p:spPr>
            <a:xfrm rot="0">
              <a:off x="2622981" y="8376760"/>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39" id="39"/>
            <p:cNvSpPr txBox="true"/>
            <p:nvPr/>
          </p:nvSpPr>
          <p:spPr>
            <a:xfrm rot="0">
              <a:off x="2740714" y="8365722"/>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40" id="40"/>
            <p:cNvSpPr txBox="true"/>
            <p:nvPr/>
          </p:nvSpPr>
          <p:spPr>
            <a:xfrm rot="0">
              <a:off x="2896344" y="8376760"/>
              <a:ext cx="24437"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VA</a:t>
              </a:r>
            </a:p>
          </p:txBody>
        </p:sp>
        <p:sp>
          <p:nvSpPr>
            <p:cNvPr name="TextBox 41" id="41"/>
            <p:cNvSpPr txBox="true"/>
            <p:nvPr/>
          </p:nvSpPr>
          <p:spPr>
            <a:xfrm rot="0">
              <a:off x="2908562" y="8077346"/>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2" id="42"/>
            <p:cNvSpPr txBox="true"/>
            <p:nvPr/>
          </p:nvSpPr>
          <p:spPr>
            <a:xfrm rot="0">
              <a:off x="3061632" y="8077346"/>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3" id="43"/>
            <p:cNvSpPr txBox="true"/>
            <p:nvPr/>
          </p:nvSpPr>
          <p:spPr>
            <a:xfrm rot="0">
              <a:off x="3110867" y="7740708"/>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4" id="44"/>
            <p:cNvSpPr txBox="true"/>
            <p:nvPr/>
          </p:nvSpPr>
          <p:spPr>
            <a:xfrm rot="0">
              <a:off x="3241411" y="8376760"/>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5" id="45"/>
            <p:cNvSpPr txBox="true"/>
            <p:nvPr/>
          </p:nvSpPr>
          <p:spPr>
            <a:xfrm rot="0">
              <a:off x="3340797" y="8376760"/>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6" id="46"/>
            <p:cNvSpPr txBox="true"/>
            <p:nvPr/>
          </p:nvSpPr>
          <p:spPr>
            <a:xfrm rot="0">
              <a:off x="3340797" y="8494148"/>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7" id="47"/>
            <p:cNvSpPr txBox="true"/>
            <p:nvPr/>
          </p:nvSpPr>
          <p:spPr>
            <a:xfrm rot="0">
              <a:off x="3582262" y="8483110"/>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8" id="48"/>
            <p:cNvSpPr txBox="true"/>
            <p:nvPr/>
          </p:nvSpPr>
          <p:spPr>
            <a:xfrm rot="0">
              <a:off x="3662280" y="8472072"/>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49" id="49"/>
            <p:cNvSpPr txBox="true"/>
            <p:nvPr/>
          </p:nvSpPr>
          <p:spPr>
            <a:xfrm rot="0">
              <a:off x="3702433" y="8166680"/>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B</a:t>
              </a:r>
              <a:r>
                <a:rPr lang="en-US" b="true" sz="109">
                  <a:solidFill>
                    <a:srgbClr val="FF751F"/>
                  </a:solidFill>
                  <a:latin typeface="Noto Sans Bold"/>
                  <a:ea typeface="Noto Sans Bold"/>
                  <a:cs typeface="Noto Sans Bold"/>
                  <a:sym typeface="Noto Sans Bold"/>
                </a:rPr>
                <a:t>VA</a:t>
              </a:r>
            </a:p>
          </p:txBody>
        </p:sp>
        <p:sp>
          <p:nvSpPr>
            <p:cNvPr name="TextBox 50" id="50"/>
            <p:cNvSpPr txBox="true"/>
            <p:nvPr/>
          </p:nvSpPr>
          <p:spPr>
            <a:xfrm rot="0">
              <a:off x="3081708" y="8562267"/>
              <a:ext cx="40153" cy="22076"/>
            </a:xfrm>
            <a:prstGeom prst="rect">
              <a:avLst/>
            </a:prstGeom>
          </p:spPr>
          <p:txBody>
            <a:bodyPr anchor="t" rtlCol="false" tIns="0" lIns="0" bIns="0" rIns="0">
              <a:spAutoFit/>
            </a:bodyPr>
            <a:lstStyle/>
            <a:p>
              <a:pPr algn="l">
                <a:lnSpc>
                  <a:spcPts val="153"/>
                </a:lnSpc>
                <a:spcBef>
                  <a:spcPct val="0"/>
                </a:spcBef>
              </a:pPr>
              <a:r>
                <a:rPr lang="en-US" b="true" sz="109">
                  <a:solidFill>
                    <a:srgbClr val="FF751F"/>
                  </a:solidFill>
                  <a:latin typeface="Noto Sans Bold"/>
                  <a:ea typeface="Noto Sans Bold"/>
                  <a:cs typeface="Noto Sans Bold"/>
                  <a:sym typeface="Noto Sans Bold"/>
                </a:rPr>
                <a:t>N</a:t>
              </a:r>
              <a:r>
                <a:rPr lang="en-US" b="true" sz="109">
                  <a:solidFill>
                    <a:srgbClr val="FF751F"/>
                  </a:solidFill>
                  <a:latin typeface="Noto Sans Bold"/>
                  <a:ea typeface="Noto Sans Bold"/>
                  <a:cs typeface="Noto Sans Bold"/>
                  <a:sym typeface="Noto Sans Bold"/>
                </a:rPr>
                <a:t>VA</a:t>
              </a:r>
            </a:p>
          </p:txBody>
        </p:sp>
        <p:sp>
          <p:nvSpPr>
            <p:cNvPr name="TextBox 51" id="51"/>
            <p:cNvSpPr txBox="true"/>
            <p:nvPr/>
          </p:nvSpPr>
          <p:spPr>
            <a:xfrm rot="0">
              <a:off x="601088" y="379225"/>
              <a:ext cx="203454"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52" id="52"/>
            <p:cNvSpPr txBox="true"/>
            <p:nvPr/>
          </p:nvSpPr>
          <p:spPr>
            <a:xfrm rot="0">
              <a:off x="2692889" y="142998"/>
              <a:ext cx="203454"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53" id="53"/>
            <p:cNvSpPr txBox="true"/>
            <p:nvPr/>
          </p:nvSpPr>
          <p:spPr>
            <a:xfrm rot="0">
              <a:off x="2692889" y="793516"/>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4" id="54"/>
            <p:cNvSpPr txBox="true"/>
            <p:nvPr/>
          </p:nvSpPr>
          <p:spPr>
            <a:xfrm rot="0">
              <a:off x="2659636" y="1412718"/>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5" id="55"/>
            <p:cNvSpPr txBox="true"/>
            <p:nvPr/>
          </p:nvSpPr>
          <p:spPr>
            <a:xfrm rot="0">
              <a:off x="3832914" y="28960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6" id="56"/>
            <p:cNvSpPr txBox="true"/>
            <p:nvPr/>
          </p:nvSpPr>
          <p:spPr>
            <a:xfrm rot="0">
              <a:off x="4770258" y="28960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7" id="57"/>
            <p:cNvSpPr txBox="true"/>
            <p:nvPr/>
          </p:nvSpPr>
          <p:spPr>
            <a:xfrm rot="0">
              <a:off x="405464" y="499656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8" id="58"/>
            <p:cNvSpPr txBox="true"/>
            <p:nvPr/>
          </p:nvSpPr>
          <p:spPr>
            <a:xfrm rot="0">
              <a:off x="1764923" y="500897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59" id="59"/>
            <p:cNvSpPr txBox="true"/>
            <p:nvPr/>
          </p:nvSpPr>
          <p:spPr>
            <a:xfrm rot="0">
              <a:off x="1541450" y="384505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0" id="60"/>
            <p:cNvSpPr txBox="true"/>
            <p:nvPr/>
          </p:nvSpPr>
          <p:spPr>
            <a:xfrm rot="0">
              <a:off x="2457068" y="3838849"/>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1" id="61"/>
            <p:cNvSpPr txBox="true"/>
            <p:nvPr/>
          </p:nvSpPr>
          <p:spPr>
            <a:xfrm rot="0">
              <a:off x="4549677" y="3885838"/>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2" id="62"/>
            <p:cNvSpPr txBox="true"/>
            <p:nvPr/>
          </p:nvSpPr>
          <p:spPr>
            <a:xfrm rot="0">
              <a:off x="5272051" y="5006871"/>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3" id="63"/>
            <p:cNvSpPr txBox="true"/>
            <p:nvPr/>
          </p:nvSpPr>
          <p:spPr>
            <a:xfrm rot="0">
              <a:off x="4575190" y="5017311"/>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64" id="64"/>
            <p:cNvSpPr txBox="true"/>
            <p:nvPr/>
          </p:nvSpPr>
          <p:spPr>
            <a:xfrm rot="0">
              <a:off x="6108787" y="5006871"/>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65" id="65"/>
            <p:cNvSpPr txBox="true"/>
            <p:nvPr/>
          </p:nvSpPr>
          <p:spPr>
            <a:xfrm rot="0">
              <a:off x="7070862" y="5017311"/>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6" id="66"/>
            <p:cNvSpPr txBox="true"/>
            <p:nvPr/>
          </p:nvSpPr>
          <p:spPr>
            <a:xfrm rot="0">
              <a:off x="6780030" y="6665795"/>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67" id="67"/>
            <p:cNvSpPr txBox="true"/>
            <p:nvPr/>
          </p:nvSpPr>
          <p:spPr>
            <a:xfrm rot="0">
              <a:off x="9499194" y="6390096"/>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68" id="68"/>
            <p:cNvSpPr txBox="true"/>
            <p:nvPr/>
          </p:nvSpPr>
          <p:spPr>
            <a:xfrm rot="0">
              <a:off x="8930166" y="219465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69" id="69"/>
            <p:cNvSpPr txBox="true"/>
            <p:nvPr/>
          </p:nvSpPr>
          <p:spPr>
            <a:xfrm rot="0">
              <a:off x="11020280" y="201085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70" id="70"/>
            <p:cNvSpPr txBox="true"/>
            <p:nvPr/>
          </p:nvSpPr>
          <p:spPr>
            <a:xfrm rot="0">
              <a:off x="11035044" y="3025764"/>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71" id="71"/>
            <p:cNvSpPr txBox="true"/>
            <p:nvPr/>
          </p:nvSpPr>
          <p:spPr>
            <a:xfrm rot="0">
              <a:off x="10699274" y="6690153"/>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72" id="72"/>
            <p:cNvSpPr txBox="true"/>
            <p:nvPr/>
          </p:nvSpPr>
          <p:spPr>
            <a:xfrm rot="0">
              <a:off x="11737567" y="6390096"/>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73" id="73"/>
            <p:cNvSpPr txBox="true"/>
            <p:nvPr/>
          </p:nvSpPr>
          <p:spPr>
            <a:xfrm rot="0">
              <a:off x="11737567" y="7307543"/>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74" id="74"/>
            <p:cNvSpPr txBox="true"/>
            <p:nvPr/>
          </p:nvSpPr>
          <p:spPr>
            <a:xfrm rot="0">
              <a:off x="13143856" y="6827293"/>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VA</a:t>
              </a:r>
            </a:p>
          </p:txBody>
        </p:sp>
        <p:sp>
          <p:nvSpPr>
            <p:cNvPr name="TextBox 75" id="75"/>
            <p:cNvSpPr txBox="true"/>
            <p:nvPr/>
          </p:nvSpPr>
          <p:spPr>
            <a:xfrm rot="0">
              <a:off x="14241509" y="6827293"/>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76" id="76"/>
            <p:cNvSpPr txBox="true"/>
            <p:nvPr/>
          </p:nvSpPr>
          <p:spPr>
            <a:xfrm rot="0">
              <a:off x="14477397" y="505704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77" id="77"/>
            <p:cNvSpPr txBox="true"/>
            <p:nvPr/>
          </p:nvSpPr>
          <p:spPr>
            <a:xfrm rot="0">
              <a:off x="15138339" y="401318"/>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78" id="78"/>
            <p:cNvSpPr txBox="true"/>
            <p:nvPr/>
          </p:nvSpPr>
          <p:spPr>
            <a:xfrm rot="0">
              <a:off x="15284646" y="9210610"/>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79" id="79"/>
            <p:cNvSpPr txBox="true"/>
            <p:nvPr/>
          </p:nvSpPr>
          <p:spPr>
            <a:xfrm rot="0">
              <a:off x="16060593" y="643961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0" id="80"/>
            <p:cNvSpPr txBox="true"/>
            <p:nvPr/>
          </p:nvSpPr>
          <p:spPr>
            <a:xfrm rot="0">
              <a:off x="16060593" y="7885534"/>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1" id="81"/>
            <p:cNvSpPr txBox="true"/>
            <p:nvPr/>
          </p:nvSpPr>
          <p:spPr>
            <a:xfrm rot="0">
              <a:off x="17412314" y="7787396"/>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2" id="82"/>
            <p:cNvSpPr txBox="true"/>
            <p:nvPr/>
          </p:nvSpPr>
          <p:spPr>
            <a:xfrm rot="0">
              <a:off x="17412314" y="875047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3" id="83"/>
            <p:cNvSpPr txBox="true"/>
            <p:nvPr/>
          </p:nvSpPr>
          <p:spPr>
            <a:xfrm rot="0">
              <a:off x="19284939" y="7867006"/>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4" id="84"/>
            <p:cNvSpPr txBox="true"/>
            <p:nvPr/>
          </p:nvSpPr>
          <p:spPr>
            <a:xfrm rot="0">
              <a:off x="21773968" y="7793634"/>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5" id="85"/>
            <p:cNvSpPr txBox="true"/>
            <p:nvPr/>
          </p:nvSpPr>
          <p:spPr>
            <a:xfrm rot="0">
              <a:off x="21773968" y="8750472"/>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6" id="86"/>
            <p:cNvSpPr txBox="true"/>
            <p:nvPr/>
          </p:nvSpPr>
          <p:spPr>
            <a:xfrm rot="0">
              <a:off x="22491654" y="7962957"/>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7" id="87"/>
            <p:cNvSpPr txBox="true"/>
            <p:nvPr/>
          </p:nvSpPr>
          <p:spPr>
            <a:xfrm rot="0">
              <a:off x="22276573" y="5588769"/>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sp>
          <p:nvSpPr>
            <p:cNvPr name="TextBox 88" id="88"/>
            <p:cNvSpPr txBox="true"/>
            <p:nvPr/>
          </p:nvSpPr>
          <p:spPr>
            <a:xfrm rot="0">
              <a:off x="22746241" y="370725"/>
              <a:ext cx="335770" cy="202850"/>
            </a:xfrm>
            <a:prstGeom prst="rect">
              <a:avLst/>
            </a:prstGeom>
          </p:spPr>
          <p:txBody>
            <a:bodyPr anchor="t" rtlCol="false" tIns="0" lIns="0" bIns="0" rIns="0">
              <a:spAutoFit/>
            </a:bodyPr>
            <a:lstStyle/>
            <a:p>
              <a:pPr algn="l">
                <a:lnSpc>
                  <a:spcPts val="1273"/>
                </a:lnSpc>
                <a:spcBef>
                  <a:spcPct val="0"/>
                </a:spcBef>
              </a:pPr>
              <a:r>
                <a:rPr lang="en-US" b="true" sz="909">
                  <a:solidFill>
                    <a:srgbClr val="FF751F"/>
                  </a:solidFill>
                  <a:latin typeface="Noto Sans Bold"/>
                  <a:ea typeface="Noto Sans Bold"/>
                  <a:cs typeface="Noto Sans Bold"/>
                  <a:sym typeface="Noto Sans Bold"/>
                </a:rPr>
                <a:t>BVA</a:t>
              </a:r>
            </a:p>
          </p:txBody>
        </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2594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9" id="9"/>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0" id="10"/>
          <p:cNvSpPr txBox="true"/>
          <p:nvPr/>
        </p:nvSpPr>
        <p:spPr>
          <a:xfrm rot="0">
            <a:off x="5690018" y="212270"/>
            <a:ext cx="11900958"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a:t>
            </a:r>
            <a:r>
              <a:rPr lang="en-US" b="true" sz="3000" strike="noStrike" u="none">
                <a:solidFill>
                  <a:srgbClr val="EB2427"/>
                </a:solidFill>
                <a:latin typeface="Poppins Bold"/>
                <a:ea typeface="Poppins Bold"/>
                <a:cs typeface="Poppins Bold"/>
                <a:sym typeface="Poppins Bold"/>
              </a:rPr>
              <a:t>h</a:t>
            </a:r>
            <a:r>
              <a:rPr lang="en-US" b="true" sz="3000" strike="noStrike" u="none">
                <a:solidFill>
                  <a:srgbClr val="EB2427"/>
                </a:solidFill>
                <a:latin typeface="Poppins Bold"/>
                <a:ea typeface="Poppins Bold"/>
                <a:cs typeface="Poppins Bold"/>
                <a:sym typeface="Poppins Bold"/>
              </a:rPr>
              <a:t>u </a:t>
            </a:r>
            <a:r>
              <a:rPr lang="en-US" b="true" sz="3000" strike="noStrike" u="none">
                <a:solidFill>
                  <a:srgbClr val="EB2427"/>
                </a:solidFill>
                <a:latin typeface="Poppins Bold"/>
                <a:ea typeface="Poppins Bold"/>
                <a:cs typeface="Poppins Bold"/>
                <a:sym typeface="Poppins Bold"/>
              </a:rPr>
              <a:t>hộ COD</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chuyển</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iề</a:t>
            </a:r>
            <a:r>
              <a:rPr lang="en-US" b="true" sz="3000" strike="noStrike" u="none">
                <a:solidFill>
                  <a:srgbClr val="EB2427"/>
                </a:solidFill>
                <a:latin typeface="Poppins Bold"/>
                <a:ea typeface="Poppins Bold"/>
                <a:cs typeface="Poppins Bold"/>
                <a:sym typeface="Poppins Bold"/>
              </a:rPr>
              <a:t>n: </a:t>
            </a:r>
            <a:r>
              <a:rPr lang="en-US" b="true" sz="3000" strike="noStrike" u="none">
                <a:solidFill>
                  <a:srgbClr val="EB2427"/>
                </a:solidFill>
                <a:latin typeface="Poppins Bold"/>
                <a:ea typeface="Poppins Bold"/>
                <a:cs typeface="Poppins Bold"/>
                <a:sym typeface="Poppins Bold"/>
              </a:rPr>
              <a:t>BPMN –</a:t>
            </a:r>
            <a:r>
              <a:rPr lang="en-US" b="true" sz="3000" strike="noStrike" u="none">
                <a:solidFill>
                  <a:srgbClr val="EB2427"/>
                </a:solidFill>
                <a:latin typeface="Poppins Bold"/>
                <a:ea typeface="Poppins Bold"/>
                <a:cs typeface="Poppins Bold"/>
                <a:sym typeface="Poppins Bold"/>
              </a:rPr>
              <a:t> Sơ đồ lãng phí</a:t>
            </a:r>
          </a:p>
        </p:txBody>
      </p:sp>
      <p:sp>
        <p:nvSpPr>
          <p:cNvPr name="TextBox 11" id="1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30</a:t>
            </a:r>
          </a:p>
        </p:txBody>
      </p:sp>
      <p:grpSp>
        <p:nvGrpSpPr>
          <p:cNvPr name="Group 12" id="12"/>
          <p:cNvGrpSpPr/>
          <p:nvPr/>
        </p:nvGrpSpPr>
        <p:grpSpPr>
          <a:xfrm rot="0">
            <a:off x="0" y="1189300"/>
            <a:ext cx="18288000" cy="7418070"/>
            <a:chOff x="0" y="0"/>
            <a:chExt cx="24384000" cy="9890760"/>
          </a:xfrm>
        </p:grpSpPr>
        <p:sp>
          <p:nvSpPr>
            <p:cNvPr name="Freeform 13" id="13"/>
            <p:cNvSpPr/>
            <p:nvPr/>
          </p:nvSpPr>
          <p:spPr>
            <a:xfrm flipH="false" flipV="false" rot="0">
              <a:off x="0" y="0"/>
              <a:ext cx="24384000" cy="9890760"/>
            </a:xfrm>
            <a:custGeom>
              <a:avLst/>
              <a:gdLst/>
              <a:ahLst/>
              <a:cxnLst/>
              <a:rect r="r" b="b" t="t" l="l"/>
              <a:pathLst>
                <a:path h="9890760" w="24384000">
                  <a:moveTo>
                    <a:pt x="0" y="0"/>
                  </a:moveTo>
                  <a:lnTo>
                    <a:pt x="24384000" y="0"/>
                  </a:lnTo>
                  <a:lnTo>
                    <a:pt x="24384000" y="9890760"/>
                  </a:lnTo>
                  <a:lnTo>
                    <a:pt x="0" y="98907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4" id="14"/>
            <p:cNvGrpSpPr/>
            <p:nvPr/>
          </p:nvGrpSpPr>
          <p:grpSpPr>
            <a:xfrm rot="0">
              <a:off x="10601164" y="7642517"/>
              <a:ext cx="3181671" cy="342386"/>
              <a:chOff x="0" y="0"/>
              <a:chExt cx="1464552" cy="157603"/>
            </a:xfrm>
          </p:grpSpPr>
          <p:sp>
            <p:nvSpPr>
              <p:cNvPr name="Freeform 15" id="15"/>
              <p:cNvSpPr/>
              <p:nvPr/>
            </p:nvSpPr>
            <p:spPr>
              <a:xfrm flipH="false" flipV="false" rot="0">
                <a:off x="0" y="0"/>
                <a:ext cx="1464552" cy="157603"/>
              </a:xfrm>
              <a:custGeom>
                <a:avLst/>
                <a:gdLst/>
                <a:ahLst/>
                <a:cxnLst/>
                <a:rect r="r" b="b" t="t" l="l"/>
                <a:pathLst>
                  <a:path h="157603" w="1464552">
                    <a:moveTo>
                      <a:pt x="22711" y="0"/>
                    </a:moveTo>
                    <a:lnTo>
                      <a:pt x="1441841" y="0"/>
                    </a:lnTo>
                    <a:cubicBezTo>
                      <a:pt x="1447864" y="0"/>
                      <a:pt x="1453641" y="2393"/>
                      <a:pt x="1457900" y="6652"/>
                    </a:cubicBezTo>
                    <a:cubicBezTo>
                      <a:pt x="1462159" y="10911"/>
                      <a:pt x="1464552" y="16687"/>
                      <a:pt x="1464552" y="22711"/>
                    </a:cubicBezTo>
                    <a:lnTo>
                      <a:pt x="1464552" y="134893"/>
                    </a:lnTo>
                    <a:cubicBezTo>
                      <a:pt x="1464552" y="140916"/>
                      <a:pt x="1462159" y="146692"/>
                      <a:pt x="1457900" y="150951"/>
                    </a:cubicBezTo>
                    <a:cubicBezTo>
                      <a:pt x="1453641" y="155211"/>
                      <a:pt x="1447864" y="157603"/>
                      <a:pt x="1441841" y="157603"/>
                    </a:cubicBezTo>
                    <a:lnTo>
                      <a:pt x="22711" y="157603"/>
                    </a:lnTo>
                    <a:cubicBezTo>
                      <a:pt x="16687" y="157603"/>
                      <a:pt x="10911" y="155211"/>
                      <a:pt x="6652" y="150951"/>
                    </a:cubicBezTo>
                    <a:cubicBezTo>
                      <a:pt x="2393" y="146692"/>
                      <a:pt x="0" y="140916"/>
                      <a:pt x="0" y="134893"/>
                    </a:cubicBezTo>
                    <a:lnTo>
                      <a:pt x="0" y="22711"/>
                    </a:lnTo>
                    <a:cubicBezTo>
                      <a:pt x="0" y="16687"/>
                      <a:pt x="2393" y="10911"/>
                      <a:pt x="6652" y="6652"/>
                    </a:cubicBezTo>
                    <a:cubicBezTo>
                      <a:pt x="10911" y="2393"/>
                      <a:pt x="16687" y="0"/>
                      <a:pt x="22711" y="0"/>
                    </a:cubicBezTo>
                    <a:close/>
                  </a:path>
                </a:pathLst>
              </a:custGeom>
              <a:solidFill>
                <a:srgbClr val="F7DE59"/>
              </a:solidFill>
            </p:spPr>
          </p:sp>
          <p:sp>
            <p:nvSpPr>
              <p:cNvPr name="TextBox 16" id="16"/>
              <p:cNvSpPr txBox="true"/>
              <p:nvPr/>
            </p:nvSpPr>
            <p:spPr>
              <a:xfrm>
                <a:off x="0" y="-9525"/>
                <a:ext cx="1464552" cy="167128"/>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MOVE </a:t>
                </a:r>
                <a:r>
                  <a:rPr lang="en-US" sz="579">
                    <a:solidFill>
                      <a:srgbClr val="000000"/>
                    </a:solidFill>
                    <a:latin typeface="Noto Sans"/>
                    <a:ea typeface="Noto Sans"/>
                    <a:cs typeface="Noto Sans"/>
                    <a:sym typeface="Noto Sans"/>
                  </a:rPr>
                  <a:t>- Motion – thao tác thủ công thu tiền, đối chiếu tay</a:t>
                </a:r>
              </a:p>
            </p:txBody>
          </p:sp>
        </p:grpSp>
        <p:grpSp>
          <p:nvGrpSpPr>
            <p:cNvPr name="Group 17" id="17"/>
            <p:cNvGrpSpPr/>
            <p:nvPr/>
          </p:nvGrpSpPr>
          <p:grpSpPr>
            <a:xfrm rot="0">
              <a:off x="3138079" y="5176612"/>
              <a:ext cx="1017614" cy="604464"/>
              <a:chOff x="0" y="0"/>
              <a:chExt cx="468417" cy="278240"/>
            </a:xfrm>
          </p:grpSpPr>
          <p:sp>
            <p:nvSpPr>
              <p:cNvPr name="Freeform 18" id="18"/>
              <p:cNvSpPr/>
              <p:nvPr/>
            </p:nvSpPr>
            <p:spPr>
              <a:xfrm flipH="false" flipV="false" rot="0">
                <a:off x="0" y="0"/>
                <a:ext cx="468417" cy="278240"/>
              </a:xfrm>
              <a:custGeom>
                <a:avLst/>
                <a:gdLst/>
                <a:ahLst/>
                <a:cxnLst/>
                <a:rect r="r" b="b" t="t" l="l"/>
                <a:pathLst>
                  <a:path h="278240" w="468417">
                    <a:moveTo>
                      <a:pt x="71007" y="0"/>
                    </a:moveTo>
                    <a:lnTo>
                      <a:pt x="397410" y="0"/>
                    </a:lnTo>
                    <a:cubicBezTo>
                      <a:pt x="416242" y="0"/>
                      <a:pt x="434303" y="7481"/>
                      <a:pt x="447620" y="20798"/>
                    </a:cubicBezTo>
                    <a:cubicBezTo>
                      <a:pt x="460936" y="34114"/>
                      <a:pt x="468417" y="52175"/>
                      <a:pt x="468417" y="71007"/>
                    </a:cubicBezTo>
                    <a:lnTo>
                      <a:pt x="468417" y="207233"/>
                    </a:lnTo>
                    <a:cubicBezTo>
                      <a:pt x="468417" y="226065"/>
                      <a:pt x="460936" y="244126"/>
                      <a:pt x="447620" y="257443"/>
                    </a:cubicBezTo>
                    <a:cubicBezTo>
                      <a:pt x="434303" y="270759"/>
                      <a:pt x="416242" y="278240"/>
                      <a:pt x="397410" y="278240"/>
                    </a:cubicBezTo>
                    <a:lnTo>
                      <a:pt x="71007" y="278240"/>
                    </a:lnTo>
                    <a:cubicBezTo>
                      <a:pt x="52175" y="278240"/>
                      <a:pt x="34114" y="270759"/>
                      <a:pt x="20798" y="257443"/>
                    </a:cubicBezTo>
                    <a:cubicBezTo>
                      <a:pt x="7481" y="244126"/>
                      <a:pt x="0" y="226065"/>
                      <a:pt x="0" y="207233"/>
                    </a:cubicBezTo>
                    <a:lnTo>
                      <a:pt x="0" y="71007"/>
                    </a:lnTo>
                    <a:cubicBezTo>
                      <a:pt x="0" y="52175"/>
                      <a:pt x="7481" y="34114"/>
                      <a:pt x="20798" y="20798"/>
                    </a:cubicBezTo>
                    <a:cubicBezTo>
                      <a:pt x="34114" y="7481"/>
                      <a:pt x="52175" y="0"/>
                      <a:pt x="71007" y="0"/>
                    </a:cubicBezTo>
                    <a:close/>
                  </a:path>
                </a:pathLst>
              </a:custGeom>
              <a:solidFill>
                <a:srgbClr val="FF751F"/>
              </a:solidFill>
            </p:spPr>
          </p:sp>
          <p:sp>
            <p:nvSpPr>
              <p:cNvPr name="TextBox 19" id="19"/>
              <p:cNvSpPr txBox="true"/>
              <p:nvPr/>
            </p:nvSpPr>
            <p:spPr>
              <a:xfrm>
                <a:off x="0" y="-9525"/>
                <a:ext cx="468417" cy="287765"/>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HOLD - </a:t>
                </a:r>
                <a:r>
                  <a:rPr lang="en-US" sz="579">
                    <a:solidFill>
                      <a:srgbClr val="000000"/>
                    </a:solidFill>
                    <a:latin typeface="Noto Sans"/>
                    <a:ea typeface="Noto Sans"/>
                    <a:cs typeface="Noto Sans"/>
                    <a:sym typeface="Noto Sans"/>
                  </a:rPr>
                  <a:t>Waiting </a:t>
                </a:r>
                <a:r>
                  <a:rPr lang="en-US" b="true" sz="579">
                    <a:solidFill>
                      <a:srgbClr val="000000"/>
                    </a:solidFill>
                    <a:latin typeface="Noto Sans Bold"/>
                    <a:ea typeface="Noto Sans Bold"/>
                    <a:cs typeface="Noto Sans Bold"/>
                    <a:sym typeface="Noto Sans Bold"/>
                  </a:rPr>
                  <a:t>- </a:t>
                </a:r>
                <a:r>
                  <a:rPr lang="en-US" sz="579">
                    <a:solidFill>
                      <a:srgbClr val="000000"/>
                    </a:solidFill>
                    <a:latin typeface="Noto Sans"/>
                    <a:ea typeface="Noto Sans"/>
                    <a:cs typeface="Noto Sans"/>
                    <a:sym typeface="Noto Sans"/>
                  </a:rPr>
                  <a:t>chờ gom hàng/chờ lịch vận chuyển tại trung tâm khai thác </a:t>
                </a:r>
              </a:p>
            </p:txBody>
          </p:sp>
        </p:grpSp>
        <p:grpSp>
          <p:nvGrpSpPr>
            <p:cNvPr name="Group 20" id="20"/>
            <p:cNvGrpSpPr/>
            <p:nvPr/>
          </p:nvGrpSpPr>
          <p:grpSpPr>
            <a:xfrm rot="0">
              <a:off x="14849136" y="6486922"/>
              <a:ext cx="1265630" cy="475710"/>
              <a:chOff x="0" y="0"/>
              <a:chExt cx="582581" cy="218974"/>
            </a:xfrm>
          </p:grpSpPr>
          <p:sp>
            <p:nvSpPr>
              <p:cNvPr name="Freeform 21" id="21"/>
              <p:cNvSpPr/>
              <p:nvPr/>
            </p:nvSpPr>
            <p:spPr>
              <a:xfrm flipH="false" flipV="false" rot="0">
                <a:off x="0" y="0"/>
                <a:ext cx="582581" cy="218974"/>
              </a:xfrm>
              <a:custGeom>
                <a:avLst/>
                <a:gdLst/>
                <a:ahLst/>
                <a:cxnLst/>
                <a:rect r="r" b="b" t="t" l="l"/>
                <a:pathLst>
                  <a:path h="218974" w="582581">
                    <a:moveTo>
                      <a:pt x="57092" y="0"/>
                    </a:moveTo>
                    <a:lnTo>
                      <a:pt x="525489" y="0"/>
                    </a:lnTo>
                    <a:cubicBezTo>
                      <a:pt x="540630" y="0"/>
                      <a:pt x="555152" y="6015"/>
                      <a:pt x="565859" y="16722"/>
                    </a:cubicBezTo>
                    <a:cubicBezTo>
                      <a:pt x="576566" y="27429"/>
                      <a:pt x="582581" y="41951"/>
                      <a:pt x="582581" y="57092"/>
                    </a:cubicBezTo>
                    <a:lnTo>
                      <a:pt x="582581" y="161881"/>
                    </a:lnTo>
                    <a:cubicBezTo>
                      <a:pt x="582581" y="177023"/>
                      <a:pt x="576566" y="191545"/>
                      <a:pt x="565859" y="202252"/>
                    </a:cubicBezTo>
                    <a:cubicBezTo>
                      <a:pt x="555152" y="212959"/>
                      <a:pt x="540630" y="218974"/>
                      <a:pt x="525489" y="218974"/>
                    </a:cubicBezTo>
                    <a:lnTo>
                      <a:pt x="57092" y="218974"/>
                    </a:lnTo>
                    <a:cubicBezTo>
                      <a:pt x="41951" y="218974"/>
                      <a:pt x="27429" y="212959"/>
                      <a:pt x="16722" y="202252"/>
                    </a:cubicBezTo>
                    <a:cubicBezTo>
                      <a:pt x="6015" y="191545"/>
                      <a:pt x="0" y="177023"/>
                      <a:pt x="0" y="161881"/>
                    </a:cubicBezTo>
                    <a:lnTo>
                      <a:pt x="0" y="57092"/>
                    </a:lnTo>
                    <a:cubicBezTo>
                      <a:pt x="0" y="41951"/>
                      <a:pt x="6015" y="27429"/>
                      <a:pt x="16722" y="16722"/>
                    </a:cubicBezTo>
                    <a:cubicBezTo>
                      <a:pt x="27429" y="6015"/>
                      <a:pt x="41951" y="0"/>
                      <a:pt x="57092" y="0"/>
                    </a:cubicBezTo>
                    <a:close/>
                  </a:path>
                </a:pathLst>
              </a:custGeom>
              <a:solidFill>
                <a:srgbClr val="F7DE59"/>
              </a:solidFill>
            </p:spPr>
          </p:sp>
          <p:sp>
            <p:nvSpPr>
              <p:cNvPr name="TextBox 22" id="22"/>
              <p:cNvSpPr txBox="true"/>
              <p:nvPr/>
            </p:nvSpPr>
            <p:spPr>
              <a:xfrm>
                <a:off x="0" y="-9525"/>
                <a:ext cx="582581" cy="228499"/>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MOVE </a:t>
                </a:r>
                <a:r>
                  <a:rPr lang="en-US" sz="579">
                    <a:solidFill>
                      <a:srgbClr val="000000"/>
                    </a:solidFill>
                    <a:latin typeface="Noto Sans"/>
                    <a:ea typeface="Noto Sans"/>
                    <a:cs typeface="Noto Sans"/>
                    <a:sym typeface="Noto Sans"/>
                  </a:rPr>
                  <a:t>- Transportation – dòng tiền qua nhiều điểm trung gian</a:t>
                </a:r>
              </a:p>
            </p:txBody>
          </p:sp>
        </p:grpSp>
        <p:grpSp>
          <p:nvGrpSpPr>
            <p:cNvPr name="Group 23" id="23"/>
            <p:cNvGrpSpPr/>
            <p:nvPr/>
          </p:nvGrpSpPr>
          <p:grpSpPr>
            <a:xfrm rot="0">
              <a:off x="17481398" y="7279734"/>
              <a:ext cx="1357460" cy="462957"/>
              <a:chOff x="0" y="0"/>
              <a:chExt cx="624851" cy="213103"/>
            </a:xfrm>
          </p:grpSpPr>
          <p:sp>
            <p:nvSpPr>
              <p:cNvPr name="Freeform 24" id="24"/>
              <p:cNvSpPr/>
              <p:nvPr/>
            </p:nvSpPr>
            <p:spPr>
              <a:xfrm flipH="false" flipV="false" rot="0">
                <a:off x="0" y="0"/>
                <a:ext cx="624851" cy="213103"/>
              </a:xfrm>
              <a:custGeom>
                <a:avLst/>
                <a:gdLst/>
                <a:ahLst/>
                <a:cxnLst/>
                <a:rect r="r" b="b" t="t" l="l"/>
                <a:pathLst>
                  <a:path h="213103" w="624851">
                    <a:moveTo>
                      <a:pt x="53230" y="0"/>
                    </a:moveTo>
                    <a:lnTo>
                      <a:pt x="571621" y="0"/>
                    </a:lnTo>
                    <a:cubicBezTo>
                      <a:pt x="601019" y="0"/>
                      <a:pt x="624851" y="23832"/>
                      <a:pt x="624851" y="53230"/>
                    </a:cubicBezTo>
                    <a:lnTo>
                      <a:pt x="624851" y="159873"/>
                    </a:lnTo>
                    <a:cubicBezTo>
                      <a:pt x="624851" y="189271"/>
                      <a:pt x="601019" y="213103"/>
                      <a:pt x="571621" y="213103"/>
                    </a:cubicBezTo>
                    <a:lnTo>
                      <a:pt x="53230" y="213103"/>
                    </a:lnTo>
                    <a:cubicBezTo>
                      <a:pt x="23832" y="213103"/>
                      <a:pt x="0" y="189271"/>
                      <a:pt x="0" y="159873"/>
                    </a:cubicBezTo>
                    <a:lnTo>
                      <a:pt x="0" y="53230"/>
                    </a:lnTo>
                    <a:cubicBezTo>
                      <a:pt x="0" y="23832"/>
                      <a:pt x="23832" y="0"/>
                      <a:pt x="53230" y="0"/>
                    </a:cubicBezTo>
                    <a:close/>
                  </a:path>
                </a:pathLst>
              </a:custGeom>
              <a:solidFill>
                <a:srgbClr val="FF751F"/>
              </a:solidFill>
            </p:spPr>
          </p:sp>
          <p:sp>
            <p:nvSpPr>
              <p:cNvPr name="TextBox 25" id="25"/>
              <p:cNvSpPr txBox="true"/>
              <p:nvPr/>
            </p:nvSpPr>
            <p:spPr>
              <a:xfrm>
                <a:off x="0" y="-19050"/>
                <a:ext cx="624851" cy="232153"/>
              </a:xfrm>
              <a:prstGeom prst="rect">
                <a:avLst/>
              </a:prstGeom>
            </p:spPr>
            <p:txBody>
              <a:bodyPr anchor="ctr" rtlCol="false" tIns="36787" lIns="36787" bIns="36787" rIns="36787"/>
              <a:lstStyle/>
              <a:p>
                <a:pPr algn="ctr">
                  <a:lnSpc>
                    <a:spcPts val="1013"/>
                  </a:lnSpc>
                </a:pPr>
                <a:r>
                  <a:rPr lang="en-US" b="true" sz="724">
                    <a:solidFill>
                      <a:srgbClr val="000000"/>
                    </a:solidFill>
                    <a:latin typeface="Noto Sans Bold"/>
                    <a:ea typeface="Noto Sans Bold"/>
                    <a:cs typeface="Noto Sans Bold"/>
                    <a:sym typeface="Noto Sans Bold"/>
                  </a:rPr>
                  <a:t>HOLD </a:t>
                </a:r>
                <a:r>
                  <a:rPr lang="en-US" sz="724">
                    <a:solidFill>
                      <a:srgbClr val="000000"/>
                    </a:solidFill>
                    <a:latin typeface="Noto Sans"/>
                    <a:ea typeface="Noto Sans"/>
                    <a:cs typeface="Noto Sans"/>
                    <a:sym typeface="Noto Sans"/>
                  </a:rPr>
                  <a:t>-</a:t>
                </a:r>
                <a:r>
                  <a:rPr lang="en-US" b="true" sz="724">
                    <a:solidFill>
                      <a:srgbClr val="000000"/>
                    </a:solidFill>
                    <a:latin typeface="Noto Sans Bold"/>
                    <a:ea typeface="Noto Sans Bold"/>
                    <a:cs typeface="Noto Sans Bold"/>
                    <a:sym typeface="Noto Sans Bold"/>
                  </a:rPr>
                  <a:t> </a:t>
                </a:r>
                <a:r>
                  <a:rPr lang="en-US" sz="724">
                    <a:solidFill>
                      <a:srgbClr val="000000"/>
                    </a:solidFill>
                    <a:latin typeface="Noto Sans"/>
                    <a:ea typeface="Noto Sans"/>
                    <a:cs typeface="Noto Sans"/>
                    <a:sym typeface="Noto Sans"/>
                  </a:rPr>
                  <a:t>Waiting – chờ kỳ đối soát cố định</a:t>
                </a:r>
              </a:p>
            </p:txBody>
          </p:sp>
        </p:grpSp>
        <p:grpSp>
          <p:nvGrpSpPr>
            <p:cNvPr name="Group 26" id="26"/>
            <p:cNvGrpSpPr/>
            <p:nvPr/>
          </p:nvGrpSpPr>
          <p:grpSpPr>
            <a:xfrm rot="0">
              <a:off x="6716869" y="6021866"/>
              <a:ext cx="999221" cy="608987"/>
              <a:chOff x="0" y="0"/>
              <a:chExt cx="459950" cy="280322"/>
            </a:xfrm>
          </p:grpSpPr>
          <p:sp>
            <p:nvSpPr>
              <p:cNvPr name="Freeform 27" id="27"/>
              <p:cNvSpPr/>
              <p:nvPr/>
            </p:nvSpPr>
            <p:spPr>
              <a:xfrm flipH="false" flipV="false" rot="0">
                <a:off x="0" y="0"/>
                <a:ext cx="459950" cy="280322"/>
              </a:xfrm>
              <a:custGeom>
                <a:avLst/>
                <a:gdLst/>
                <a:ahLst/>
                <a:cxnLst/>
                <a:rect r="r" b="b" t="t" l="l"/>
                <a:pathLst>
                  <a:path h="280322" w="459950">
                    <a:moveTo>
                      <a:pt x="72314" y="0"/>
                    </a:moveTo>
                    <a:lnTo>
                      <a:pt x="387636" y="0"/>
                    </a:lnTo>
                    <a:cubicBezTo>
                      <a:pt x="427574" y="0"/>
                      <a:pt x="459950" y="32376"/>
                      <a:pt x="459950" y="72314"/>
                    </a:cubicBezTo>
                    <a:lnTo>
                      <a:pt x="459950" y="208008"/>
                    </a:lnTo>
                    <a:cubicBezTo>
                      <a:pt x="459950" y="247946"/>
                      <a:pt x="427574" y="280322"/>
                      <a:pt x="387636" y="280322"/>
                    </a:cubicBezTo>
                    <a:lnTo>
                      <a:pt x="72314" y="280322"/>
                    </a:lnTo>
                    <a:cubicBezTo>
                      <a:pt x="32376" y="280322"/>
                      <a:pt x="0" y="247946"/>
                      <a:pt x="0" y="208008"/>
                    </a:cubicBezTo>
                    <a:lnTo>
                      <a:pt x="0" y="72314"/>
                    </a:lnTo>
                    <a:cubicBezTo>
                      <a:pt x="0" y="32376"/>
                      <a:pt x="32376" y="0"/>
                      <a:pt x="72314" y="0"/>
                    </a:cubicBezTo>
                    <a:close/>
                  </a:path>
                </a:pathLst>
              </a:custGeom>
              <a:solidFill>
                <a:srgbClr val="FF751F"/>
              </a:solidFill>
            </p:spPr>
          </p:sp>
          <p:sp>
            <p:nvSpPr>
              <p:cNvPr name="TextBox 28" id="28"/>
              <p:cNvSpPr txBox="true"/>
              <p:nvPr/>
            </p:nvSpPr>
            <p:spPr>
              <a:xfrm>
                <a:off x="0" y="-9525"/>
                <a:ext cx="459950" cy="289847"/>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HOLD - </a:t>
                </a:r>
                <a:r>
                  <a:rPr lang="en-US" sz="579">
                    <a:solidFill>
                      <a:srgbClr val="000000"/>
                    </a:solidFill>
                    <a:latin typeface="Noto Sans"/>
                    <a:ea typeface="Noto Sans"/>
                    <a:cs typeface="Noto Sans"/>
                    <a:sym typeface="Noto Sans"/>
                  </a:rPr>
                  <a:t>Waiting </a:t>
                </a:r>
                <a:r>
                  <a:rPr lang="en-US" b="true" sz="579">
                    <a:solidFill>
                      <a:srgbClr val="000000"/>
                    </a:solidFill>
                    <a:latin typeface="Noto Sans Bold"/>
                    <a:ea typeface="Noto Sans Bold"/>
                    <a:cs typeface="Noto Sans Bold"/>
                    <a:sym typeface="Noto Sans Bold"/>
                  </a:rPr>
                  <a:t>- </a:t>
                </a:r>
                <a:r>
                  <a:rPr lang="en-US" sz="579">
                    <a:solidFill>
                      <a:srgbClr val="000000"/>
                    </a:solidFill>
                    <a:latin typeface="Noto Sans"/>
                    <a:ea typeface="Noto Sans"/>
                    <a:cs typeface="Noto Sans"/>
                    <a:sym typeface="Noto Sans"/>
                  </a:rPr>
                  <a:t>chờ xử lý/bốc dỡ tại trung tâm trung chuyển</a:t>
                </a:r>
                <a:r>
                  <a:rPr lang="en-US" b="true" sz="579">
                    <a:solidFill>
                      <a:srgbClr val="000000"/>
                    </a:solidFill>
                    <a:latin typeface="Noto Sans Bold"/>
                    <a:ea typeface="Noto Sans Bold"/>
                    <a:cs typeface="Noto Sans Bold"/>
                    <a:sym typeface="Noto Sans Bold"/>
                  </a:rPr>
                  <a:t> </a:t>
                </a:r>
              </a:p>
            </p:txBody>
          </p:sp>
        </p:grpSp>
        <p:grpSp>
          <p:nvGrpSpPr>
            <p:cNvPr name="Group 29" id="29"/>
            <p:cNvGrpSpPr/>
            <p:nvPr/>
          </p:nvGrpSpPr>
          <p:grpSpPr>
            <a:xfrm rot="0">
              <a:off x="4921290" y="5781076"/>
              <a:ext cx="1049733" cy="604464"/>
              <a:chOff x="0" y="0"/>
              <a:chExt cx="483201" cy="278240"/>
            </a:xfrm>
          </p:grpSpPr>
          <p:sp>
            <p:nvSpPr>
              <p:cNvPr name="Freeform 30" id="30"/>
              <p:cNvSpPr/>
              <p:nvPr/>
            </p:nvSpPr>
            <p:spPr>
              <a:xfrm flipH="false" flipV="false" rot="0">
                <a:off x="0" y="0"/>
                <a:ext cx="483201" cy="278240"/>
              </a:xfrm>
              <a:custGeom>
                <a:avLst/>
                <a:gdLst/>
                <a:ahLst/>
                <a:cxnLst/>
                <a:rect r="r" b="b" t="t" l="l"/>
                <a:pathLst>
                  <a:path h="278240" w="483201">
                    <a:moveTo>
                      <a:pt x="68835" y="0"/>
                    </a:moveTo>
                    <a:lnTo>
                      <a:pt x="414367" y="0"/>
                    </a:lnTo>
                    <a:cubicBezTo>
                      <a:pt x="432623" y="0"/>
                      <a:pt x="450131" y="7252"/>
                      <a:pt x="463040" y="20161"/>
                    </a:cubicBezTo>
                    <a:cubicBezTo>
                      <a:pt x="475949" y="33070"/>
                      <a:pt x="483201" y="50579"/>
                      <a:pt x="483201" y="68835"/>
                    </a:cubicBezTo>
                    <a:lnTo>
                      <a:pt x="483201" y="209406"/>
                    </a:lnTo>
                    <a:cubicBezTo>
                      <a:pt x="483201" y="247422"/>
                      <a:pt x="452383" y="278240"/>
                      <a:pt x="414367" y="278240"/>
                    </a:cubicBezTo>
                    <a:lnTo>
                      <a:pt x="68835" y="278240"/>
                    </a:lnTo>
                    <a:cubicBezTo>
                      <a:pt x="30818" y="278240"/>
                      <a:pt x="0" y="247422"/>
                      <a:pt x="0" y="209406"/>
                    </a:cubicBezTo>
                    <a:lnTo>
                      <a:pt x="0" y="68835"/>
                    </a:lnTo>
                    <a:cubicBezTo>
                      <a:pt x="0" y="30818"/>
                      <a:pt x="30818" y="0"/>
                      <a:pt x="68835" y="0"/>
                    </a:cubicBezTo>
                    <a:close/>
                  </a:path>
                </a:pathLst>
              </a:custGeom>
              <a:solidFill>
                <a:srgbClr val="FF751F"/>
              </a:solidFill>
            </p:spPr>
          </p:sp>
          <p:sp>
            <p:nvSpPr>
              <p:cNvPr name="TextBox 31" id="31"/>
              <p:cNvSpPr txBox="true"/>
              <p:nvPr/>
            </p:nvSpPr>
            <p:spPr>
              <a:xfrm>
                <a:off x="0" y="-9525"/>
                <a:ext cx="483201" cy="287765"/>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HOLD - </a:t>
                </a:r>
                <a:r>
                  <a:rPr lang="en-US" sz="579">
                    <a:solidFill>
                      <a:srgbClr val="000000"/>
                    </a:solidFill>
                    <a:latin typeface="Noto Sans"/>
                    <a:ea typeface="Noto Sans"/>
                    <a:cs typeface="Noto Sans"/>
                    <a:sym typeface="Noto Sans"/>
                  </a:rPr>
                  <a:t>Waiting </a:t>
                </a:r>
                <a:r>
                  <a:rPr lang="en-US" b="true" sz="579">
                    <a:solidFill>
                      <a:srgbClr val="000000"/>
                    </a:solidFill>
                    <a:latin typeface="Noto Sans Bold"/>
                    <a:ea typeface="Noto Sans Bold"/>
                    <a:cs typeface="Noto Sans Bold"/>
                    <a:sym typeface="Noto Sans Bold"/>
                  </a:rPr>
                  <a:t>- </a:t>
                </a:r>
                <a:r>
                  <a:rPr lang="en-US" sz="579">
                    <a:solidFill>
                      <a:srgbClr val="000000"/>
                    </a:solidFill>
                    <a:latin typeface="Noto Sans"/>
                    <a:ea typeface="Noto Sans"/>
                    <a:cs typeface="Noto Sans"/>
                    <a:sym typeface="Noto Sans"/>
                  </a:rPr>
                  <a:t>chờ phân công nhân viên giao hàng tại bưu cục phát</a:t>
                </a:r>
              </a:p>
            </p:txBody>
          </p:sp>
        </p:grpSp>
        <p:grpSp>
          <p:nvGrpSpPr>
            <p:cNvPr name="Group 32" id="32"/>
            <p:cNvGrpSpPr/>
            <p:nvPr/>
          </p:nvGrpSpPr>
          <p:grpSpPr>
            <a:xfrm rot="0">
              <a:off x="5308102" y="3171176"/>
              <a:ext cx="1047523" cy="733218"/>
              <a:chOff x="0" y="0"/>
              <a:chExt cx="482184" cy="337507"/>
            </a:xfrm>
          </p:grpSpPr>
          <p:sp>
            <p:nvSpPr>
              <p:cNvPr name="Freeform 33" id="33"/>
              <p:cNvSpPr/>
              <p:nvPr/>
            </p:nvSpPr>
            <p:spPr>
              <a:xfrm flipH="false" flipV="false" rot="0">
                <a:off x="0" y="0"/>
                <a:ext cx="482184" cy="337507"/>
              </a:xfrm>
              <a:custGeom>
                <a:avLst/>
                <a:gdLst/>
                <a:ahLst/>
                <a:cxnLst/>
                <a:rect r="r" b="b" t="t" l="l"/>
                <a:pathLst>
                  <a:path h="337507" w="482184">
                    <a:moveTo>
                      <a:pt x="68980" y="0"/>
                    </a:moveTo>
                    <a:lnTo>
                      <a:pt x="413204" y="0"/>
                    </a:lnTo>
                    <a:cubicBezTo>
                      <a:pt x="431499" y="0"/>
                      <a:pt x="449044" y="7267"/>
                      <a:pt x="461980" y="20204"/>
                    </a:cubicBezTo>
                    <a:cubicBezTo>
                      <a:pt x="474917" y="33140"/>
                      <a:pt x="482184" y="50685"/>
                      <a:pt x="482184" y="68980"/>
                    </a:cubicBezTo>
                    <a:lnTo>
                      <a:pt x="482184" y="268527"/>
                    </a:lnTo>
                    <a:cubicBezTo>
                      <a:pt x="482184" y="286822"/>
                      <a:pt x="474917" y="304367"/>
                      <a:pt x="461980" y="317303"/>
                    </a:cubicBezTo>
                    <a:cubicBezTo>
                      <a:pt x="449044" y="330239"/>
                      <a:pt x="431499" y="337507"/>
                      <a:pt x="413204" y="337507"/>
                    </a:cubicBezTo>
                    <a:lnTo>
                      <a:pt x="68980" y="337507"/>
                    </a:lnTo>
                    <a:cubicBezTo>
                      <a:pt x="50685" y="337507"/>
                      <a:pt x="33140" y="330239"/>
                      <a:pt x="20204" y="317303"/>
                    </a:cubicBezTo>
                    <a:cubicBezTo>
                      <a:pt x="7267" y="304367"/>
                      <a:pt x="0" y="286822"/>
                      <a:pt x="0" y="268527"/>
                    </a:cubicBezTo>
                    <a:lnTo>
                      <a:pt x="0" y="68980"/>
                    </a:lnTo>
                    <a:cubicBezTo>
                      <a:pt x="0" y="50685"/>
                      <a:pt x="7267" y="33140"/>
                      <a:pt x="20204" y="20204"/>
                    </a:cubicBezTo>
                    <a:cubicBezTo>
                      <a:pt x="33140" y="7267"/>
                      <a:pt x="50685" y="0"/>
                      <a:pt x="68980" y="0"/>
                    </a:cubicBezTo>
                    <a:close/>
                  </a:path>
                </a:pathLst>
              </a:custGeom>
              <a:solidFill>
                <a:srgbClr val="F7DE59"/>
              </a:solidFill>
            </p:spPr>
          </p:sp>
          <p:sp>
            <p:nvSpPr>
              <p:cNvPr name="TextBox 34" id="34"/>
              <p:cNvSpPr txBox="true"/>
              <p:nvPr/>
            </p:nvSpPr>
            <p:spPr>
              <a:xfrm>
                <a:off x="0" y="-9525"/>
                <a:ext cx="482184" cy="347032"/>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MOVE </a:t>
                </a:r>
                <a:r>
                  <a:rPr lang="en-US" sz="579">
                    <a:solidFill>
                      <a:srgbClr val="000000"/>
                    </a:solidFill>
                    <a:latin typeface="Noto Sans"/>
                    <a:ea typeface="Noto Sans"/>
                    <a:cs typeface="Noto Sans"/>
                    <a:sym typeface="Noto Sans"/>
                  </a:rPr>
                  <a:t>- Motion – nhân viên lấy hàng di chuyển về bưu cục sau mỗi lượt lấy hàng </a:t>
                </a:r>
              </a:p>
            </p:txBody>
          </p:sp>
        </p:grpSp>
        <p:grpSp>
          <p:nvGrpSpPr>
            <p:cNvPr name="Group 35" id="35"/>
            <p:cNvGrpSpPr/>
            <p:nvPr/>
          </p:nvGrpSpPr>
          <p:grpSpPr>
            <a:xfrm rot="0">
              <a:off x="19038743" y="7438197"/>
              <a:ext cx="999221" cy="608987"/>
              <a:chOff x="0" y="0"/>
              <a:chExt cx="459950" cy="280322"/>
            </a:xfrm>
          </p:grpSpPr>
          <p:sp>
            <p:nvSpPr>
              <p:cNvPr name="Freeform 36" id="36"/>
              <p:cNvSpPr/>
              <p:nvPr/>
            </p:nvSpPr>
            <p:spPr>
              <a:xfrm flipH="false" flipV="false" rot="0">
                <a:off x="0" y="0"/>
                <a:ext cx="459950" cy="280322"/>
              </a:xfrm>
              <a:custGeom>
                <a:avLst/>
                <a:gdLst/>
                <a:ahLst/>
                <a:cxnLst/>
                <a:rect r="r" b="b" t="t" l="l"/>
                <a:pathLst>
                  <a:path h="280322" w="459950">
                    <a:moveTo>
                      <a:pt x="72314" y="0"/>
                    </a:moveTo>
                    <a:lnTo>
                      <a:pt x="387636" y="0"/>
                    </a:lnTo>
                    <a:cubicBezTo>
                      <a:pt x="427574" y="0"/>
                      <a:pt x="459950" y="32376"/>
                      <a:pt x="459950" y="72314"/>
                    </a:cubicBezTo>
                    <a:lnTo>
                      <a:pt x="459950" y="208008"/>
                    </a:lnTo>
                    <a:cubicBezTo>
                      <a:pt x="459950" y="247946"/>
                      <a:pt x="427574" y="280322"/>
                      <a:pt x="387636" y="280322"/>
                    </a:cubicBezTo>
                    <a:lnTo>
                      <a:pt x="72314" y="280322"/>
                    </a:lnTo>
                    <a:cubicBezTo>
                      <a:pt x="32376" y="280322"/>
                      <a:pt x="0" y="247946"/>
                      <a:pt x="0" y="208008"/>
                    </a:cubicBezTo>
                    <a:lnTo>
                      <a:pt x="0" y="72314"/>
                    </a:lnTo>
                    <a:cubicBezTo>
                      <a:pt x="0" y="32376"/>
                      <a:pt x="32376" y="0"/>
                      <a:pt x="72314" y="0"/>
                    </a:cubicBezTo>
                    <a:close/>
                  </a:path>
                </a:pathLst>
              </a:custGeom>
              <a:solidFill>
                <a:srgbClr val="FF751F"/>
              </a:solidFill>
            </p:spPr>
          </p:sp>
          <p:sp>
            <p:nvSpPr>
              <p:cNvPr name="TextBox 37" id="37"/>
              <p:cNvSpPr txBox="true"/>
              <p:nvPr/>
            </p:nvSpPr>
            <p:spPr>
              <a:xfrm>
                <a:off x="0" y="-9525"/>
                <a:ext cx="459950" cy="289847"/>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HOLD - </a:t>
                </a:r>
                <a:r>
                  <a:rPr lang="en-US" sz="579">
                    <a:solidFill>
                      <a:srgbClr val="000000"/>
                    </a:solidFill>
                    <a:latin typeface="Noto Sans"/>
                    <a:ea typeface="Noto Sans"/>
                    <a:cs typeface="Noto Sans"/>
                    <a:sym typeface="Noto Sans"/>
                  </a:rPr>
                  <a:t>Inventory – tồn vốn COD trong hệ thống</a:t>
                </a:r>
              </a:p>
            </p:txBody>
          </p:sp>
        </p:grpSp>
        <p:grpSp>
          <p:nvGrpSpPr>
            <p:cNvPr name="Group 38" id="38"/>
            <p:cNvGrpSpPr/>
            <p:nvPr/>
          </p:nvGrpSpPr>
          <p:grpSpPr>
            <a:xfrm rot="0">
              <a:off x="14515055" y="9134429"/>
              <a:ext cx="1004858" cy="733218"/>
              <a:chOff x="0" y="0"/>
              <a:chExt cx="462545" cy="337507"/>
            </a:xfrm>
          </p:grpSpPr>
          <p:sp>
            <p:nvSpPr>
              <p:cNvPr name="Freeform 39" id="39"/>
              <p:cNvSpPr/>
              <p:nvPr/>
            </p:nvSpPr>
            <p:spPr>
              <a:xfrm flipH="false" flipV="false" rot="0">
                <a:off x="0" y="0"/>
                <a:ext cx="462545" cy="337507"/>
              </a:xfrm>
              <a:custGeom>
                <a:avLst/>
                <a:gdLst/>
                <a:ahLst/>
                <a:cxnLst/>
                <a:rect r="r" b="b" t="t" l="l"/>
                <a:pathLst>
                  <a:path h="337507" w="462545">
                    <a:moveTo>
                      <a:pt x="71909" y="0"/>
                    </a:moveTo>
                    <a:lnTo>
                      <a:pt x="390636" y="0"/>
                    </a:lnTo>
                    <a:cubicBezTo>
                      <a:pt x="430350" y="0"/>
                      <a:pt x="462545" y="32195"/>
                      <a:pt x="462545" y="71909"/>
                    </a:cubicBezTo>
                    <a:lnTo>
                      <a:pt x="462545" y="265598"/>
                    </a:lnTo>
                    <a:cubicBezTo>
                      <a:pt x="462545" y="284670"/>
                      <a:pt x="454969" y="302960"/>
                      <a:pt x="441483" y="316445"/>
                    </a:cubicBezTo>
                    <a:cubicBezTo>
                      <a:pt x="427998" y="329931"/>
                      <a:pt x="409708" y="337507"/>
                      <a:pt x="390636" y="337507"/>
                    </a:cubicBezTo>
                    <a:lnTo>
                      <a:pt x="71909" y="337507"/>
                    </a:lnTo>
                    <a:cubicBezTo>
                      <a:pt x="32195" y="337507"/>
                      <a:pt x="0" y="305312"/>
                      <a:pt x="0" y="265598"/>
                    </a:cubicBezTo>
                    <a:lnTo>
                      <a:pt x="0" y="71909"/>
                    </a:lnTo>
                    <a:cubicBezTo>
                      <a:pt x="0" y="32195"/>
                      <a:pt x="32195" y="0"/>
                      <a:pt x="71909" y="0"/>
                    </a:cubicBezTo>
                    <a:close/>
                  </a:path>
                </a:pathLst>
              </a:custGeom>
              <a:solidFill>
                <a:srgbClr val="B4B4B4"/>
              </a:solidFill>
            </p:spPr>
          </p:sp>
          <p:sp>
            <p:nvSpPr>
              <p:cNvPr name="TextBox 40" id="40"/>
              <p:cNvSpPr txBox="true"/>
              <p:nvPr/>
            </p:nvSpPr>
            <p:spPr>
              <a:xfrm>
                <a:off x="0" y="-9525"/>
                <a:ext cx="462545" cy="347032"/>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Over-Do - </a:t>
                </a:r>
                <a:r>
                  <a:rPr lang="en-US" sz="579">
                    <a:solidFill>
                      <a:srgbClr val="000000"/>
                    </a:solidFill>
                    <a:latin typeface="Noto Sans"/>
                    <a:ea typeface="Noto Sans"/>
                    <a:cs typeface="Noto Sans"/>
                    <a:sym typeface="Noto Sans"/>
                  </a:rPr>
                  <a:t>Overprocessing – xác minh khiếu nại qua nhiều bước thủ công</a:t>
                </a:r>
              </a:p>
            </p:txBody>
          </p:sp>
        </p:grpSp>
        <p:grpSp>
          <p:nvGrpSpPr>
            <p:cNvPr name="Group 41" id="41"/>
            <p:cNvGrpSpPr/>
            <p:nvPr/>
          </p:nvGrpSpPr>
          <p:grpSpPr>
            <a:xfrm rot="0">
              <a:off x="20890539" y="9196545"/>
              <a:ext cx="999221" cy="608987"/>
              <a:chOff x="0" y="0"/>
              <a:chExt cx="459950" cy="280322"/>
            </a:xfrm>
          </p:grpSpPr>
          <p:sp>
            <p:nvSpPr>
              <p:cNvPr name="Freeform 42" id="42"/>
              <p:cNvSpPr/>
              <p:nvPr/>
            </p:nvSpPr>
            <p:spPr>
              <a:xfrm flipH="false" flipV="false" rot="0">
                <a:off x="0" y="0"/>
                <a:ext cx="459950" cy="280322"/>
              </a:xfrm>
              <a:custGeom>
                <a:avLst/>
                <a:gdLst/>
                <a:ahLst/>
                <a:cxnLst/>
                <a:rect r="r" b="b" t="t" l="l"/>
                <a:pathLst>
                  <a:path h="280322" w="459950">
                    <a:moveTo>
                      <a:pt x="72314" y="0"/>
                    </a:moveTo>
                    <a:lnTo>
                      <a:pt x="387636" y="0"/>
                    </a:lnTo>
                    <a:cubicBezTo>
                      <a:pt x="427574" y="0"/>
                      <a:pt x="459950" y="32376"/>
                      <a:pt x="459950" y="72314"/>
                    </a:cubicBezTo>
                    <a:lnTo>
                      <a:pt x="459950" y="208008"/>
                    </a:lnTo>
                    <a:cubicBezTo>
                      <a:pt x="459950" y="247946"/>
                      <a:pt x="427574" y="280322"/>
                      <a:pt x="387636" y="280322"/>
                    </a:cubicBezTo>
                    <a:lnTo>
                      <a:pt x="72314" y="280322"/>
                    </a:lnTo>
                    <a:cubicBezTo>
                      <a:pt x="32376" y="280322"/>
                      <a:pt x="0" y="247946"/>
                      <a:pt x="0" y="208008"/>
                    </a:cubicBezTo>
                    <a:lnTo>
                      <a:pt x="0" y="72314"/>
                    </a:lnTo>
                    <a:cubicBezTo>
                      <a:pt x="0" y="32376"/>
                      <a:pt x="32376" y="0"/>
                      <a:pt x="72314" y="0"/>
                    </a:cubicBezTo>
                    <a:close/>
                  </a:path>
                </a:pathLst>
              </a:custGeom>
              <a:solidFill>
                <a:srgbClr val="B4B4B4"/>
              </a:solidFill>
            </p:spPr>
          </p:sp>
          <p:sp>
            <p:nvSpPr>
              <p:cNvPr name="TextBox 43" id="43"/>
              <p:cNvSpPr txBox="true"/>
              <p:nvPr/>
            </p:nvSpPr>
            <p:spPr>
              <a:xfrm>
                <a:off x="0" y="-9525"/>
                <a:ext cx="459950" cy="289847"/>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Over-Do - </a:t>
                </a:r>
                <a:r>
                  <a:rPr lang="en-US" sz="579">
                    <a:solidFill>
                      <a:srgbClr val="000000"/>
                    </a:solidFill>
                    <a:latin typeface="Noto Sans"/>
                    <a:ea typeface="Noto Sans"/>
                    <a:cs typeface="Noto Sans"/>
                    <a:sym typeface="Noto Sans"/>
                  </a:rPr>
                  <a:t>Overprocessing – lập lại báo cáo đối soát khi lệch số liệu</a:t>
                </a:r>
              </a:p>
            </p:txBody>
          </p:sp>
        </p:grpSp>
        <p:grpSp>
          <p:nvGrpSpPr>
            <p:cNvPr name="Group 44" id="44"/>
            <p:cNvGrpSpPr/>
            <p:nvPr/>
          </p:nvGrpSpPr>
          <p:grpSpPr>
            <a:xfrm rot="0">
              <a:off x="10179398" y="1427089"/>
              <a:ext cx="1049803" cy="608987"/>
              <a:chOff x="0" y="0"/>
              <a:chExt cx="483234" cy="280322"/>
            </a:xfrm>
          </p:grpSpPr>
          <p:sp>
            <p:nvSpPr>
              <p:cNvPr name="Freeform 45" id="45"/>
              <p:cNvSpPr/>
              <p:nvPr/>
            </p:nvSpPr>
            <p:spPr>
              <a:xfrm flipH="false" flipV="false" rot="0">
                <a:off x="0" y="0"/>
                <a:ext cx="483234" cy="280322"/>
              </a:xfrm>
              <a:custGeom>
                <a:avLst/>
                <a:gdLst/>
                <a:ahLst/>
                <a:cxnLst/>
                <a:rect r="r" b="b" t="t" l="l"/>
                <a:pathLst>
                  <a:path h="280322" w="483234">
                    <a:moveTo>
                      <a:pt x="68830" y="0"/>
                    </a:moveTo>
                    <a:lnTo>
                      <a:pt x="414404" y="0"/>
                    </a:lnTo>
                    <a:cubicBezTo>
                      <a:pt x="432659" y="0"/>
                      <a:pt x="450166" y="7252"/>
                      <a:pt x="463074" y="20160"/>
                    </a:cubicBezTo>
                    <a:cubicBezTo>
                      <a:pt x="475982" y="33068"/>
                      <a:pt x="483234" y="50575"/>
                      <a:pt x="483234" y="68830"/>
                    </a:cubicBezTo>
                    <a:lnTo>
                      <a:pt x="483234" y="211492"/>
                    </a:lnTo>
                    <a:cubicBezTo>
                      <a:pt x="483234" y="249506"/>
                      <a:pt x="452417" y="280322"/>
                      <a:pt x="414404" y="280322"/>
                    </a:cubicBezTo>
                    <a:lnTo>
                      <a:pt x="68830" y="280322"/>
                    </a:lnTo>
                    <a:cubicBezTo>
                      <a:pt x="50575" y="280322"/>
                      <a:pt x="33068" y="273071"/>
                      <a:pt x="20160" y="260162"/>
                    </a:cubicBezTo>
                    <a:cubicBezTo>
                      <a:pt x="7252" y="247254"/>
                      <a:pt x="0" y="229747"/>
                      <a:pt x="0" y="211492"/>
                    </a:cubicBezTo>
                    <a:lnTo>
                      <a:pt x="0" y="68830"/>
                    </a:lnTo>
                    <a:cubicBezTo>
                      <a:pt x="0" y="50575"/>
                      <a:pt x="7252" y="33068"/>
                      <a:pt x="20160" y="20160"/>
                    </a:cubicBezTo>
                    <a:cubicBezTo>
                      <a:pt x="33068" y="7252"/>
                      <a:pt x="50575" y="0"/>
                      <a:pt x="68830" y="0"/>
                    </a:cubicBezTo>
                    <a:close/>
                  </a:path>
                </a:pathLst>
              </a:custGeom>
              <a:solidFill>
                <a:srgbClr val="B4B4B4">
                  <a:alpha val="80000"/>
                </a:srgbClr>
              </a:solidFill>
            </p:spPr>
          </p:sp>
          <p:sp>
            <p:nvSpPr>
              <p:cNvPr name="TextBox 46" id="46"/>
              <p:cNvSpPr txBox="true"/>
              <p:nvPr/>
            </p:nvSpPr>
            <p:spPr>
              <a:xfrm>
                <a:off x="0" y="-9525"/>
                <a:ext cx="483234" cy="289847"/>
              </a:xfrm>
              <a:prstGeom prst="rect">
                <a:avLst/>
              </a:prstGeom>
            </p:spPr>
            <p:txBody>
              <a:bodyPr anchor="ctr" rtlCol="false" tIns="36787" lIns="36787" bIns="36787" rIns="36787"/>
              <a:lstStyle/>
              <a:p>
                <a:pPr algn="ctr">
                  <a:lnSpc>
                    <a:spcPts val="811"/>
                  </a:lnSpc>
                </a:pPr>
                <a:r>
                  <a:rPr lang="en-US" b="true" sz="579">
                    <a:solidFill>
                      <a:srgbClr val="000000">
                        <a:alpha val="80000"/>
                      </a:srgbClr>
                    </a:solidFill>
                    <a:latin typeface="Noto Sans Bold"/>
                    <a:ea typeface="Noto Sans Bold"/>
                    <a:cs typeface="Noto Sans Bold"/>
                    <a:sym typeface="Noto Sans Bold"/>
                  </a:rPr>
                  <a:t>Over-Do - </a:t>
                </a:r>
                <a:r>
                  <a:rPr lang="en-US" sz="579">
                    <a:solidFill>
                      <a:srgbClr val="000000">
                        <a:alpha val="80000"/>
                      </a:srgbClr>
                    </a:solidFill>
                    <a:latin typeface="Noto Sans"/>
                    <a:ea typeface="Noto Sans"/>
                    <a:cs typeface="Noto Sans"/>
                    <a:sym typeface="Noto Sans"/>
                  </a:rPr>
                  <a:t>Defects – giao hàng thất bại phải xử lý hoàn hàng </a:t>
                </a:r>
              </a:p>
            </p:txBody>
          </p:sp>
        </p:grpSp>
        <p:grpSp>
          <p:nvGrpSpPr>
            <p:cNvPr name="Group 47" id="47"/>
            <p:cNvGrpSpPr/>
            <p:nvPr/>
          </p:nvGrpSpPr>
          <p:grpSpPr>
            <a:xfrm rot="0">
              <a:off x="17660518" y="9134429"/>
              <a:ext cx="999221" cy="608987"/>
              <a:chOff x="0" y="0"/>
              <a:chExt cx="459950" cy="280322"/>
            </a:xfrm>
          </p:grpSpPr>
          <p:sp>
            <p:nvSpPr>
              <p:cNvPr name="Freeform 48" id="48"/>
              <p:cNvSpPr/>
              <p:nvPr/>
            </p:nvSpPr>
            <p:spPr>
              <a:xfrm flipH="false" flipV="false" rot="0">
                <a:off x="0" y="0"/>
                <a:ext cx="459950" cy="280322"/>
              </a:xfrm>
              <a:custGeom>
                <a:avLst/>
                <a:gdLst/>
                <a:ahLst/>
                <a:cxnLst/>
                <a:rect r="r" b="b" t="t" l="l"/>
                <a:pathLst>
                  <a:path h="280322" w="459950">
                    <a:moveTo>
                      <a:pt x="72314" y="0"/>
                    </a:moveTo>
                    <a:lnTo>
                      <a:pt x="387636" y="0"/>
                    </a:lnTo>
                    <a:cubicBezTo>
                      <a:pt x="427574" y="0"/>
                      <a:pt x="459950" y="32376"/>
                      <a:pt x="459950" y="72314"/>
                    </a:cubicBezTo>
                    <a:lnTo>
                      <a:pt x="459950" y="208008"/>
                    </a:lnTo>
                    <a:cubicBezTo>
                      <a:pt x="459950" y="247946"/>
                      <a:pt x="427574" y="280322"/>
                      <a:pt x="387636" y="280322"/>
                    </a:cubicBezTo>
                    <a:lnTo>
                      <a:pt x="72314" y="280322"/>
                    </a:lnTo>
                    <a:cubicBezTo>
                      <a:pt x="32376" y="280322"/>
                      <a:pt x="0" y="247946"/>
                      <a:pt x="0" y="208008"/>
                    </a:cubicBezTo>
                    <a:lnTo>
                      <a:pt x="0" y="72314"/>
                    </a:lnTo>
                    <a:cubicBezTo>
                      <a:pt x="0" y="32376"/>
                      <a:pt x="32376" y="0"/>
                      <a:pt x="72314" y="0"/>
                    </a:cubicBezTo>
                    <a:close/>
                  </a:path>
                </a:pathLst>
              </a:custGeom>
              <a:solidFill>
                <a:srgbClr val="B4B4B4"/>
              </a:solidFill>
            </p:spPr>
          </p:sp>
          <p:sp>
            <p:nvSpPr>
              <p:cNvPr name="TextBox 49" id="49"/>
              <p:cNvSpPr txBox="true"/>
              <p:nvPr/>
            </p:nvSpPr>
            <p:spPr>
              <a:xfrm>
                <a:off x="0" y="-9525"/>
                <a:ext cx="459950" cy="289847"/>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Over-Do - </a:t>
                </a:r>
                <a:r>
                  <a:rPr lang="en-US" sz="579">
                    <a:solidFill>
                      <a:srgbClr val="000000"/>
                    </a:solidFill>
                    <a:latin typeface="Noto Sans"/>
                    <a:ea typeface="Noto Sans"/>
                    <a:cs typeface="Noto Sans"/>
                    <a:sym typeface="Noto Sans"/>
                  </a:rPr>
                  <a:t>Overproduction – lập lại báo cáo đối soát khi lệch số liệu</a:t>
                </a:r>
              </a:p>
            </p:txBody>
          </p:sp>
        </p:grpSp>
        <p:grpSp>
          <p:nvGrpSpPr>
            <p:cNvPr name="Group 50" id="50"/>
            <p:cNvGrpSpPr/>
            <p:nvPr/>
          </p:nvGrpSpPr>
          <p:grpSpPr>
            <a:xfrm rot="0">
              <a:off x="5911195" y="4547715"/>
              <a:ext cx="888860" cy="590039"/>
              <a:chOff x="0" y="0"/>
              <a:chExt cx="409150" cy="271600"/>
            </a:xfrm>
          </p:grpSpPr>
          <p:sp>
            <p:nvSpPr>
              <p:cNvPr name="Freeform 51" id="51"/>
              <p:cNvSpPr/>
              <p:nvPr/>
            </p:nvSpPr>
            <p:spPr>
              <a:xfrm flipH="false" flipV="false" rot="0">
                <a:off x="0" y="0"/>
                <a:ext cx="409150" cy="271600"/>
              </a:xfrm>
              <a:custGeom>
                <a:avLst/>
                <a:gdLst/>
                <a:ahLst/>
                <a:cxnLst/>
                <a:rect r="r" b="b" t="t" l="l"/>
                <a:pathLst>
                  <a:path h="271600" w="409150">
                    <a:moveTo>
                      <a:pt x="81293" y="0"/>
                    </a:moveTo>
                    <a:lnTo>
                      <a:pt x="327858" y="0"/>
                    </a:lnTo>
                    <a:cubicBezTo>
                      <a:pt x="372754" y="0"/>
                      <a:pt x="409150" y="36396"/>
                      <a:pt x="409150" y="81293"/>
                    </a:cubicBezTo>
                    <a:lnTo>
                      <a:pt x="409150" y="190308"/>
                    </a:lnTo>
                    <a:cubicBezTo>
                      <a:pt x="409150" y="235204"/>
                      <a:pt x="372754" y="271600"/>
                      <a:pt x="327858" y="271600"/>
                    </a:cubicBezTo>
                    <a:lnTo>
                      <a:pt x="81293" y="271600"/>
                    </a:lnTo>
                    <a:cubicBezTo>
                      <a:pt x="36396" y="271600"/>
                      <a:pt x="0" y="235204"/>
                      <a:pt x="0" y="190308"/>
                    </a:cubicBezTo>
                    <a:lnTo>
                      <a:pt x="0" y="81293"/>
                    </a:lnTo>
                    <a:cubicBezTo>
                      <a:pt x="0" y="36396"/>
                      <a:pt x="36396" y="0"/>
                      <a:pt x="81293" y="0"/>
                    </a:cubicBezTo>
                    <a:close/>
                  </a:path>
                </a:pathLst>
              </a:custGeom>
              <a:solidFill>
                <a:srgbClr val="FF751F"/>
              </a:solidFill>
            </p:spPr>
          </p:sp>
          <p:sp>
            <p:nvSpPr>
              <p:cNvPr name="TextBox 52" id="52"/>
              <p:cNvSpPr txBox="true"/>
              <p:nvPr/>
            </p:nvSpPr>
            <p:spPr>
              <a:xfrm>
                <a:off x="0" y="-9525"/>
                <a:ext cx="409150" cy="281125"/>
              </a:xfrm>
              <a:prstGeom prst="rect">
                <a:avLst/>
              </a:prstGeom>
            </p:spPr>
            <p:txBody>
              <a:bodyPr anchor="ctr" rtlCol="false" tIns="36787" lIns="36787" bIns="36787" rIns="36787"/>
              <a:lstStyle/>
              <a:p>
                <a:pPr algn="ctr">
                  <a:lnSpc>
                    <a:spcPts val="811"/>
                  </a:lnSpc>
                </a:pPr>
                <a:r>
                  <a:rPr lang="en-US" b="true" sz="579">
                    <a:solidFill>
                      <a:srgbClr val="000000"/>
                    </a:solidFill>
                    <a:latin typeface="Noto Sans Bold"/>
                    <a:ea typeface="Noto Sans Bold"/>
                    <a:cs typeface="Noto Sans Bold"/>
                    <a:sym typeface="Noto Sans Bold"/>
                  </a:rPr>
                  <a:t>HOLD -</a:t>
                </a:r>
                <a:r>
                  <a:rPr lang="en-US" sz="579">
                    <a:solidFill>
                      <a:srgbClr val="000000"/>
                    </a:solidFill>
                    <a:latin typeface="Noto Sans"/>
                    <a:ea typeface="Noto Sans"/>
                    <a:cs typeface="Noto Sans"/>
                    <a:sym typeface="Noto Sans"/>
                  </a:rPr>
                  <a:t> Waiting – vận chuyển liên trung tâm </a:t>
                </a:r>
              </a:p>
            </p:txBody>
          </p:sp>
        </p:gr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6369688" y="1702958"/>
          <a:ext cx="11552964" cy="5837131"/>
        </p:xfrm>
        <a:graphic>
          <a:graphicData uri="http://schemas.openxmlformats.org/drawingml/2006/table">
            <a:tbl>
              <a:tblPr/>
              <a:tblGrid>
                <a:gridCol w="799128"/>
                <a:gridCol w="2608892"/>
                <a:gridCol w="8144944"/>
              </a:tblGrid>
              <a:tr h="810846">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Tên Tác nhân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Vai trò trong quy trình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1314131">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Phòng ban đề xuất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Phát sinh nhu cầu tuyển dụng, lập đề xuất tuyển dụng và gửi lên Ban Giám đốc phê duyệt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16418">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Phòng Nhân sự (HR)</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Trình phê duyệt, sàng lọc &amp; phỏng vấn ứng viên, soạn/quản lý hợp đồng thử việc, ghi nhận dữ liệu nhân sự, tổ chức đào tạo hội nhập, đánh giá kết quả thử việc, xác định loại hợp đồng chính thức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081604">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Ban Giám đốc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Thực hiện xét duyệt chủ trương tuyển dụng và ra quyết định tuyển dụng chính thức sau khi kết thúc thời gian thử việc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1314131">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Ứng viên / Nhân viên mới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Tiếp nhận và phản hồi kết quả tuyển dụng, tham gia thử việc và chịu sự đánh giá theo các tiêu chí do doanh nghiệp quy định</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312884"/>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383" y="632880"/>
            <a:ext cx="2759748"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Tu</a:t>
            </a:r>
            <a:r>
              <a:rPr lang="en-US" b="true" sz="3000" strike="noStrike" u="none">
                <a:solidFill>
                  <a:srgbClr val="EB2427"/>
                </a:solidFill>
                <a:latin typeface="Poppins Bold"/>
                <a:ea typeface="Poppins Bold"/>
                <a:cs typeface="Poppins Bold"/>
                <a:sym typeface="Poppins Bold"/>
              </a:rPr>
              <a:t>yển</a:t>
            </a:r>
            <a:r>
              <a:rPr lang="en-US" b="true" sz="3000" strike="noStrike" u="none">
                <a:solidFill>
                  <a:srgbClr val="EB2427"/>
                </a:solidFill>
                <a:latin typeface="Poppins Bold"/>
                <a:ea typeface="Poppins Bold"/>
                <a:cs typeface="Poppins Bold"/>
                <a:sym typeface="Poppins Bold"/>
              </a:rPr>
              <a:t> </a:t>
            </a:r>
            <a:r>
              <a:rPr lang="en-US" b="true" sz="3000" strike="noStrike" u="none">
                <a:solidFill>
                  <a:srgbClr val="EB2427"/>
                </a:solidFill>
                <a:latin typeface="Poppins Bold"/>
                <a:ea typeface="Poppins Bold"/>
                <a:cs typeface="Poppins Bold"/>
                <a:sym typeface="Poppins Bold"/>
              </a:rPr>
              <a:t>dụng</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đào</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ạo </a:t>
            </a:r>
            <a:r>
              <a:rPr lang="en-US" b="true" sz="3000" strike="noStrike" u="none">
                <a:solidFill>
                  <a:srgbClr val="EB2427"/>
                </a:solidFill>
                <a:latin typeface="Poppins Bold"/>
                <a:ea typeface="Poppins Bold"/>
                <a:cs typeface="Poppins Bold"/>
                <a:sym typeface="Poppins Bold"/>
              </a:rPr>
              <a:t>n</a:t>
            </a:r>
            <a:r>
              <a:rPr lang="en-US" b="true" sz="3000" strike="noStrike" u="none">
                <a:solidFill>
                  <a:srgbClr val="EB2427"/>
                </a:solidFill>
                <a:latin typeface="Poppins Bold"/>
                <a:ea typeface="Poppins Bold"/>
                <a:cs typeface="Poppins Bold"/>
                <a:sym typeface="Poppins Bold"/>
              </a:rPr>
              <a:t>hân sự</a:t>
            </a:r>
            <a:r>
              <a:rPr lang="en-US" b="true" sz="3000" strike="noStrike" u="none">
                <a:solidFill>
                  <a:srgbClr val="EB2427"/>
                </a:solidFill>
                <a:latin typeface="Poppins Bold"/>
                <a:ea typeface="Poppins Bold"/>
                <a:cs typeface="Poppins Bold"/>
                <a:sym typeface="Poppins Bold"/>
              </a:rPr>
              <a:t>: Tổng quan</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1795595"/>
            <a:ext cx="5074210" cy="2376170"/>
          </a:xfrm>
          <a:prstGeom prst="rect">
            <a:avLst/>
          </a:prstGeom>
        </p:spPr>
        <p:txBody>
          <a:bodyPr anchor="t" rtlCol="false" tIns="0" lIns="0" bIns="0" rIns="0">
            <a:spAutoFit/>
          </a:bodyPr>
          <a:lstStyle/>
          <a:p>
            <a:pPr algn="l">
              <a:lnSpc>
                <a:spcPts val="2380"/>
              </a:lnSpc>
              <a:spcBef>
                <a:spcPct val="0"/>
              </a:spcBef>
            </a:pPr>
            <a:r>
              <a:rPr lang="en-US" sz="1700">
                <a:solidFill>
                  <a:srgbClr val="000000"/>
                </a:solidFill>
                <a:latin typeface="Poppins"/>
                <a:ea typeface="Poppins"/>
                <a:cs typeface="Poppins"/>
                <a:sym typeface="Poppins"/>
              </a:rPr>
              <a:t>Q</a:t>
            </a:r>
            <a:r>
              <a:rPr lang="en-US" sz="1700">
                <a:solidFill>
                  <a:srgbClr val="000000"/>
                </a:solidFill>
                <a:latin typeface="Poppins"/>
                <a:ea typeface="Poppins"/>
                <a:cs typeface="Poppins"/>
                <a:sym typeface="Poppins"/>
              </a:rPr>
              <a:t>uy trình</a:t>
            </a:r>
            <a:r>
              <a:rPr lang="en-US" b="true" sz="1700">
                <a:solidFill>
                  <a:srgbClr val="000000"/>
                </a:solidFill>
                <a:latin typeface="Poppins Bold"/>
                <a:ea typeface="Poppins Bold"/>
                <a:cs typeface="Poppins Bold"/>
                <a:sym typeface="Poppins Bold"/>
              </a:rPr>
              <a:t> tuyển dụng và đào tạo nhân sự </a:t>
            </a:r>
            <a:r>
              <a:rPr lang="en-US" sz="1700">
                <a:solidFill>
                  <a:srgbClr val="000000"/>
                </a:solidFill>
                <a:latin typeface="Poppins"/>
                <a:ea typeface="Poppins"/>
                <a:cs typeface="Poppins"/>
                <a:sym typeface="Poppins"/>
              </a:rPr>
              <a:t>là quy trình nghiệp vụ liên quan đến việc </a:t>
            </a:r>
            <a:r>
              <a:rPr lang="en-US" b="true" sz="1700">
                <a:solidFill>
                  <a:srgbClr val="000000"/>
                </a:solidFill>
                <a:latin typeface="Poppins Bold"/>
                <a:ea typeface="Poppins Bold"/>
                <a:cs typeface="Poppins Bold"/>
                <a:sym typeface="Poppins Bold"/>
              </a:rPr>
              <a:t>tiếp nhận nhu cầu nhân sự</a:t>
            </a:r>
            <a:r>
              <a:rPr lang="en-US" sz="1700">
                <a:solidFill>
                  <a:srgbClr val="000000"/>
                </a:solidFill>
                <a:latin typeface="Poppins"/>
                <a:ea typeface="Poppins"/>
                <a:cs typeface="Poppins"/>
                <a:sym typeface="Poppins"/>
              </a:rPr>
              <a:t> từ các phòng ban, tổ chức </a:t>
            </a:r>
            <a:r>
              <a:rPr lang="en-US" b="true" sz="1700">
                <a:solidFill>
                  <a:srgbClr val="000000"/>
                </a:solidFill>
                <a:latin typeface="Poppins Bold"/>
                <a:ea typeface="Poppins Bold"/>
                <a:cs typeface="Poppins Bold"/>
                <a:sym typeface="Poppins Bold"/>
              </a:rPr>
              <a:t>tìm kiếm, sàng lọc và phỏng vấn ứng viên, ra quyết định tuyển dụng</a:t>
            </a:r>
            <a:r>
              <a:rPr lang="en-US" sz="1700">
                <a:solidFill>
                  <a:srgbClr val="000000"/>
                </a:solidFill>
                <a:latin typeface="Poppins"/>
                <a:ea typeface="Poppins"/>
                <a:cs typeface="Poppins"/>
                <a:sym typeface="Poppins"/>
              </a:rPr>
              <a:t>, đồng thời triển khai </a:t>
            </a:r>
            <a:r>
              <a:rPr lang="en-US" b="true" sz="1700">
                <a:solidFill>
                  <a:srgbClr val="000000"/>
                </a:solidFill>
                <a:latin typeface="Poppins Bold"/>
                <a:ea typeface="Poppins Bold"/>
                <a:cs typeface="Poppins Bold"/>
                <a:sym typeface="Poppins Bold"/>
              </a:rPr>
              <a:t>đào tạo hội nhập</a:t>
            </a:r>
            <a:r>
              <a:rPr lang="en-US" sz="1700">
                <a:solidFill>
                  <a:srgbClr val="000000"/>
                </a:solidFill>
                <a:latin typeface="Poppins"/>
                <a:ea typeface="Poppins"/>
                <a:cs typeface="Poppins"/>
                <a:sym typeface="Poppins"/>
              </a:rPr>
              <a:t> và </a:t>
            </a:r>
            <a:r>
              <a:rPr lang="en-US" b="true" sz="1700">
                <a:solidFill>
                  <a:srgbClr val="000000"/>
                </a:solidFill>
                <a:latin typeface="Poppins Bold"/>
                <a:ea typeface="Poppins Bold"/>
                <a:cs typeface="Poppins Bold"/>
                <a:sym typeface="Poppins Bold"/>
              </a:rPr>
              <a:t>đào tạo chuyên môn</a:t>
            </a:r>
            <a:r>
              <a:rPr lang="en-US" sz="1700">
                <a:solidFill>
                  <a:srgbClr val="000000"/>
                </a:solidFill>
                <a:latin typeface="Poppins"/>
                <a:ea typeface="Poppins"/>
                <a:cs typeface="Poppins"/>
                <a:sym typeface="Poppins"/>
              </a:rPr>
              <a:t> nhằm giúp nhân viên nhanh chóng đáp ứng yêu cầu công việc.</a:t>
            </a:r>
          </a:p>
        </p:txBody>
      </p:sp>
      <p:sp>
        <p:nvSpPr>
          <p:cNvPr name="TextBox 13" id="13"/>
          <p:cNvSpPr txBox="true"/>
          <p:nvPr/>
        </p:nvSpPr>
        <p:spPr>
          <a:xfrm rot="0">
            <a:off x="6369688" y="1163908"/>
            <a:ext cx="4501428"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tác nhân chính trong hệ thống</a:t>
            </a:r>
          </a:p>
        </p:txBody>
      </p:sp>
      <p:sp>
        <p:nvSpPr>
          <p:cNvPr name="TextBox 14" id="14"/>
          <p:cNvSpPr txBox="true"/>
          <p:nvPr/>
        </p:nvSpPr>
        <p:spPr>
          <a:xfrm rot="0">
            <a:off x="781330" y="4924240"/>
            <a:ext cx="4971560" cy="2301240"/>
          </a:xfrm>
          <a:prstGeom prst="rect">
            <a:avLst/>
          </a:prstGeom>
        </p:spPr>
        <p:txBody>
          <a:bodyPr anchor="t" rtlCol="false" tIns="0" lIns="0" bIns="0" rIns="0">
            <a:spAutoFit/>
          </a:bodyPr>
          <a:lstStyle/>
          <a:p>
            <a:pPr algn="l">
              <a:lnSpc>
                <a:spcPts val="2294"/>
              </a:lnSpc>
            </a:pPr>
            <a:r>
              <a:rPr lang="en-US" sz="1699" b="true">
                <a:solidFill>
                  <a:srgbClr val="000000"/>
                </a:solidFill>
                <a:latin typeface="Poppins Bold"/>
                <a:ea typeface="Poppins Bold"/>
                <a:cs typeface="Poppins Bold"/>
                <a:sym typeface="Poppins Bold"/>
              </a:rPr>
              <a:t>Các bước thực hiện</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Đề xuất &amp; phê duyệt</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Sàng lọc &amp; phỏng vấn</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Xác nhận nhận việc &amp; ký hợp đồng lao động </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Đào tạo hội nhập &amp; ghi nhận hệ thống </a:t>
            </a:r>
          </a:p>
          <a:p>
            <a:pPr algn="l" marL="367029" indent="-183514" lvl="1">
              <a:lnSpc>
                <a:spcPts val="2294"/>
              </a:lnSpc>
              <a:buAutoNum type="arabicPeriod" startAt="1"/>
            </a:pPr>
            <a:r>
              <a:rPr lang="en-US" sz="1699">
                <a:solidFill>
                  <a:srgbClr val="000000"/>
                </a:solidFill>
                <a:latin typeface="Poppins"/>
                <a:ea typeface="Poppins"/>
                <a:cs typeface="Poppins"/>
                <a:sym typeface="Poppins"/>
              </a:rPr>
              <a:t>Đánh giá thử việc &amp; chính thức hóa hợp đồng</a:t>
            </a:r>
          </a:p>
        </p:txBody>
      </p:sp>
      <p:sp>
        <p:nvSpPr>
          <p:cNvPr name="TextBox 15" id="15"/>
          <p:cNvSpPr txBox="true"/>
          <p:nvPr/>
        </p:nvSpPr>
        <p:spPr>
          <a:xfrm rot="0">
            <a:off x="781330" y="1163908"/>
            <a:ext cx="2628503"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Tổng quan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31</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0613" y="211701"/>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45334" y="9357536"/>
            <a:ext cx="671992" cy="671992"/>
          </a:xfrm>
          <a:custGeom>
            <a:avLst/>
            <a:gdLst/>
            <a:ahLst/>
            <a:cxnLst/>
            <a:rect r="r" b="b" t="t" l="l"/>
            <a:pathLst>
              <a:path h="671992" w="671992">
                <a:moveTo>
                  <a:pt x="0" y="0"/>
                </a:moveTo>
                <a:lnTo>
                  <a:pt x="671992" y="0"/>
                </a:lnTo>
                <a:lnTo>
                  <a:pt x="671992" y="671991"/>
                </a:lnTo>
                <a:lnTo>
                  <a:pt x="0" y="671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90613" y="9501320"/>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aphicFrame>
        <p:nvGraphicFramePr>
          <p:cNvPr name="Table 6" id="6"/>
          <p:cNvGraphicFramePr>
            <a:graphicFrameLocks noGrp="true"/>
          </p:cNvGraphicFramePr>
          <p:nvPr/>
        </p:nvGraphicFramePr>
        <p:xfrm>
          <a:off x="6369688" y="1609725"/>
          <a:ext cx="11552964" cy="5859388"/>
        </p:xfrm>
        <a:graphic>
          <a:graphicData uri="http://schemas.openxmlformats.org/drawingml/2006/table">
            <a:tbl>
              <a:tblPr/>
              <a:tblGrid>
                <a:gridCol w="799128"/>
                <a:gridCol w="2608892"/>
                <a:gridCol w="8144944"/>
              </a:tblGrid>
              <a:tr h="810841">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L</a:t>
                      </a:r>
                      <a:r>
                        <a:rPr lang="en-US" sz="1599">
                          <a:solidFill>
                            <a:srgbClr val="FFFFFF"/>
                          </a:solidFill>
                          <a:latin typeface="Poppins"/>
                          <a:ea typeface="Poppins"/>
                          <a:cs typeface="Poppins"/>
                          <a:sym typeface="Poppins"/>
                        </a:rPr>
                        <a:t>oại giá trị</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M</a:t>
                      </a:r>
                      <a:r>
                        <a:rPr lang="en-US" sz="1599">
                          <a:solidFill>
                            <a:srgbClr val="FFFFFF"/>
                          </a:solidFill>
                          <a:latin typeface="Poppins"/>
                          <a:ea typeface="Poppins"/>
                          <a:cs typeface="Poppins"/>
                          <a:sym typeface="Poppins"/>
                        </a:rPr>
                        <a:t>ô tả</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00643"/>
                    </a:solidFill>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1</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Tuyển dụng và đào tạo hoàn tất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2</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Tích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Quy trình tuyển dụng thời vụ hoàn tất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3</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Đề xuất tuyển dụng bị từ chối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4</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Ứng viên bị loại</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5</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a:lnSpc>
                          <a:spcPts val="1819"/>
                        </a:lnSpc>
                        <a:defRPr/>
                      </a:pPr>
                      <a:r>
                        <a:rPr lang="en-US" sz="1299">
                          <a:solidFill>
                            <a:srgbClr val="000000"/>
                          </a:solidFill>
                          <a:latin typeface="Poppins"/>
                          <a:ea typeface="Poppins"/>
                          <a:cs typeface="Poppins"/>
                          <a:sym typeface="Poppins"/>
                        </a:rPr>
                        <a:t>Ứng viên không trúng tuyển</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15538">
                <a:tc>
                  <a:txBody>
                    <a:bodyPr anchor="t" rtlCol="false"/>
                    <a:lstStyle/>
                    <a:p>
                      <a:pPr algn="ctr">
                        <a:lnSpc>
                          <a:spcPts val="1819"/>
                        </a:lnSpc>
                        <a:defRPr/>
                      </a:pPr>
                      <a:r>
                        <a:rPr lang="en-US" sz="1299">
                          <a:solidFill>
                            <a:srgbClr val="000000"/>
                          </a:solidFill>
                          <a:latin typeface="Poppins"/>
                          <a:ea typeface="Poppins"/>
                          <a:cs typeface="Poppins"/>
                          <a:sym typeface="Poppins"/>
                        </a:rPr>
                        <a:t>6</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marL="0" indent="0" lvl="0">
                        <a:lnSpc>
                          <a:spcPts val="1819"/>
                        </a:lnSpc>
                        <a:spcBef>
                          <a:spcPct val="0"/>
                        </a:spcBef>
                        <a:defRPr/>
                      </a:pPr>
                      <a:r>
                        <a:rPr lang="en-US" sz="1299" strike="noStrike" u="none">
                          <a:solidFill>
                            <a:srgbClr val="000000"/>
                          </a:solidFill>
                          <a:latin typeface="Poppins"/>
                          <a:ea typeface="Poppins"/>
                          <a:cs typeface="Poppins"/>
                          <a:sym typeface="Poppins"/>
                        </a:rPr>
                        <a:t>Ứng viên từ chối nhận việc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5317">
                <a:tc>
                  <a:txBody>
                    <a:bodyPr anchor="t" rtlCol="false"/>
                    <a:lstStyle/>
                    <a:p>
                      <a:pPr algn="ctr">
                        <a:lnSpc>
                          <a:spcPts val="1819"/>
                        </a:lnSpc>
                        <a:defRPr/>
                      </a:pPr>
                      <a:r>
                        <a:rPr lang="en-US" sz="1299">
                          <a:solidFill>
                            <a:srgbClr val="000000"/>
                          </a:solidFill>
                          <a:latin typeface="Poppins"/>
                          <a:ea typeface="Poppins"/>
                          <a:cs typeface="Poppins"/>
                          <a:sym typeface="Poppins"/>
                        </a:rPr>
                        <a:t>7</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1819"/>
                        </a:lnSpc>
                        <a:defRPr/>
                      </a:pPr>
                      <a:r>
                        <a:rPr lang="en-US" sz="1299" b="true">
                          <a:solidFill>
                            <a:srgbClr val="000000"/>
                          </a:solidFill>
                          <a:latin typeface="Poppins Bold"/>
                          <a:ea typeface="Poppins Bold"/>
                          <a:cs typeface="Poppins Bold"/>
                          <a:sym typeface="Poppins Bold"/>
                        </a:rPr>
                        <a:t>Tiêu cực</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l" marL="0" indent="0" lvl="0">
                        <a:lnSpc>
                          <a:spcPts val="1819"/>
                        </a:lnSpc>
                        <a:spcBef>
                          <a:spcPct val="0"/>
                        </a:spcBef>
                        <a:defRPr/>
                      </a:pPr>
                      <a:r>
                        <a:rPr lang="en-US" sz="1299" strike="noStrike" u="none">
                          <a:solidFill>
                            <a:srgbClr val="000000"/>
                          </a:solidFill>
                          <a:latin typeface="Poppins"/>
                          <a:ea typeface="Poppins"/>
                          <a:cs typeface="Poppins"/>
                          <a:sym typeface="Poppins"/>
                        </a:rPr>
                        <a:t>Hợp đồng thử việc bị chấm dứt</a:t>
                      </a:r>
                      <a:endParaRPr lang="en-US" sz="1100"/>
                    </a:p>
                  </a:txBody>
                  <a:tcPr marL="190500" marR="190500" marT="190500" marB="1905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1649383" y="20217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8" id="8"/>
          <p:cNvSpPr txBox="true"/>
          <p:nvPr/>
        </p:nvSpPr>
        <p:spPr>
          <a:xfrm rot="0">
            <a:off x="1649383" y="516723"/>
            <a:ext cx="2823414"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9" id="9"/>
          <p:cNvSpPr txBox="true"/>
          <p:nvPr/>
        </p:nvSpPr>
        <p:spPr>
          <a:xfrm rot="0">
            <a:off x="7031287" y="483048"/>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Tu</a:t>
            </a:r>
            <a:r>
              <a:rPr lang="en-US" b="true" sz="3000" strike="noStrike" u="none">
                <a:solidFill>
                  <a:srgbClr val="EB2427"/>
                </a:solidFill>
                <a:latin typeface="Poppins Bold"/>
                <a:ea typeface="Poppins Bold"/>
                <a:cs typeface="Poppins Bold"/>
                <a:sym typeface="Poppins Bold"/>
              </a:rPr>
              <a:t>yển</a:t>
            </a:r>
            <a:r>
              <a:rPr lang="en-US" b="true" sz="3000" strike="noStrike" u="none">
                <a:solidFill>
                  <a:srgbClr val="EB2427"/>
                </a:solidFill>
                <a:latin typeface="Poppins Bold"/>
                <a:ea typeface="Poppins Bold"/>
                <a:cs typeface="Poppins Bold"/>
                <a:sym typeface="Poppins Bold"/>
              </a:rPr>
              <a:t> </a:t>
            </a:r>
            <a:r>
              <a:rPr lang="en-US" b="true" sz="3000" strike="noStrike" u="none">
                <a:solidFill>
                  <a:srgbClr val="EB2427"/>
                </a:solidFill>
                <a:latin typeface="Poppins Bold"/>
                <a:ea typeface="Poppins Bold"/>
                <a:cs typeface="Poppins Bold"/>
                <a:sym typeface="Poppins Bold"/>
              </a:rPr>
              <a:t>dụng</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đào</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ạo </a:t>
            </a:r>
            <a:r>
              <a:rPr lang="en-US" b="true" sz="3000" strike="noStrike" u="none">
                <a:solidFill>
                  <a:srgbClr val="EB2427"/>
                </a:solidFill>
                <a:latin typeface="Poppins Bold"/>
                <a:ea typeface="Poppins Bold"/>
                <a:cs typeface="Poppins Bold"/>
                <a:sym typeface="Poppins Bold"/>
              </a:rPr>
              <a:t>n</a:t>
            </a:r>
            <a:r>
              <a:rPr lang="en-US" b="true" sz="3000" strike="noStrike" u="none">
                <a:solidFill>
                  <a:srgbClr val="EB2427"/>
                </a:solidFill>
                <a:latin typeface="Poppins Bold"/>
                <a:ea typeface="Poppins Bold"/>
                <a:cs typeface="Poppins Bold"/>
                <a:sym typeface="Poppins Bold"/>
              </a:rPr>
              <a:t>hân sự</a:t>
            </a:r>
            <a:r>
              <a:rPr lang="en-US" b="true" sz="3000" strike="noStrike" u="none">
                <a:solidFill>
                  <a:srgbClr val="EB2427"/>
                </a:solidFill>
                <a:latin typeface="Poppins Bold"/>
                <a:ea typeface="Poppins Bold"/>
                <a:cs typeface="Poppins Bold"/>
                <a:sym typeface="Poppins Bold"/>
              </a:rPr>
              <a:t>: Phân tích</a:t>
            </a:r>
          </a:p>
        </p:txBody>
      </p:sp>
      <p:sp>
        <p:nvSpPr>
          <p:cNvPr name="TextBox 10" id="10"/>
          <p:cNvSpPr txBox="true"/>
          <p:nvPr/>
        </p:nvSpPr>
        <p:spPr>
          <a:xfrm rot="0">
            <a:off x="1338990" y="9662595"/>
            <a:ext cx="543225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quản trị quy trình nghiệp vụ</a:t>
            </a:r>
          </a:p>
        </p:txBody>
      </p:sp>
      <p:sp>
        <p:nvSpPr>
          <p:cNvPr name="TextBox 11" id="11"/>
          <p:cNvSpPr txBox="true"/>
          <p:nvPr/>
        </p:nvSpPr>
        <p:spPr>
          <a:xfrm rot="0">
            <a:off x="1338990" y="9328165"/>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81330" y="1607708"/>
            <a:ext cx="4960247" cy="2080895"/>
          </a:xfrm>
          <a:prstGeom prst="rect">
            <a:avLst/>
          </a:prstGeom>
        </p:spPr>
        <p:txBody>
          <a:bodyPr anchor="t" rtlCol="false" tIns="0" lIns="0" bIns="0" rIns="0">
            <a:spAutoFit/>
          </a:bodyPr>
          <a:lstStyle/>
          <a:p>
            <a:pPr algn="l">
              <a:lnSpc>
                <a:spcPts val="2380"/>
              </a:lnSpc>
              <a:spcBef>
                <a:spcPct val="0"/>
              </a:spcBef>
            </a:pPr>
            <a:r>
              <a:rPr lang="en-US" b="true" sz="1700">
                <a:solidFill>
                  <a:srgbClr val="000000"/>
                </a:solidFill>
                <a:latin typeface="Poppins Bold"/>
                <a:ea typeface="Poppins Bold"/>
                <a:cs typeface="Poppins Bold"/>
                <a:sym typeface="Poppins Bold"/>
              </a:rPr>
              <a:t>Ứn</a:t>
            </a:r>
            <a:r>
              <a:rPr lang="en-US" b="true" sz="1700">
                <a:solidFill>
                  <a:srgbClr val="000000"/>
                </a:solidFill>
                <a:latin typeface="Poppins Bold"/>
                <a:ea typeface="Poppins Bold"/>
                <a:cs typeface="Poppins Bold"/>
                <a:sym typeface="Poppins Bold"/>
              </a:rPr>
              <a:t>g viên</a:t>
            </a:r>
            <a:r>
              <a:rPr lang="en-US" sz="1700">
                <a:solidFill>
                  <a:srgbClr val="000000"/>
                </a:solidFill>
                <a:latin typeface="Poppins"/>
                <a:ea typeface="Poppins"/>
                <a:cs typeface="Poppins"/>
                <a:sym typeface="Poppins"/>
              </a:rPr>
              <a:t> ứng tuyển vào các vị trí tại Viettel Post; </a:t>
            </a:r>
            <a:r>
              <a:rPr lang="en-US" b="true" sz="1700">
                <a:solidFill>
                  <a:srgbClr val="000000"/>
                </a:solidFill>
                <a:latin typeface="Poppins Bold"/>
                <a:ea typeface="Poppins Bold"/>
                <a:cs typeface="Poppins Bold"/>
                <a:sym typeface="Poppins Bold"/>
              </a:rPr>
              <a:t>các phòng ban có phát sinh nhu cầu tuyể</a:t>
            </a:r>
            <a:r>
              <a:rPr lang="en-US" b="true" sz="1700">
                <a:solidFill>
                  <a:srgbClr val="000000"/>
                </a:solidFill>
                <a:latin typeface="Poppins Bold"/>
                <a:ea typeface="Poppins Bold"/>
                <a:cs typeface="Poppins Bold"/>
                <a:sym typeface="Poppins Bold"/>
              </a:rPr>
              <a:t>n dụng; Phòng Nhân sự (HR)</a:t>
            </a:r>
            <a:r>
              <a:rPr lang="en-US" sz="1700">
                <a:solidFill>
                  <a:srgbClr val="000000"/>
                </a:solidFill>
                <a:latin typeface="Poppins"/>
                <a:ea typeface="Poppins"/>
                <a:cs typeface="Poppins"/>
                <a:sym typeface="Poppins"/>
              </a:rPr>
              <a:t> — đơn vị chủ trì thực hiện; </a:t>
            </a:r>
            <a:r>
              <a:rPr lang="en-US" b="true" sz="1700">
                <a:solidFill>
                  <a:srgbClr val="000000"/>
                </a:solidFill>
                <a:latin typeface="Poppins Bold"/>
                <a:ea typeface="Poppins Bold"/>
                <a:cs typeface="Poppins Bold"/>
                <a:sym typeface="Poppins Bold"/>
              </a:rPr>
              <a:t>Ban Giám đốc</a:t>
            </a:r>
            <a:r>
              <a:rPr lang="en-US" sz="1700">
                <a:solidFill>
                  <a:srgbClr val="000000"/>
                </a:solidFill>
                <a:latin typeface="Poppins"/>
                <a:ea typeface="Poppins"/>
                <a:cs typeface="Poppins"/>
                <a:sym typeface="Poppins"/>
              </a:rPr>
              <a:t> — cấp phê duyệt chủ trương và quyết định tuyển dụng chính thức; </a:t>
            </a:r>
            <a:r>
              <a:rPr lang="en-US" b="true" sz="1700">
                <a:solidFill>
                  <a:srgbClr val="000000"/>
                </a:solidFill>
                <a:latin typeface="Poppins Bold"/>
                <a:ea typeface="Poppins Bold"/>
                <a:cs typeface="Poppins Bold"/>
                <a:sym typeface="Poppins Bold"/>
              </a:rPr>
              <a:t>nhân viên mới </a:t>
            </a:r>
            <a:r>
              <a:rPr lang="en-US" sz="1700">
                <a:solidFill>
                  <a:srgbClr val="000000"/>
                </a:solidFill>
                <a:latin typeface="Poppins"/>
                <a:ea typeface="Poppins"/>
                <a:cs typeface="Poppins"/>
                <a:sym typeface="Poppins"/>
              </a:rPr>
              <a:t>trong giai đoạn thử việc và đào tạo hội nhập</a:t>
            </a:r>
          </a:p>
        </p:txBody>
      </p:sp>
      <p:sp>
        <p:nvSpPr>
          <p:cNvPr name="TextBox 13" id="13"/>
          <p:cNvSpPr txBox="true"/>
          <p:nvPr/>
        </p:nvSpPr>
        <p:spPr>
          <a:xfrm rot="0">
            <a:off x="6369688" y="1163908"/>
            <a:ext cx="2650596"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Các giá trị &amp; kết quả </a:t>
            </a:r>
          </a:p>
        </p:txBody>
      </p:sp>
      <p:sp>
        <p:nvSpPr>
          <p:cNvPr name="TextBox 14" id="14"/>
          <p:cNvSpPr txBox="true"/>
          <p:nvPr/>
        </p:nvSpPr>
        <p:spPr>
          <a:xfrm rot="0">
            <a:off x="781330" y="1163908"/>
            <a:ext cx="2077789"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Đ</a:t>
            </a:r>
            <a:r>
              <a:rPr lang="en-US" b="true" sz="1991">
                <a:solidFill>
                  <a:srgbClr val="000000"/>
                </a:solidFill>
                <a:latin typeface="Poppins Bold"/>
                <a:ea typeface="Poppins Bold"/>
                <a:cs typeface="Poppins Bold"/>
                <a:sym typeface="Poppins Bold"/>
              </a:rPr>
              <a:t>ối tượng chính</a:t>
            </a:r>
          </a:p>
        </p:txBody>
      </p:sp>
      <p:sp>
        <p:nvSpPr>
          <p:cNvPr name="TextBox 15" id="15"/>
          <p:cNvSpPr txBox="true"/>
          <p:nvPr/>
        </p:nvSpPr>
        <p:spPr>
          <a:xfrm rot="0">
            <a:off x="781330" y="3974353"/>
            <a:ext cx="2025253" cy="310450"/>
          </a:xfrm>
          <a:prstGeom prst="rect">
            <a:avLst/>
          </a:prstGeom>
        </p:spPr>
        <p:txBody>
          <a:bodyPr anchor="t" rtlCol="false" tIns="0" lIns="0" bIns="0" rIns="0">
            <a:spAutoFit/>
          </a:bodyPr>
          <a:lstStyle/>
          <a:p>
            <a:pPr algn="l">
              <a:lnSpc>
                <a:spcPts val="2270"/>
              </a:lnSpc>
              <a:spcBef>
                <a:spcPct val="0"/>
              </a:spcBef>
            </a:pPr>
            <a:r>
              <a:rPr lang="en-US" b="true" sz="1991">
                <a:solidFill>
                  <a:srgbClr val="000000"/>
                </a:solidFill>
                <a:latin typeface="Poppins Bold"/>
                <a:ea typeface="Poppins Bold"/>
                <a:cs typeface="Poppins Bold"/>
                <a:sym typeface="Poppins Bold"/>
              </a:rPr>
              <a:t>G</a:t>
            </a:r>
            <a:r>
              <a:rPr lang="en-US" b="true" sz="1991">
                <a:solidFill>
                  <a:srgbClr val="000000"/>
                </a:solidFill>
                <a:latin typeface="Poppins Bold"/>
                <a:ea typeface="Poppins Bold"/>
                <a:cs typeface="Poppins Bold"/>
                <a:sym typeface="Poppins Bold"/>
              </a:rPr>
              <a:t>iá trị mang lại </a:t>
            </a:r>
          </a:p>
        </p:txBody>
      </p:sp>
      <p:sp>
        <p:nvSpPr>
          <p:cNvPr name="TextBox 16" id="16"/>
          <p:cNvSpPr txBox="true"/>
          <p:nvPr/>
        </p:nvSpPr>
        <p:spPr>
          <a:xfrm rot="0">
            <a:off x="781330" y="4418153"/>
            <a:ext cx="4960247" cy="3261995"/>
          </a:xfrm>
          <a:prstGeom prst="rect">
            <a:avLst/>
          </a:prstGeom>
        </p:spPr>
        <p:txBody>
          <a:bodyPr anchor="t" rtlCol="false" tIns="0" lIns="0" bIns="0" rIns="0">
            <a:spAutoFit/>
          </a:bodyPr>
          <a:lstStyle/>
          <a:p>
            <a:pPr algn="l" marL="367031" indent="-183515" lvl="1">
              <a:lnSpc>
                <a:spcPts val="2380"/>
              </a:lnSpc>
              <a:buFont typeface="Arial"/>
              <a:buChar char="•"/>
            </a:pPr>
            <a:r>
              <a:rPr lang="en-US" sz="1700">
                <a:solidFill>
                  <a:srgbClr val="000000"/>
                </a:solidFill>
                <a:latin typeface="Poppins"/>
                <a:ea typeface="Poppins"/>
                <a:cs typeface="Poppins"/>
                <a:sym typeface="Poppins"/>
              </a:rPr>
              <a:t>Kiểm soát rủi ro tuyển dụng nhờ sàng lọc, phỏng vấn và đánh giá thử việc nhiều lớp</a:t>
            </a:r>
          </a:p>
          <a:p>
            <a:pPr algn="l" marL="367031" indent="-183515" lvl="1">
              <a:lnSpc>
                <a:spcPts val="2380"/>
              </a:lnSpc>
              <a:buFont typeface="Arial"/>
              <a:buChar char="•"/>
            </a:pPr>
            <a:r>
              <a:rPr lang="en-US" sz="1700">
                <a:solidFill>
                  <a:srgbClr val="000000"/>
                </a:solidFill>
                <a:latin typeface="Poppins"/>
                <a:ea typeface="Poppins"/>
                <a:cs typeface="Poppins"/>
                <a:sym typeface="Poppins"/>
              </a:rPr>
              <a:t>Rút ngắn thời gian xử lý, hạn chế chồng chéo giữa các bộ phận</a:t>
            </a:r>
          </a:p>
          <a:p>
            <a:pPr algn="l" marL="367031" indent="-183515" lvl="1">
              <a:lnSpc>
                <a:spcPts val="2380"/>
              </a:lnSpc>
              <a:buFont typeface="Arial"/>
              <a:buChar char="•"/>
            </a:pPr>
            <a:r>
              <a:rPr lang="en-US" sz="1700">
                <a:solidFill>
                  <a:srgbClr val="000000"/>
                </a:solidFill>
                <a:latin typeface="Poppins"/>
                <a:ea typeface="Poppins"/>
                <a:cs typeface="Poppins"/>
                <a:sym typeface="Poppins"/>
              </a:rPr>
              <a:t>Tập trung dữ liệu nhân sự trên hệ thống HRM, phục vụ tra cứu và lập kế hoạch đào tạo</a:t>
            </a:r>
          </a:p>
          <a:p>
            <a:pPr algn="l" marL="367031" indent="-183515" lvl="1">
              <a:lnSpc>
                <a:spcPts val="2380"/>
              </a:lnSpc>
              <a:spcBef>
                <a:spcPct val="0"/>
              </a:spcBef>
              <a:buFont typeface="Arial"/>
              <a:buChar char="•"/>
            </a:pPr>
            <a:r>
              <a:rPr lang="en-US" sz="1700">
                <a:solidFill>
                  <a:srgbClr val="000000"/>
                </a:solidFill>
                <a:latin typeface="Poppins"/>
                <a:ea typeface="Poppins"/>
                <a:cs typeface="Poppins"/>
                <a:sym typeface="Poppins"/>
              </a:rPr>
              <a:t>Cung cấp căn cứ rõ ràng để Ban Giám đốc ra quyết định tuyển dụng chính thức</a:t>
            </a:r>
          </a:p>
          <a:p>
            <a:pPr algn="l">
              <a:lnSpc>
                <a:spcPts val="2380"/>
              </a:lnSpc>
              <a:spcBef>
                <a:spcPct val="0"/>
              </a:spcBef>
            </a:pPr>
            <a:r>
              <a:rPr lang="en-US" sz="1700">
                <a:solidFill>
                  <a:srgbClr val="000000"/>
                </a:solidFill>
                <a:latin typeface="Poppins"/>
                <a:ea typeface="Poppins"/>
                <a:cs typeface="Poppins"/>
                <a:sym typeface="Poppins"/>
              </a:rPr>
              <a:t> </a:t>
            </a:r>
          </a:p>
          <a:p>
            <a:pPr algn="l">
              <a:lnSpc>
                <a:spcPts val="2380"/>
              </a:lnSpc>
              <a:spcBef>
                <a:spcPct val="0"/>
              </a:spcBef>
            </a:pPr>
          </a:p>
        </p:txBody>
      </p:sp>
      <p:sp>
        <p:nvSpPr>
          <p:cNvPr name="TextBox 17" id="1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32</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30585" y="2378151"/>
            <a:ext cx="18026830" cy="5486916"/>
          </a:xfrm>
          <a:custGeom>
            <a:avLst/>
            <a:gdLst/>
            <a:ahLst/>
            <a:cxnLst/>
            <a:rect r="r" b="b" t="t" l="l"/>
            <a:pathLst>
              <a:path h="5486916" w="18026830">
                <a:moveTo>
                  <a:pt x="0" y="0"/>
                </a:moveTo>
                <a:lnTo>
                  <a:pt x="18026830" y="0"/>
                </a:lnTo>
                <a:lnTo>
                  <a:pt x="18026830" y="5486917"/>
                </a:lnTo>
                <a:lnTo>
                  <a:pt x="0" y="54869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366101" y="1458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1" id="11"/>
          <p:cNvSpPr txBox="true"/>
          <p:nvPr/>
        </p:nvSpPr>
        <p:spPr>
          <a:xfrm rot="0">
            <a:off x="1366101" y="306134"/>
            <a:ext cx="2873544"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2" id="12"/>
          <p:cNvSpPr txBox="true"/>
          <p:nvPr/>
        </p:nvSpPr>
        <p:spPr>
          <a:xfrm rot="0">
            <a:off x="7490342" y="33294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Tu</a:t>
            </a:r>
            <a:r>
              <a:rPr lang="en-US" b="true" sz="3000" strike="noStrike" u="none">
                <a:solidFill>
                  <a:srgbClr val="EB2427"/>
                </a:solidFill>
                <a:latin typeface="Poppins Bold"/>
                <a:ea typeface="Poppins Bold"/>
                <a:cs typeface="Poppins Bold"/>
                <a:sym typeface="Poppins Bold"/>
              </a:rPr>
              <a:t>yển</a:t>
            </a:r>
            <a:r>
              <a:rPr lang="en-US" b="true" sz="3000" strike="noStrike" u="none">
                <a:solidFill>
                  <a:srgbClr val="EB2427"/>
                </a:solidFill>
                <a:latin typeface="Poppins Bold"/>
                <a:ea typeface="Poppins Bold"/>
                <a:cs typeface="Poppins Bold"/>
                <a:sym typeface="Poppins Bold"/>
              </a:rPr>
              <a:t> </a:t>
            </a:r>
            <a:r>
              <a:rPr lang="en-US" b="true" sz="3000" strike="noStrike" u="none">
                <a:solidFill>
                  <a:srgbClr val="EB2427"/>
                </a:solidFill>
                <a:latin typeface="Poppins Bold"/>
                <a:ea typeface="Poppins Bold"/>
                <a:cs typeface="Poppins Bold"/>
                <a:sym typeface="Poppins Bold"/>
              </a:rPr>
              <a:t>dụng</a:t>
            </a:r>
            <a:r>
              <a:rPr lang="en-US" b="true" sz="3000" strike="noStrike" u="none">
                <a:solidFill>
                  <a:srgbClr val="EB2427"/>
                </a:solidFill>
                <a:latin typeface="Poppins Bold"/>
                <a:ea typeface="Poppins Bold"/>
                <a:cs typeface="Poppins Bold"/>
                <a:sym typeface="Poppins Bold"/>
              </a:rPr>
              <a:t> và </a:t>
            </a:r>
            <a:r>
              <a:rPr lang="en-US" b="true" sz="3000" strike="noStrike" u="none">
                <a:solidFill>
                  <a:srgbClr val="EB2427"/>
                </a:solidFill>
                <a:latin typeface="Poppins Bold"/>
                <a:ea typeface="Poppins Bold"/>
                <a:cs typeface="Poppins Bold"/>
                <a:sym typeface="Poppins Bold"/>
              </a:rPr>
              <a:t>đào</a:t>
            </a:r>
            <a:r>
              <a:rPr lang="en-US" b="true" sz="3000" strike="noStrike" u="none">
                <a:solidFill>
                  <a:srgbClr val="EB2427"/>
                </a:solidFill>
                <a:latin typeface="Poppins Bold"/>
                <a:ea typeface="Poppins Bold"/>
                <a:cs typeface="Poppins Bold"/>
                <a:sym typeface="Poppins Bold"/>
              </a:rPr>
              <a:t> t</a:t>
            </a:r>
            <a:r>
              <a:rPr lang="en-US" b="true" sz="3000" strike="noStrike" u="none">
                <a:solidFill>
                  <a:srgbClr val="EB2427"/>
                </a:solidFill>
                <a:latin typeface="Poppins Bold"/>
                <a:ea typeface="Poppins Bold"/>
                <a:cs typeface="Poppins Bold"/>
                <a:sym typeface="Poppins Bold"/>
              </a:rPr>
              <a:t>ạo </a:t>
            </a:r>
            <a:r>
              <a:rPr lang="en-US" b="true" sz="3000" strike="noStrike" u="none">
                <a:solidFill>
                  <a:srgbClr val="EB2427"/>
                </a:solidFill>
                <a:latin typeface="Poppins Bold"/>
                <a:ea typeface="Poppins Bold"/>
                <a:cs typeface="Poppins Bold"/>
                <a:sym typeface="Poppins Bold"/>
              </a:rPr>
              <a:t>n</a:t>
            </a:r>
            <a:r>
              <a:rPr lang="en-US" b="true" sz="3000" strike="noStrike" u="none">
                <a:solidFill>
                  <a:srgbClr val="EB2427"/>
                </a:solidFill>
                <a:latin typeface="Poppins Bold"/>
                <a:ea typeface="Poppins Bold"/>
                <a:cs typeface="Poppins Bold"/>
                <a:sym typeface="Poppins Bold"/>
              </a:rPr>
              <a:t>hân sự</a:t>
            </a:r>
            <a:r>
              <a:rPr lang="en-US" b="true" sz="3000" strike="noStrike" u="none">
                <a:solidFill>
                  <a:srgbClr val="EB2427"/>
                </a:solidFill>
                <a:latin typeface="Poppins Bold"/>
                <a:ea typeface="Poppins Bold"/>
                <a:cs typeface="Poppins Bold"/>
                <a:sym typeface="Poppins Bold"/>
              </a:rPr>
              <a:t>: BPMN</a:t>
            </a:r>
          </a:p>
        </p:txBody>
      </p:sp>
      <p:sp>
        <p:nvSpPr>
          <p:cNvPr name="TextBox 13" id="13"/>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33</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682139" y="1667681"/>
            <a:ext cx="17054116" cy="7354588"/>
          </a:xfrm>
          <a:custGeom>
            <a:avLst/>
            <a:gdLst/>
            <a:ahLst/>
            <a:cxnLst/>
            <a:rect r="r" b="b" t="t" l="l"/>
            <a:pathLst>
              <a:path h="7354588" w="17054116">
                <a:moveTo>
                  <a:pt x="0" y="0"/>
                </a:moveTo>
                <a:lnTo>
                  <a:pt x="17054116" y="0"/>
                </a:lnTo>
                <a:lnTo>
                  <a:pt x="17054116" y="7354588"/>
                </a:lnTo>
                <a:lnTo>
                  <a:pt x="0" y="735458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430516" y="9505290"/>
            <a:ext cx="7499468" cy="348841"/>
          </a:xfrm>
          <a:prstGeom prst="rect">
            <a:avLst/>
          </a:prstGeom>
        </p:spPr>
        <p:txBody>
          <a:bodyPr anchor="t" rtlCol="false" tIns="0" lIns="0" bIns="0" rIns="0">
            <a:spAutoFit/>
          </a:bodyPr>
          <a:lstStyle/>
          <a:p>
            <a:pPr algn="l" marL="0" indent="0" lvl="0">
              <a:lnSpc>
                <a:spcPts val="2518"/>
              </a:lnSpc>
              <a:spcBef>
                <a:spcPct val="0"/>
              </a:spcBef>
            </a:pPr>
            <a:r>
              <a:rPr lang="en-US" b="true" sz="2189" strike="noStrike" u="none">
                <a:solidFill>
                  <a:srgbClr val="100643"/>
                </a:solidFill>
                <a:latin typeface="Poppins Bold"/>
                <a:ea typeface="Poppins Bold"/>
                <a:cs typeface="Poppins Bold"/>
                <a:sym typeface="Poppins Bold"/>
              </a:rPr>
              <a:t>Tuyển dụng và đào tạo nhân sự: BPMN – Giai đoạn 2</a:t>
            </a:r>
          </a:p>
        </p:txBody>
      </p:sp>
      <p:sp>
        <p:nvSpPr>
          <p:cNvPr name="TextBox 11" id="11"/>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268920" y="793432"/>
            <a:ext cx="10255127"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Tuyển dụng và</a:t>
            </a:r>
            <a:r>
              <a:rPr lang="en-US" b="true" sz="3000" strike="noStrike" u="none">
                <a:solidFill>
                  <a:srgbClr val="EB2427"/>
                </a:solidFill>
                <a:latin typeface="Poppins Bold"/>
                <a:ea typeface="Poppins Bold"/>
                <a:cs typeface="Poppins Bold"/>
                <a:sym typeface="Poppins Bold"/>
              </a:rPr>
              <a:t> đào t</a:t>
            </a:r>
            <a:r>
              <a:rPr lang="en-US" b="true" sz="3000" strike="noStrike" u="none">
                <a:solidFill>
                  <a:srgbClr val="EB2427"/>
                </a:solidFill>
                <a:latin typeface="Poppins Bold"/>
                <a:ea typeface="Poppins Bold"/>
                <a:cs typeface="Poppins Bold"/>
                <a:sym typeface="Poppins Bold"/>
              </a:rPr>
              <a:t>ạo </a:t>
            </a:r>
            <a:r>
              <a:rPr lang="en-US" b="true" sz="3000" strike="noStrike" u="none">
                <a:solidFill>
                  <a:srgbClr val="EB2427"/>
                </a:solidFill>
                <a:latin typeface="Poppins Bold"/>
                <a:ea typeface="Poppins Bold"/>
                <a:cs typeface="Poppins Bold"/>
                <a:sym typeface="Poppins Bold"/>
              </a:rPr>
              <a:t>n</a:t>
            </a:r>
            <a:r>
              <a:rPr lang="en-US" b="true" sz="3000" strike="noStrike" u="none">
                <a:solidFill>
                  <a:srgbClr val="EB2427"/>
                </a:solidFill>
                <a:latin typeface="Poppins Bold"/>
                <a:ea typeface="Poppins Bold"/>
                <a:cs typeface="Poppins Bold"/>
                <a:sym typeface="Poppins Bold"/>
              </a:rPr>
              <a:t>hân sự</a:t>
            </a:r>
            <a:r>
              <a:rPr lang="en-US" b="true" sz="3000" strike="noStrike" u="none">
                <a:solidFill>
                  <a:srgbClr val="EB2427"/>
                </a:solidFill>
                <a:latin typeface="Poppins Bold"/>
                <a:ea typeface="Poppins Bold"/>
                <a:cs typeface="Poppins Bold"/>
                <a:sym typeface="Poppins Bold"/>
              </a:rPr>
              <a:t>: BPMN – Giai đoạn 1</a:t>
            </a:r>
          </a:p>
        </p:txBody>
      </p:sp>
      <p:sp>
        <p:nvSpPr>
          <p:cNvPr name="TextBox 13" id="13"/>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4" id="14"/>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5" id="1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34</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350463" y="2130697"/>
            <a:ext cx="17675479" cy="6153276"/>
          </a:xfrm>
          <a:custGeom>
            <a:avLst/>
            <a:gdLst/>
            <a:ahLst/>
            <a:cxnLst/>
            <a:rect r="r" b="b" t="t" l="l"/>
            <a:pathLst>
              <a:path h="6153276" w="17675479">
                <a:moveTo>
                  <a:pt x="0" y="0"/>
                </a:moveTo>
                <a:lnTo>
                  <a:pt x="17675479" y="0"/>
                </a:lnTo>
                <a:lnTo>
                  <a:pt x="17675479" y="6153276"/>
                </a:lnTo>
                <a:lnTo>
                  <a:pt x="0" y="6153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1430516" y="9505290"/>
            <a:ext cx="749946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Tuyển dụng và đào tạo nhân sự</a:t>
            </a:r>
          </a:p>
        </p:txBody>
      </p:sp>
      <p:sp>
        <p:nvSpPr>
          <p:cNvPr name="TextBox 11" id="11"/>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268920" y="793432"/>
            <a:ext cx="10255127"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Tuyển dụng và</a:t>
            </a:r>
            <a:r>
              <a:rPr lang="en-US" b="true" sz="3000" strike="noStrike" u="none">
                <a:solidFill>
                  <a:srgbClr val="EB2427"/>
                </a:solidFill>
                <a:latin typeface="Poppins Bold"/>
                <a:ea typeface="Poppins Bold"/>
                <a:cs typeface="Poppins Bold"/>
                <a:sym typeface="Poppins Bold"/>
              </a:rPr>
              <a:t> đào tạo nhân sự: BPMN – Giai đoạn 2</a:t>
            </a:r>
          </a:p>
        </p:txBody>
      </p:sp>
      <p:sp>
        <p:nvSpPr>
          <p:cNvPr name="TextBox 13" id="13"/>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4" id="14"/>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5" id="1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35</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1820376" y="3213483"/>
            <a:ext cx="5141172" cy="3195828"/>
          </a:xfrm>
          <a:prstGeom prst="rect">
            <a:avLst/>
          </a:prstGeom>
        </p:spPr>
        <p:txBody>
          <a:bodyPr anchor="t" rtlCol="false" tIns="0" lIns="0" bIns="0" rIns="0">
            <a:spAutoFit/>
          </a:bodyPr>
          <a:lstStyle/>
          <a:p>
            <a:pPr algn="ctr" marL="0" indent="0" lvl="0">
              <a:lnSpc>
                <a:spcPts val="5015"/>
              </a:lnSpc>
              <a:spcBef>
                <a:spcPct val="0"/>
              </a:spcBef>
            </a:pPr>
            <a:r>
              <a:rPr lang="en-US" b="true" sz="4399" strike="noStrike" u="none">
                <a:solidFill>
                  <a:srgbClr val="100643"/>
                </a:solidFill>
                <a:latin typeface="Poppins Bold"/>
                <a:ea typeface="Poppins Bold"/>
                <a:cs typeface="Poppins Bold"/>
                <a:sym typeface="Poppins Bold"/>
              </a:rPr>
              <a:t>PHÂN TÍCH GIÁ TRỊ ĐỊNH TÍNH QUY TRÌNH THU HỘ COD VÀ CHUYỂN TIỀN</a:t>
            </a:r>
          </a:p>
        </p:txBody>
      </p:sp>
      <p:grpSp>
        <p:nvGrpSpPr>
          <p:cNvPr name="Group 12" id="12"/>
          <p:cNvGrpSpPr/>
          <p:nvPr/>
        </p:nvGrpSpPr>
        <p:grpSpPr>
          <a:xfrm rot="0">
            <a:off x="8805760" y="2214179"/>
            <a:ext cx="8331174" cy="2143367"/>
            <a:chOff x="0" y="0"/>
            <a:chExt cx="1421509" cy="365713"/>
          </a:xfrm>
        </p:grpSpPr>
        <p:sp>
          <p:nvSpPr>
            <p:cNvPr name="Freeform 13" id="13"/>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4" id="14"/>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15" id="15"/>
          <p:cNvGrpSpPr/>
          <p:nvPr/>
        </p:nvGrpSpPr>
        <p:grpSpPr>
          <a:xfrm rot="0">
            <a:off x="8805760" y="4855440"/>
            <a:ext cx="8331174" cy="2143367"/>
            <a:chOff x="0" y="0"/>
            <a:chExt cx="1421509" cy="365713"/>
          </a:xfrm>
        </p:grpSpPr>
        <p:sp>
          <p:nvSpPr>
            <p:cNvPr name="Freeform 16" id="16"/>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7" id="17"/>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18" id="18"/>
          <p:cNvGrpSpPr/>
          <p:nvPr/>
        </p:nvGrpSpPr>
        <p:grpSpPr>
          <a:xfrm rot="0">
            <a:off x="8473365" y="4376839"/>
            <a:ext cx="7294828" cy="1396776"/>
            <a:chOff x="0" y="0"/>
            <a:chExt cx="9726437" cy="1862369"/>
          </a:xfrm>
        </p:grpSpPr>
        <p:sp>
          <p:nvSpPr>
            <p:cNvPr name="Freeform 19" id="19"/>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2544900" y="293139"/>
              <a:ext cx="5114141" cy="808736"/>
            </a:xfrm>
            <a:prstGeom prst="rect">
              <a:avLst/>
            </a:prstGeom>
          </p:spPr>
          <p:txBody>
            <a:bodyPr anchor="t" rtlCol="false" tIns="0" lIns="0" bIns="0" rIns="0">
              <a:spAutoFit/>
            </a:bodyPr>
            <a:lstStyle/>
            <a:p>
              <a:pPr algn="l">
                <a:lnSpc>
                  <a:spcPts val="2394"/>
                </a:lnSpc>
              </a:pPr>
            </a:p>
            <a:p>
              <a:pPr algn="l">
                <a:lnSpc>
                  <a:spcPts val="2394"/>
                </a:lnSpc>
              </a:pPr>
              <a:r>
                <a:rPr lang="en-US" sz="2100" b="true">
                  <a:solidFill>
                    <a:srgbClr val="100643"/>
                  </a:solidFill>
                  <a:latin typeface="Poppins Bold"/>
                  <a:ea typeface="Poppins Bold"/>
                  <a:cs typeface="Poppins Bold"/>
                  <a:sym typeface="Poppins Bold"/>
                </a:rPr>
                <a:t>Phân tích  lãng phí</a:t>
              </a:r>
            </a:p>
          </p:txBody>
        </p:sp>
        <p:sp>
          <p:nvSpPr>
            <p:cNvPr name="TextBox 21" id="21"/>
            <p:cNvSpPr txBox="true"/>
            <p:nvPr/>
          </p:nvSpPr>
          <p:spPr>
            <a:xfrm rot="0">
              <a:off x="2544900" y="1534517"/>
              <a:ext cx="7181537" cy="327852"/>
            </a:xfrm>
            <a:prstGeom prst="rect">
              <a:avLst/>
            </a:prstGeom>
          </p:spPr>
          <p:txBody>
            <a:bodyPr anchor="t" rtlCol="false" tIns="0" lIns="0" bIns="0" rIns="0">
              <a:spAutoFit/>
            </a:bodyPr>
            <a:lstStyle/>
            <a:p>
              <a:pPr algn="just">
                <a:lnSpc>
                  <a:spcPts val="1837"/>
                </a:lnSpc>
              </a:pPr>
            </a:p>
          </p:txBody>
        </p:sp>
        <p:sp>
          <p:nvSpPr>
            <p:cNvPr name="TextBox 22" id="22"/>
            <p:cNvSpPr txBox="true"/>
            <p:nvPr/>
          </p:nvSpPr>
          <p:spPr>
            <a:xfrm rot="0">
              <a:off x="247190" y="444620"/>
              <a:ext cx="1640879" cy="941379"/>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02</a:t>
              </a:r>
            </a:p>
          </p:txBody>
        </p:sp>
      </p:grpSp>
      <p:grpSp>
        <p:nvGrpSpPr>
          <p:cNvPr name="Group 23" id="23"/>
          <p:cNvGrpSpPr/>
          <p:nvPr/>
        </p:nvGrpSpPr>
        <p:grpSpPr>
          <a:xfrm rot="0">
            <a:off x="8473365" y="2601761"/>
            <a:ext cx="7294828" cy="1387251"/>
            <a:chOff x="0" y="0"/>
            <a:chExt cx="9726437" cy="1849669"/>
          </a:xfrm>
        </p:grpSpPr>
        <p:sp>
          <p:nvSpPr>
            <p:cNvPr name="Freeform 24" id="24"/>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5" id="25"/>
            <p:cNvSpPr txBox="true"/>
            <p:nvPr/>
          </p:nvSpPr>
          <p:spPr>
            <a:xfrm rot="0">
              <a:off x="2544900" y="378656"/>
              <a:ext cx="4224422" cy="8087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Phân tích giá trị gia tăng</a:t>
              </a:r>
            </a:p>
          </p:txBody>
        </p:sp>
        <p:sp>
          <p:nvSpPr>
            <p:cNvPr name="TextBox 26" id="26"/>
            <p:cNvSpPr txBox="true"/>
            <p:nvPr/>
          </p:nvSpPr>
          <p:spPr>
            <a:xfrm rot="0">
              <a:off x="2544900" y="1296583"/>
              <a:ext cx="7181537" cy="327852"/>
            </a:xfrm>
            <a:prstGeom prst="rect">
              <a:avLst/>
            </a:prstGeom>
          </p:spPr>
          <p:txBody>
            <a:bodyPr anchor="t" rtlCol="false" tIns="0" lIns="0" bIns="0" rIns="0">
              <a:spAutoFit/>
            </a:bodyPr>
            <a:lstStyle/>
            <a:p>
              <a:pPr algn="just">
                <a:lnSpc>
                  <a:spcPts val="1837"/>
                </a:lnSpc>
              </a:pPr>
            </a:p>
          </p:txBody>
        </p:sp>
        <p:sp>
          <p:nvSpPr>
            <p:cNvPr name="TextBox 27" id="27"/>
            <p:cNvSpPr txBox="true"/>
            <p:nvPr/>
          </p:nvSpPr>
          <p:spPr>
            <a:xfrm rot="0">
              <a:off x="289450" y="444620"/>
              <a:ext cx="1556359" cy="941564"/>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01</a:t>
              </a:r>
            </a:p>
          </p:txBody>
        </p:sp>
      </p:grpSp>
      <p:grpSp>
        <p:nvGrpSpPr>
          <p:cNvPr name="Group 28" id="28"/>
          <p:cNvGrpSpPr/>
          <p:nvPr/>
        </p:nvGrpSpPr>
        <p:grpSpPr>
          <a:xfrm rot="0">
            <a:off x="8473365" y="6314706"/>
            <a:ext cx="7550634" cy="1387251"/>
            <a:chOff x="0" y="0"/>
            <a:chExt cx="10067512" cy="1849669"/>
          </a:xfrm>
        </p:grpSpPr>
        <p:sp>
          <p:nvSpPr>
            <p:cNvPr name="Freeform 29" id="29"/>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0" id="30"/>
            <p:cNvSpPr txBox="true"/>
            <p:nvPr/>
          </p:nvSpPr>
          <p:spPr>
            <a:xfrm rot="0">
              <a:off x="2544900" y="383012"/>
              <a:ext cx="4770163" cy="8087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Phân tích nguyên nhân gốc rễ</a:t>
              </a:r>
            </a:p>
          </p:txBody>
        </p:sp>
        <p:sp>
          <p:nvSpPr>
            <p:cNvPr name="TextBox 31" id="31"/>
            <p:cNvSpPr txBox="true"/>
            <p:nvPr/>
          </p:nvSpPr>
          <p:spPr>
            <a:xfrm rot="0">
              <a:off x="2544900" y="1372723"/>
              <a:ext cx="7522612" cy="327852"/>
            </a:xfrm>
            <a:prstGeom prst="rect">
              <a:avLst/>
            </a:prstGeom>
          </p:spPr>
          <p:txBody>
            <a:bodyPr anchor="t" rtlCol="false" tIns="0" lIns="0" bIns="0" rIns="0">
              <a:spAutoFit/>
            </a:bodyPr>
            <a:lstStyle/>
            <a:p>
              <a:pPr algn="just">
                <a:lnSpc>
                  <a:spcPts val="1837"/>
                </a:lnSpc>
              </a:pPr>
            </a:p>
          </p:txBody>
        </p:sp>
        <p:sp>
          <p:nvSpPr>
            <p:cNvPr name="TextBox 32" id="32"/>
            <p:cNvSpPr txBox="true"/>
            <p:nvPr/>
          </p:nvSpPr>
          <p:spPr>
            <a:xfrm rot="0">
              <a:off x="342276" y="469913"/>
              <a:ext cx="1450709" cy="941379"/>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03</a:t>
              </a:r>
            </a:p>
          </p:txBody>
        </p:sp>
      </p:grpSp>
      <p:sp>
        <p:nvSpPr>
          <p:cNvPr name="TextBox 33" id="33"/>
          <p:cNvSpPr txBox="true"/>
          <p:nvPr/>
        </p:nvSpPr>
        <p:spPr>
          <a:xfrm rot="0">
            <a:off x="1488763"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34" id="34"/>
          <p:cNvSpPr txBox="true"/>
          <p:nvPr/>
        </p:nvSpPr>
        <p:spPr>
          <a:xfrm rot="0">
            <a:off x="1488763"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35" id="3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36</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55113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7071887" y="72475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MÔ TẢ VÀ PHÂN TÍCH QUY TRÌNH</a:t>
            </a:r>
          </a:p>
        </p:txBody>
      </p:sp>
      <p:graphicFrame>
        <p:nvGraphicFramePr>
          <p:cNvPr name="Table 12" id="12"/>
          <p:cNvGraphicFramePr>
            <a:graphicFrameLocks noGrp="true"/>
          </p:cNvGraphicFramePr>
          <p:nvPr/>
        </p:nvGraphicFramePr>
        <p:xfrm>
          <a:off x="576910" y="2074735"/>
          <a:ext cx="8258349" cy="6638925"/>
        </p:xfrm>
        <a:graphic>
          <a:graphicData uri="http://schemas.openxmlformats.org/drawingml/2006/table">
            <a:tbl>
              <a:tblPr/>
              <a:tblGrid>
                <a:gridCol w="1136184"/>
                <a:gridCol w="3561324"/>
                <a:gridCol w="2176489"/>
                <a:gridCol w="1384351"/>
              </a:tblGrid>
              <a:tr h="496012">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Người thực hiện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Phân loại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Hoạt động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476934">
                <a:tc>
                  <a:txBody>
                    <a:bodyPr anchor="t" rtlCol="false"/>
                    <a:lstStyle/>
                    <a:p>
                      <a:pPr algn="ctr">
                        <a:lnSpc>
                          <a:spcPts val="2099"/>
                        </a:lnSpc>
                        <a:defRPr/>
                      </a:pPr>
                      <a:r>
                        <a:rPr lang="en-US" sz="1499">
                          <a:solidFill>
                            <a:srgbClr val="000000"/>
                          </a:solidFill>
                          <a:latin typeface="Poppins"/>
                          <a:ea typeface="Poppins"/>
                          <a:cs typeface="Poppins"/>
                          <a:sym typeface="Poppins"/>
                        </a:rPr>
                        <a:t>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Tạo vận đơn cần gửi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t>
                      </a:r>
                      <a:r>
                        <a:rPr lang="en-US" sz="1500">
                          <a:solidFill>
                            <a:srgbClr val="000000"/>
                          </a:solidFill>
                          <a:latin typeface="Poppins"/>
                          <a:ea typeface="Poppins"/>
                          <a:cs typeface="Poppins"/>
                          <a:sym typeface="Poppins"/>
                        </a:rPr>
                        <a:t>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Khai báo phí thu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a:t>
                      </a: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Kiểm tra hợp đồng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4</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Cung cấp tài khoản nhận tiền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5</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Các lưu ý khi vận chuyển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6</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Thông tin đơn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7</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gửi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Xác nhận với Người lấy hàng về việc lấy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8</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lấy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Tiếp nhận đơn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9</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lấy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Liên hệ người gửi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10</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lấy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Vận chuyển về bưu cục và cập nhật thông tin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11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Tiếp nhận thông tin vận đơn cần xử lý</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682139" y="1519091"/>
            <a:ext cx="6770856" cy="370713"/>
          </a:xfrm>
          <a:prstGeom prst="rect">
            <a:avLst/>
          </a:prstGeom>
        </p:spPr>
        <p:txBody>
          <a:bodyPr anchor="t" rtlCol="false" tIns="0" lIns="0" bIns="0" rIns="0">
            <a:spAutoFit/>
          </a:bodyPr>
          <a:lstStyle/>
          <a:p>
            <a:pPr algn="ctr" marL="0" indent="0" lvl="0">
              <a:lnSpc>
                <a:spcPts val="2736"/>
              </a:lnSpc>
              <a:spcBef>
                <a:spcPct val="0"/>
              </a:spcBef>
            </a:pPr>
            <a:r>
              <a:rPr lang="en-US" b="true" sz="2400" strike="noStrike" u="none">
                <a:solidFill>
                  <a:srgbClr val="EB2427"/>
                </a:solidFill>
                <a:latin typeface="Poppins Bold"/>
                <a:ea typeface="Poppins Bold"/>
                <a:cs typeface="Poppins Bold"/>
                <a:sym typeface="Poppins Bold"/>
              </a:rPr>
              <a:t>Phân tích giá trị gia tăng – Giai đoạn 1</a:t>
            </a:r>
          </a:p>
        </p:txBody>
      </p:sp>
      <p:graphicFrame>
        <p:nvGraphicFramePr>
          <p:cNvPr name="Table 14" id="14"/>
          <p:cNvGraphicFramePr>
            <a:graphicFrameLocks noGrp="true"/>
          </p:cNvGraphicFramePr>
          <p:nvPr/>
        </p:nvGraphicFramePr>
        <p:xfrm>
          <a:off x="9066068" y="2074735"/>
          <a:ext cx="8368456" cy="6493765"/>
        </p:xfrm>
        <a:graphic>
          <a:graphicData uri="http://schemas.openxmlformats.org/drawingml/2006/table">
            <a:tbl>
              <a:tblPr/>
              <a:tblGrid>
                <a:gridCol w="1419621"/>
                <a:gridCol w="3498280"/>
                <a:gridCol w="1955992"/>
                <a:gridCol w="1494562"/>
              </a:tblGrid>
              <a:tr h="496028">
                <a:tc>
                  <a:txBody>
                    <a:bodyPr anchor="t" rtlCol="false"/>
                    <a:lstStyle/>
                    <a:p>
                      <a:pPr algn="ctr">
                        <a:lnSpc>
                          <a:spcPts val="2239"/>
                        </a:lnSpc>
                        <a:defRPr/>
                      </a:pPr>
                      <a:r>
                        <a:rPr lang="en-US" sz="1599">
                          <a:solidFill>
                            <a:srgbClr val="FFFFFF"/>
                          </a:solidFill>
                          <a:latin typeface="Poppins"/>
                          <a:ea typeface="Poppins"/>
                          <a:cs typeface="Poppins"/>
                          <a:sym typeface="Poppins"/>
                        </a:rPr>
                        <a:t>S</a:t>
                      </a:r>
                      <a:r>
                        <a:rPr lang="en-US" sz="1599">
                          <a:solidFill>
                            <a:srgbClr val="FFFFFF"/>
                          </a:solidFill>
                          <a:latin typeface="Poppins"/>
                          <a:ea typeface="Poppins"/>
                          <a:cs typeface="Poppins"/>
                          <a:sym typeface="Poppins"/>
                        </a:rPr>
                        <a:t>TT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Người thực hiện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Phân loại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Hoạt động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734502">
                <a:tc>
                  <a:txBody>
                    <a:bodyPr anchor="t" rtlCol="false"/>
                    <a:lstStyle/>
                    <a:p>
                      <a:pPr algn="ctr">
                        <a:lnSpc>
                          <a:spcPts val="2099"/>
                        </a:lnSpc>
                        <a:defRPr/>
                      </a:pPr>
                      <a:r>
                        <a:rPr lang="en-US" sz="1499">
                          <a:solidFill>
                            <a:srgbClr val="000000"/>
                          </a:solidFill>
                          <a:latin typeface="Poppins"/>
                          <a:ea typeface="Poppins"/>
                          <a:cs typeface="Poppins"/>
                          <a:sym typeface="Poppins"/>
                        </a:rPr>
                        <a:t>11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Người lấy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Tiếp nhận thông tin vận đơn cần xử lý</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41753">
                <a:tc>
                  <a:txBody>
                    <a:bodyPr anchor="t" rtlCol="false"/>
                    <a:lstStyle/>
                    <a:p>
                      <a:pPr algn="ctr">
                        <a:lnSpc>
                          <a:spcPts val="2099"/>
                        </a:lnSpc>
                        <a:defRPr/>
                      </a:pPr>
                      <a:r>
                        <a:rPr lang="en-US" sz="1499">
                          <a:solidFill>
                            <a:srgbClr val="000000"/>
                          </a:solidFill>
                          <a:latin typeface="Poppins"/>
                          <a:ea typeface="Poppins"/>
                          <a:cs typeface="Poppins"/>
                          <a:sym typeface="Poppins"/>
                        </a:rPr>
                        <a:t>12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Tiếp nhận thông tin vận đơn cần xử lý</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Kiểm tra điều kiện của đơn hàng và phí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14</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Phân loại hàng hóa theo tuyến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15</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Điều phối vận chuyển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16</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Luân chuyển hàng giữa các trung tâm</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17</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Ghi nhận vận đơn &amp; giá trị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80">
                <a:tc>
                  <a:txBody>
                    <a:bodyPr anchor="t" rtlCol="false"/>
                    <a:lstStyle/>
                    <a:p>
                      <a:pPr algn="ctr">
                        <a:lnSpc>
                          <a:spcPts val="2100"/>
                        </a:lnSpc>
                        <a:defRPr/>
                      </a:pPr>
                      <a:r>
                        <a:rPr lang="en-US" sz="1500">
                          <a:solidFill>
                            <a:srgbClr val="000000"/>
                          </a:solidFill>
                          <a:latin typeface="Poppins"/>
                          <a:ea typeface="Poppins"/>
                          <a:cs typeface="Poppins"/>
                          <a:sym typeface="Poppins"/>
                        </a:rPr>
                        <a:t>18</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giao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Nhận thông tin đơn hàng và vận chuyển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1430516" y="51867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6" id="16"/>
          <p:cNvSpPr txBox="true"/>
          <p:nvPr/>
        </p:nvSpPr>
        <p:spPr>
          <a:xfrm rot="0">
            <a:off x="1430516" y="835663"/>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7" id="1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37</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55113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7071887" y="72475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MÔ TẢ VÀ PHÂN TÍCH QUY TRÌNH</a:t>
            </a:r>
          </a:p>
        </p:txBody>
      </p:sp>
      <p:graphicFrame>
        <p:nvGraphicFramePr>
          <p:cNvPr name="Table 12" id="12"/>
          <p:cNvGraphicFramePr>
            <a:graphicFrameLocks noGrp="true"/>
          </p:cNvGraphicFramePr>
          <p:nvPr/>
        </p:nvGraphicFramePr>
        <p:xfrm>
          <a:off x="1063572" y="2074735"/>
          <a:ext cx="8258349" cy="6638925"/>
        </p:xfrm>
        <a:graphic>
          <a:graphicData uri="http://schemas.openxmlformats.org/drawingml/2006/table">
            <a:tbl>
              <a:tblPr/>
              <a:tblGrid>
                <a:gridCol w="1136184"/>
                <a:gridCol w="3561324"/>
                <a:gridCol w="2176489"/>
                <a:gridCol w="1384351"/>
              </a:tblGrid>
              <a:tr h="496012">
                <a:tc>
                  <a:txBody>
                    <a:bodyPr anchor="t" rtlCol="false"/>
                    <a:lstStyle/>
                    <a:p>
                      <a:pPr algn="ctr">
                        <a:lnSpc>
                          <a:spcPts val="2239"/>
                        </a:lnSpc>
                        <a:defRPr/>
                      </a:pPr>
                      <a:r>
                        <a:rPr lang="en-US" sz="1599">
                          <a:solidFill>
                            <a:srgbClr val="FFFFFF"/>
                          </a:solidFill>
                          <a:latin typeface="Poppins"/>
                          <a:ea typeface="Poppins"/>
                          <a:cs typeface="Poppins"/>
                          <a:sym typeface="Poppins"/>
                        </a:rPr>
                        <a:t>STT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Hoạt động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Người thực hiện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Phân loại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476934">
                <a:tc>
                  <a:txBody>
                    <a:bodyPr anchor="t" rtlCol="false"/>
                    <a:lstStyle/>
                    <a:p>
                      <a:pPr algn="ctr">
                        <a:lnSpc>
                          <a:spcPts val="2099"/>
                        </a:lnSpc>
                        <a:defRPr/>
                      </a:pPr>
                      <a:r>
                        <a:rPr lang="en-US" sz="1499">
                          <a:solidFill>
                            <a:srgbClr val="000000"/>
                          </a:solidFill>
                          <a:latin typeface="Poppins"/>
                          <a:ea typeface="Poppins"/>
                          <a:cs typeface="Poppins"/>
                          <a:sym typeface="Poppins"/>
                        </a:rPr>
                        <a:t>14</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Giao đơn cho người nhận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Người giao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15</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Thu tiền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giao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t>
                      </a:r>
                      <a:r>
                        <a:rPr lang="en-US" sz="1500">
                          <a:solidFill>
                            <a:srgbClr val="000000"/>
                          </a:solidFill>
                          <a:latin typeface="Poppins"/>
                          <a:ea typeface="Poppins"/>
                          <a:cs typeface="Poppins"/>
                          <a:sym typeface="Poppins"/>
                        </a:rPr>
                        <a:t>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15.1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Thanh toán bằng tiền mặt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nhận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15.2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Thanh toán không dùng tiền mặt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nhận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16.3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Nhận tiền mặt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giao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17</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Hoàn tất các chứng từ và lên cuống vận đơn để ghi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Người giao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18</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Tiếp nhận thông tin chứng từ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19</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Cập nhật kết quả giao hàng lên hệ thống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20</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Xác nhận thông tin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Bộ phận</a:t>
                      </a:r>
                      <a:r>
                        <a:rPr lang="en-US" sz="1500">
                          <a:solidFill>
                            <a:srgbClr val="000000"/>
                          </a:solidFill>
                          <a:latin typeface="Poppins"/>
                          <a:ea typeface="Poppins"/>
                          <a:cs typeface="Poppins"/>
                          <a:sym typeface="Poppins"/>
                        </a:rPr>
                        <a:t> kế toán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6">
                <a:tc>
                  <a:txBody>
                    <a:bodyPr anchor="t" rtlCol="false"/>
                    <a:lstStyle/>
                    <a:p>
                      <a:pPr algn="ctr">
                        <a:lnSpc>
                          <a:spcPts val="2100"/>
                        </a:lnSpc>
                        <a:defRPr/>
                      </a:pPr>
                      <a:r>
                        <a:rPr lang="en-US" sz="1500">
                          <a:solidFill>
                            <a:srgbClr val="000000"/>
                          </a:solidFill>
                          <a:latin typeface="Poppins"/>
                          <a:ea typeface="Poppins"/>
                          <a:cs typeface="Poppins"/>
                          <a:sym typeface="Poppins"/>
                        </a:rPr>
                        <a:t>21.1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Kiểm soát các đối tượng cần đối soát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Bộ phận kế toán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3">
                <a:tc>
                  <a:txBody>
                    <a:bodyPr anchor="t" rtlCol="false"/>
                    <a:lstStyle/>
                    <a:p>
                      <a:pPr algn="ctr">
                        <a:lnSpc>
                          <a:spcPts val="2100"/>
                        </a:lnSpc>
                        <a:defRPr/>
                      </a:pPr>
                      <a:r>
                        <a:rPr lang="en-US" sz="1500">
                          <a:solidFill>
                            <a:srgbClr val="000000"/>
                          </a:solidFill>
                          <a:latin typeface="Poppins"/>
                          <a:ea typeface="Poppins"/>
                          <a:cs typeface="Poppins"/>
                          <a:sym typeface="Poppins"/>
                        </a:rPr>
                        <a:t>21.2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Đối soát dữ liệu số tiền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Bộ phận kế toán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682139" y="1519091"/>
            <a:ext cx="6770856" cy="370713"/>
          </a:xfrm>
          <a:prstGeom prst="rect">
            <a:avLst/>
          </a:prstGeom>
        </p:spPr>
        <p:txBody>
          <a:bodyPr anchor="t" rtlCol="false" tIns="0" lIns="0" bIns="0" rIns="0">
            <a:spAutoFit/>
          </a:bodyPr>
          <a:lstStyle/>
          <a:p>
            <a:pPr algn="ctr" marL="0" indent="0" lvl="0">
              <a:lnSpc>
                <a:spcPts val="2736"/>
              </a:lnSpc>
              <a:spcBef>
                <a:spcPct val="0"/>
              </a:spcBef>
            </a:pPr>
            <a:r>
              <a:rPr lang="en-US" b="true" sz="2400" strike="noStrike" u="none">
                <a:solidFill>
                  <a:srgbClr val="EB2427"/>
                </a:solidFill>
                <a:latin typeface="Poppins Bold"/>
                <a:ea typeface="Poppins Bold"/>
                <a:cs typeface="Poppins Bold"/>
                <a:sym typeface="Poppins Bold"/>
              </a:rPr>
              <a:t>Phân tích giá trị gia tăng – Giai đoạn 2</a:t>
            </a:r>
          </a:p>
        </p:txBody>
      </p:sp>
      <p:graphicFrame>
        <p:nvGraphicFramePr>
          <p:cNvPr name="Table 14" id="14"/>
          <p:cNvGraphicFramePr>
            <a:graphicFrameLocks noGrp="true"/>
          </p:cNvGraphicFramePr>
          <p:nvPr/>
        </p:nvGraphicFramePr>
        <p:xfrm>
          <a:off x="9495224" y="2074735"/>
          <a:ext cx="8258349" cy="2724150"/>
        </p:xfrm>
        <a:graphic>
          <a:graphicData uri="http://schemas.openxmlformats.org/drawingml/2006/table">
            <a:tbl>
              <a:tblPr/>
              <a:tblGrid>
                <a:gridCol w="1419642"/>
                <a:gridCol w="3277866"/>
                <a:gridCol w="2176489"/>
                <a:gridCol w="1384351"/>
              </a:tblGrid>
              <a:tr h="497038">
                <a:tc>
                  <a:txBody>
                    <a:bodyPr anchor="t" rtlCol="false"/>
                    <a:lstStyle/>
                    <a:p>
                      <a:pPr algn="ctr">
                        <a:lnSpc>
                          <a:spcPts val="2239"/>
                        </a:lnSpc>
                        <a:defRPr/>
                      </a:pPr>
                      <a:r>
                        <a:rPr lang="en-US" sz="1599">
                          <a:solidFill>
                            <a:srgbClr val="FFFFFF"/>
                          </a:solidFill>
                          <a:latin typeface="Poppins"/>
                          <a:ea typeface="Poppins"/>
                          <a:cs typeface="Poppins"/>
                          <a:sym typeface="Poppins"/>
                        </a:rPr>
                        <a:t>S</a:t>
                      </a:r>
                      <a:r>
                        <a:rPr lang="en-US" sz="1599">
                          <a:solidFill>
                            <a:srgbClr val="FFFFFF"/>
                          </a:solidFill>
                          <a:latin typeface="Poppins"/>
                          <a:ea typeface="Poppins"/>
                          <a:cs typeface="Poppins"/>
                          <a:sym typeface="Poppins"/>
                        </a:rPr>
                        <a:t>TT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Hoạt động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Người thực hiện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Phân loại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735998">
                <a:tc>
                  <a:txBody>
                    <a:bodyPr anchor="t" rtlCol="false"/>
                    <a:lstStyle/>
                    <a:p>
                      <a:pPr algn="ctr">
                        <a:lnSpc>
                          <a:spcPts val="2099"/>
                        </a:lnSpc>
                        <a:defRPr/>
                      </a:pPr>
                      <a:r>
                        <a:rPr lang="en-US" sz="1499">
                          <a:solidFill>
                            <a:srgbClr val="000000"/>
                          </a:solidFill>
                          <a:latin typeface="Poppins"/>
                          <a:ea typeface="Poppins"/>
                          <a:cs typeface="Poppins"/>
                          <a:sym typeface="Poppins"/>
                        </a:rPr>
                        <a:t>21.3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Theo dõi và xử lý các vấn đề liên quan đến tiền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Bộ phận kế toán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35998">
                <a:tc>
                  <a:txBody>
                    <a:bodyPr anchor="t" rtlCol="false"/>
                    <a:lstStyle/>
                    <a:p>
                      <a:pPr algn="ctr">
                        <a:lnSpc>
                          <a:spcPts val="2099"/>
                        </a:lnSpc>
                        <a:defRPr/>
                      </a:pPr>
                      <a:r>
                        <a:rPr lang="en-US" sz="1499">
                          <a:solidFill>
                            <a:srgbClr val="000000"/>
                          </a:solidFill>
                          <a:latin typeface="Poppins"/>
                          <a:ea typeface="Poppins"/>
                          <a:cs typeface="Poppins"/>
                          <a:sym typeface="Poppins"/>
                        </a:rPr>
                        <a:t>22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Hoàn tất thông tin đơn hàng &amp; COD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Bưu cục Viettel Post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5115">
                <a:tc>
                  <a:txBody>
                    <a:bodyPr anchor="t" rtlCol="false"/>
                    <a:lstStyle/>
                    <a:p>
                      <a:pPr algn="ctr">
                        <a:lnSpc>
                          <a:spcPts val="2100"/>
                        </a:lnSpc>
                        <a:defRPr/>
                      </a:pPr>
                      <a:r>
                        <a:rPr lang="en-US" sz="1500">
                          <a:solidFill>
                            <a:srgbClr val="000000"/>
                          </a:solidFill>
                          <a:latin typeface="Poppins"/>
                          <a:ea typeface="Poppins"/>
                          <a:cs typeface="Poppins"/>
                          <a:sym typeface="Poppins"/>
                        </a:rPr>
                        <a:t>23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Theo dõi và xử lý các vấn đề liên quan đến tiền COD khiếu nại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Bộ phận CSKH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NVA</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1430516" y="51867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6" id="16"/>
          <p:cNvSpPr txBox="true"/>
          <p:nvPr/>
        </p:nvSpPr>
        <p:spPr>
          <a:xfrm rot="0">
            <a:off x="1430516" y="835663"/>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7" id="1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38</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511696" y="332945"/>
            <a:ext cx="12776304"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BPMN giá trị gia tăng</a:t>
            </a:r>
            <a:r>
              <a:rPr lang="en-US" b="true" sz="3000" strike="noStrike" u="none">
                <a:solidFill>
                  <a:srgbClr val="EB2427"/>
                </a:solidFill>
                <a:latin typeface="Poppins Bold"/>
                <a:ea typeface="Poppins Bold"/>
                <a:cs typeface="Poppins Bold"/>
                <a:sym typeface="Poppins Bold"/>
              </a:rPr>
              <a:t> </a:t>
            </a:r>
          </a:p>
        </p:txBody>
      </p:sp>
      <p:grpSp>
        <p:nvGrpSpPr>
          <p:cNvPr name="Group 8" id="8"/>
          <p:cNvGrpSpPr/>
          <p:nvPr/>
        </p:nvGrpSpPr>
        <p:grpSpPr>
          <a:xfrm rot="0">
            <a:off x="0" y="980552"/>
            <a:ext cx="18297620" cy="8531265"/>
            <a:chOff x="0" y="0"/>
            <a:chExt cx="24396827" cy="11375020"/>
          </a:xfrm>
        </p:grpSpPr>
        <p:sp>
          <p:nvSpPr>
            <p:cNvPr name="Freeform 9" id="9"/>
            <p:cNvSpPr/>
            <p:nvPr/>
          </p:nvSpPr>
          <p:spPr>
            <a:xfrm flipH="false" flipV="false" rot="0">
              <a:off x="0" y="0"/>
              <a:ext cx="24396827" cy="11375020"/>
            </a:xfrm>
            <a:custGeom>
              <a:avLst/>
              <a:gdLst/>
              <a:ahLst/>
              <a:cxnLst/>
              <a:rect r="r" b="b" t="t" l="l"/>
              <a:pathLst>
                <a:path h="11375020" w="24396827">
                  <a:moveTo>
                    <a:pt x="0" y="0"/>
                  </a:moveTo>
                  <a:lnTo>
                    <a:pt x="24396827" y="0"/>
                  </a:lnTo>
                  <a:lnTo>
                    <a:pt x="24396827" y="11375020"/>
                  </a:lnTo>
                  <a:lnTo>
                    <a:pt x="0" y="1137502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642169" y="1021830"/>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11" id="11"/>
            <p:cNvSpPr txBox="true"/>
            <p:nvPr/>
          </p:nvSpPr>
          <p:spPr>
            <a:xfrm rot="0">
              <a:off x="3014222" y="814250"/>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2" id="12"/>
            <p:cNvSpPr txBox="true"/>
            <p:nvPr/>
          </p:nvSpPr>
          <p:spPr>
            <a:xfrm rot="0">
              <a:off x="3017355" y="120309"/>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13" id="13"/>
            <p:cNvSpPr txBox="true"/>
            <p:nvPr/>
          </p:nvSpPr>
          <p:spPr>
            <a:xfrm rot="0">
              <a:off x="3004133" y="1565073"/>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4" id="14"/>
            <p:cNvSpPr txBox="true"/>
            <p:nvPr/>
          </p:nvSpPr>
          <p:spPr>
            <a:xfrm rot="0">
              <a:off x="3014222" y="2179382"/>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5" id="15"/>
            <p:cNvSpPr txBox="true"/>
            <p:nvPr/>
          </p:nvSpPr>
          <p:spPr>
            <a:xfrm rot="0">
              <a:off x="4301008" y="814250"/>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6" id="16"/>
            <p:cNvSpPr txBox="true"/>
            <p:nvPr/>
          </p:nvSpPr>
          <p:spPr>
            <a:xfrm rot="0">
              <a:off x="758494" y="7165903"/>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7" id="17"/>
            <p:cNvSpPr txBox="true"/>
            <p:nvPr/>
          </p:nvSpPr>
          <p:spPr>
            <a:xfrm rot="0">
              <a:off x="1745048" y="7165903"/>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8" id="18"/>
            <p:cNvSpPr txBox="true"/>
            <p:nvPr/>
          </p:nvSpPr>
          <p:spPr>
            <a:xfrm rot="0">
              <a:off x="1745048" y="4857544"/>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19" id="19"/>
            <p:cNvSpPr txBox="true"/>
            <p:nvPr/>
          </p:nvSpPr>
          <p:spPr>
            <a:xfrm rot="0">
              <a:off x="2783579" y="4857544"/>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0" id="20"/>
            <p:cNvSpPr txBox="true"/>
            <p:nvPr/>
          </p:nvSpPr>
          <p:spPr>
            <a:xfrm rot="0">
              <a:off x="3576599" y="4857544"/>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1" id="21"/>
            <p:cNvSpPr txBox="true"/>
            <p:nvPr/>
          </p:nvSpPr>
          <p:spPr>
            <a:xfrm rot="0">
              <a:off x="4907602" y="4857544"/>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2" id="22"/>
            <p:cNvSpPr txBox="true"/>
            <p:nvPr/>
          </p:nvSpPr>
          <p:spPr>
            <a:xfrm rot="0">
              <a:off x="5363680" y="916743"/>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3" id="23"/>
            <p:cNvSpPr txBox="true"/>
            <p:nvPr/>
          </p:nvSpPr>
          <p:spPr>
            <a:xfrm rot="0">
              <a:off x="4966328" y="7167526"/>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24" id="24"/>
            <p:cNvSpPr txBox="true"/>
            <p:nvPr/>
          </p:nvSpPr>
          <p:spPr>
            <a:xfrm rot="0">
              <a:off x="5841476" y="7167526"/>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5" id="25"/>
            <p:cNvSpPr txBox="true"/>
            <p:nvPr/>
          </p:nvSpPr>
          <p:spPr>
            <a:xfrm rot="0">
              <a:off x="6958178" y="7165903"/>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26" id="26"/>
            <p:cNvSpPr txBox="true"/>
            <p:nvPr/>
          </p:nvSpPr>
          <p:spPr>
            <a:xfrm rot="0">
              <a:off x="7782379" y="6106846"/>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7" id="27"/>
            <p:cNvSpPr txBox="true"/>
            <p:nvPr/>
          </p:nvSpPr>
          <p:spPr>
            <a:xfrm rot="0">
              <a:off x="7607328" y="8104157"/>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28" id="28"/>
            <p:cNvSpPr txBox="true"/>
            <p:nvPr/>
          </p:nvSpPr>
          <p:spPr>
            <a:xfrm rot="0">
              <a:off x="9016556" y="7999070"/>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29" id="29"/>
            <p:cNvSpPr txBox="true"/>
            <p:nvPr/>
          </p:nvSpPr>
          <p:spPr>
            <a:xfrm rot="0">
              <a:off x="9793302" y="3154732"/>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0" id="30"/>
            <p:cNvSpPr txBox="true"/>
            <p:nvPr/>
          </p:nvSpPr>
          <p:spPr>
            <a:xfrm rot="0">
              <a:off x="11907038" y="4002735"/>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1" id="31"/>
            <p:cNvSpPr txBox="true"/>
            <p:nvPr/>
          </p:nvSpPr>
          <p:spPr>
            <a:xfrm rot="0">
              <a:off x="11848312" y="2944558"/>
              <a:ext cx="350101"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BVA</a:t>
              </a:r>
            </a:p>
          </p:txBody>
        </p:sp>
        <p:sp>
          <p:nvSpPr>
            <p:cNvPr name="TextBox 32" id="32"/>
            <p:cNvSpPr txBox="true"/>
            <p:nvPr/>
          </p:nvSpPr>
          <p:spPr>
            <a:xfrm rot="0">
              <a:off x="10882603" y="7999070"/>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3" id="33"/>
            <p:cNvSpPr txBox="true"/>
            <p:nvPr/>
          </p:nvSpPr>
          <p:spPr>
            <a:xfrm rot="0">
              <a:off x="13279721" y="7377700"/>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4" id="34"/>
            <p:cNvSpPr txBox="true"/>
            <p:nvPr/>
          </p:nvSpPr>
          <p:spPr>
            <a:xfrm rot="0">
              <a:off x="13396046" y="9167598"/>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5" id="35"/>
            <p:cNvSpPr txBox="true"/>
            <p:nvPr/>
          </p:nvSpPr>
          <p:spPr>
            <a:xfrm rot="0">
              <a:off x="14417648" y="9167598"/>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6" id="36"/>
            <p:cNvSpPr txBox="true"/>
            <p:nvPr/>
          </p:nvSpPr>
          <p:spPr>
            <a:xfrm rot="0">
              <a:off x="15957093" y="9167598"/>
              <a:ext cx="232650"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VA</a:t>
              </a:r>
            </a:p>
          </p:txBody>
        </p:sp>
        <p:sp>
          <p:nvSpPr>
            <p:cNvPr name="TextBox 37" id="37"/>
            <p:cNvSpPr txBox="true"/>
            <p:nvPr/>
          </p:nvSpPr>
          <p:spPr>
            <a:xfrm rot="0">
              <a:off x="15238530" y="6001759"/>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38" id="38"/>
            <p:cNvSpPr txBox="true"/>
            <p:nvPr/>
          </p:nvSpPr>
          <p:spPr>
            <a:xfrm rot="0">
              <a:off x="16454426" y="6001759"/>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39" id="39"/>
            <p:cNvSpPr txBox="true"/>
            <p:nvPr/>
          </p:nvSpPr>
          <p:spPr>
            <a:xfrm rot="0">
              <a:off x="17530719" y="1021830"/>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0" id="40"/>
            <p:cNvSpPr txBox="true"/>
            <p:nvPr/>
          </p:nvSpPr>
          <p:spPr>
            <a:xfrm rot="0">
              <a:off x="19236011" y="9062510"/>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1" id="41"/>
            <p:cNvSpPr txBox="true"/>
            <p:nvPr/>
          </p:nvSpPr>
          <p:spPr>
            <a:xfrm rot="0">
              <a:off x="21425741" y="9062510"/>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2" id="42"/>
            <p:cNvSpPr txBox="true"/>
            <p:nvPr/>
          </p:nvSpPr>
          <p:spPr>
            <a:xfrm rot="0">
              <a:off x="20030952" y="10180098"/>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3" id="43"/>
            <p:cNvSpPr txBox="true"/>
            <p:nvPr/>
          </p:nvSpPr>
          <p:spPr>
            <a:xfrm rot="0">
              <a:off x="22403349" y="10180098"/>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4" id="44"/>
            <p:cNvSpPr txBox="true"/>
            <p:nvPr/>
          </p:nvSpPr>
          <p:spPr>
            <a:xfrm rot="0">
              <a:off x="23896135" y="9643640"/>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5" id="45"/>
            <p:cNvSpPr txBox="true"/>
            <p:nvPr/>
          </p:nvSpPr>
          <p:spPr>
            <a:xfrm rot="0">
              <a:off x="23896135" y="6657891"/>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B</a:t>
              </a:r>
              <a:r>
                <a:rPr lang="en-US" b="true" sz="1040">
                  <a:solidFill>
                    <a:srgbClr val="FF751F"/>
                  </a:solidFill>
                  <a:latin typeface="Noto Sans Bold"/>
                  <a:ea typeface="Noto Sans Bold"/>
                  <a:cs typeface="Noto Sans Bold"/>
                  <a:sym typeface="Noto Sans Bold"/>
                </a:rPr>
                <a:t>VA</a:t>
              </a:r>
            </a:p>
          </p:txBody>
        </p:sp>
        <p:sp>
          <p:nvSpPr>
            <p:cNvPr name="TextBox 46" id="46"/>
            <p:cNvSpPr txBox="true"/>
            <p:nvPr/>
          </p:nvSpPr>
          <p:spPr>
            <a:xfrm rot="0">
              <a:off x="17530719" y="10867740"/>
              <a:ext cx="382277" cy="219700"/>
            </a:xfrm>
            <a:prstGeom prst="rect">
              <a:avLst/>
            </a:prstGeom>
          </p:spPr>
          <p:txBody>
            <a:bodyPr anchor="t" rtlCol="false" tIns="0" lIns="0" bIns="0" rIns="0">
              <a:spAutoFit/>
            </a:bodyPr>
            <a:lstStyle/>
            <a:p>
              <a:pPr algn="l">
                <a:lnSpc>
                  <a:spcPts val="1456"/>
                </a:lnSpc>
                <a:spcBef>
                  <a:spcPct val="0"/>
                </a:spcBef>
              </a:pPr>
              <a:r>
                <a:rPr lang="en-US" b="true" sz="1040">
                  <a:solidFill>
                    <a:srgbClr val="FF751F"/>
                  </a:solidFill>
                  <a:latin typeface="Noto Sans Bold"/>
                  <a:ea typeface="Noto Sans Bold"/>
                  <a:cs typeface="Noto Sans Bold"/>
                  <a:sym typeface="Noto Sans Bold"/>
                </a:rPr>
                <a:t>N</a:t>
              </a:r>
              <a:r>
                <a:rPr lang="en-US" b="true" sz="1040">
                  <a:solidFill>
                    <a:srgbClr val="FF751F"/>
                  </a:solidFill>
                  <a:latin typeface="Noto Sans Bold"/>
                  <a:ea typeface="Noto Sans Bold"/>
                  <a:cs typeface="Noto Sans Bold"/>
                  <a:sym typeface="Noto Sans Bold"/>
                </a:rPr>
                <a:t>VA</a:t>
              </a:r>
            </a:p>
          </p:txBody>
        </p:sp>
      </p:grpSp>
      <p:sp>
        <p:nvSpPr>
          <p:cNvPr name="TextBox 47" id="47"/>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48" id="48"/>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49" id="49"/>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39</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083071" y="332945"/>
            <a:ext cx="12776304"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BPMN giá trị gia tăng – Giai đoạn 1</a:t>
            </a:r>
          </a:p>
        </p:txBody>
      </p:sp>
      <p:grpSp>
        <p:nvGrpSpPr>
          <p:cNvPr name="Group 8" id="8"/>
          <p:cNvGrpSpPr/>
          <p:nvPr/>
        </p:nvGrpSpPr>
        <p:grpSpPr>
          <a:xfrm rot="0">
            <a:off x="4943639" y="793955"/>
            <a:ext cx="11352279" cy="9403645"/>
            <a:chOff x="0" y="0"/>
            <a:chExt cx="15136373" cy="12538193"/>
          </a:xfrm>
        </p:grpSpPr>
        <p:sp>
          <p:nvSpPr>
            <p:cNvPr name="Freeform 9" id="9"/>
            <p:cNvSpPr/>
            <p:nvPr/>
          </p:nvSpPr>
          <p:spPr>
            <a:xfrm flipH="false" flipV="false" rot="0">
              <a:off x="0" y="0"/>
              <a:ext cx="15136373" cy="12538193"/>
            </a:xfrm>
            <a:custGeom>
              <a:avLst/>
              <a:gdLst/>
              <a:ahLst/>
              <a:cxnLst/>
              <a:rect r="r" b="b" t="t" l="l"/>
              <a:pathLst>
                <a:path h="12538193" w="15136373">
                  <a:moveTo>
                    <a:pt x="0" y="0"/>
                  </a:moveTo>
                  <a:lnTo>
                    <a:pt x="15136373" y="0"/>
                  </a:lnTo>
                  <a:lnTo>
                    <a:pt x="15136373" y="12538193"/>
                  </a:lnTo>
                  <a:lnTo>
                    <a:pt x="0" y="12538193"/>
                  </a:lnTo>
                  <a:lnTo>
                    <a:pt x="0" y="0"/>
                  </a:lnTo>
                  <a:close/>
                </a:path>
              </a:pathLst>
            </a:custGeom>
            <a:blipFill>
              <a:blip r:embed="rId10">
                <a:extLst>
                  <a:ext uri="{96DAC541-7B7A-43D3-8B79-37D633B846F1}">
                    <asvg:svgBlip xmlns:asvg="http://schemas.microsoft.com/office/drawing/2016/SVG/main" r:embed="rId11"/>
                  </a:ext>
                </a:extLst>
              </a:blip>
              <a:stretch>
                <a:fillRect l="0" t="-857" r="0" b="-857"/>
              </a:stretch>
            </a:blipFill>
          </p:spPr>
        </p:sp>
        <p:sp>
          <p:nvSpPr>
            <p:cNvPr name="TextBox 10" id="10"/>
            <p:cNvSpPr txBox="true"/>
            <p:nvPr/>
          </p:nvSpPr>
          <p:spPr>
            <a:xfrm rot="0">
              <a:off x="1512548" y="1771414"/>
              <a:ext cx="283389"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VA</a:t>
              </a:r>
            </a:p>
          </p:txBody>
        </p:sp>
        <p:sp>
          <p:nvSpPr>
            <p:cNvPr name="TextBox 11" id="11"/>
            <p:cNvSpPr txBox="true"/>
            <p:nvPr/>
          </p:nvSpPr>
          <p:spPr>
            <a:xfrm rot="0">
              <a:off x="4610843" y="1648291"/>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2" id="12"/>
            <p:cNvSpPr txBox="true"/>
            <p:nvPr/>
          </p:nvSpPr>
          <p:spPr>
            <a:xfrm rot="0">
              <a:off x="4682376" y="609702"/>
              <a:ext cx="283389"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VA</a:t>
              </a:r>
            </a:p>
          </p:txBody>
        </p:sp>
        <p:sp>
          <p:nvSpPr>
            <p:cNvPr name="TextBox 13" id="13"/>
            <p:cNvSpPr txBox="true"/>
            <p:nvPr/>
          </p:nvSpPr>
          <p:spPr>
            <a:xfrm rot="0">
              <a:off x="4614658" y="2463133"/>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4" id="14"/>
            <p:cNvSpPr txBox="true"/>
            <p:nvPr/>
          </p:nvSpPr>
          <p:spPr>
            <a:xfrm rot="0">
              <a:off x="4614658" y="3342814"/>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5" id="15"/>
            <p:cNvSpPr txBox="true"/>
            <p:nvPr/>
          </p:nvSpPr>
          <p:spPr>
            <a:xfrm rot="0">
              <a:off x="6755434" y="1278922"/>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6" id="16"/>
            <p:cNvSpPr txBox="true"/>
            <p:nvPr/>
          </p:nvSpPr>
          <p:spPr>
            <a:xfrm rot="0">
              <a:off x="1299321" y="8946664"/>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7" id="17"/>
            <p:cNvSpPr txBox="true"/>
            <p:nvPr/>
          </p:nvSpPr>
          <p:spPr>
            <a:xfrm rot="0">
              <a:off x="2926115" y="9069787"/>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8" id="18"/>
            <p:cNvSpPr txBox="true"/>
            <p:nvPr/>
          </p:nvSpPr>
          <p:spPr>
            <a:xfrm rot="0">
              <a:off x="2926115" y="5663951"/>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19" id="19"/>
            <p:cNvSpPr txBox="true"/>
            <p:nvPr/>
          </p:nvSpPr>
          <p:spPr>
            <a:xfrm rot="0">
              <a:off x="4329898" y="5663951"/>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0" id="20"/>
            <p:cNvSpPr txBox="true"/>
            <p:nvPr/>
          </p:nvSpPr>
          <p:spPr>
            <a:xfrm rot="0">
              <a:off x="6068550" y="5663951"/>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1" id="21"/>
            <p:cNvSpPr txBox="true"/>
            <p:nvPr/>
          </p:nvSpPr>
          <p:spPr>
            <a:xfrm rot="0">
              <a:off x="7636922" y="5663951"/>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2" id="22"/>
            <p:cNvSpPr txBox="true"/>
            <p:nvPr/>
          </p:nvSpPr>
          <p:spPr>
            <a:xfrm rot="0">
              <a:off x="8426754" y="1278922"/>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3" id="23"/>
            <p:cNvSpPr txBox="true"/>
            <p:nvPr/>
          </p:nvSpPr>
          <p:spPr>
            <a:xfrm rot="0">
              <a:off x="7850149" y="9069787"/>
              <a:ext cx="283389"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VA</a:t>
              </a:r>
            </a:p>
          </p:txBody>
        </p:sp>
        <p:sp>
          <p:nvSpPr>
            <p:cNvPr name="TextBox 24" id="24"/>
            <p:cNvSpPr txBox="true"/>
            <p:nvPr/>
          </p:nvSpPr>
          <p:spPr>
            <a:xfrm rot="0">
              <a:off x="9337625" y="9069787"/>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5" id="25"/>
            <p:cNvSpPr txBox="true"/>
            <p:nvPr/>
          </p:nvSpPr>
          <p:spPr>
            <a:xfrm rot="0">
              <a:off x="10968168" y="9069787"/>
              <a:ext cx="283389"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VA</a:t>
              </a:r>
            </a:p>
          </p:txBody>
        </p:sp>
        <p:sp>
          <p:nvSpPr>
            <p:cNvPr name="TextBox 26" id="26"/>
            <p:cNvSpPr txBox="true"/>
            <p:nvPr/>
          </p:nvSpPr>
          <p:spPr>
            <a:xfrm rot="0">
              <a:off x="12336764" y="7528298"/>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sp>
          <p:nvSpPr>
            <p:cNvPr name="TextBox 27" id="27"/>
            <p:cNvSpPr txBox="true"/>
            <p:nvPr/>
          </p:nvSpPr>
          <p:spPr>
            <a:xfrm rot="0">
              <a:off x="11495636" y="10681929"/>
              <a:ext cx="426455" cy="265296"/>
            </a:xfrm>
            <a:prstGeom prst="rect">
              <a:avLst/>
            </a:prstGeom>
          </p:spPr>
          <p:txBody>
            <a:bodyPr anchor="t" rtlCol="false" tIns="0" lIns="0" bIns="0" rIns="0">
              <a:spAutoFit/>
            </a:bodyPr>
            <a:lstStyle/>
            <a:p>
              <a:pPr algn="l">
                <a:lnSpc>
                  <a:spcPts val="1706"/>
                </a:lnSpc>
                <a:spcBef>
                  <a:spcPct val="0"/>
                </a:spcBef>
              </a:pPr>
              <a:r>
                <a:rPr lang="en-US" b="true" sz="1219">
                  <a:solidFill>
                    <a:srgbClr val="FF751F"/>
                  </a:solidFill>
                  <a:latin typeface="Noto Sans Bold"/>
                  <a:ea typeface="Noto Sans Bold"/>
                  <a:cs typeface="Noto Sans Bold"/>
                  <a:sym typeface="Noto Sans Bold"/>
                </a:rPr>
                <a:t>BVA</a:t>
              </a:r>
            </a:p>
          </p:txBody>
        </p:sp>
      </p:grpSp>
      <p:sp>
        <p:nvSpPr>
          <p:cNvPr name="TextBox 28" id="28"/>
          <p:cNvSpPr txBox="true"/>
          <p:nvPr/>
        </p:nvSpPr>
        <p:spPr>
          <a:xfrm rot="0">
            <a:off x="781330" y="1795595"/>
            <a:ext cx="3907001" cy="1490345"/>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Giai đoạn 1 :</a:t>
            </a:r>
          </a:p>
          <a:p>
            <a:pPr algn="l">
              <a:lnSpc>
                <a:spcPts val="2380"/>
              </a:lnSpc>
              <a:spcBef>
                <a:spcPct val="0"/>
              </a:spcBef>
            </a:pPr>
            <a:r>
              <a:rPr lang="en-US" sz="1700">
                <a:solidFill>
                  <a:srgbClr val="000000"/>
                </a:solidFill>
                <a:latin typeface="Poppins"/>
                <a:ea typeface="Poppins"/>
                <a:cs typeface="Poppins"/>
                <a:sym typeface="Poppins"/>
              </a:rPr>
              <a:t>Quy trình tạo đơn, sắp xếp phân loại và luân chuyển hàng hoá giữa Người Gửi Hàng, Bưu cục Viettel Post và Người Lấy Hàng</a:t>
            </a:r>
          </a:p>
        </p:txBody>
      </p:sp>
      <p:sp>
        <p:nvSpPr>
          <p:cNvPr name="TextBox 29" id="29"/>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30" id="30"/>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31" id="3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40</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307332" y="81257"/>
            <a:ext cx="847526" cy="961731"/>
          </a:xfrm>
          <a:custGeom>
            <a:avLst/>
            <a:gdLst/>
            <a:ahLst/>
            <a:cxnLst/>
            <a:rect r="r" b="b" t="t" l="l"/>
            <a:pathLst>
              <a:path h="961731" w="847526">
                <a:moveTo>
                  <a:pt x="0" y="0"/>
                </a:moveTo>
                <a:lnTo>
                  <a:pt x="847526" y="0"/>
                </a:lnTo>
                <a:lnTo>
                  <a:pt x="847526" y="961731"/>
                </a:lnTo>
                <a:lnTo>
                  <a:pt x="0" y="9617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511696" y="332945"/>
            <a:ext cx="12776304"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BPMN giá trị gia tăng – Giai đoạn 2</a:t>
            </a:r>
          </a:p>
        </p:txBody>
      </p:sp>
      <p:sp>
        <p:nvSpPr>
          <p:cNvPr name="Freeform 8" id="8"/>
          <p:cNvSpPr/>
          <p:nvPr/>
        </p:nvSpPr>
        <p:spPr>
          <a:xfrm flipH="false" flipV="false" rot="0">
            <a:off x="0" y="1062038"/>
            <a:ext cx="14955213" cy="8674024"/>
          </a:xfrm>
          <a:custGeom>
            <a:avLst/>
            <a:gdLst/>
            <a:ahLst/>
            <a:cxnLst/>
            <a:rect r="r" b="b" t="t" l="l"/>
            <a:pathLst>
              <a:path h="8674024" w="14955213">
                <a:moveTo>
                  <a:pt x="0" y="0"/>
                </a:moveTo>
                <a:lnTo>
                  <a:pt x="14955213" y="0"/>
                </a:lnTo>
                <a:lnTo>
                  <a:pt x="14955213" y="8674024"/>
                </a:lnTo>
                <a:lnTo>
                  <a:pt x="0" y="86740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1423598" y="2307677"/>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0" id="10"/>
          <p:cNvSpPr txBox="true"/>
          <p:nvPr/>
        </p:nvSpPr>
        <p:spPr>
          <a:xfrm rot="0">
            <a:off x="3516025" y="3291785"/>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1" id="11"/>
          <p:cNvSpPr txBox="true"/>
          <p:nvPr/>
        </p:nvSpPr>
        <p:spPr>
          <a:xfrm rot="0">
            <a:off x="3410525" y="2213282"/>
            <a:ext cx="3144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BVA</a:t>
            </a:r>
          </a:p>
        </p:txBody>
      </p:sp>
      <p:sp>
        <p:nvSpPr>
          <p:cNvPr name="TextBox 12" id="12"/>
          <p:cNvSpPr txBox="true"/>
          <p:nvPr/>
        </p:nvSpPr>
        <p:spPr>
          <a:xfrm rot="0">
            <a:off x="2903567" y="7549372"/>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3" id="13"/>
          <p:cNvSpPr txBox="true"/>
          <p:nvPr/>
        </p:nvSpPr>
        <p:spPr>
          <a:xfrm rot="0">
            <a:off x="4943639" y="5975520"/>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4" id="14"/>
          <p:cNvSpPr txBox="true"/>
          <p:nvPr/>
        </p:nvSpPr>
        <p:spPr>
          <a:xfrm rot="0">
            <a:off x="4839151" y="7549372"/>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5" id="15"/>
          <p:cNvSpPr txBox="true"/>
          <p:nvPr/>
        </p:nvSpPr>
        <p:spPr>
          <a:xfrm rot="0">
            <a:off x="5800413" y="7549372"/>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6" id="16"/>
          <p:cNvSpPr txBox="true"/>
          <p:nvPr/>
        </p:nvSpPr>
        <p:spPr>
          <a:xfrm rot="0">
            <a:off x="7220154" y="7549372"/>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17" id="17"/>
          <p:cNvSpPr txBox="true"/>
          <p:nvPr/>
        </p:nvSpPr>
        <p:spPr>
          <a:xfrm rot="0">
            <a:off x="6610417" y="4852070"/>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18" id="18"/>
          <p:cNvSpPr txBox="true"/>
          <p:nvPr/>
        </p:nvSpPr>
        <p:spPr>
          <a:xfrm rot="0">
            <a:off x="7842409" y="4852070"/>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19" id="19"/>
          <p:cNvSpPr txBox="true"/>
          <p:nvPr/>
        </p:nvSpPr>
        <p:spPr>
          <a:xfrm rot="0">
            <a:off x="8263452" y="1527524"/>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0" id="20"/>
          <p:cNvSpPr txBox="true"/>
          <p:nvPr/>
        </p:nvSpPr>
        <p:spPr>
          <a:xfrm rot="0">
            <a:off x="10375207" y="7601373"/>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1" id="21"/>
          <p:cNvSpPr txBox="true"/>
          <p:nvPr/>
        </p:nvSpPr>
        <p:spPr>
          <a:xfrm rot="0">
            <a:off x="12539972" y="7549372"/>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2" id="22"/>
          <p:cNvSpPr txBox="true"/>
          <p:nvPr/>
        </p:nvSpPr>
        <p:spPr>
          <a:xfrm rot="0">
            <a:off x="11899848" y="9040937"/>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3" id="23"/>
          <p:cNvSpPr txBox="true"/>
          <p:nvPr/>
        </p:nvSpPr>
        <p:spPr>
          <a:xfrm rot="0">
            <a:off x="13072836" y="8989895"/>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4" id="24"/>
          <p:cNvSpPr txBox="true"/>
          <p:nvPr/>
        </p:nvSpPr>
        <p:spPr>
          <a:xfrm rot="0">
            <a:off x="14246866" y="8536318"/>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5" id="25"/>
          <p:cNvSpPr txBox="true"/>
          <p:nvPr/>
        </p:nvSpPr>
        <p:spPr>
          <a:xfrm rot="0">
            <a:off x="13591527" y="5574907"/>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B</a:t>
            </a:r>
            <a:r>
              <a:rPr lang="en-US" b="true" sz="1246">
                <a:solidFill>
                  <a:srgbClr val="FF751F"/>
                </a:solidFill>
                <a:latin typeface="Noto Sans Bold"/>
                <a:ea typeface="Noto Sans Bold"/>
                <a:cs typeface="Noto Sans Bold"/>
                <a:sym typeface="Noto Sans Bold"/>
              </a:rPr>
              <a:t>VA</a:t>
            </a:r>
          </a:p>
        </p:txBody>
      </p:sp>
      <p:sp>
        <p:nvSpPr>
          <p:cNvPr name="TextBox 26" id="26"/>
          <p:cNvSpPr txBox="true"/>
          <p:nvPr/>
        </p:nvSpPr>
        <p:spPr>
          <a:xfrm rot="0">
            <a:off x="8606831" y="9084290"/>
            <a:ext cx="343379"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N</a:t>
            </a:r>
            <a:r>
              <a:rPr lang="en-US" b="true" sz="1246">
                <a:solidFill>
                  <a:srgbClr val="FF751F"/>
                </a:solidFill>
                <a:latin typeface="Noto Sans Bold"/>
                <a:ea typeface="Noto Sans Bold"/>
                <a:cs typeface="Noto Sans Bold"/>
                <a:sym typeface="Noto Sans Bold"/>
              </a:rPr>
              <a:t>VA</a:t>
            </a:r>
          </a:p>
        </p:txBody>
      </p:sp>
      <p:sp>
        <p:nvSpPr>
          <p:cNvPr name="TextBox 27" id="27"/>
          <p:cNvSpPr txBox="true"/>
          <p:nvPr/>
        </p:nvSpPr>
        <p:spPr>
          <a:xfrm rot="0">
            <a:off x="1423598" y="7601373"/>
            <a:ext cx="208976" cy="217363"/>
          </a:xfrm>
          <a:prstGeom prst="rect">
            <a:avLst/>
          </a:prstGeom>
        </p:spPr>
        <p:txBody>
          <a:bodyPr anchor="t" rtlCol="false" tIns="0" lIns="0" bIns="0" rIns="0">
            <a:spAutoFit/>
          </a:bodyPr>
          <a:lstStyle/>
          <a:p>
            <a:pPr algn="l">
              <a:lnSpc>
                <a:spcPts val="1744"/>
              </a:lnSpc>
              <a:spcBef>
                <a:spcPct val="0"/>
              </a:spcBef>
            </a:pPr>
            <a:r>
              <a:rPr lang="en-US" b="true" sz="1246">
                <a:solidFill>
                  <a:srgbClr val="FF751F"/>
                </a:solidFill>
                <a:latin typeface="Noto Sans Bold"/>
                <a:ea typeface="Noto Sans Bold"/>
                <a:cs typeface="Noto Sans Bold"/>
                <a:sym typeface="Noto Sans Bold"/>
              </a:rPr>
              <a:t>VA</a:t>
            </a:r>
          </a:p>
        </p:txBody>
      </p:sp>
      <p:sp>
        <p:nvSpPr>
          <p:cNvPr name="TextBox 28" id="28"/>
          <p:cNvSpPr txBox="true"/>
          <p:nvPr/>
        </p:nvSpPr>
        <p:spPr>
          <a:xfrm rot="0">
            <a:off x="15027231" y="1038584"/>
            <a:ext cx="2895420" cy="2376170"/>
          </a:xfrm>
          <a:prstGeom prst="rect">
            <a:avLst/>
          </a:prstGeom>
        </p:spPr>
        <p:txBody>
          <a:bodyPr anchor="t" rtlCol="false" tIns="0" lIns="0" bIns="0" rIns="0">
            <a:spAutoFit/>
          </a:bodyPr>
          <a:lstStyle/>
          <a:p>
            <a:pPr algn="l">
              <a:lnSpc>
                <a:spcPts val="2380"/>
              </a:lnSpc>
            </a:pPr>
            <a:r>
              <a:rPr lang="en-US" sz="1700" b="true">
                <a:solidFill>
                  <a:srgbClr val="000000"/>
                </a:solidFill>
                <a:latin typeface="Poppins Bold"/>
                <a:ea typeface="Poppins Bold"/>
                <a:cs typeface="Poppins Bold"/>
                <a:sym typeface="Poppins Bold"/>
              </a:rPr>
              <a:t>Giai đoạn 2 :</a:t>
            </a:r>
          </a:p>
          <a:p>
            <a:pPr algn="l">
              <a:lnSpc>
                <a:spcPts val="2380"/>
              </a:lnSpc>
              <a:spcBef>
                <a:spcPct val="0"/>
              </a:spcBef>
            </a:pPr>
            <a:r>
              <a:rPr lang="en-US" sz="1700">
                <a:solidFill>
                  <a:srgbClr val="000000"/>
                </a:solidFill>
                <a:latin typeface="Poppins"/>
                <a:ea typeface="Poppins"/>
                <a:cs typeface="Poppins"/>
                <a:sym typeface="Poppins"/>
              </a:rPr>
              <a:t>Quy trình Giao đơn , thu phí COD và đối soát dữ liệu, chứng từ và hoàn tất vận đơn giữa Người Giao hàng, Bưu cục Viettel, Kết toán và Người nhận và Người gửi</a:t>
            </a:r>
          </a:p>
        </p:txBody>
      </p:sp>
      <p:sp>
        <p:nvSpPr>
          <p:cNvPr name="TextBox 29" id="29"/>
          <p:cNvSpPr txBox="true"/>
          <p:nvPr/>
        </p:nvSpPr>
        <p:spPr>
          <a:xfrm rot="0">
            <a:off x="1366101" y="71732"/>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30" id="30"/>
          <p:cNvSpPr txBox="true"/>
          <p:nvPr/>
        </p:nvSpPr>
        <p:spPr>
          <a:xfrm rot="0">
            <a:off x="1366101" y="38871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31" id="31"/>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41</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55113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7071887" y="72475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Phân tích lãng phí</a:t>
            </a:r>
          </a:p>
        </p:txBody>
      </p:sp>
      <p:sp>
        <p:nvSpPr>
          <p:cNvPr name="TextBox 12" id="12"/>
          <p:cNvSpPr txBox="true"/>
          <p:nvPr/>
        </p:nvSpPr>
        <p:spPr>
          <a:xfrm rot="0">
            <a:off x="872856" y="1413323"/>
            <a:ext cx="3224664" cy="370713"/>
          </a:xfrm>
          <a:prstGeom prst="rect">
            <a:avLst/>
          </a:prstGeom>
        </p:spPr>
        <p:txBody>
          <a:bodyPr anchor="t" rtlCol="false" tIns="0" lIns="0" bIns="0" rIns="0">
            <a:spAutoFit/>
          </a:bodyPr>
          <a:lstStyle/>
          <a:p>
            <a:pPr algn="ctr">
              <a:lnSpc>
                <a:spcPts val="2736"/>
              </a:lnSpc>
            </a:pPr>
            <a:r>
              <a:rPr lang="en-US" b="true" sz="2400">
                <a:solidFill>
                  <a:srgbClr val="EB2427"/>
                </a:solidFill>
                <a:latin typeface="Poppins Bold"/>
                <a:ea typeface="Poppins Bold"/>
                <a:cs typeface="Poppins Bold"/>
                <a:sym typeface="Poppins Bold"/>
              </a:rPr>
              <a:t>PHÂN TÍCH LÃNG PHÍ</a:t>
            </a:r>
          </a:p>
        </p:txBody>
      </p:sp>
      <p:graphicFrame>
        <p:nvGraphicFramePr>
          <p:cNvPr name="Table 13" id="13"/>
          <p:cNvGraphicFramePr>
            <a:graphicFrameLocks noGrp="true"/>
          </p:cNvGraphicFramePr>
          <p:nvPr/>
        </p:nvGraphicFramePr>
        <p:xfrm>
          <a:off x="778479" y="1889804"/>
          <a:ext cx="15868727" cy="6669786"/>
        </p:xfrm>
        <a:graphic>
          <a:graphicData uri="http://schemas.openxmlformats.org/drawingml/2006/table">
            <a:tbl>
              <a:tblPr/>
              <a:tblGrid>
                <a:gridCol w="2868587"/>
                <a:gridCol w="6273704"/>
                <a:gridCol w="6726436"/>
              </a:tblGrid>
              <a:tr h="496008">
                <a:tc>
                  <a:txBody>
                    <a:bodyPr anchor="t" rtlCol="false"/>
                    <a:lstStyle/>
                    <a:p>
                      <a:pPr algn="ctr">
                        <a:lnSpc>
                          <a:spcPts val="2239"/>
                        </a:lnSpc>
                        <a:defRPr/>
                      </a:pPr>
                      <a:r>
                        <a:rPr lang="en-US" sz="1599">
                          <a:solidFill>
                            <a:srgbClr val="FFFFFF"/>
                          </a:solidFill>
                          <a:latin typeface="Poppins"/>
                          <a:ea typeface="Poppins"/>
                          <a:cs typeface="Poppins"/>
                          <a:sym typeface="Poppins"/>
                        </a:rPr>
                        <a:t>Nhóm lãng phí</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Bước trên quy trình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Biểu hiện lãng phí</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734474">
                <a:tc>
                  <a:txBody>
                    <a:bodyPr anchor="t" rtlCol="false"/>
                    <a:lstStyle/>
                    <a:p>
                      <a:pPr algn="ctr">
                        <a:lnSpc>
                          <a:spcPts val="2099"/>
                        </a:lnSpc>
                        <a:defRPr/>
                      </a:pPr>
                      <a:r>
                        <a:rPr lang="en-US" sz="1499">
                          <a:solidFill>
                            <a:srgbClr val="000000"/>
                          </a:solidFill>
                          <a:latin typeface="Poppins"/>
                          <a:ea typeface="Poppins"/>
                          <a:cs typeface="Poppins"/>
                          <a:sym typeface="Poppins"/>
                        </a:rPr>
                        <a:t>MOVE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Nộp chứng từ &amp; nhập liệu thủ công (Bước 18)</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Bưu tá nộp tiền mặt/chứng từ tại bưu cục, nhân viên phải nhập lại vào máy</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0">
                <a:tc>
                  <a:txBody>
                    <a:bodyPr anchor="t" rtlCol="false"/>
                    <a:lstStyle/>
                    <a:p>
                      <a:pPr algn="ctr">
                        <a:lnSpc>
                          <a:spcPts val="2100"/>
                        </a:lnSpc>
                        <a:defRPr/>
                      </a:pPr>
                      <a:r>
                        <a:rPr lang="en-US" sz="1500">
                          <a:solidFill>
                            <a:srgbClr val="000000"/>
                          </a:solidFill>
                          <a:latin typeface="Poppins"/>
                          <a:ea typeface="Poppins"/>
                          <a:cs typeface="Poppins"/>
                          <a:sym typeface="Poppins"/>
                        </a:rPr>
                        <a:t>MOVE</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Dòng tiền/chứng từ qua nhiều điểm trung gian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Luân chuyển qua 4 cặp Message Flow trung gian gây chậm dòng tiền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0">
                <a:tc>
                  <a:txBody>
                    <a:bodyPr anchor="t" rtlCol="false"/>
                    <a:lstStyle/>
                    <a:p>
                      <a:pPr algn="ctr">
                        <a:lnSpc>
                          <a:spcPts val="2100"/>
                        </a:lnSpc>
                        <a:defRPr/>
                      </a:pPr>
                      <a:r>
                        <a:rPr lang="en-US" sz="1500">
                          <a:solidFill>
                            <a:srgbClr val="000000"/>
                          </a:solidFill>
                          <a:latin typeface="Poppins"/>
                          <a:ea typeface="Poppins"/>
                          <a:cs typeface="Poppins"/>
                          <a:sym typeface="Poppins"/>
                        </a:rPr>
                        <a:t>HOLD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Chờ bưu tá nộp tiền mặt (Bước 18)</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Bưu tá giữ tiền mặt trong ngày, chờ nộp trong khung quy định 24h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0">
                <a:tc>
                  <a:txBody>
                    <a:bodyPr anchor="t" rtlCol="false"/>
                    <a:lstStyle/>
                    <a:p>
                      <a:pPr algn="ctr">
                        <a:lnSpc>
                          <a:spcPts val="2100"/>
                        </a:lnSpc>
                        <a:defRPr/>
                      </a:pPr>
                      <a:r>
                        <a:rPr lang="en-US" sz="1500">
                          <a:solidFill>
                            <a:srgbClr val="000000"/>
                          </a:solidFill>
                          <a:latin typeface="Poppins"/>
                          <a:ea typeface="Poppins"/>
                          <a:cs typeface="Poppins"/>
                          <a:sym typeface="Poppins"/>
                        </a:rPr>
                        <a:t>HOLD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Chờ kỳ đối soát cố định (Bước 21)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Tiền COD bị giữ 5–7 ngày (hoặc Thứ 2/4/6) mới đến kỳ đối soát chi trả</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0">
                <a:tc>
                  <a:txBody>
                    <a:bodyPr anchor="t" rtlCol="false"/>
                    <a:lstStyle/>
                    <a:p>
                      <a:pPr algn="ctr">
                        <a:lnSpc>
                          <a:spcPts val="2100"/>
                        </a:lnSpc>
                        <a:defRPr/>
                      </a:pPr>
                      <a:r>
                        <a:rPr lang="en-US" sz="1500">
                          <a:solidFill>
                            <a:srgbClr val="000000"/>
                          </a:solidFill>
                          <a:latin typeface="Poppins"/>
                          <a:ea typeface="Poppins"/>
                          <a:cs typeface="Poppins"/>
                          <a:sym typeface="Poppins"/>
                        </a:rPr>
                        <a:t>HOLD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Chờ ngân hàng xử lý chuyển khoản (Bước 22)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Lệnh chuyển tiền chờ hạch toán liên ngân hàng mất ~24h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0">
                <a:tc>
                  <a:txBody>
                    <a:bodyPr anchor="t" rtlCol="false"/>
                    <a:lstStyle/>
                    <a:p>
                      <a:pPr algn="ctr">
                        <a:lnSpc>
                          <a:spcPts val="2100"/>
                        </a:lnSpc>
                        <a:defRPr/>
                      </a:pPr>
                      <a:r>
                        <a:rPr lang="en-US" sz="1500">
                          <a:solidFill>
                            <a:srgbClr val="000000"/>
                          </a:solidFill>
                          <a:latin typeface="Poppins"/>
                          <a:ea typeface="Poppins"/>
                          <a:cs typeface="Poppins"/>
                          <a:sym typeface="Poppins"/>
                        </a:rPr>
                        <a:t>HOLD</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Tồn đọng dòng vốn COD (Báo cáo tài chính)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Hàng chục tỷ đồng nợ xấu COD tồn đọng do sai lệch chưa được xử lý</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1">
                <a:tc>
                  <a:txBody>
                    <a:bodyPr anchor="t" rtlCol="false"/>
                    <a:lstStyle/>
                    <a:p>
                      <a:pPr algn="ctr">
                        <a:lnSpc>
                          <a:spcPts val="2100"/>
                        </a:lnSpc>
                        <a:defRPr/>
                      </a:pPr>
                      <a:r>
                        <a:rPr lang="en-US" sz="1500">
                          <a:solidFill>
                            <a:srgbClr val="000000"/>
                          </a:solidFill>
                          <a:latin typeface="Poppins"/>
                          <a:ea typeface="Poppins"/>
                          <a:cs typeface="Poppins"/>
                          <a:sym typeface="Poppins"/>
                        </a:rPr>
                        <a:t>OVERDO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Lập lại báo cáo đối soát (Bước 20.2, 20.3)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Tỷ lệ lệch 3–7%/kỳ buộc kế toán phải rà soát và lập lại bảng kê đối soát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46302">
                <a:tc>
                  <a:txBody>
                    <a:bodyPr anchor="t" rtlCol="false"/>
                    <a:lstStyle/>
                    <a:p>
                      <a:pPr algn="ctr">
                        <a:lnSpc>
                          <a:spcPts val="2100"/>
                        </a:lnSpc>
                        <a:defRPr/>
                      </a:pPr>
                      <a:r>
                        <a:rPr lang="en-US" sz="1500">
                          <a:solidFill>
                            <a:srgbClr val="000000"/>
                          </a:solidFill>
                          <a:latin typeface="Poppins"/>
                          <a:ea typeface="Poppins"/>
                          <a:cs typeface="Poppins"/>
                          <a:sym typeface="Poppins"/>
                        </a:rPr>
                        <a:t>OVERDO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Xác minh khiếu nại qua nhiều cấp thủ công (Bước 24)</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Tra cứu hồ sơ giấy và phối hợp thủ công kéo dài &gt;72 giờ/khiếu nại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1">
                <a:tc>
                  <a:txBody>
                    <a:bodyPr anchor="t" rtlCol="false"/>
                    <a:lstStyle/>
                    <a:p>
                      <a:pPr algn="ctr">
                        <a:lnSpc>
                          <a:spcPts val="2100"/>
                        </a:lnSpc>
                        <a:defRPr/>
                      </a:pPr>
                      <a:r>
                        <a:rPr lang="en-US" sz="1500">
                          <a:solidFill>
                            <a:srgbClr val="000000"/>
                          </a:solidFill>
                          <a:latin typeface="Poppins"/>
                          <a:ea typeface="Poppins"/>
                          <a:cs typeface="Poppins"/>
                          <a:sym typeface="Poppins"/>
                        </a:rPr>
                        <a:t>OVERDO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Sai lệch số liệu đối soát (Defects)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Tỷ lệ lệch số liệu 3–7%/kỳ (tương đương 3.000–35.000 đơn cần xử lý lại)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51">
                <a:tc>
                  <a:txBody>
                    <a:bodyPr anchor="t" rtlCol="false"/>
                    <a:lstStyle/>
                    <a:p>
                      <a:pPr algn="ctr">
                        <a:lnSpc>
                          <a:spcPts val="2100"/>
                        </a:lnSpc>
                        <a:defRPr/>
                      </a:pPr>
                      <a:r>
                        <a:rPr lang="en-US" sz="1500">
                          <a:solidFill>
                            <a:srgbClr val="000000"/>
                          </a:solidFill>
                          <a:latin typeface="Poppins"/>
                          <a:ea typeface="Poppins"/>
                          <a:cs typeface="Poppins"/>
                          <a:sym typeface="Poppins"/>
                        </a:rPr>
                        <a:t>OVERDO</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CSKH xử lý khiếu nại lặp lại (Non-utilized talent)</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Tốn 1.440–3.600 giờ-người/tuần của CSKH để xử lý các tra cứu thủ công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4" id="14"/>
          <p:cNvSpPr txBox="true"/>
          <p:nvPr/>
        </p:nvSpPr>
        <p:spPr>
          <a:xfrm rot="0">
            <a:off x="1480720" y="42991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5" id="15"/>
          <p:cNvSpPr txBox="true"/>
          <p:nvPr/>
        </p:nvSpPr>
        <p:spPr>
          <a:xfrm rot="0">
            <a:off x="1480720" y="746901"/>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42</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78589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7071887" y="619931"/>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BPMN lãng phí</a:t>
            </a:r>
          </a:p>
        </p:txBody>
      </p:sp>
      <p:grpSp>
        <p:nvGrpSpPr>
          <p:cNvPr name="Group 12" id="12"/>
          <p:cNvGrpSpPr/>
          <p:nvPr/>
        </p:nvGrpSpPr>
        <p:grpSpPr>
          <a:xfrm rot="0">
            <a:off x="960623" y="1627355"/>
            <a:ext cx="16161341" cy="8098093"/>
            <a:chOff x="0" y="0"/>
            <a:chExt cx="21548455" cy="10797457"/>
          </a:xfrm>
        </p:grpSpPr>
        <p:sp>
          <p:nvSpPr>
            <p:cNvPr name="Freeform 13" id="13"/>
            <p:cNvSpPr/>
            <p:nvPr/>
          </p:nvSpPr>
          <p:spPr>
            <a:xfrm flipH="false" flipV="false" rot="0">
              <a:off x="0" y="0"/>
              <a:ext cx="21548455" cy="10046967"/>
            </a:xfrm>
            <a:custGeom>
              <a:avLst/>
              <a:gdLst/>
              <a:ahLst/>
              <a:cxnLst/>
              <a:rect r="r" b="b" t="t" l="l"/>
              <a:pathLst>
                <a:path h="10046967" w="21548455">
                  <a:moveTo>
                    <a:pt x="0" y="0"/>
                  </a:moveTo>
                  <a:lnTo>
                    <a:pt x="21548455" y="0"/>
                  </a:lnTo>
                  <a:lnTo>
                    <a:pt x="21548455" y="10046967"/>
                  </a:lnTo>
                  <a:lnTo>
                    <a:pt x="0" y="1004696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4" id="14"/>
            <p:cNvGrpSpPr/>
            <p:nvPr/>
          </p:nvGrpSpPr>
          <p:grpSpPr>
            <a:xfrm rot="0">
              <a:off x="9665999" y="8042732"/>
              <a:ext cx="3849142" cy="350451"/>
              <a:chOff x="0" y="0"/>
              <a:chExt cx="1731017" cy="157603"/>
            </a:xfrm>
          </p:grpSpPr>
          <p:sp>
            <p:nvSpPr>
              <p:cNvPr name="Freeform 15" id="15"/>
              <p:cNvSpPr/>
              <p:nvPr/>
            </p:nvSpPr>
            <p:spPr>
              <a:xfrm flipH="false" flipV="false" rot="0">
                <a:off x="0" y="0"/>
                <a:ext cx="1731017" cy="157603"/>
              </a:xfrm>
              <a:custGeom>
                <a:avLst/>
                <a:gdLst/>
                <a:ahLst/>
                <a:cxnLst/>
                <a:rect r="r" b="b" t="t" l="l"/>
                <a:pathLst>
                  <a:path h="157603" w="1731017">
                    <a:moveTo>
                      <a:pt x="18772" y="0"/>
                    </a:moveTo>
                    <a:lnTo>
                      <a:pt x="1712245" y="0"/>
                    </a:lnTo>
                    <a:cubicBezTo>
                      <a:pt x="1717224" y="0"/>
                      <a:pt x="1721999" y="1978"/>
                      <a:pt x="1725519" y="5498"/>
                    </a:cubicBezTo>
                    <a:cubicBezTo>
                      <a:pt x="1729040" y="9019"/>
                      <a:pt x="1731017" y="13794"/>
                      <a:pt x="1731017" y="18772"/>
                    </a:cubicBezTo>
                    <a:lnTo>
                      <a:pt x="1731017" y="138831"/>
                    </a:lnTo>
                    <a:cubicBezTo>
                      <a:pt x="1731017" y="149199"/>
                      <a:pt x="1722613" y="157603"/>
                      <a:pt x="1712245" y="157603"/>
                    </a:cubicBezTo>
                    <a:lnTo>
                      <a:pt x="18772" y="157603"/>
                    </a:lnTo>
                    <a:cubicBezTo>
                      <a:pt x="13794" y="157603"/>
                      <a:pt x="9019" y="155625"/>
                      <a:pt x="5498" y="152105"/>
                    </a:cubicBezTo>
                    <a:cubicBezTo>
                      <a:pt x="1978" y="148584"/>
                      <a:pt x="0" y="143810"/>
                      <a:pt x="0" y="138831"/>
                    </a:cubicBezTo>
                    <a:lnTo>
                      <a:pt x="0" y="18772"/>
                    </a:lnTo>
                    <a:cubicBezTo>
                      <a:pt x="0" y="8405"/>
                      <a:pt x="8405" y="0"/>
                      <a:pt x="18772" y="0"/>
                    </a:cubicBezTo>
                    <a:close/>
                  </a:path>
                </a:pathLst>
              </a:custGeom>
              <a:solidFill>
                <a:srgbClr val="F7DE59"/>
              </a:solidFill>
            </p:spPr>
          </p:sp>
          <p:sp>
            <p:nvSpPr>
              <p:cNvPr name="TextBox 16" id="16"/>
              <p:cNvSpPr txBox="true"/>
              <p:nvPr/>
            </p:nvSpPr>
            <p:spPr>
              <a:xfrm>
                <a:off x="0" y="-9525"/>
                <a:ext cx="1731017" cy="167128"/>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MOVE </a:t>
                </a:r>
                <a:r>
                  <a:rPr lang="en-US" sz="592">
                    <a:solidFill>
                      <a:srgbClr val="000000"/>
                    </a:solidFill>
                    <a:latin typeface="Noto Sans"/>
                    <a:ea typeface="Noto Sans"/>
                    <a:cs typeface="Noto Sans"/>
                    <a:sym typeface="Noto Sans"/>
                  </a:rPr>
                  <a:t>- Motion – thao tác thủ công thu tiền, đối chiếu tay</a:t>
                </a:r>
              </a:p>
            </p:txBody>
          </p:sp>
        </p:grpSp>
        <p:grpSp>
          <p:nvGrpSpPr>
            <p:cNvPr name="Group 17" id="17"/>
            <p:cNvGrpSpPr/>
            <p:nvPr/>
          </p:nvGrpSpPr>
          <p:grpSpPr>
            <a:xfrm rot="0">
              <a:off x="2074752" y="5636151"/>
              <a:ext cx="1041586" cy="618703"/>
              <a:chOff x="0" y="0"/>
              <a:chExt cx="468417" cy="278240"/>
            </a:xfrm>
          </p:grpSpPr>
          <p:sp>
            <p:nvSpPr>
              <p:cNvPr name="Freeform 18" id="18"/>
              <p:cNvSpPr/>
              <p:nvPr/>
            </p:nvSpPr>
            <p:spPr>
              <a:xfrm flipH="false" flipV="false" rot="0">
                <a:off x="0" y="0"/>
                <a:ext cx="468417" cy="278240"/>
              </a:xfrm>
              <a:custGeom>
                <a:avLst/>
                <a:gdLst/>
                <a:ahLst/>
                <a:cxnLst/>
                <a:rect r="r" b="b" t="t" l="l"/>
                <a:pathLst>
                  <a:path h="278240" w="468417">
                    <a:moveTo>
                      <a:pt x="69373" y="0"/>
                    </a:moveTo>
                    <a:lnTo>
                      <a:pt x="399044" y="0"/>
                    </a:lnTo>
                    <a:cubicBezTo>
                      <a:pt x="417443" y="0"/>
                      <a:pt x="435088" y="7309"/>
                      <a:pt x="448098" y="20319"/>
                    </a:cubicBezTo>
                    <a:cubicBezTo>
                      <a:pt x="461108" y="33329"/>
                      <a:pt x="468417" y="50974"/>
                      <a:pt x="468417" y="69373"/>
                    </a:cubicBezTo>
                    <a:lnTo>
                      <a:pt x="468417" y="208867"/>
                    </a:lnTo>
                    <a:cubicBezTo>
                      <a:pt x="468417" y="227266"/>
                      <a:pt x="461108" y="244911"/>
                      <a:pt x="448098" y="257921"/>
                    </a:cubicBezTo>
                    <a:cubicBezTo>
                      <a:pt x="435088" y="270931"/>
                      <a:pt x="417443" y="278240"/>
                      <a:pt x="399044" y="278240"/>
                    </a:cubicBezTo>
                    <a:lnTo>
                      <a:pt x="69373" y="278240"/>
                    </a:lnTo>
                    <a:cubicBezTo>
                      <a:pt x="50974" y="278240"/>
                      <a:pt x="33329" y="270931"/>
                      <a:pt x="20319" y="257921"/>
                    </a:cubicBezTo>
                    <a:cubicBezTo>
                      <a:pt x="7309" y="244911"/>
                      <a:pt x="0" y="227266"/>
                      <a:pt x="0" y="208867"/>
                    </a:cubicBezTo>
                    <a:lnTo>
                      <a:pt x="0" y="69373"/>
                    </a:lnTo>
                    <a:cubicBezTo>
                      <a:pt x="0" y="50974"/>
                      <a:pt x="7309" y="33329"/>
                      <a:pt x="20319" y="20319"/>
                    </a:cubicBezTo>
                    <a:cubicBezTo>
                      <a:pt x="33329" y="7309"/>
                      <a:pt x="50974" y="0"/>
                      <a:pt x="69373" y="0"/>
                    </a:cubicBezTo>
                    <a:close/>
                  </a:path>
                </a:pathLst>
              </a:custGeom>
              <a:solidFill>
                <a:srgbClr val="FF751F"/>
              </a:solidFill>
            </p:spPr>
          </p:sp>
          <p:sp>
            <p:nvSpPr>
              <p:cNvPr name="TextBox 19" id="19"/>
              <p:cNvSpPr txBox="true"/>
              <p:nvPr/>
            </p:nvSpPr>
            <p:spPr>
              <a:xfrm>
                <a:off x="0" y="-9525"/>
                <a:ext cx="468417" cy="287765"/>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HOLD - </a:t>
                </a:r>
                <a:r>
                  <a:rPr lang="en-US" sz="592">
                    <a:solidFill>
                      <a:srgbClr val="000000"/>
                    </a:solidFill>
                    <a:latin typeface="Noto Sans"/>
                    <a:ea typeface="Noto Sans"/>
                    <a:cs typeface="Noto Sans"/>
                    <a:sym typeface="Noto Sans"/>
                  </a:rPr>
                  <a:t>Waiting </a:t>
                </a:r>
                <a:r>
                  <a:rPr lang="en-US" b="true" sz="592">
                    <a:solidFill>
                      <a:srgbClr val="000000"/>
                    </a:solidFill>
                    <a:latin typeface="Noto Sans Bold"/>
                    <a:ea typeface="Noto Sans Bold"/>
                    <a:cs typeface="Noto Sans Bold"/>
                    <a:sym typeface="Noto Sans Bold"/>
                  </a:rPr>
                  <a:t>- </a:t>
                </a:r>
                <a:r>
                  <a:rPr lang="en-US" sz="592">
                    <a:solidFill>
                      <a:srgbClr val="000000"/>
                    </a:solidFill>
                    <a:latin typeface="Noto Sans"/>
                    <a:ea typeface="Noto Sans"/>
                    <a:cs typeface="Noto Sans"/>
                    <a:sym typeface="Noto Sans"/>
                  </a:rPr>
                  <a:t>chờ gom hàng/chờ lịch vận chuyển tại trung tâm khai thác </a:t>
                </a:r>
              </a:p>
            </p:txBody>
          </p:sp>
        </p:grpSp>
        <p:grpSp>
          <p:nvGrpSpPr>
            <p:cNvPr name="Group 20" id="20"/>
            <p:cNvGrpSpPr/>
            <p:nvPr/>
          </p:nvGrpSpPr>
          <p:grpSpPr>
            <a:xfrm rot="0">
              <a:off x="12219696" y="5702044"/>
              <a:ext cx="1295444" cy="486916"/>
              <a:chOff x="0" y="0"/>
              <a:chExt cx="582581" cy="218974"/>
            </a:xfrm>
          </p:grpSpPr>
          <p:sp>
            <p:nvSpPr>
              <p:cNvPr name="Freeform 21" id="21"/>
              <p:cNvSpPr/>
              <p:nvPr/>
            </p:nvSpPr>
            <p:spPr>
              <a:xfrm flipH="false" flipV="false" rot="0">
                <a:off x="0" y="0"/>
                <a:ext cx="582581" cy="218974"/>
              </a:xfrm>
              <a:custGeom>
                <a:avLst/>
                <a:gdLst/>
                <a:ahLst/>
                <a:cxnLst/>
                <a:rect r="r" b="b" t="t" l="l"/>
                <a:pathLst>
                  <a:path h="218974" w="582581">
                    <a:moveTo>
                      <a:pt x="55778" y="0"/>
                    </a:moveTo>
                    <a:lnTo>
                      <a:pt x="526803" y="0"/>
                    </a:lnTo>
                    <a:cubicBezTo>
                      <a:pt x="541596" y="0"/>
                      <a:pt x="555783" y="5877"/>
                      <a:pt x="566244" y="16337"/>
                    </a:cubicBezTo>
                    <a:cubicBezTo>
                      <a:pt x="576704" y="26798"/>
                      <a:pt x="582581" y="40985"/>
                      <a:pt x="582581" y="55778"/>
                    </a:cubicBezTo>
                    <a:lnTo>
                      <a:pt x="582581" y="163195"/>
                    </a:lnTo>
                    <a:cubicBezTo>
                      <a:pt x="582581" y="177988"/>
                      <a:pt x="576704" y="192176"/>
                      <a:pt x="566244" y="202636"/>
                    </a:cubicBezTo>
                    <a:cubicBezTo>
                      <a:pt x="555783" y="213097"/>
                      <a:pt x="541596" y="218974"/>
                      <a:pt x="526803" y="218974"/>
                    </a:cubicBezTo>
                    <a:lnTo>
                      <a:pt x="55778" y="218974"/>
                    </a:lnTo>
                    <a:cubicBezTo>
                      <a:pt x="40985" y="218974"/>
                      <a:pt x="26798" y="213097"/>
                      <a:pt x="16337" y="202636"/>
                    </a:cubicBezTo>
                    <a:cubicBezTo>
                      <a:pt x="5877" y="192176"/>
                      <a:pt x="0" y="177988"/>
                      <a:pt x="0" y="163195"/>
                    </a:cubicBezTo>
                    <a:lnTo>
                      <a:pt x="0" y="55778"/>
                    </a:lnTo>
                    <a:cubicBezTo>
                      <a:pt x="0" y="40985"/>
                      <a:pt x="5877" y="26798"/>
                      <a:pt x="16337" y="16337"/>
                    </a:cubicBezTo>
                    <a:cubicBezTo>
                      <a:pt x="26798" y="5877"/>
                      <a:pt x="40985" y="0"/>
                      <a:pt x="55778" y="0"/>
                    </a:cubicBezTo>
                    <a:close/>
                  </a:path>
                </a:pathLst>
              </a:custGeom>
              <a:solidFill>
                <a:srgbClr val="F7DE59"/>
              </a:solidFill>
            </p:spPr>
          </p:sp>
          <p:sp>
            <p:nvSpPr>
              <p:cNvPr name="TextBox 22" id="22"/>
              <p:cNvSpPr txBox="true"/>
              <p:nvPr/>
            </p:nvSpPr>
            <p:spPr>
              <a:xfrm>
                <a:off x="0" y="-9525"/>
                <a:ext cx="582581" cy="228499"/>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MOVE </a:t>
                </a:r>
                <a:r>
                  <a:rPr lang="en-US" sz="592">
                    <a:solidFill>
                      <a:srgbClr val="000000"/>
                    </a:solidFill>
                    <a:latin typeface="Noto Sans"/>
                    <a:ea typeface="Noto Sans"/>
                    <a:cs typeface="Noto Sans"/>
                    <a:sym typeface="Noto Sans"/>
                  </a:rPr>
                  <a:t>- Transportation – dòng tiền qua nhiều điểm trung gian</a:t>
                </a:r>
              </a:p>
            </p:txBody>
          </p:sp>
        </p:grpSp>
        <p:grpSp>
          <p:nvGrpSpPr>
            <p:cNvPr name="Group 23" id="23"/>
            <p:cNvGrpSpPr/>
            <p:nvPr/>
          </p:nvGrpSpPr>
          <p:grpSpPr>
            <a:xfrm rot="0">
              <a:off x="17914164" y="7464500"/>
              <a:ext cx="1389438" cy="473863"/>
              <a:chOff x="0" y="0"/>
              <a:chExt cx="624851" cy="213103"/>
            </a:xfrm>
          </p:grpSpPr>
          <p:sp>
            <p:nvSpPr>
              <p:cNvPr name="Freeform 24" id="24"/>
              <p:cNvSpPr/>
              <p:nvPr/>
            </p:nvSpPr>
            <p:spPr>
              <a:xfrm flipH="false" flipV="false" rot="0">
                <a:off x="0" y="0"/>
                <a:ext cx="624851" cy="213103"/>
              </a:xfrm>
              <a:custGeom>
                <a:avLst/>
                <a:gdLst/>
                <a:ahLst/>
                <a:cxnLst/>
                <a:rect r="r" b="b" t="t" l="l"/>
                <a:pathLst>
                  <a:path h="213103" w="624851">
                    <a:moveTo>
                      <a:pt x="52005" y="0"/>
                    </a:moveTo>
                    <a:lnTo>
                      <a:pt x="572846" y="0"/>
                    </a:lnTo>
                    <a:cubicBezTo>
                      <a:pt x="586639" y="0"/>
                      <a:pt x="599866" y="5479"/>
                      <a:pt x="609619" y="15232"/>
                    </a:cubicBezTo>
                    <a:cubicBezTo>
                      <a:pt x="619372" y="24985"/>
                      <a:pt x="624851" y="38213"/>
                      <a:pt x="624851" y="52005"/>
                    </a:cubicBezTo>
                    <a:lnTo>
                      <a:pt x="624851" y="161098"/>
                    </a:lnTo>
                    <a:cubicBezTo>
                      <a:pt x="624851" y="189820"/>
                      <a:pt x="601568" y="213103"/>
                      <a:pt x="572846" y="213103"/>
                    </a:cubicBezTo>
                    <a:lnTo>
                      <a:pt x="52005" y="213103"/>
                    </a:lnTo>
                    <a:cubicBezTo>
                      <a:pt x="38213" y="213103"/>
                      <a:pt x="24985" y="207624"/>
                      <a:pt x="15232" y="197871"/>
                    </a:cubicBezTo>
                    <a:cubicBezTo>
                      <a:pt x="5479" y="188118"/>
                      <a:pt x="0" y="174891"/>
                      <a:pt x="0" y="161098"/>
                    </a:cubicBezTo>
                    <a:lnTo>
                      <a:pt x="0" y="52005"/>
                    </a:lnTo>
                    <a:cubicBezTo>
                      <a:pt x="0" y="23284"/>
                      <a:pt x="23284" y="0"/>
                      <a:pt x="52005" y="0"/>
                    </a:cubicBezTo>
                    <a:close/>
                  </a:path>
                </a:pathLst>
              </a:custGeom>
              <a:solidFill>
                <a:srgbClr val="FF751F"/>
              </a:solidFill>
            </p:spPr>
          </p:sp>
          <p:sp>
            <p:nvSpPr>
              <p:cNvPr name="TextBox 25" id="25"/>
              <p:cNvSpPr txBox="true"/>
              <p:nvPr/>
            </p:nvSpPr>
            <p:spPr>
              <a:xfrm>
                <a:off x="0" y="-19050"/>
                <a:ext cx="624851" cy="232153"/>
              </a:xfrm>
              <a:prstGeom prst="rect">
                <a:avLst/>
              </a:prstGeom>
            </p:spPr>
            <p:txBody>
              <a:bodyPr anchor="ctr" rtlCol="false" tIns="37653" lIns="37653" bIns="37653" rIns="37653"/>
              <a:lstStyle/>
              <a:p>
                <a:pPr algn="ctr">
                  <a:lnSpc>
                    <a:spcPts val="1037"/>
                  </a:lnSpc>
                </a:pPr>
                <a:r>
                  <a:rPr lang="en-US" b="true" sz="741">
                    <a:solidFill>
                      <a:srgbClr val="000000"/>
                    </a:solidFill>
                    <a:latin typeface="Noto Sans Bold"/>
                    <a:ea typeface="Noto Sans Bold"/>
                    <a:cs typeface="Noto Sans Bold"/>
                    <a:sym typeface="Noto Sans Bold"/>
                  </a:rPr>
                  <a:t>HOLD </a:t>
                </a:r>
                <a:r>
                  <a:rPr lang="en-US" sz="741">
                    <a:solidFill>
                      <a:srgbClr val="000000"/>
                    </a:solidFill>
                    <a:latin typeface="Noto Sans"/>
                    <a:ea typeface="Noto Sans"/>
                    <a:cs typeface="Noto Sans"/>
                    <a:sym typeface="Noto Sans"/>
                  </a:rPr>
                  <a:t>-</a:t>
                </a:r>
                <a:r>
                  <a:rPr lang="en-US" b="true" sz="741">
                    <a:solidFill>
                      <a:srgbClr val="000000"/>
                    </a:solidFill>
                    <a:latin typeface="Noto Sans Bold"/>
                    <a:ea typeface="Noto Sans Bold"/>
                    <a:cs typeface="Noto Sans Bold"/>
                    <a:sym typeface="Noto Sans Bold"/>
                  </a:rPr>
                  <a:t> </a:t>
                </a:r>
                <a:r>
                  <a:rPr lang="en-US" sz="741">
                    <a:solidFill>
                      <a:srgbClr val="000000"/>
                    </a:solidFill>
                    <a:latin typeface="Noto Sans"/>
                    <a:ea typeface="Noto Sans"/>
                    <a:cs typeface="Noto Sans"/>
                    <a:sym typeface="Noto Sans"/>
                  </a:rPr>
                  <a:t>Waiting – chờ kỳ đối soát cố định</a:t>
                </a:r>
              </a:p>
            </p:txBody>
          </p:sp>
        </p:grpSp>
        <p:grpSp>
          <p:nvGrpSpPr>
            <p:cNvPr name="Group 26" id="26"/>
            <p:cNvGrpSpPr/>
            <p:nvPr/>
          </p:nvGrpSpPr>
          <p:grpSpPr>
            <a:xfrm rot="0">
              <a:off x="6623509" y="8042732"/>
              <a:ext cx="1022759" cy="623333"/>
              <a:chOff x="0" y="0"/>
              <a:chExt cx="459950" cy="280322"/>
            </a:xfrm>
          </p:grpSpPr>
          <p:sp>
            <p:nvSpPr>
              <p:cNvPr name="Freeform 27" id="27"/>
              <p:cNvSpPr/>
              <p:nvPr/>
            </p:nvSpPr>
            <p:spPr>
              <a:xfrm flipH="false" flipV="false" rot="0">
                <a:off x="0" y="0"/>
                <a:ext cx="459950" cy="280322"/>
              </a:xfrm>
              <a:custGeom>
                <a:avLst/>
                <a:gdLst/>
                <a:ahLst/>
                <a:cxnLst/>
                <a:rect r="r" b="b" t="t" l="l"/>
                <a:pathLst>
                  <a:path h="280322" w="459950">
                    <a:moveTo>
                      <a:pt x="70650" y="0"/>
                    </a:moveTo>
                    <a:lnTo>
                      <a:pt x="389300" y="0"/>
                    </a:lnTo>
                    <a:cubicBezTo>
                      <a:pt x="428319" y="0"/>
                      <a:pt x="459950" y="31631"/>
                      <a:pt x="459950" y="70650"/>
                    </a:cubicBezTo>
                    <a:lnTo>
                      <a:pt x="459950" y="209672"/>
                    </a:lnTo>
                    <a:cubicBezTo>
                      <a:pt x="459950" y="248691"/>
                      <a:pt x="428319" y="280322"/>
                      <a:pt x="389300" y="280322"/>
                    </a:cubicBezTo>
                    <a:lnTo>
                      <a:pt x="70650" y="280322"/>
                    </a:lnTo>
                    <a:cubicBezTo>
                      <a:pt x="31631" y="280322"/>
                      <a:pt x="0" y="248691"/>
                      <a:pt x="0" y="209672"/>
                    </a:cubicBezTo>
                    <a:lnTo>
                      <a:pt x="0" y="70650"/>
                    </a:lnTo>
                    <a:cubicBezTo>
                      <a:pt x="0" y="31631"/>
                      <a:pt x="31631" y="0"/>
                      <a:pt x="70650" y="0"/>
                    </a:cubicBezTo>
                    <a:close/>
                  </a:path>
                </a:pathLst>
              </a:custGeom>
              <a:solidFill>
                <a:srgbClr val="FF751F"/>
              </a:solidFill>
            </p:spPr>
          </p:sp>
          <p:sp>
            <p:nvSpPr>
              <p:cNvPr name="TextBox 28" id="28"/>
              <p:cNvSpPr txBox="true"/>
              <p:nvPr/>
            </p:nvSpPr>
            <p:spPr>
              <a:xfrm>
                <a:off x="0" y="-9525"/>
                <a:ext cx="459950" cy="289847"/>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HOLD - </a:t>
                </a:r>
                <a:r>
                  <a:rPr lang="en-US" sz="592">
                    <a:solidFill>
                      <a:srgbClr val="000000"/>
                    </a:solidFill>
                    <a:latin typeface="Noto Sans"/>
                    <a:ea typeface="Noto Sans"/>
                    <a:cs typeface="Noto Sans"/>
                    <a:sym typeface="Noto Sans"/>
                  </a:rPr>
                  <a:t>Waiting </a:t>
                </a:r>
                <a:r>
                  <a:rPr lang="en-US" b="true" sz="592">
                    <a:solidFill>
                      <a:srgbClr val="000000"/>
                    </a:solidFill>
                    <a:latin typeface="Noto Sans Bold"/>
                    <a:ea typeface="Noto Sans Bold"/>
                    <a:cs typeface="Noto Sans Bold"/>
                    <a:sym typeface="Noto Sans Bold"/>
                  </a:rPr>
                  <a:t>- </a:t>
                </a:r>
                <a:r>
                  <a:rPr lang="en-US" sz="592">
                    <a:solidFill>
                      <a:srgbClr val="000000"/>
                    </a:solidFill>
                    <a:latin typeface="Noto Sans"/>
                    <a:ea typeface="Noto Sans"/>
                    <a:cs typeface="Noto Sans"/>
                    <a:sym typeface="Noto Sans"/>
                  </a:rPr>
                  <a:t>chờ xử lý/bốc dỡ tại trung tâm trung chuyển</a:t>
                </a:r>
                <a:r>
                  <a:rPr lang="en-US" b="true" sz="592">
                    <a:solidFill>
                      <a:srgbClr val="000000"/>
                    </a:solidFill>
                    <a:latin typeface="Noto Sans Bold"/>
                    <a:ea typeface="Noto Sans Bold"/>
                    <a:cs typeface="Noto Sans Bold"/>
                    <a:sym typeface="Noto Sans Bold"/>
                  </a:rPr>
                  <a:t> </a:t>
                </a:r>
              </a:p>
            </p:txBody>
          </p:sp>
        </p:grpSp>
        <p:grpSp>
          <p:nvGrpSpPr>
            <p:cNvPr name="Group 29" id="29"/>
            <p:cNvGrpSpPr/>
            <p:nvPr/>
          </p:nvGrpSpPr>
          <p:grpSpPr>
            <a:xfrm rot="0">
              <a:off x="3925640" y="6188960"/>
              <a:ext cx="1074461" cy="618703"/>
              <a:chOff x="0" y="0"/>
              <a:chExt cx="483201" cy="278240"/>
            </a:xfrm>
          </p:grpSpPr>
          <p:sp>
            <p:nvSpPr>
              <p:cNvPr name="Freeform 30" id="30"/>
              <p:cNvSpPr/>
              <p:nvPr/>
            </p:nvSpPr>
            <p:spPr>
              <a:xfrm flipH="false" flipV="false" rot="0">
                <a:off x="0" y="0"/>
                <a:ext cx="483201" cy="278240"/>
              </a:xfrm>
              <a:custGeom>
                <a:avLst/>
                <a:gdLst/>
                <a:ahLst/>
                <a:cxnLst/>
                <a:rect r="r" b="b" t="t" l="l"/>
                <a:pathLst>
                  <a:path h="278240" w="483201">
                    <a:moveTo>
                      <a:pt x="67250" y="0"/>
                    </a:moveTo>
                    <a:lnTo>
                      <a:pt x="415951" y="0"/>
                    </a:lnTo>
                    <a:cubicBezTo>
                      <a:pt x="433787" y="0"/>
                      <a:pt x="450892" y="7085"/>
                      <a:pt x="463504" y="19697"/>
                    </a:cubicBezTo>
                    <a:cubicBezTo>
                      <a:pt x="476116" y="32309"/>
                      <a:pt x="483201" y="49414"/>
                      <a:pt x="483201" y="67250"/>
                    </a:cubicBezTo>
                    <a:lnTo>
                      <a:pt x="483201" y="210990"/>
                    </a:lnTo>
                    <a:cubicBezTo>
                      <a:pt x="483201" y="228826"/>
                      <a:pt x="476116" y="245931"/>
                      <a:pt x="463504" y="258543"/>
                    </a:cubicBezTo>
                    <a:cubicBezTo>
                      <a:pt x="450892" y="271155"/>
                      <a:pt x="433787" y="278240"/>
                      <a:pt x="415951" y="278240"/>
                    </a:cubicBezTo>
                    <a:lnTo>
                      <a:pt x="67250" y="278240"/>
                    </a:lnTo>
                    <a:cubicBezTo>
                      <a:pt x="49414" y="278240"/>
                      <a:pt x="32309" y="271155"/>
                      <a:pt x="19697" y="258543"/>
                    </a:cubicBezTo>
                    <a:cubicBezTo>
                      <a:pt x="7085" y="245931"/>
                      <a:pt x="0" y="228826"/>
                      <a:pt x="0" y="210990"/>
                    </a:cubicBezTo>
                    <a:lnTo>
                      <a:pt x="0" y="67250"/>
                    </a:lnTo>
                    <a:cubicBezTo>
                      <a:pt x="0" y="49414"/>
                      <a:pt x="7085" y="32309"/>
                      <a:pt x="19697" y="19697"/>
                    </a:cubicBezTo>
                    <a:cubicBezTo>
                      <a:pt x="32309" y="7085"/>
                      <a:pt x="49414" y="0"/>
                      <a:pt x="67250" y="0"/>
                    </a:cubicBezTo>
                    <a:close/>
                  </a:path>
                </a:pathLst>
              </a:custGeom>
              <a:solidFill>
                <a:srgbClr val="FF751F"/>
              </a:solidFill>
            </p:spPr>
          </p:sp>
          <p:sp>
            <p:nvSpPr>
              <p:cNvPr name="TextBox 31" id="31"/>
              <p:cNvSpPr txBox="true"/>
              <p:nvPr/>
            </p:nvSpPr>
            <p:spPr>
              <a:xfrm>
                <a:off x="0" y="-9525"/>
                <a:ext cx="483201" cy="287765"/>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HOLD - </a:t>
                </a:r>
                <a:r>
                  <a:rPr lang="en-US" sz="592">
                    <a:solidFill>
                      <a:srgbClr val="000000"/>
                    </a:solidFill>
                    <a:latin typeface="Noto Sans"/>
                    <a:ea typeface="Noto Sans"/>
                    <a:cs typeface="Noto Sans"/>
                    <a:sym typeface="Noto Sans"/>
                  </a:rPr>
                  <a:t>Waiting </a:t>
                </a:r>
                <a:r>
                  <a:rPr lang="en-US" b="true" sz="592">
                    <a:solidFill>
                      <a:srgbClr val="000000"/>
                    </a:solidFill>
                    <a:latin typeface="Noto Sans Bold"/>
                    <a:ea typeface="Noto Sans Bold"/>
                    <a:cs typeface="Noto Sans Bold"/>
                    <a:sym typeface="Noto Sans Bold"/>
                  </a:rPr>
                  <a:t>- </a:t>
                </a:r>
                <a:r>
                  <a:rPr lang="en-US" sz="592">
                    <a:solidFill>
                      <a:srgbClr val="000000"/>
                    </a:solidFill>
                    <a:latin typeface="Noto Sans"/>
                    <a:ea typeface="Noto Sans"/>
                    <a:cs typeface="Noto Sans"/>
                    <a:sym typeface="Noto Sans"/>
                  </a:rPr>
                  <a:t>chờ phân công nhân viên giao hàng tại bưu cục phát</a:t>
                </a:r>
              </a:p>
            </p:txBody>
          </p:sp>
        </p:grpSp>
        <p:grpSp>
          <p:nvGrpSpPr>
            <p:cNvPr name="Group 32" id="32"/>
            <p:cNvGrpSpPr/>
            <p:nvPr/>
          </p:nvGrpSpPr>
          <p:grpSpPr>
            <a:xfrm rot="0">
              <a:off x="5000101" y="4354378"/>
              <a:ext cx="1072199" cy="750490"/>
              <a:chOff x="0" y="0"/>
              <a:chExt cx="482184" cy="337507"/>
            </a:xfrm>
          </p:grpSpPr>
          <p:sp>
            <p:nvSpPr>
              <p:cNvPr name="Freeform 33" id="33"/>
              <p:cNvSpPr/>
              <p:nvPr/>
            </p:nvSpPr>
            <p:spPr>
              <a:xfrm flipH="false" flipV="false" rot="0">
                <a:off x="0" y="0"/>
                <a:ext cx="482184" cy="337507"/>
              </a:xfrm>
              <a:custGeom>
                <a:avLst/>
                <a:gdLst/>
                <a:ahLst/>
                <a:cxnLst/>
                <a:rect r="r" b="b" t="t" l="l"/>
                <a:pathLst>
                  <a:path h="337507" w="482184">
                    <a:moveTo>
                      <a:pt x="67392" y="0"/>
                    </a:moveTo>
                    <a:lnTo>
                      <a:pt x="414792" y="0"/>
                    </a:lnTo>
                    <a:cubicBezTo>
                      <a:pt x="452012" y="0"/>
                      <a:pt x="482184" y="30173"/>
                      <a:pt x="482184" y="67392"/>
                    </a:cubicBezTo>
                    <a:lnTo>
                      <a:pt x="482184" y="270115"/>
                    </a:lnTo>
                    <a:cubicBezTo>
                      <a:pt x="482184" y="307334"/>
                      <a:pt x="452012" y="337507"/>
                      <a:pt x="414792" y="337507"/>
                    </a:cubicBezTo>
                    <a:lnTo>
                      <a:pt x="67392" y="337507"/>
                    </a:lnTo>
                    <a:cubicBezTo>
                      <a:pt x="30173" y="337507"/>
                      <a:pt x="0" y="307334"/>
                      <a:pt x="0" y="270115"/>
                    </a:cubicBezTo>
                    <a:lnTo>
                      <a:pt x="0" y="67392"/>
                    </a:lnTo>
                    <a:cubicBezTo>
                      <a:pt x="0" y="30173"/>
                      <a:pt x="30173" y="0"/>
                      <a:pt x="67392" y="0"/>
                    </a:cubicBezTo>
                    <a:close/>
                  </a:path>
                </a:pathLst>
              </a:custGeom>
              <a:solidFill>
                <a:srgbClr val="F7DE59"/>
              </a:solidFill>
            </p:spPr>
          </p:sp>
          <p:sp>
            <p:nvSpPr>
              <p:cNvPr name="TextBox 34" id="34"/>
              <p:cNvSpPr txBox="true"/>
              <p:nvPr/>
            </p:nvSpPr>
            <p:spPr>
              <a:xfrm>
                <a:off x="0" y="-9525"/>
                <a:ext cx="482184" cy="347032"/>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MOVE </a:t>
                </a:r>
                <a:r>
                  <a:rPr lang="en-US" sz="592">
                    <a:solidFill>
                      <a:srgbClr val="000000"/>
                    </a:solidFill>
                    <a:latin typeface="Noto Sans"/>
                    <a:ea typeface="Noto Sans"/>
                    <a:cs typeface="Noto Sans"/>
                    <a:sym typeface="Noto Sans"/>
                  </a:rPr>
                  <a:t>- Motion – nhân viên lấy hàng di chuyển về bưu cục sau mỗi lượt lấy hàng </a:t>
                </a:r>
              </a:p>
            </p:txBody>
          </p:sp>
        </p:grpSp>
        <p:grpSp>
          <p:nvGrpSpPr>
            <p:cNvPr name="Group 35" id="35"/>
            <p:cNvGrpSpPr/>
            <p:nvPr/>
          </p:nvGrpSpPr>
          <p:grpSpPr>
            <a:xfrm rot="0">
              <a:off x="17126458" y="5023484"/>
              <a:ext cx="1022759" cy="623333"/>
              <a:chOff x="0" y="0"/>
              <a:chExt cx="459950" cy="280322"/>
            </a:xfrm>
          </p:grpSpPr>
          <p:sp>
            <p:nvSpPr>
              <p:cNvPr name="Freeform 36" id="36"/>
              <p:cNvSpPr/>
              <p:nvPr/>
            </p:nvSpPr>
            <p:spPr>
              <a:xfrm flipH="false" flipV="false" rot="0">
                <a:off x="0" y="0"/>
                <a:ext cx="459950" cy="280322"/>
              </a:xfrm>
              <a:custGeom>
                <a:avLst/>
                <a:gdLst/>
                <a:ahLst/>
                <a:cxnLst/>
                <a:rect r="r" b="b" t="t" l="l"/>
                <a:pathLst>
                  <a:path h="280322" w="459950">
                    <a:moveTo>
                      <a:pt x="70650" y="0"/>
                    </a:moveTo>
                    <a:lnTo>
                      <a:pt x="389300" y="0"/>
                    </a:lnTo>
                    <a:cubicBezTo>
                      <a:pt x="428319" y="0"/>
                      <a:pt x="459950" y="31631"/>
                      <a:pt x="459950" y="70650"/>
                    </a:cubicBezTo>
                    <a:lnTo>
                      <a:pt x="459950" y="209672"/>
                    </a:lnTo>
                    <a:cubicBezTo>
                      <a:pt x="459950" y="248691"/>
                      <a:pt x="428319" y="280322"/>
                      <a:pt x="389300" y="280322"/>
                    </a:cubicBezTo>
                    <a:lnTo>
                      <a:pt x="70650" y="280322"/>
                    </a:lnTo>
                    <a:cubicBezTo>
                      <a:pt x="31631" y="280322"/>
                      <a:pt x="0" y="248691"/>
                      <a:pt x="0" y="209672"/>
                    </a:cubicBezTo>
                    <a:lnTo>
                      <a:pt x="0" y="70650"/>
                    </a:lnTo>
                    <a:cubicBezTo>
                      <a:pt x="0" y="31631"/>
                      <a:pt x="31631" y="0"/>
                      <a:pt x="70650" y="0"/>
                    </a:cubicBezTo>
                    <a:close/>
                  </a:path>
                </a:pathLst>
              </a:custGeom>
              <a:solidFill>
                <a:srgbClr val="FF751F"/>
              </a:solidFill>
            </p:spPr>
          </p:sp>
          <p:sp>
            <p:nvSpPr>
              <p:cNvPr name="TextBox 37" id="37"/>
              <p:cNvSpPr txBox="true"/>
              <p:nvPr/>
            </p:nvSpPr>
            <p:spPr>
              <a:xfrm>
                <a:off x="0" y="-9525"/>
                <a:ext cx="459950" cy="289847"/>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HOLD - </a:t>
                </a:r>
                <a:r>
                  <a:rPr lang="en-US" sz="592">
                    <a:solidFill>
                      <a:srgbClr val="000000"/>
                    </a:solidFill>
                    <a:latin typeface="Noto Sans"/>
                    <a:ea typeface="Noto Sans"/>
                    <a:cs typeface="Noto Sans"/>
                    <a:sym typeface="Noto Sans"/>
                  </a:rPr>
                  <a:t>Inventory – tồn vốn COD trong hệ thống</a:t>
                </a:r>
              </a:p>
            </p:txBody>
          </p:sp>
        </p:grpSp>
        <p:grpSp>
          <p:nvGrpSpPr>
            <p:cNvPr name="Group 38" id="38"/>
            <p:cNvGrpSpPr/>
            <p:nvPr/>
          </p:nvGrpSpPr>
          <p:grpSpPr>
            <a:xfrm rot="0">
              <a:off x="15635654" y="10046967"/>
              <a:ext cx="1028529" cy="750490"/>
              <a:chOff x="0" y="0"/>
              <a:chExt cx="462545" cy="337507"/>
            </a:xfrm>
          </p:grpSpPr>
          <p:sp>
            <p:nvSpPr>
              <p:cNvPr name="Freeform 39" id="39"/>
              <p:cNvSpPr/>
              <p:nvPr/>
            </p:nvSpPr>
            <p:spPr>
              <a:xfrm flipH="false" flipV="false" rot="0">
                <a:off x="0" y="0"/>
                <a:ext cx="462545" cy="337507"/>
              </a:xfrm>
              <a:custGeom>
                <a:avLst/>
                <a:gdLst/>
                <a:ahLst/>
                <a:cxnLst/>
                <a:rect r="r" b="b" t="t" l="l"/>
                <a:pathLst>
                  <a:path h="337507" w="462545">
                    <a:moveTo>
                      <a:pt x="70254" y="0"/>
                    </a:moveTo>
                    <a:lnTo>
                      <a:pt x="392291" y="0"/>
                    </a:lnTo>
                    <a:cubicBezTo>
                      <a:pt x="410924" y="0"/>
                      <a:pt x="428793" y="7402"/>
                      <a:pt x="441968" y="20577"/>
                    </a:cubicBezTo>
                    <a:cubicBezTo>
                      <a:pt x="455143" y="33752"/>
                      <a:pt x="462545" y="51621"/>
                      <a:pt x="462545" y="70254"/>
                    </a:cubicBezTo>
                    <a:lnTo>
                      <a:pt x="462545" y="267253"/>
                    </a:lnTo>
                    <a:cubicBezTo>
                      <a:pt x="462545" y="285886"/>
                      <a:pt x="455143" y="303755"/>
                      <a:pt x="441968" y="316930"/>
                    </a:cubicBezTo>
                    <a:cubicBezTo>
                      <a:pt x="428793" y="330105"/>
                      <a:pt x="410924" y="337507"/>
                      <a:pt x="392291" y="337507"/>
                    </a:cubicBezTo>
                    <a:lnTo>
                      <a:pt x="70254" y="337507"/>
                    </a:lnTo>
                    <a:cubicBezTo>
                      <a:pt x="31454" y="337507"/>
                      <a:pt x="0" y="306053"/>
                      <a:pt x="0" y="267253"/>
                    </a:cubicBezTo>
                    <a:lnTo>
                      <a:pt x="0" y="70254"/>
                    </a:lnTo>
                    <a:cubicBezTo>
                      <a:pt x="0" y="51621"/>
                      <a:pt x="7402" y="33752"/>
                      <a:pt x="20577" y="20577"/>
                    </a:cubicBezTo>
                    <a:cubicBezTo>
                      <a:pt x="33752" y="7402"/>
                      <a:pt x="51621" y="0"/>
                      <a:pt x="70254" y="0"/>
                    </a:cubicBezTo>
                    <a:close/>
                  </a:path>
                </a:pathLst>
              </a:custGeom>
              <a:solidFill>
                <a:srgbClr val="B4B4B4"/>
              </a:solidFill>
            </p:spPr>
          </p:sp>
          <p:sp>
            <p:nvSpPr>
              <p:cNvPr name="TextBox 40" id="40"/>
              <p:cNvSpPr txBox="true"/>
              <p:nvPr/>
            </p:nvSpPr>
            <p:spPr>
              <a:xfrm>
                <a:off x="0" y="-9525"/>
                <a:ext cx="462545" cy="347032"/>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Over-Do - </a:t>
                </a:r>
                <a:r>
                  <a:rPr lang="en-US" sz="592">
                    <a:solidFill>
                      <a:srgbClr val="000000"/>
                    </a:solidFill>
                    <a:latin typeface="Noto Sans"/>
                    <a:ea typeface="Noto Sans"/>
                    <a:cs typeface="Noto Sans"/>
                    <a:sym typeface="Noto Sans"/>
                  </a:rPr>
                  <a:t>Overprocessing – xác minh khiếu nại qua nhiều bước thủ công</a:t>
                </a:r>
              </a:p>
            </p:txBody>
          </p:sp>
        </p:grpSp>
        <p:grpSp>
          <p:nvGrpSpPr>
            <p:cNvPr name="Group 41" id="41"/>
            <p:cNvGrpSpPr/>
            <p:nvPr/>
          </p:nvGrpSpPr>
          <p:grpSpPr>
            <a:xfrm rot="0">
              <a:off x="19199531" y="9284788"/>
              <a:ext cx="1022759" cy="623333"/>
              <a:chOff x="0" y="0"/>
              <a:chExt cx="459950" cy="280322"/>
            </a:xfrm>
          </p:grpSpPr>
          <p:sp>
            <p:nvSpPr>
              <p:cNvPr name="Freeform 42" id="42"/>
              <p:cNvSpPr/>
              <p:nvPr/>
            </p:nvSpPr>
            <p:spPr>
              <a:xfrm flipH="false" flipV="false" rot="0">
                <a:off x="0" y="0"/>
                <a:ext cx="459950" cy="280322"/>
              </a:xfrm>
              <a:custGeom>
                <a:avLst/>
                <a:gdLst/>
                <a:ahLst/>
                <a:cxnLst/>
                <a:rect r="r" b="b" t="t" l="l"/>
                <a:pathLst>
                  <a:path h="280322" w="459950">
                    <a:moveTo>
                      <a:pt x="70650" y="0"/>
                    </a:moveTo>
                    <a:lnTo>
                      <a:pt x="389300" y="0"/>
                    </a:lnTo>
                    <a:cubicBezTo>
                      <a:pt x="428319" y="0"/>
                      <a:pt x="459950" y="31631"/>
                      <a:pt x="459950" y="70650"/>
                    </a:cubicBezTo>
                    <a:lnTo>
                      <a:pt x="459950" y="209672"/>
                    </a:lnTo>
                    <a:cubicBezTo>
                      <a:pt x="459950" y="248691"/>
                      <a:pt x="428319" y="280322"/>
                      <a:pt x="389300" y="280322"/>
                    </a:cubicBezTo>
                    <a:lnTo>
                      <a:pt x="70650" y="280322"/>
                    </a:lnTo>
                    <a:cubicBezTo>
                      <a:pt x="31631" y="280322"/>
                      <a:pt x="0" y="248691"/>
                      <a:pt x="0" y="209672"/>
                    </a:cubicBezTo>
                    <a:lnTo>
                      <a:pt x="0" y="70650"/>
                    </a:lnTo>
                    <a:cubicBezTo>
                      <a:pt x="0" y="31631"/>
                      <a:pt x="31631" y="0"/>
                      <a:pt x="70650" y="0"/>
                    </a:cubicBezTo>
                    <a:close/>
                  </a:path>
                </a:pathLst>
              </a:custGeom>
              <a:solidFill>
                <a:srgbClr val="B4B4B4"/>
              </a:solidFill>
            </p:spPr>
          </p:sp>
          <p:sp>
            <p:nvSpPr>
              <p:cNvPr name="TextBox 43" id="43"/>
              <p:cNvSpPr txBox="true"/>
              <p:nvPr/>
            </p:nvSpPr>
            <p:spPr>
              <a:xfrm>
                <a:off x="0" y="-9525"/>
                <a:ext cx="459950" cy="289847"/>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Over-Do - </a:t>
                </a:r>
                <a:r>
                  <a:rPr lang="en-US" sz="592">
                    <a:solidFill>
                      <a:srgbClr val="000000"/>
                    </a:solidFill>
                    <a:latin typeface="Noto Sans"/>
                    <a:ea typeface="Noto Sans"/>
                    <a:cs typeface="Noto Sans"/>
                    <a:sym typeface="Noto Sans"/>
                  </a:rPr>
                  <a:t>Overprocessing – lập lại báo cáo đối soát khi lệch số liệu</a:t>
                </a:r>
              </a:p>
            </p:txBody>
          </p:sp>
        </p:grpSp>
        <p:grpSp>
          <p:nvGrpSpPr>
            <p:cNvPr name="Group 44" id="44"/>
            <p:cNvGrpSpPr/>
            <p:nvPr/>
          </p:nvGrpSpPr>
          <p:grpSpPr>
            <a:xfrm rot="0">
              <a:off x="9429824" y="1657806"/>
              <a:ext cx="1074533" cy="623333"/>
              <a:chOff x="0" y="0"/>
              <a:chExt cx="483234" cy="280322"/>
            </a:xfrm>
          </p:grpSpPr>
          <p:sp>
            <p:nvSpPr>
              <p:cNvPr name="Freeform 45" id="45"/>
              <p:cNvSpPr/>
              <p:nvPr/>
            </p:nvSpPr>
            <p:spPr>
              <a:xfrm flipH="false" flipV="false" rot="0">
                <a:off x="0" y="0"/>
                <a:ext cx="483234" cy="280322"/>
              </a:xfrm>
              <a:custGeom>
                <a:avLst/>
                <a:gdLst/>
                <a:ahLst/>
                <a:cxnLst/>
                <a:rect r="r" b="b" t="t" l="l"/>
                <a:pathLst>
                  <a:path h="280322" w="483234">
                    <a:moveTo>
                      <a:pt x="67246" y="0"/>
                    </a:moveTo>
                    <a:lnTo>
                      <a:pt x="415988" y="0"/>
                    </a:lnTo>
                    <a:cubicBezTo>
                      <a:pt x="433823" y="0"/>
                      <a:pt x="450927" y="7085"/>
                      <a:pt x="463538" y="19696"/>
                    </a:cubicBezTo>
                    <a:cubicBezTo>
                      <a:pt x="476149" y="32307"/>
                      <a:pt x="483234" y="49411"/>
                      <a:pt x="483234" y="67246"/>
                    </a:cubicBezTo>
                    <a:lnTo>
                      <a:pt x="483234" y="213076"/>
                    </a:lnTo>
                    <a:cubicBezTo>
                      <a:pt x="483234" y="250215"/>
                      <a:pt x="453127" y="280322"/>
                      <a:pt x="415988" y="280322"/>
                    </a:cubicBezTo>
                    <a:lnTo>
                      <a:pt x="67246" y="280322"/>
                    </a:lnTo>
                    <a:cubicBezTo>
                      <a:pt x="49411" y="280322"/>
                      <a:pt x="32307" y="273237"/>
                      <a:pt x="19696" y="260626"/>
                    </a:cubicBezTo>
                    <a:cubicBezTo>
                      <a:pt x="7085" y="248015"/>
                      <a:pt x="0" y="230911"/>
                      <a:pt x="0" y="213076"/>
                    </a:cubicBezTo>
                    <a:lnTo>
                      <a:pt x="0" y="67246"/>
                    </a:lnTo>
                    <a:cubicBezTo>
                      <a:pt x="0" y="49411"/>
                      <a:pt x="7085" y="32307"/>
                      <a:pt x="19696" y="19696"/>
                    </a:cubicBezTo>
                    <a:cubicBezTo>
                      <a:pt x="32307" y="7085"/>
                      <a:pt x="49411" y="0"/>
                      <a:pt x="67246" y="0"/>
                    </a:cubicBezTo>
                    <a:close/>
                  </a:path>
                </a:pathLst>
              </a:custGeom>
              <a:solidFill>
                <a:srgbClr val="B4B4B4">
                  <a:alpha val="80000"/>
                </a:srgbClr>
              </a:solidFill>
            </p:spPr>
          </p:sp>
          <p:sp>
            <p:nvSpPr>
              <p:cNvPr name="TextBox 46" id="46"/>
              <p:cNvSpPr txBox="true"/>
              <p:nvPr/>
            </p:nvSpPr>
            <p:spPr>
              <a:xfrm>
                <a:off x="0" y="-9525"/>
                <a:ext cx="483234" cy="289847"/>
              </a:xfrm>
              <a:prstGeom prst="rect">
                <a:avLst/>
              </a:prstGeom>
            </p:spPr>
            <p:txBody>
              <a:bodyPr anchor="ctr" rtlCol="false" tIns="37653" lIns="37653" bIns="37653" rIns="37653"/>
              <a:lstStyle/>
              <a:p>
                <a:pPr algn="ctr">
                  <a:lnSpc>
                    <a:spcPts val="830"/>
                  </a:lnSpc>
                </a:pPr>
                <a:r>
                  <a:rPr lang="en-US" b="true" sz="592">
                    <a:solidFill>
                      <a:srgbClr val="000000">
                        <a:alpha val="80000"/>
                      </a:srgbClr>
                    </a:solidFill>
                    <a:latin typeface="Noto Sans Bold"/>
                    <a:ea typeface="Noto Sans Bold"/>
                    <a:cs typeface="Noto Sans Bold"/>
                    <a:sym typeface="Noto Sans Bold"/>
                  </a:rPr>
                  <a:t>Over-Do - </a:t>
                </a:r>
                <a:r>
                  <a:rPr lang="en-US" sz="592">
                    <a:solidFill>
                      <a:srgbClr val="000000">
                        <a:alpha val="80000"/>
                      </a:srgbClr>
                    </a:solidFill>
                    <a:latin typeface="Noto Sans"/>
                    <a:ea typeface="Noto Sans"/>
                    <a:cs typeface="Noto Sans"/>
                    <a:sym typeface="Noto Sans"/>
                  </a:rPr>
                  <a:t>Defects – giao hàng thất bại phải xử lý hoàn hàng </a:t>
                </a:r>
              </a:p>
            </p:txBody>
          </p:sp>
        </p:grpSp>
        <p:grpSp>
          <p:nvGrpSpPr>
            <p:cNvPr name="Group 47" id="47"/>
            <p:cNvGrpSpPr/>
            <p:nvPr/>
          </p:nvGrpSpPr>
          <p:grpSpPr>
            <a:xfrm rot="0">
              <a:off x="17833446" y="9284788"/>
              <a:ext cx="1022759" cy="623333"/>
              <a:chOff x="0" y="0"/>
              <a:chExt cx="459950" cy="280322"/>
            </a:xfrm>
          </p:grpSpPr>
          <p:sp>
            <p:nvSpPr>
              <p:cNvPr name="Freeform 48" id="48"/>
              <p:cNvSpPr/>
              <p:nvPr/>
            </p:nvSpPr>
            <p:spPr>
              <a:xfrm flipH="false" flipV="false" rot="0">
                <a:off x="0" y="0"/>
                <a:ext cx="459950" cy="280322"/>
              </a:xfrm>
              <a:custGeom>
                <a:avLst/>
                <a:gdLst/>
                <a:ahLst/>
                <a:cxnLst/>
                <a:rect r="r" b="b" t="t" l="l"/>
                <a:pathLst>
                  <a:path h="280322" w="459950">
                    <a:moveTo>
                      <a:pt x="70650" y="0"/>
                    </a:moveTo>
                    <a:lnTo>
                      <a:pt x="389300" y="0"/>
                    </a:lnTo>
                    <a:cubicBezTo>
                      <a:pt x="428319" y="0"/>
                      <a:pt x="459950" y="31631"/>
                      <a:pt x="459950" y="70650"/>
                    </a:cubicBezTo>
                    <a:lnTo>
                      <a:pt x="459950" y="209672"/>
                    </a:lnTo>
                    <a:cubicBezTo>
                      <a:pt x="459950" y="248691"/>
                      <a:pt x="428319" y="280322"/>
                      <a:pt x="389300" y="280322"/>
                    </a:cubicBezTo>
                    <a:lnTo>
                      <a:pt x="70650" y="280322"/>
                    </a:lnTo>
                    <a:cubicBezTo>
                      <a:pt x="31631" y="280322"/>
                      <a:pt x="0" y="248691"/>
                      <a:pt x="0" y="209672"/>
                    </a:cubicBezTo>
                    <a:lnTo>
                      <a:pt x="0" y="70650"/>
                    </a:lnTo>
                    <a:cubicBezTo>
                      <a:pt x="0" y="31631"/>
                      <a:pt x="31631" y="0"/>
                      <a:pt x="70650" y="0"/>
                    </a:cubicBezTo>
                    <a:close/>
                  </a:path>
                </a:pathLst>
              </a:custGeom>
              <a:solidFill>
                <a:srgbClr val="B4B4B4"/>
              </a:solidFill>
            </p:spPr>
          </p:sp>
          <p:sp>
            <p:nvSpPr>
              <p:cNvPr name="TextBox 49" id="49"/>
              <p:cNvSpPr txBox="true"/>
              <p:nvPr/>
            </p:nvSpPr>
            <p:spPr>
              <a:xfrm>
                <a:off x="0" y="-9525"/>
                <a:ext cx="459950" cy="289847"/>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Over-Do - </a:t>
                </a:r>
                <a:r>
                  <a:rPr lang="en-US" sz="592">
                    <a:solidFill>
                      <a:srgbClr val="000000"/>
                    </a:solidFill>
                    <a:latin typeface="Noto Sans"/>
                    <a:ea typeface="Noto Sans"/>
                    <a:cs typeface="Noto Sans"/>
                    <a:sym typeface="Noto Sans"/>
                  </a:rPr>
                  <a:t>Overproduction – lập lại báo cáo đối soát khi lệch số liệu</a:t>
                </a:r>
              </a:p>
            </p:txBody>
          </p:sp>
        </p:grpSp>
        <p:grpSp>
          <p:nvGrpSpPr>
            <p:cNvPr name="Group 50" id="50"/>
            <p:cNvGrpSpPr/>
            <p:nvPr/>
          </p:nvGrpSpPr>
          <p:grpSpPr>
            <a:xfrm rot="0">
              <a:off x="5809403" y="6188960"/>
              <a:ext cx="909799" cy="603939"/>
              <a:chOff x="0" y="0"/>
              <a:chExt cx="409150" cy="271600"/>
            </a:xfrm>
          </p:grpSpPr>
          <p:sp>
            <p:nvSpPr>
              <p:cNvPr name="Freeform 51" id="51"/>
              <p:cNvSpPr/>
              <p:nvPr/>
            </p:nvSpPr>
            <p:spPr>
              <a:xfrm flipH="false" flipV="false" rot="0">
                <a:off x="0" y="0"/>
                <a:ext cx="409150" cy="271600"/>
              </a:xfrm>
              <a:custGeom>
                <a:avLst/>
                <a:gdLst/>
                <a:ahLst/>
                <a:cxnLst/>
                <a:rect r="r" b="b" t="t" l="l"/>
                <a:pathLst>
                  <a:path h="271600" w="409150">
                    <a:moveTo>
                      <a:pt x="79422" y="0"/>
                    </a:moveTo>
                    <a:lnTo>
                      <a:pt x="329728" y="0"/>
                    </a:lnTo>
                    <a:cubicBezTo>
                      <a:pt x="350792" y="0"/>
                      <a:pt x="370994" y="8368"/>
                      <a:pt x="385888" y="23262"/>
                    </a:cubicBezTo>
                    <a:cubicBezTo>
                      <a:pt x="400783" y="38157"/>
                      <a:pt x="409150" y="58358"/>
                      <a:pt x="409150" y="79422"/>
                    </a:cubicBezTo>
                    <a:lnTo>
                      <a:pt x="409150" y="192179"/>
                    </a:lnTo>
                    <a:cubicBezTo>
                      <a:pt x="409150" y="236042"/>
                      <a:pt x="373592" y="271600"/>
                      <a:pt x="329728" y="271600"/>
                    </a:cubicBezTo>
                    <a:lnTo>
                      <a:pt x="79422" y="271600"/>
                    </a:lnTo>
                    <a:cubicBezTo>
                      <a:pt x="58358" y="271600"/>
                      <a:pt x="38157" y="263233"/>
                      <a:pt x="23262" y="248338"/>
                    </a:cubicBezTo>
                    <a:cubicBezTo>
                      <a:pt x="8368" y="233444"/>
                      <a:pt x="0" y="213243"/>
                      <a:pt x="0" y="192179"/>
                    </a:cubicBezTo>
                    <a:lnTo>
                      <a:pt x="0" y="79422"/>
                    </a:lnTo>
                    <a:cubicBezTo>
                      <a:pt x="0" y="35558"/>
                      <a:pt x="35558" y="0"/>
                      <a:pt x="79422" y="0"/>
                    </a:cubicBezTo>
                    <a:close/>
                  </a:path>
                </a:pathLst>
              </a:custGeom>
              <a:solidFill>
                <a:srgbClr val="FF751F"/>
              </a:solidFill>
            </p:spPr>
          </p:sp>
          <p:sp>
            <p:nvSpPr>
              <p:cNvPr name="TextBox 52" id="52"/>
              <p:cNvSpPr txBox="true"/>
              <p:nvPr/>
            </p:nvSpPr>
            <p:spPr>
              <a:xfrm>
                <a:off x="0" y="-9525"/>
                <a:ext cx="409150" cy="281125"/>
              </a:xfrm>
              <a:prstGeom prst="rect">
                <a:avLst/>
              </a:prstGeom>
            </p:spPr>
            <p:txBody>
              <a:bodyPr anchor="ctr" rtlCol="false" tIns="37653" lIns="37653" bIns="37653" rIns="37653"/>
              <a:lstStyle/>
              <a:p>
                <a:pPr algn="ctr">
                  <a:lnSpc>
                    <a:spcPts val="830"/>
                  </a:lnSpc>
                </a:pPr>
                <a:r>
                  <a:rPr lang="en-US" b="true" sz="592">
                    <a:solidFill>
                      <a:srgbClr val="000000"/>
                    </a:solidFill>
                    <a:latin typeface="Noto Sans Bold"/>
                    <a:ea typeface="Noto Sans Bold"/>
                    <a:cs typeface="Noto Sans Bold"/>
                    <a:sym typeface="Noto Sans Bold"/>
                  </a:rPr>
                  <a:t>HOLD -</a:t>
                </a:r>
                <a:r>
                  <a:rPr lang="en-US" sz="592">
                    <a:solidFill>
                      <a:srgbClr val="000000"/>
                    </a:solidFill>
                    <a:latin typeface="Noto Sans"/>
                    <a:ea typeface="Noto Sans"/>
                    <a:cs typeface="Noto Sans"/>
                    <a:sym typeface="Noto Sans"/>
                  </a:rPr>
                  <a:t> Waiting – vận chuyển liên trung tâm </a:t>
                </a:r>
              </a:p>
            </p:txBody>
          </p:sp>
        </p:grpSp>
      </p:grpSp>
      <p:sp>
        <p:nvSpPr>
          <p:cNvPr name="TextBox 53" id="53"/>
          <p:cNvSpPr txBox="true"/>
          <p:nvPr/>
        </p:nvSpPr>
        <p:spPr>
          <a:xfrm rot="0">
            <a:off x="1430516" y="435955"/>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54" id="54"/>
          <p:cNvSpPr txBox="true"/>
          <p:nvPr/>
        </p:nvSpPr>
        <p:spPr>
          <a:xfrm rot="0">
            <a:off x="1430516" y="752939"/>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55" id="5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43</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55113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7071887" y="724755"/>
            <a:ext cx="9354255" cy="889635"/>
          </a:xfrm>
          <a:prstGeom prst="rect">
            <a:avLst/>
          </a:prstGeom>
        </p:spPr>
        <p:txBody>
          <a:bodyPr anchor="t" rtlCol="false" tIns="0" lIns="0" bIns="0" rIns="0">
            <a:spAutoFit/>
          </a:bodyPr>
          <a:lstStyle/>
          <a:p>
            <a:pPr algn="ctr" marL="0" indent="0" lvl="0">
              <a:lnSpc>
                <a:spcPts val="3419"/>
              </a:lnSpc>
              <a:spcBef>
                <a:spcPct val="0"/>
              </a:spcBef>
            </a:pPr>
            <a:r>
              <a:rPr lang="en-US" b="true" sz="3000">
                <a:solidFill>
                  <a:srgbClr val="EB2427"/>
                </a:solidFill>
                <a:latin typeface="Poppins Bold"/>
                <a:ea typeface="Poppins Bold"/>
                <a:cs typeface="Poppins Bold"/>
                <a:sym typeface="Poppins Bold"/>
              </a:rPr>
              <a:t>Thu hộ COD và chuyển tiền: </a:t>
            </a:r>
            <a:r>
              <a:rPr lang="en-US" b="true" sz="3000" strike="noStrike" u="none">
                <a:solidFill>
                  <a:srgbClr val="EB2427"/>
                </a:solidFill>
                <a:latin typeface="Poppins Bold"/>
                <a:ea typeface="Poppins Bold"/>
                <a:cs typeface="Poppins Bold"/>
                <a:sym typeface="Poppins Bold"/>
              </a:rPr>
              <a:t>Phân tích nguyên nhân – kết quả</a:t>
            </a:r>
          </a:p>
        </p:txBody>
      </p:sp>
      <p:graphicFrame>
        <p:nvGraphicFramePr>
          <p:cNvPr name="Table 12" id="12"/>
          <p:cNvGraphicFramePr>
            <a:graphicFrameLocks noGrp="true"/>
          </p:cNvGraphicFramePr>
          <p:nvPr/>
        </p:nvGraphicFramePr>
        <p:xfrm>
          <a:off x="872856" y="2115740"/>
          <a:ext cx="15718799" cy="6582791"/>
        </p:xfrm>
        <a:graphic>
          <a:graphicData uri="http://schemas.openxmlformats.org/drawingml/2006/table">
            <a:tbl>
              <a:tblPr/>
              <a:tblGrid>
                <a:gridCol w="3394610"/>
                <a:gridCol w="12324190"/>
              </a:tblGrid>
              <a:tr h="766867">
                <a:tc>
                  <a:txBody>
                    <a:bodyPr anchor="t" rtlCol="false"/>
                    <a:lstStyle/>
                    <a:p>
                      <a:pPr algn="ctr">
                        <a:lnSpc>
                          <a:spcPts val="2239"/>
                        </a:lnSpc>
                        <a:defRPr/>
                      </a:pPr>
                      <a:r>
                        <a:rPr lang="en-US" sz="1599">
                          <a:solidFill>
                            <a:srgbClr val="FFFFFF"/>
                          </a:solidFill>
                          <a:latin typeface="Poppins"/>
                          <a:ea typeface="Poppins"/>
                          <a:cs typeface="Poppins"/>
                          <a:sym typeface="Poppins"/>
                        </a:rPr>
                        <a:t>WHY</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c>
                  <a:txBody>
                    <a:bodyPr anchor="t" rtlCol="false"/>
                    <a:lstStyle/>
                    <a:p>
                      <a:pPr algn="ctr">
                        <a:lnSpc>
                          <a:spcPts val="2239"/>
                        </a:lnSpc>
                        <a:defRPr/>
                      </a:pPr>
                      <a:r>
                        <a:rPr lang="en-US" sz="1599">
                          <a:solidFill>
                            <a:srgbClr val="FFFFFF"/>
                          </a:solidFill>
                          <a:latin typeface="Poppins"/>
                          <a:ea typeface="Poppins"/>
                          <a:cs typeface="Poppins"/>
                          <a:sym typeface="Poppins"/>
                        </a:rPr>
                        <a:t>Phân tích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EB2427"/>
                    </a:solidFill>
                  </a:tcPr>
                </a:tc>
              </a:tr>
              <a:tr h="734488">
                <a:tc>
                  <a:txBody>
                    <a:bodyPr anchor="t" rtlCol="false"/>
                    <a:lstStyle/>
                    <a:p>
                      <a:pPr algn="ctr">
                        <a:lnSpc>
                          <a:spcPts val="2099"/>
                        </a:lnSpc>
                        <a:defRPr/>
                      </a:pPr>
                      <a:r>
                        <a:rPr lang="en-US" sz="1499">
                          <a:solidFill>
                            <a:srgbClr val="000000"/>
                          </a:solidFill>
                          <a:latin typeface="Poppins"/>
                          <a:ea typeface="Poppins"/>
                          <a:cs typeface="Poppins"/>
                          <a:sym typeface="Poppins"/>
                        </a:rPr>
                        <a:t>Vấn đề</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099"/>
                        </a:lnSpc>
                        <a:defRPr/>
                      </a:pPr>
                      <a:r>
                        <a:rPr lang="en-US" sz="1499">
                          <a:solidFill>
                            <a:srgbClr val="000000"/>
                          </a:solidFill>
                          <a:latin typeface="Poppins"/>
                          <a:ea typeface="Poppins"/>
                          <a:cs typeface="Poppins"/>
                          <a:sym typeface="Poppins"/>
                        </a:rPr>
                        <a:t>Nợ xấu COD tồn đọng lên tới hàng chục tỷ đồng; chi phí tài chính tăng 78% YoY; lợi nhuận sau thuế giảm 43,7% trong Quý I/2026; dòng tiền đối soát trả cho người gửi bị chậm 5–7 ngày. Tình trạng: Hold &amp; Defects.</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65">
                <a:tc>
                  <a:txBody>
                    <a:bodyPr anchor="t" rtlCol="false"/>
                    <a:lstStyle/>
                    <a:p>
                      <a:pPr algn="ctr">
                        <a:lnSpc>
                          <a:spcPts val="2099"/>
                        </a:lnSpc>
                        <a:defRPr/>
                      </a:pPr>
                      <a:r>
                        <a:rPr lang="en-US" sz="1499">
                          <a:solidFill>
                            <a:srgbClr val="000000"/>
                          </a:solidFill>
                          <a:latin typeface="Poppins"/>
                          <a:ea typeface="Poppins"/>
                          <a:cs typeface="Poppins"/>
                          <a:sym typeface="Poppins"/>
                        </a:rPr>
                        <a:t>Why 1</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Nhiều đơn hàng có sai lệch số liệu đối soát (3–7%/kỳ, tương đương 3.000–35.000 đơn/kỳ) chưa được xử lý dứt điểm, bị treo lại qua nhiều kỳ.</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7131">
                <a:tc>
                  <a:txBody>
                    <a:bodyPr anchor="t" rtlCol="false"/>
                    <a:lstStyle/>
                    <a:p>
                      <a:pPr algn="ctr">
                        <a:lnSpc>
                          <a:spcPts val="2099"/>
                        </a:lnSpc>
                        <a:defRPr/>
                      </a:pPr>
                      <a:r>
                        <a:rPr lang="en-US" sz="1499">
                          <a:solidFill>
                            <a:srgbClr val="000000"/>
                          </a:solidFill>
                          <a:latin typeface="Poppins"/>
                          <a:ea typeface="Poppins"/>
                          <a:cs typeface="Poppins"/>
                          <a:sym typeface="Poppins"/>
                        </a:rPr>
                        <a:t>Why 2</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Quy trình xác minh khiếu nại còn thủ công, kéo dài &gt;72h/khiếu nại, thiếu cam kết SLA công khai.</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486479">
                <a:tc>
                  <a:txBody>
                    <a:bodyPr anchor="t" rtlCol="false"/>
                    <a:lstStyle/>
                    <a:p>
                      <a:pPr algn="ctr">
                        <a:lnSpc>
                          <a:spcPts val="2099"/>
                        </a:lnSpc>
                        <a:defRPr/>
                      </a:pPr>
                      <a:r>
                        <a:rPr lang="en-US" sz="1499">
                          <a:solidFill>
                            <a:srgbClr val="000000"/>
                          </a:solidFill>
                          <a:latin typeface="Poppins"/>
                          <a:ea typeface="Poppins"/>
                          <a:cs typeface="Poppins"/>
                          <a:sym typeface="Poppins"/>
                        </a:rPr>
                        <a:t>Why 3</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Hệ thống CNTT đối soát COD chưa được tự động hóa, thiếu tính năng kiểm tra chéo tự động thời gian thực.</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65">
                <a:tc>
                  <a:txBody>
                    <a:bodyPr anchor="t" rtlCol="false"/>
                    <a:lstStyle/>
                    <a:p>
                      <a:pPr algn="ctr">
                        <a:lnSpc>
                          <a:spcPts val="2099"/>
                        </a:lnSpc>
                        <a:defRPr/>
                      </a:pPr>
                      <a:r>
                        <a:rPr lang="en-US" sz="1499">
                          <a:solidFill>
                            <a:srgbClr val="000000"/>
                          </a:solidFill>
                          <a:latin typeface="Poppins"/>
                          <a:ea typeface="Poppins"/>
                          <a:cs typeface="Poppins"/>
                          <a:sym typeface="Poppins"/>
                        </a:rPr>
                        <a:t>Why 4</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Nguồn lực đầu tư công nghệ giai đoạn qua tập trung ưu tiên vào hạ tầng vận hành vật lý (kho bãi, chia chọn 4 triệu đơn/ngày) vì ROI đo được ngay qua sản lượng.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65">
                <a:tc>
                  <a:txBody>
                    <a:bodyPr anchor="t" rtlCol="false"/>
                    <a:lstStyle/>
                    <a:p>
                      <a:pPr algn="ctr">
                        <a:lnSpc>
                          <a:spcPts val="2099"/>
                        </a:lnSpc>
                        <a:defRPr/>
                      </a:pPr>
                      <a:r>
                        <a:rPr lang="en-US" sz="1499">
                          <a:solidFill>
                            <a:srgbClr val="000000"/>
                          </a:solidFill>
                          <a:latin typeface="Poppins"/>
                          <a:ea typeface="Poppins"/>
                          <a:cs typeface="Poppins"/>
                          <a:sym typeface="Poppins"/>
                        </a:rPr>
                        <a:t>WHY 5 – Gốc</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Chiến lược chuyển đổi số giai đoạn đầu đặt nặng KPI năng lực xử lý sản lượng kho vận, chưa đưa KPI quản trị dòng tiền/công nợ COD vào chiến lược ngang hàng.</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65">
                <a:tc>
                  <a:txBody>
                    <a:bodyPr anchor="t" rtlCol="false"/>
                    <a:lstStyle/>
                    <a:p>
                      <a:pPr algn="ctr">
                        <a:lnSpc>
                          <a:spcPts val="2099"/>
                        </a:lnSpc>
                        <a:defRPr/>
                      </a:pPr>
                      <a:r>
                        <a:rPr lang="en-US" sz="1499">
                          <a:solidFill>
                            <a:srgbClr val="000000"/>
                          </a:solidFill>
                          <a:latin typeface="Poppins"/>
                          <a:ea typeface="Poppins"/>
                          <a:cs typeface="Poppins"/>
                          <a:sym typeface="Poppins"/>
                        </a:rPr>
                        <a:t>Nguyên nhân gốc</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Thiếu một chiến lược đầu tư công nghệ cân bằng giữa vận hành vật lý (kho vận) và quản trị tài chính – dữ liệu (đối soát COD); chỉ đặt KPI sản lượng mà bỏ quên KPI quản trị công nợ dòng tiền.</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753565">
                <a:tc>
                  <a:txBody>
                    <a:bodyPr anchor="t" rtlCol="false"/>
                    <a:lstStyle/>
                    <a:p>
                      <a:pPr algn="ctr">
                        <a:lnSpc>
                          <a:spcPts val="2099"/>
                        </a:lnSpc>
                        <a:defRPr/>
                      </a:pPr>
                      <a:r>
                        <a:rPr lang="en-US" sz="1499">
                          <a:solidFill>
                            <a:srgbClr val="000000"/>
                          </a:solidFill>
                          <a:latin typeface="Poppins"/>
                          <a:ea typeface="Poppins"/>
                          <a:cs typeface="Poppins"/>
                          <a:sym typeface="Poppins"/>
                        </a:rPr>
                        <a:t>Hướng xử lý</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100"/>
                        </a:lnSpc>
                        <a:defRPr/>
                      </a:pPr>
                      <a:r>
                        <a:rPr lang="en-US" sz="1500">
                          <a:solidFill>
                            <a:srgbClr val="000000"/>
                          </a:solidFill>
                          <a:latin typeface="Poppins"/>
                          <a:ea typeface="Poppins"/>
                          <a:cs typeface="Poppins"/>
                          <a:sym typeface="Poppins"/>
                        </a:rPr>
                        <a:t>Đưa tự động hóa đối soát COD thời gian thực vào danh mục ưu tiên công nghệ ngang hàng kho vận; bổ sung KPI quản trị nợ xấu và thời gian đối soát; triển khai thanh toán số và Chatbot CSKH.</a:t>
                      </a:r>
                      <a:endParaRPr lang="en-US" sz="1100"/>
                    </a:p>
                  </a:txBody>
                  <a:tcPr marL="47625" marR="47625" marT="47625" marB="47625"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bl>
          </a:graphicData>
        </a:graphic>
      </p:graphicFrame>
      <p:sp>
        <p:nvSpPr>
          <p:cNvPr name="TextBox 13" id="13"/>
          <p:cNvSpPr txBox="true"/>
          <p:nvPr/>
        </p:nvSpPr>
        <p:spPr>
          <a:xfrm rot="0">
            <a:off x="536860" y="1719283"/>
            <a:ext cx="6245247" cy="370713"/>
          </a:xfrm>
          <a:prstGeom prst="rect">
            <a:avLst/>
          </a:prstGeom>
        </p:spPr>
        <p:txBody>
          <a:bodyPr anchor="t" rtlCol="false" tIns="0" lIns="0" bIns="0" rIns="0">
            <a:spAutoFit/>
          </a:bodyPr>
          <a:lstStyle/>
          <a:p>
            <a:pPr algn="ctr">
              <a:lnSpc>
                <a:spcPts val="2736"/>
              </a:lnSpc>
            </a:pPr>
            <a:r>
              <a:rPr lang="en-US" b="true" sz="2400">
                <a:solidFill>
                  <a:srgbClr val="EB2427"/>
                </a:solidFill>
                <a:latin typeface="Poppins Bold"/>
                <a:ea typeface="Poppins Bold"/>
                <a:cs typeface="Poppins Bold"/>
                <a:sym typeface="Poppins Bold"/>
              </a:rPr>
              <a:t>PHÂN TÍCH NGUYÊN NHÂN KẾT QUẢ</a:t>
            </a:r>
          </a:p>
        </p:txBody>
      </p:sp>
      <p:sp>
        <p:nvSpPr>
          <p:cNvPr name="TextBox 14" id="14"/>
          <p:cNvSpPr txBox="true"/>
          <p:nvPr/>
        </p:nvSpPr>
        <p:spPr>
          <a:xfrm rot="0">
            <a:off x="1430516" y="414071"/>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5" id="15"/>
          <p:cNvSpPr txBox="true"/>
          <p:nvPr/>
        </p:nvSpPr>
        <p:spPr>
          <a:xfrm rot="0">
            <a:off x="1430516" y="73105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44</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344991" y="3793402"/>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550583" y="2189513"/>
            <a:ext cx="17186835" cy="5907975"/>
          </a:xfrm>
          <a:custGeom>
            <a:avLst/>
            <a:gdLst/>
            <a:ahLst/>
            <a:cxnLst/>
            <a:rect r="r" b="b" t="t" l="l"/>
            <a:pathLst>
              <a:path h="5907975" w="17186835">
                <a:moveTo>
                  <a:pt x="0" y="0"/>
                </a:moveTo>
                <a:lnTo>
                  <a:pt x="17186834" y="0"/>
                </a:lnTo>
                <a:lnTo>
                  <a:pt x="17186834" y="5907974"/>
                </a:lnTo>
                <a:lnTo>
                  <a:pt x="0" y="5907974"/>
                </a:lnTo>
                <a:lnTo>
                  <a:pt x="0" y="0"/>
                </a:lnTo>
                <a:close/>
              </a:path>
            </a:pathLst>
          </a:custGeom>
          <a:blipFill>
            <a:blip r:embed="rId14"/>
            <a:stretch>
              <a:fillRect l="0" t="0" r="0" b="0"/>
            </a:stretch>
          </a:blipFill>
        </p:spPr>
      </p:sp>
      <p:sp>
        <p:nvSpPr>
          <p:cNvPr name="TextBox 10" id="10"/>
          <p:cNvSpPr txBox="true"/>
          <p:nvPr/>
        </p:nvSpPr>
        <p:spPr>
          <a:xfrm rot="0">
            <a:off x="1430516" y="9505290"/>
            <a:ext cx="6565111"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1" id="11"/>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7071887" y="72475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EB2427"/>
                </a:solidFill>
                <a:latin typeface="Poppins Bold"/>
                <a:ea typeface="Poppins Bold"/>
                <a:cs typeface="Poppins Bold"/>
                <a:sym typeface="Poppins Bold"/>
              </a:rPr>
              <a:t>Sơ đồ 5Why : Phân tích nguyên nhân – kết quả</a:t>
            </a:r>
          </a:p>
        </p:txBody>
      </p:sp>
      <p:sp>
        <p:nvSpPr>
          <p:cNvPr name="TextBox 13" id="13"/>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4" id="14"/>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5" id="1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45</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9" id="9"/>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0" id="10"/>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1" id="11"/>
          <p:cNvSpPr txBox="true"/>
          <p:nvPr/>
        </p:nvSpPr>
        <p:spPr>
          <a:xfrm rot="0">
            <a:off x="1852878" y="3641294"/>
            <a:ext cx="5141172" cy="3195828"/>
          </a:xfrm>
          <a:prstGeom prst="rect">
            <a:avLst/>
          </a:prstGeom>
        </p:spPr>
        <p:txBody>
          <a:bodyPr anchor="t" rtlCol="false" tIns="0" lIns="0" bIns="0" rIns="0">
            <a:spAutoFit/>
          </a:bodyPr>
          <a:lstStyle/>
          <a:p>
            <a:pPr algn="ctr" marL="0" indent="0" lvl="0">
              <a:lnSpc>
                <a:spcPts val="5015"/>
              </a:lnSpc>
              <a:spcBef>
                <a:spcPct val="0"/>
              </a:spcBef>
            </a:pPr>
            <a:r>
              <a:rPr lang="en-US" b="true" sz="4399" strike="noStrike" u="none">
                <a:solidFill>
                  <a:srgbClr val="100643"/>
                </a:solidFill>
                <a:latin typeface="Poppins Bold"/>
                <a:ea typeface="Poppins Bold"/>
                <a:cs typeface="Poppins Bold"/>
                <a:sym typeface="Poppins Bold"/>
              </a:rPr>
              <a:t>KHUNG ĐO LƯỜNG QUY TRÌNH THU HỘ COD VÀ CHUYỂN TIỀN</a:t>
            </a:r>
          </a:p>
        </p:txBody>
      </p:sp>
      <p:grpSp>
        <p:nvGrpSpPr>
          <p:cNvPr name="Group 12" id="12"/>
          <p:cNvGrpSpPr/>
          <p:nvPr/>
        </p:nvGrpSpPr>
        <p:grpSpPr>
          <a:xfrm rot="0">
            <a:off x="9006750" y="1430556"/>
            <a:ext cx="8331174" cy="2143367"/>
            <a:chOff x="0" y="0"/>
            <a:chExt cx="1421509" cy="365713"/>
          </a:xfrm>
        </p:grpSpPr>
        <p:sp>
          <p:nvSpPr>
            <p:cNvPr name="Freeform 13" id="13"/>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4" id="14"/>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15" id="15"/>
          <p:cNvGrpSpPr/>
          <p:nvPr/>
        </p:nvGrpSpPr>
        <p:grpSpPr>
          <a:xfrm rot="0">
            <a:off x="9006750" y="4071817"/>
            <a:ext cx="8331174" cy="2143367"/>
            <a:chOff x="0" y="0"/>
            <a:chExt cx="1421509" cy="365713"/>
          </a:xfrm>
        </p:grpSpPr>
        <p:sp>
          <p:nvSpPr>
            <p:cNvPr name="Freeform 16" id="16"/>
            <p:cNvSpPr/>
            <p:nvPr/>
          </p:nvSpPr>
          <p:spPr>
            <a:xfrm flipH="false" flipV="false" rot="0">
              <a:off x="0" y="0"/>
              <a:ext cx="1421509" cy="365713"/>
            </a:xfrm>
            <a:custGeom>
              <a:avLst/>
              <a:gdLst/>
              <a:ahLst/>
              <a:cxnLst/>
              <a:rect r="r" b="b" t="t" l="l"/>
              <a:pathLst>
                <a:path h="365713" w="1421509">
                  <a:moveTo>
                    <a:pt x="17656" y="0"/>
                  </a:moveTo>
                  <a:lnTo>
                    <a:pt x="1403853" y="0"/>
                  </a:lnTo>
                  <a:cubicBezTo>
                    <a:pt x="1408536" y="0"/>
                    <a:pt x="1413027" y="1860"/>
                    <a:pt x="1416338" y="5171"/>
                  </a:cubicBezTo>
                  <a:cubicBezTo>
                    <a:pt x="1419649" y="8483"/>
                    <a:pt x="1421509" y="12973"/>
                    <a:pt x="1421509" y="17656"/>
                  </a:cubicBezTo>
                  <a:lnTo>
                    <a:pt x="1421509" y="348057"/>
                  </a:lnTo>
                  <a:cubicBezTo>
                    <a:pt x="1421509" y="357808"/>
                    <a:pt x="1413604" y="365713"/>
                    <a:pt x="1403853" y="365713"/>
                  </a:cubicBezTo>
                  <a:lnTo>
                    <a:pt x="17656" y="365713"/>
                  </a:lnTo>
                  <a:cubicBezTo>
                    <a:pt x="7905" y="365713"/>
                    <a:pt x="0" y="357808"/>
                    <a:pt x="0" y="348057"/>
                  </a:cubicBezTo>
                  <a:lnTo>
                    <a:pt x="0" y="17656"/>
                  </a:lnTo>
                  <a:cubicBezTo>
                    <a:pt x="0" y="7905"/>
                    <a:pt x="7905" y="0"/>
                    <a:pt x="17656" y="0"/>
                  </a:cubicBezTo>
                  <a:close/>
                </a:path>
              </a:pathLst>
            </a:custGeom>
            <a:solidFill>
              <a:srgbClr val="FFFFFF"/>
            </a:solidFill>
          </p:spPr>
        </p:sp>
        <p:sp>
          <p:nvSpPr>
            <p:cNvPr name="TextBox 17" id="17"/>
            <p:cNvSpPr txBox="true"/>
            <p:nvPr/>
          </p:nvSpPr>
          <p:spPr>
            <a:xfrm>
              <a:off x="0" y="9525"/>
              <a:ext cx="1421509" cy="356188"/>
            </a:xfrm>
            <a:prstGeom prst="rect">
              <a:avLst/>
            </a:prstGeom>
          </p:spPr>
          <p:txBody>
            <a:bodyPr anchor="ctr" rtlCol="false" tIns="50800" lIns="50800" bIns="50800" rIns="50800"/>
            <a:lstStyle/>
            <a:p>
              <a:pPr algn="ctr">
                <a:lnSpc>
                  <a:spcPts val="2921"/>
                </a:lnSpc>
              </a:pPr>
            </a:p>
          </p:txBody>
        </p:sp>
      </p:grpSp>
      <p:grpSp>
        <p:nvGrpSpPr>
          <p:cNvPr name="Group 18" id="18"/>
          <p:cNvGrpSpPr/>
          <p:nvPr/>
        </p:nvGrpSpPr>
        <p:grpSpPr>
          <a:xfrm rot="0">
            <a:off x="8674356" y="3593216"/>
            <a:ext cx="7294828" cy="1396776"/>
            <a:chOff x="0" y="0"/>
            <a:chExt cx="9726437" cy="1862369"/>
          </a:xfrm>
        </p:grpSpPr>
        <p:sp>
          <p:nvSpPr>
            <p:cNvPr name="Freeform 19" id="19"/>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0" id="20"/>
            <p:cNvSpPr txBox="true"/>
            <p:nvPr/>
          </p:nvSpPr>
          <p:spPr>
            <a:xfrm rot="0">
              <a:off x="2544900" y="293139"/>
              <a:ext cx="5114141"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WT (Waiting Time)</a:t>
              </a:r>
            </a:p>
          </p:txBody>
        </p:sp>
        <p:sp>
          <p:nvSpPr>
            <p:cNvPr name="TextBox 21" id="21"/>
            <p:cNvSpPr txBox="true"/>
            <p:nvPr/>
          </p:nvSpPr>
          <p:spPr>
            <a:xfrm rot="0">
              <a:off x="2544900" y="924917"/>
              <a:ext cx="7181537" cy="937452"/>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Tổng thời gian gián đoạn, thụ động giữa các bước, gồm chờ gom hàng, chờ trung chuyển, chờ ký đối soát.</a:t>
              </a:r>
            </a:p>
          </p:txBody>
        </p:sp>
        <p:sp>
          <p:nvSpPr>
            <p:cNvPr name="TextBox 22" id="22"/>
            <p:cNvSpPr txBox="true"/>
            <p:nvPr/>
          </p:nvSpPr>
          <p:spPr>
            <a:xfrm rot="0">
              <a:off x="247190" y="444620"/>
              <a:ext cx="1640879" cy="941379"/>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02</a:t>
              </a:r>
            </a:p>
          </p:txBody>
        </p:sp>
      </p:grpSp>
      <p:grpSp>
        <p:nvGrpSpPr>
          <p:cNvPr name="Group 23" id="23"/>
          <p:cNvGrpSpPr/>
          <p:nvPr/>
        </p:nvGrpSpPr>
        <p:grpSpPr>
          <a:xfrm rot="0">
            <a:off x="8674356" y="1818138"/>
            <a:ext cx="7294828" cy="1387251"/>
            <a:chOff x="0" y="0"/>
            <a:chExt cx="9726437" cy="1849669"/>
          </a:xfrm>
        </p:grpSpPr>
        <p:sp>
          <p:nvSpPr>
            <p:cNvPr name="Freeform 24" id="24"/>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5" id="25"/>
            <p:cNvSpPr txBox="true"/>
            <p:nvPr/>
          </p:nvSpPr>
          <p:spPr>
            <a:xfrm rot="0">
              <a:off x="2544900" y="378656"/>
              <a:ext cx="4224422"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PT (Processing Time)</a:t>
              </a:r>
            </a:p>
          </p:txBody>
        </p:sp>
        <p:sp>
          <p:nvSpPr>
            <p:cNvPr name="TextBox 26" id="26"/>
            <p:cNvSpPr txBox="true"/>
            <p:nvPr/>
          </p:nvSpPr>
          <p:spPr>
            <a:xfrm rot="0">
              <a:off x="2544900" y="991783"/>
              <a:ext cx="7181537" cy="632652"/>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Tổng thời gian thao tác thực tế tạo ra sản phẩm/dịch vụ của các tác nhân trong quy trình.</a:t>
              </a:r>
            </a:p>
          </p:txBody>
        </p:sp>
        <p:sp>
          <p:nvSpPr>
            <p:cNvPr name="TextBox 27" id="27"/>
            <p:cNvSpPr txBox="true"/>
            <p:nvPr/>
          </p:nvSpPr>
          <p:spPr>
            <a:xfrm rot="0">
              <a:off x="289450" y="444620"/>
              <a:ext cx="1556359" cy="941564"/>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01</a:t>
              </a:r>
            </a:p>
          </p:txBody>
        </p:sp>
      </p:grpSp>
      <p:grpSp>
        <p:nvGrpSpPr>
          <p:cNvPr name="Group 28" id="28"/>
          <p:cNvGrpSpPr/>
          <p:nvPr/>
        </p:nvGrpSpPr>
        <p:grpSpPr>
          <a:xfrm rot="0">
            <a:off x="8674356" y="5531083"/>
            <a:ext cx="7550634" cy="1387251"/>
            <a:chOff x="0" y="0"/>
            <a:chExt cx="10067512" cy="1849669"/>
          </a:xfrm>
        </p:grpSpPr>
        <p:sp>
          <p:nvSpPr>
            <p:cNvPr name="Freeform 29" id="29"/>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0" id="30"/>
            <p:cNvSpPr txBox="true"/>
            <p:nvPr/>
          </p:nvSpPr>
          <p:spPr>
            <a:xfrm rot="0">
              <a:off x="2544900" y="383012"/>
              <a:ext cx="6549468"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CT (Cycle Time)</a:t>
              </a:r>
            </a:p>
          </p:txBody>
        </p:sp>
        <p:sp>
          <p:nvSpPr>
            <p:cNvPr name="TextBox 31" id="31"/>
            <p:cNvSpPr txBox="true"/>
            <p:nvPr/>
          </p:nvSpPr>
          <p:spPr>
            <a:xfrm rot="0">
              <a:off x="2544900" y="1067923"/>
              <a:ext cx="7522612" cy="632652"/>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Tổng thời gian từ lúc bắt đầu tạo vận đơn đến khi hoàn tất chuyển trả tiền COD cho người gửi.</a:t>
              </a:r>
            </a:p>
          </p:txBody>
        </p:sp>
        <p:sp>
          <p:nvSpPr>
            <p:cNvPr name="TextBox 32" id="32"/>
            <p:cNvSpPr txBox="true"/>
            <p:nvPr/>
          </p:nvSpPr>
          <p:spPr>
            <a:xfrm rot="0">
              <a:off x="342276" y="469913"/>
              <a:ext cx="1450709" cy="941379"/>
            </a:xfrm>
            <a:prstGeom prst="rect">
              <a:avLst/>
            </a:prstGeom>
          </p:spPr>
          <p:txBody>
            <a:bodyPr anchor="t" rtlCol="false" tIns="0" lIns="0" bIns="0" rIns="0">
              <a:spAutoFit/>
            </a:bodyPr>
            <a:lstStyle/>
            <a:p>
              <a:pPr algn="ctr">
                <a:lnSpc>
                  <a:spcPts val="5308"/>
                </a:lnSpc>
              </a:pPr>
              <a:r>
                <a:rPr lang="en-US" b="true" sz="4656">
                  <a:solidFill>
                    <a:srgbClr val="100643"/>
                  </a:solidFill>
                  <a:latin typeface="Poppins Bold"/>
                  <a:ea typeface="Poppins Bold"/>
                  <a:cs typeface="Poppins Bold"/>
                  <a:sym typeface="Poppins Bold"/>
                </a:rPr>
                <a:t>03</a:t>
              </a:r>
            </a:p>
          </p:txBody>
        </p:sp>
      </p:grpSp>
      <p:grpSp>
        <p:nvGrpSpPr>
          <p:cNvPr name="Group 33" id="33"/>
          <p:cNvGrpSpPr/>
          <p:nvPr/>
        </p:nvGrpSpPr>
        <p:grpSpPr>
          <a:xfrm rot="0">
            <a:off x="8674356" y="7366430"/>
            <a:ext cx="7294828" cy="1387251"/>
            <a:chOff x="0" y="0"/>
            <a:chExt cx="9726437" cy="1849669"/>
          </a:xfrm>
        </p:grpSpPr>
        <p:sp>
          <p:nvSpPr>
            <p:cNvPr name="Freeform 34" id="34"/>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5" id="35"/>
            <p:cNvSpPr txBox="true"/>
            <p:nvPr/>
          </p:nvSpPr>
          <p:spPr>
            <a:xfrm rot="0">
              <a:off x="2544900" y="293139"/>
              <a:ext cx="5114141"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CTE (Cycle Time Efficiency)</a:t>
              </a:r>
            </a:p>
          </p:txBody>
        </p:sp>
        <p:sp>
          <p:nvSpPr>
            <p:cNvPr name="TextBox 36" id="36"/>
            <p:cNvSpPr txBox="true"/>
            <p:nvPr/>
          </p:nvSpPr>
          <p:spPr>
            <a:xfrm rot="0">
              <a:off x="2544900" y="938783"/>
              <a:ext cx="7181537" cy="632652"/>
            </a:xfrm>
            <a:prstGeom prst="rect">
              <a:avLst/>
            </a:prstGeom>
          </p:spPr>
          <p:txBody>
            <a:bodyPr anchor="t" rtlCol="false" tIns="0" lIns="0" bIns="0" rIns="0">
              <a:spAutoFit/>
            </a:bodyPr>
            <a:lstStyle/>
            <a:p>
              <a:pPr algn="just">
                <a:lnSpc>
                  <a:spcPts val="1837"/>
                </a:lnSpc>
              </a:pPr>
              <a:r>
                <a:rPr lang="en-US" sz="1597">
                  <a:solidFill>
                    <a:srgbClr val="100643"/>
                  </a:solidFill>
                  <a:latin typeface="Poppins"/>
                  <a:ea typeface="Poppins"/>
                  <a:cs typeface="Poppins"/>
                  <a:sym typeface="Poppins"/>
                </a:rPr>
                <a:t>Hiệu suất chu kỳ, tính theo tỷ lệ phần trăm thời gian thực sự tạo ra giá trị xử lý: CTE = (PT / CT) × 100%.</a:t>
              </a:r>
            </a:p>
          </p:txBody>
        </p:sp>
        <p:sp>
          <p:nvSpPr>
            <p:cNvPr name="TextBox 37" id="37"/>
            <p:cNvSpPr txBox="true"/>
            <p:nvPr/>
          </p:nvSpPr>
          <p:spPr>
            <a:xfrm rot="0">
              <a:off x="247190" y="444620"/>
              <a:ext cx="1640879" cy="941564"/>
            </a:xfrm>
            <a:prstGeom prst="rect">
              <a:avLst/>
            </a:prstGeom>
          </p:spPr>
          <p:txBody>
            <a:bodyPr anchor="t" rtlCol="false" tIns="0" lIns="0" bIns="0" rIns="0">
              <a:spAutoFit/>
            </a:bodyPr>
            <a:lstStyle/>
            <a:p>
              <a:pPr algn="ctr">
                <a:lnSpc>
                  <a:spcPts val="5308"/>
                </a:lnSpc>
              </a:pPr>
              <a:r>
                <a:rPr lang="en-US" b="true" sz="4656">
                  <a:solidFill>
                    <a:srgbClr val="FFFFFF"/>
                  </a:solidFill>
                  <a:latin typeface="Poppins Bold"/>
                  <a:ea typeface="Poppins Bold"/>
                  <a:cs typeface="Poppins Bold"/>
                  <a:sym typeface="Poppins Bold"/>
                </a:rPr>
                <a:t>04</a:t>
              </a:r>
            </a:p>
          </p:txBody>
        </p:sp>
      </p:grpSp>
      <p:sp>
        <p:nvSpPr>
          <p:cNvPr name="TextBox 38" id="38"/>
          <p:cNvSpPr txBox="true"/>
          <p:nvPr/>
        </p:nvSpPr>
        <p:spPr>
          <a:xfrm rot="0">
            <a:off x="1521265"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39" id="39"/>
          <p:cNvSpPr txBox="true"/>
          <p:nvPr/>
        </p:nvSpPr>
        <p:spPr>
          <a:xfrm rot="0">
            <a:off x="1521265"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40" id="40"/>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46</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374860" y="1528616"/>
            <a:ext cx="13084230" cy="7359879"/>
          </a:xfrm>
          <a:custGeom>
            <a:avLst/>
            <a:gdLst/>
            <a:ahLst/>
            <a:cxnLst/>
            <a:rect r="r" b="b" t="t" l="l"/>
            <a:pathLst>
              <a:path h="7359879" w="13084230">
                <a:moveTo>
                  <a:pt x="0" y="0"/>
                </a:moveTo>
                <a:lnTo>
                  <a:pt x="13084231" y="0"/>
                </a:lnTo>
                <a:lnTo>
                  <a:pt x="13084231" y="7359879"/>
                </a:lnTo>
                <a:lnTo>
                  <a:pt x="0" y="7359879"/>
                </a:lnTo>
                <a:lnTo>
                  <a:pt x="0" y="0"/>
                </a:lnTo>
                <a:close/>
              </a:path>
            </a:pathLst>
          </a:custGeom>
          <a:blipFill>
            <a:blip r:embed="rId14"/>
            <a:stretch>
              <a:fillRect l="0" t="0" r="0" b="0"/>
            </a:stretch>
          </a:blipFill>
        </p:spPr>
      </p:sp>
      <p:sp>
        <p:nvSpPr>
          <p:cNvPr name="TextBox 11" id="11"/>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2" id="12"/>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3" id="13"/>
          <p:cNvSpPr txBox="true"/>
          <p:nvPr/>
        </p:nvSpPr>
        <p:spPr>
          <a:xfrm rot="0">
            <a:off x="8568397" y="45919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Phân tích thời gian</a:t>
            </a:r>
          </a:p>
        </p:txBody>
      </p:sp>
      <p:sp>
        <p:nvSpPr>
          <p:cNvPr name="TextBox 14" id="14"/>
          <p:cNvSpPr txBox="true"/>
          <p:nvPr/>
        </p:nvSpPr>
        <p:spPr>
          <a:xfrm rot="0">
            <a:off x="1430516" y="500961"/>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5" id="15"/>
          <p:cNvSpPr txBox="true"/>
          <p:nvPr/>
        </p:nvSpPr>
        <p:spPr>
          <a:xfrm rot="0">
            <a:off x="1430516" y="81794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48</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4398555" y="2515382"/>
            <a:ext cx="13708378" cy="5563317"/>
          </a:xfrm>
          <a:custGeom>
            <a:avLst/>
            <a:gdLst/>
            <a:ahLst/>
            <a:cxnLst/>
            <a:rect r="r" b="b" t="t" l="l"/>
            <a:pathLst>
              <a:path h="5563317" w="13708378">
                <a:moveTo>
                  <a:pt x="0" y="0"/>
                </a:moveTo>
                <a:lnTo>
                  <a:pt x="13708378" y="0"/>
                </a:lnTo>
                <a:lnTo>
                  <a:pt x="13708378" y="5563317"/>
                </a:lnTo>
                <a:lnTo>
                  <a:pt x="0" y="5563317"/>
                </a:lnTo>
                <a:lnTo>
                  <a:pt x="0" y="0"/>
                </a:lnTo>
                <a:close/>
              </a:path>
            </a:pathLst>
          </a:custGeom>
          <a:blipFill>
            <a:blip r:embed="rId14"/>
            <a:stretch>
              <a:fillRect l="0" t="0" r="0" b="0"/>
            </a:stretch>
          </a:blipFill>
        </p:spPr>
      </p:sp>
      <p:sp>
        <p:nvSpPr>
          <p:cNvPr name="TextBox 11" id="11"/>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2" id="12"/>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3" id="13"/>
          <p:cNvSpPr txBox="true"/>
          <p:nvPr/>
        </p:nvSpPr>
        <p:spPr>
          <a:xfrm rot="0">
            <a:off x="11119844" y="603885"/>
            <a:ext cx="4315154" cy="424815"/>
          </a:xfrm>
          <a:prstGeom prst="rect">
            <a:avLst/>
          </a:prstGeom>
        </p:spPr>
        <p:txBody>
          <a:bodyPr anchor="t" rtlCol="false" tIns="0" lIns="0" bIns="0" rIns="0">
            <a:spAutoFit/>
          </a:bodyPr>
          <a:lstStyle/>
          <a:p>
            <a:pPr algn="l">
              <a:lnSpc>
                <a:spcPts val="3359"/>
              </a:lnSpc>
            </a:pPr>
            <a:r>
              <a:rPr lang="en-US" sz="2400" b="true">
                <a:solidFill>
                  <a:srgbClr val="100643"/>
                </a:solidFill>
                <a:latin typeface="Poppins Bold"/>
                <a:ea typeface="Poppins Bold"/>
                <a:cs typeface="Poppins Bold"/>
                <a:sym typeface="Poppins Bold"/>
              </a:rPr>
              <a:t>Bảng phân tích thời gian</a:t>
            </a:r>
          </a:p>
        </p:txBody>
      </p:sp>
      <p:sp>
        <p:nvSpPr>
          <p:cNvPr name="TextBox 14" id="14"/>
          <p:cNvSpPr txBox="true"/>
          <p:nvPr/>
        </p:nvSpPr>
        <p:spPr>
          <a:xfrm rot="0">
            <a:off x="1430516" y="49962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15" id="15"/>
          <p:cNvSpPr txBox="true"/>
          <p:nvPr/>
        </p:nvSpPr>
        <p:spPr>
          <a:xfrm rot="0">
            <a:off x="1430516" y="816613"/>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16" id="16"/>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47</a:t>
            </a:r>
          </a:p>
        </p:txBody>
      </p:sp>
      <p:sp>
        <p:nvSpPr>
          <p:cNvPr name="TextBox 17" id="17"/>
          <p:cNvSpPr txBox="true"/>
          <p:nvPr/>
        </p:nvSpPr>
        <p:spPr>
          <a:xfrm rot="0">
            <a:off x="4398555" y="1625674"/>
            <a:ext cx="10484040" cy="264159"/>
          </a:xfrm>
          <a:prstGeom prst="rect">
            <a:avLst/>
          </a:prstGeom>
        </p:spPr>
        <p:txBody>
          <a:bodyPr anchor="t" rtlCol="false" tIns="0" lIns="0" bIns="0" rIns="0">
            <a:spAutoFit/>
          </a:bodyPr>
          <a:lstStyle/>
          <a:p>
            <a:pPr algn="l">
              <a:lnSpc>
                <a:spcPts val="2240"/>
              </a:lnSpc>
            </a:pPr>
            <a:r>
              <a:rPr lang="en-US" sz="1600">
                <a:solidFill>
                  <a:srgbClr val="000000"/>
                </a:solidFill>
                <a:latin typeface="Noto Sans"/>
                <a:ea typeface="Noto Sans"/>
                <a:cs typeface="Noto Sans"/>
                <a:sym typeface="Noto Sans"/>
              </a:rPr>
              <a:t>Tổng P</a:t>
            </a:r>
            <a:r>
              <a:rPr lang="en-US" sz="1600">
                <a:solidFill>
                  <a:srgbClr val="000000"/>
                </a:solidFill>
                <a:latin typeface="Noto Sans"/>
                <a:ea typeface="Noto Sans"/>
                <a:cs typeface="Noto Sans"/>
                <a:sym typeface="Noto Sans"/>
              </a:rPr>
              <a:t>T = 52 + ( 0,95×( 22 + 0,92×( 26,6 + (0,95×5 + 0,05×4) + 7 ) + 0,08×2 ) + 0,05×0 ) ≈ 106,74 phút ≈ 1,78 giờ</a:t>
            </a:r>
          </a:p>
        </p:txBody>
      </p:sp>
      <p:sp>
        <p:nvSpPr>
          <p:cNvPr name="TextBox 18" id="18"/>
          <p:cNvSpPr txBox="true"/>
          <p:nvPr/>
        </p:nvSpPr>
        <p:spPr>
          <a:xfrm rot="0">
            <a:off x="154168" y="2612844"/>
            <a:ext cx="4244387" cy="1092834"/>
          </a:xfrm>
          <a:prstGeom prst="rect">
            <a:avLst/>
          </a:prstGeom>
        </p:spPr>
        <p:txBody>
          <a:bodyPr anchor="t" rtlCol="false" tIns="0" lIns="0" bIns="0" rIns="0">
            <a:spAutoFit/>
          </a:bodyPr>
          <a:lstStyle/>
          <a:p>
            <a:pPr algn="l">
              <a:lnSpc>
                <a:spcPts val="2240"/>
              </a:lnSpc>
            </a:pPr>
            <a:r>
              <a:rPr lang="en-US" sz="1600">
                <a:solidFill>
                  <a:srgbClr val="000000"/>
                </a:solidFill>
                <a:latin typeface="Noto Sans"/>
                <a:ea typeface="Noto Sans"/>
                <a:cs typeface="Noto Sans"/>
                <a:sym typeface="Noto Sans"/>
              </a:rPr>
              <a:t>Tổng W</a:t>
            </a:r>
            <a:r>
              <a:rPr lang="en-US" sz="1600">
                <a:solidFill>
                  <a:srgbClr val="000000"/>
                </a:solidFill>
                <a:latin typeface="Noto Sans"/>
                <a:ea typeface="Noto Sans"/>
                <a:cs typeface="Noto Sans"/>
                <a:sym typeface="Noto Sans"/>
              </a:rPr>
              <a:t>T = 39 + ( 0,95×( 0,92×( 24 + (0,95×24 + 0,05×72) + 24 ) + 0,08×48 ) + 0,05×48 )</a:t>
            </a:r>
          </a:p>
          <a:p>
            <a:pPr algn="l">
              <a:lnSpc>
                <a:spcPts val="2240"/>
              </a:lnSpc>
            </a:pPr>
            <a:r>
              <a:rPr lang="en-US" sz="1600">
                <a:solidFill>
                  <a:srgbClr val="000000"/>
                </a:solidFill>
                <a:latin typeface="Noto Sans"/>
                <a:ea typeface="Noto Sans"/>
                <a:cs typeface="Noto Sans"/>
                <a:sym typeface="Noto Sans"/>
              </a:rPr>
              <a:t> ≈ 110,07 giờ</a:t>
            </a:r>
          </a:p>
          <a:p>
            <a:pPr algn="l">
              <a:lnSpc>
                <a:spcPts val="2240"/>
              </a:lnSpc>
            </a:pPr>
          </a:p>
        </p:txBody>
      </p:sp>
      <p:sp>
        <p:nvSpPr>
          <p:cNvPr name="TextBox 19" id="19"/>
          <p:cNvSpPr txBox="true"/>
          <p:nvPr/>
        </p:nvSpPr>
        <p:spPr>
          <a:xfrm rot="0">
            <a:off x="154168" y="3819672"/>
            <a:ext cx="4090218" cy="816609"/>
          </a:xfrm>
          <a:prstGeom prst="rect">
            <a:avLst/>
          </a:prstGeom>
        </p:spPr>
        <p:txBody>
          <a:bodyPr anchor="t" rtlCol="false" tIns="0" lIns="0" bIns="0" rIns="0">
            <a:spAutoFit/>
          </a:bodyPr>
          <a:lstStyle/>
          <a:p>
            <a:pPr algn="l">
              <a:lnSpc>
                <a:spcPts val="2240"/>
              </a:lnSpc>
            </a:pPr>
            <a:r>
              <a:rPr lang="en-US" sz="1600">
                <a:solidFill>
                  <a:srgbClr val="000000"/>
                </a:solidFill>
                <a:latin typeface="Noto Sans"/>
                <a:ea typeface="Noto Sans"/>
                <a:cs typeface="Noto Sans"/>
                <a:sym typeface="Noto Sans"/>
              </a:rPr>
              <a:t>C</a:t>
            </a:r>
            <a:r>
              <a:rPr lang="en-US" sz="1600">
                <a:solidFill>
                  <a:srgbClr val="000000"/>
                </a:solidFill>
                <a:latin typeface="Noto Sans"/>
                <a:ea typeface="Noto Sans"/>
                <a:cs typeface="Noto Sans"/>
                <a:sym typeface="Noto Sans"/>
              </a:rPr>
              <a:t>TE = PT/CT × 100% = 1,78 / 111,85 × 100%</a:t>
            </a:r>
          </a:p>
          <a:p>
            <a:pPr algn="l">
              <a:lnSpc>
                <a:spcPts val="2240"/>
              </a:lnSpc>
            </a:pPr>
            <a:r>
              <a:rPr lang="en-US" sz="1600">
                <a:solidFill>
                  <a:srgbClr val="000000"/>
                </a:solidFill>
                <a:latin typeface="Noto Sans"/>
                <a:ea typeface="Noto Sans"/>
                <a:cs typeface="Noto Sans"/>
                <a:sym typeface="Noto Sans"/>
              </a:rPr>
              <a:t> ≈ 1,59%</a:t>
            </a:r>
          </a:p>
          <a:p>
            <a:pPr algn="l">
              <a:lnSpc>
                <a:spcPts val="2240"/>
              </a:lnSpc>
            </a:pPr>
          </a:p>
        </p:txBody>
      </p:sp>
      <p:sp>
        <p:nvSpPr>
          <p:cNvPr name="TextBox 20" id="20"/>
          <p:cNvSpPr txBox="true"/>
          <p:nvPr/>
        </p:nvSpPr>
        <p:spPr>
          <a:xfrm rot="0">
            <a:off x="4398555" y="2031524"/>
            <a:ext cx="7965107" cy="264159"/>
          </a:xfrm>
          <a:prstGeom prst="rect">
            <a:avLst/>
          </a:prstGeom>
        </p:spPr>
        <p:txBody>
          <a:bodyPr anchor="t" rtlCol="false" tIns="0" lIns="0" bIns="0" rIns="0">
            <a:spAutoFit/>
          </a:bodyPr>
          <a:lstStyle/>
          <a:p>
            <a:pPr algn="l">
              <a:lnSpc>
                <a:spcPts val="2240"/>
              </a:lnSpc>
            </a:pPr>
            <a:r>
              <a:rPr lang="en-US" sz="1600">
                <a:solidFill>
                  <a:srgbClr val="000000"/>
                </a:solidFill>
                <a:latin typeface="Noto Sans"/>
                <a:ea typeface="Noto Sans"/>
                <a:cs typeface="Noto Sans"/>
                <a:sym typeface="Noto Sans"/>
              </a:rPr>
              <a:t>C</a:t>
            </a:r>
            <a:r>
              <a:rPr lang="en-US" sz="1600">
                <a:solidFill>
                  <a:srgbClr val="000000"/>
                </a:solidFill>
                <a:latin typeface="Noto Sans"/>
                <a:ea typeface="Noto Sans"/>
                <a:cs typeface="Noto Sans"/>
                <a:sym typeface="Noto Sans"/>
              </a:rPr>
              <a:t>T = PT + WT = 1,78 + 110,07 = 111,85 giờ ≈ 4,66 ngày</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1" id="11"/>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960623" y="1952570"/>
            <a:ext cx="11409986" cy="370713"/>
          </a:xfrm>
          <a:prstGeom prst="rect">
            <a:avLst/>
          </a:prstGeom>
        </p:spPr>
        <p:txBody>
          <a:bodyPr anchor="t" rtlCol="false" tIns="0" lIns="0" bIns="0" rIns="0">
            <a:spAutoFit/>
          </a:bodyPr>
          <a:lstStyle/>
          <a:p>
            <a:pPr algn="l">
              <a:lnSpc>
                <a:spcPts val="2736"/>
              </a:lnSpc>
              <a:spcBef>
                <a:spcPct val="0"/>
              </a:spcBef>
            </a:pPr>
            <a:r>
              <a:rPr lang="en-US" b="true" sz="2400">
                <a:solidFill>
                  <a:srgbClr val="000000"/>
                </a:solidFill>
                <a:latin typeface="Poppins Bold"/>
                <a:ea typeface="Poppins Bold"/>
                <a:cs typeface="Poppins Bold"/>
                <a:sym typeface="Poppins Bold"/>
              </a:rPr>
              <a:t>Tỷ lệ xử lý đúng ngay lần đầu (FTR)</a:t>
            </a:r>
          </a:p>
        </p:txBody>
      </p:sp>
      <p:grpSp>
        <p:nvGrpSpPr>
          <p:cNvPr name="Group 13" id="13"/>
          <p:cNvGrpSpPr/>
          <p:nvPr/>
        </p:nvGrpSpPr>
        <p:grpSpPr>
          <a:xfrm rot="0">
            <a:off x="960623" y="2489868"/>
            <a:ext cx="11074829" cy="4828121"/>
            <a:chOff x="0" y="0"/>
            <a:chExt cx="14766438" cy="6437495"/>
          </a:xfrm>
        </p:grpSpPr>
        <p:sp>
          <p:nvSpPr>
            <p:cNvPr name="TextBox 14" id="14"/>
            <p:cNvSpPr txBox="true"/>
            <p:nvPr/>
          </p:nvSpPr>
          <p:spPr>
            <a:xfrm rot="0">
              <a:off x="0" y="4965037"/>
              <a:ext cx="7546218" cy="870077"/>
            </a:xfrm>
            <a:prstGeom prst="rect">
              <a:avLst/>
            </a:prstGeom>
          </p:spPr>
          <p:txBody>
            <a:bodyPr anchor="t" rtlCol="false" tIns="0" lIns="0" bIns="0" rIns="0">
              <a:spAutoFit/>
            </a:bodyPr>
            <a:lstStyle/>
            <a:p>
              <a:pPr algn="l">
                <a:lnSpc>
                  <a:spcPts val="2507"/>
                </a:lnSpc>
                <a:spcBef>
                  <a:spcPct val="0"/>
                </a:spcBef>
              </a:pPr>
              <a:r>
                <a:rPr lang="en-US" sz="2199">
                  <a:solidFill>
                    <a:srgbClr val="000000"/>
                  </a:solidFill>
                  <a:latin typeface="Poppins"/>
                  <a:ea typeface="Poppins"/>
                  <a:cs typeface="Poppins"/>
                  <a:sym typeface="Poppins"/>
                </a:rPr>
                <a:t>20–50 khiếu nại/tuần × &gt;72 giờ/khiếu nại = 1.440–3.600 giờ-người/tuần</a:t>
              </a:r>
            </a:p>
          </p:txBody>
        </p:sp>
        <p:sp>
          <p:nvSpPr>
            <p:cNvPr name="TextBox 15" id="15"/>
            <p:cNvSpPr txBox="true"/>
            <p:nvPr/>
          </p:nvSpPr>
          <p:spPr>
            <a:xfrm rot="0">
              <a:off x="0" y="4362656"/>
              <a:ext cx="13742996" cy="450977"/>
            </a:xfrm>
            <a:prstGeom prst="rect">
              <a:avLst/>
            </a:prstGeom>
          </p:spPr>
          <p:txBody>
            <a:bodyPr anchor="t" rtlCol="false" tIns="0" lIns="0" bIns="0" rIns="0">
              <a:spAutoFit/>
            </a:bodyPr>
            <a:lstStyle/>
            <a:p>
              <a:pPr algn="l">
                <a:lnSpc>
                  <a:spcPts val="2507"/>
                </a:lnSpc>
                <a:spcBef>
                  <a:spcPct val="0"/>
                </a:spcBef>
              </a:pPr>
              <a:r>
                <a:rPr lang="en-US" sz="2199">
                  <a:solidFill>
                    <a:srgbClr val="000000"/>
                  </a:solidFill>
                  <a:latin typeface="Poppins"/>
                  <a:ea typeface="Poppins"/>
                  <a:cs typeface="Poppins"/>
                  <a:sym typeface="Poppins"/>
                </a:rPr>
                <a:t>Khiếu nại</a:t>
              </a:r>
            </a:p>
          </p:txBody>
        </p:sp>
        <p:sp>
          <p:nvSpPr>
            <p:cNvPr name="TextBox 16" id="16"/>
            <p:cNvSpPr txBox="true"/>
            <p:nvPr/>
          </p:nvSpPr>
          <p:spPr>
            <a:xfrm rot="0">
              <a:off x="0" y="5986518"/>
              <a:ext cx="13226036" cy="450977"/>
            </a:xfrm>
            <a:prstGeom prst="rect">
              <a:avLst/>
            </a:prstGeom>
          </p:spPr>
          <p:txBody>
            <a:bodyPr anchor="t" rtlCol="false" tIns="0" lIns="0" bIns="0" rIns="0">
              <a:spAutoFit/>
            </a:bodyPr>
            <a:lstStyle/>
            <a:p>
              <a:pPr algn="l">
                <a:lnSpc>
                  <a:spcPts val="2507"/>
                </a:lnSpc>
                <a:spcBef>
                  <a:spcPct val="0"/>
                </a:spcBef>
              </a:pPr>
              <a:r>
                <a:rPr lang="en-US" sz="2199" i="true">
                  <a:solidFill>
                    <a:srgbClr val="000000"/>
                  </a:solidFill>
                  <a:latin typeface="Poppins Italics"/>
                  <a:ea typeface="Poppins Italics"/>
                  <a:cs typeface="Poppins Italics"/>
                  <a:sym typeface="Poppins Italics"/>
                </a:rPr>
                <a:t>=&gt; Khâu xử lý</a:t>
              </a:r>
              <a:r>
                <a:rPr lang="en-US" sz="2199" i="true">
                  <a:solidFill>
                    <a:srgbClr val="000000"/>
                  </a:solidFill>
                  <a:latin typeface="Poppins Italics"/>
                  <a:ea typeface="Poppins Italics"/>
                  <a:cs typeface="Poppins Italics"/>
                  <a:sym typeface="Poppins Italics"/>
                </a:rPr>
                <a:t> khiếu nại là điểm chất lượng cần ưu tiên cải thiện</a:t>
              </a:r>
            </a:p>
          </p:txBody>
        </p:sp>
        <p:sp>
          <p:nvSpPr>
            <p:cNvPr name="TextBox 17" id="17"/>
            <p:cNvSpPr txBox="true"/>
            <p:nvPr/>
          </p:nvSpPr>
          <p:spPr>
            <a:xfrm rot="0">
              <a:off x="0" y="-9525"/>
              <a:ext cx="14766438" cy="870077"/>
            </a:xfrm>
            <a:prstGeom prst="rect">
              <a:avLst/>
            </a:prstGeom>
          </p:spPr>
          <p:txBody>
            <a:bodyPr anchor="t" rtlCol="false" tIns="0" lIns="0" bIns="0" rIns="0">
              <a:spAutoFit/>
            </a:bodyPr>
            <a:lstStyle/>
            <a:p>
              <a:pPr algn="l">
                <a:lnSpc>
                  <a:spcPts val="2507"/>
                </a:lnSpc>
                <a:spcBef>
                  <a:spcPct val="0"/>
                </a:spcBef>
              </a:pPr>
              <a:r>
                <a:rPr lang="en-US" sz="2199">
                  <a:solidFill>
                    <a:srgbClr val="000000"/>
                  </a:solidFill>
                  <a:latin typeface="Poppins"/>
                  <a:ea typeface="Poppins"/>
                  <a:cs typeface="Poppins"/>
                  <a:sym typeface="Poppins"/>
                </a:rPr>
                <a:t>FTR = Tỷ lệ liên hệ được × Tỷ lệ giao hàng thành công × Tỷ lệ đối soát chính xác  = 95% × 92% × 95% = 83,03%</a:t>
              </a:r>
            </a:p>
          </p:txBody>
        </p:sp>
        <p:sp>
          <p:nvSpPr>
            <p:cNvPr name="TextBox 18" id="18"/>
            <p:cNvSpPr txBox="true"/>
            <p:nvPr/>
          </p:nvSpPr>
          <p:spPr>
            <a:xfrm rot="0">
              <a:off x="0" y="965327"/>
              <a:ext cx="13226036" cy="450977"/>
            </a:xfrm>
            <a:prstGeom prst="rect">
              <a:avLst/>
            </a:prstGeom>
          </p:spPr>
          <p:txBody>
            <a:bodyPr anchor="t" rtlCol="false" tIns="0" lIns="0" bIns="0" rIns="0">
              <a:spAutoFit/>
            </a:bodyPr>
            <a:lstStyle/>
            <a:p>
              <a:pPr algn="l">
                <a:lnSpc>
                  <a:spcPts val="2507"/>
                </a:lnSpc>
                <a:spcBef>
                  <a:spcPct val="0"/>
                </a:spcBef>
              </a:pPr>
              <a:r>
                <a:rPr lang="en-US" sz="2199" i="true">
                  <a:solidFill>
                    <a:srgbClr val="000000"/>
                  </a:solidFill>
                  <a:latin typeface="Poppins Italics"/>
                  <a:ea typeface="Poppins Italics"/>
                  <a:cs typeface="Poppins Italics"/>
                  <a:sym typeface="Poppins Italics"/>
                </a:rPr>
                <a:t>=&gt; 83,03% đơn hàng được xử lý</a:t>
              </a:r>
              <a:r>
                <a:rPr lang="en-US" sz="2199" i="true">
                  <a:solidFill>
                    <a:srgbClr val="000000"/>
                  </a:solidFill>
                  <a:latin typeface="Poppins Italics"/>
                  <a:ea typeface="Poppins Italics"/>
                  <a:cs typeface="Poppins Italics"/>
                  <a:sym typeface="Poppins Italics"/>
                </a:rPr>
                <a:t> đúng ngay lần đầu</a:t>
              </a:r>
            </a:p>
          </p:txBody>
        </p:sp>
        <p:sp>
          <p:nvSpPr>
            <p:cNvPr name="TextBox 19" id="19"/>
            <p:cNvSpPr txBox="true"/>
            <p:nvPr/>
          </p:nvSpPr>
          <p:spPr>
            <a:xfrm rot="0">
              <a:off x="0" y="1546926"/>
              <a:ext cx="13226036" cy="450977"/>
            </a:xfrm>
            <a:prstGeom prst="rect">
              <a:avLst/>
            </a:prstGeom>
          </p:spPr>
          <p:txBody>
            <a:bodyPr anchor="t" rtlCol="false" tIns="0" lIns="0" bIns="0" rIns="0">
              <a:spAutoFit/>
            </a:bodyPr>
            <a:lstStyle/>
            <a:p>
              <a:pPr algn="l">
                <a:lnSpc>
                  <a:spcPts val="2507"/>
                </a:lnSpc>
                <a:spcBef>
                  <a:spcPct val="0"/>
                </a:spcBef>
              </a:pPr>
              <a:r>
                <a:rPr lang="en-US" sz="2199" i="true">
                  <a:solidFill>
                    <a:srgbClr val="000000"/>
                  </a:solidFill>
                  <a:latin typeface="Poppins Italics"/>
                  <a:ea typeface="Poppins Italics"/>
                  <a:cs typeface="Poppins Italics"/>
                  <a:sym typeface="Poppins Italics"/>
                </a:rPr>
                <a:t>=&gt; ~17% đơn hàng rơi vào nhá</a:t>
              </a:r>
              <a:r>
                <a:rPr lang="en-US" sz="2199" i="true">
                  <a:solidFill>
                    <a:srgbClr val="000000"/>
                  </a:solidFill>
                  <a:latin typeface="Poppins Italics"/>
                  <a:ea typeface="Poppins Italics"/>
                  <a:cs typeface="Poppins Italics"/>
                  <a:sym typeface="Poppins Italics"/>
                </a:rPr>
                <a:t>nh ngoại lệ.</a:t>
              </a:r>
            </a:p>
          </p:txBody>
        </p:sp>
        <p:sp>
          <p:nvSpPr>
            <p:cNvPr name="TextBox 20" id="20"/>
            <p:cNvSpPr txBox="true"/>
            <p:nvPr/>
          </p:nvSpPr>
          <p:spPr>
            <a:xfrm rot="0">
              <a:off x="0" y="2470037"/>
              <a:ext cx="4111203" cy="870077"/>
            </a:xfrm>
            <a:prstGeom prst="rect">
              <a:avLst/>
            </a:prstGeom>
          </p:spPr>
          <p:txBody>
            <a:bodyPr anchor="t" rtlCol="false" tIns="0" lIns="0" bIns="0" rIns="0">
              <a:spAutoFit/>
            </a:bodyPr>
            <a:lstStyle/>
            <a:p>
              <a:pPr algn="l">
                <a:lnSpc>
                  <a:spcPts val="2507"/>
                </a:lnSpc>
                <a:spcBef>
                  <a:spcPct val="0"/>
                </a:spcBef>
              </a:pPr>
              <a:r>
                <a:rPr lang="en-US" sz="2199">
                  <a:solidFill>
                    <a:srgbClr val="000000"/>
                  </a:solidFill>
                  <a:latin typeface="Poppins"/>
                  <a:ea typeface="Poppins"/>
                  <a:cs typeface="Poppins"/>
                  <a:sym typeface="Poppins"/>
                </a:rPr>
                <a:t>Tỷ lệ sai lệch đối soát = 100% − 95% = 5%</a:t>
              </a:r>
            </a:p>
          </p:txBody>
        </p:sp>
        <p:sp>
          <p:nvSpPr>
            <p:cNvPr name="TextBox 21" id="21"/>
            <p:cNvSpPr txBox="true"/>
            <p:nvPr/>
          </p:nvSpPr>
          <p:spPr>
            <a:xfrm rot="0">
              <a:off x="0" y="3439544"/>
              <a:ext cx="13226036" cy="450977"/>
            </a:xfrm>
            <a:prstGeom prst="rect">
              <a:avLst/>
            </a:prstGeom>
          </p:spPr>
          <p:txBody>
            <a:bodyPr anchor="t" rtlCol="false" tIns="0" lIns="0" bIns="0" rIns="0">
              <a:spAutoFit/>
            </a:bodyPr>
            <a:lstStyle/>
            <a:p>
              <a:pPr algn="l">
                <a:lnSpc>
                  <a:spcPts val="2507"/>
                </a:lnSpc>
                <a:spcBef>
                  <a:spcPct val="0"/>
                </a:spcBef>
              </a:pPr>
              <a:r>
                <a:rPr lang="en-US" sz="2199" i="true">
                  <a:solidFill>
                    <a:srgbClr val="000000"/>
                  </a:solidFill>
                  <a:latin typeface="Poppins Italics"/>
                  <a:ea typeface="Poppins Italics"/>
                  <a:cs typeface="Poppins Italics"/>
                  <a:sym typeface="Poppins Italics"/>
                </a:rPr>
                <a:t>=&gt; Khoảng 5% đơn hàng phát si</a:t>
              </a:r>
              <a:r>
                <a:rPr lang="en-US" sz="2199" i="true">
                  <a:solidFill>
                    <a:srgbClr val="000000"/>
                  </a:solidFill>
                  <a:latin typeface="Poppins Italics"/>
                  <a:ea typeface="Poppins Italics"/>
                  <a:cs typeface="Poppins Italics"/>
                  <a:sym typeface="Poppins Italics"/>
                </a:rPr>
                <a:t>nh vấn đề cần xử lý đối soát. </a:t>
              </a:r>
            </a:p>
          </p:txBody>
        </p:sp>
      </p:grpSp>
      <p:sp>
        <p:nvSpPr>
          <p:cNvPr name="TextBox 22" id="22"/>
          <p:cNvSpPr txBox="true"/>
          <p:nvPr/>
        </p:nvSpPr>
        <p:spPr>
          <a:xfrm rot="0">
            <a:off x="7935444" y="1006733"/>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ĐO LƯỜNG, KẾT QUẢ VÀ ĐỀ XUẤT CẢI TIẾN</a:t>
            </a:r>
          </a:p>
        </p:txBody>
      </p:sp>
      <p:sp>
        <p:nvSpPr>
          <p:cNvPr name="TextBox 23" id="23"/>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24" id="24"/>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25" id="2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49</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0" id="10"/>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11" id="11"/>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2" id="12"/>
          <p:cNvSpPr txBox="true"/>
          <p:nvPr/>
        </p:nvSpPr>
        <p:spPr>
          <a:xfrm rot="0">
            <a:off x="8675636" y="551973"/>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Phân tích chi phí</a:t>
            </a:r>
          </a:p>
        </p:txBody>
      </p:sp>
      <p:grpSp>
        <p:nvGrpSpPr>
          <p:cNvPr name="Group 13" id="13"/>
          <p:cNvGrpSpPr/>
          <p:nvPr/>
        </p:nvGrpSpPr>
        <p:grpSpPr>
          <a:xfrm rot="0">
            <a:off x="1034913" y="2121272"/>
            <a:ext cx="11409986" cy="768658"/>
            <a:chOff x="0" y="0"/>
            <a:chExt cx="15213315" cy="1024877"/>
          </a:xfrm>
        </p:grpSpPr>
        <p:sp>
          <p:nvSpPr>
            <p:cNvPr name="TextBox 14" id="14"/>
            <p:cNvSpPr txBox="true"/>
            <p:nvPr/>
          </p:nvSpPr>
          <p:spPr>
            <a:xfrm rot="0">
              <a:off x="0" y="-9525"/>
              <a:ext cx="15213315" cy="450977"/>
            </a:xfrm>
            <a:prstGeom prst="rect">
              <a:avLst/>
            </a:prstGeom>
          </p:spPr>
          <p:txBody>
            <a:bodyPr anchor="t" rtlCol="false" tIns="0" lIns="0" bIns="0" rIns="0">
              <a:spAutoFit/>
            </a:bodyPr>
            <a:lstStyle/>
            <a:p>
              <a:pPr algn="l">
                <a:lnSpc>
                  <a:spcPts val="2508"/>
                </a:lnSpc>
                <a:spcBef>
                  <a:spcPct val="0"/>
                </a:spcBef>
              </a:pPr>
              <a:r>
                <a:rPr lang="en-US" b="true" sz="2200">
                  <a:solidFill>
                    <a:srgbClr val="000000"/>
                  </a:solidFill>
                  <a:latin typeface="Poppins Bold"/>
                  <a:ea typeface="Poppins Bold"/>
                  <a:cs typeface="Poppins Bold"/>
                  <a:sym typeface="Poppins Bold"/>
                </a:rPr>
                <a:t>1.Chi phí nhân công</a:t>
              </a:r>
            </a:p>
          </p:txBody>
        </p:sp>
        <p:sp>
          <p:nvSpPr>
            <p:cNvPr name="TextBox 15" id="15"/>
            <p:cNvSpPr txBox="true"/>
            <p:nvPr/>
          </p:nvSpPr>
          <p:spPr>
            <a:xfrm rot="0">
              <a:off x="0" y="614032"/>
              <a:ext cx="15213315" cy="410845"/>
            </a:xfrm>
            <a:prstGeom prst="rect">
              <a:avLst/>
            </a:prstGeom>
          </p:spPr>
          <p:txBody>
            <a:bodyPr anchor="t" rtlCol="false" tIns="0" lIns="0" bIns="0" rIns="0">
              <a:spAutoFit/>
            </a:bodyPr>
            <a:lstStyle/>
            <a:p>
              <a:pPr algn="l">
                <a:lnSpc>
                  <a:spcPts val="2280"/>
                </a:lnSpc>
                <a:spcBef>
                  <a:spcPct val="0"/>
                </a:spcBef>
              </a:pPr>
              <a:r>
                <a:rPr lang="en-US" sz="2000">
                  <a:solidFill>
                    <a:srgbClr val="000000"/>
                  </a:solidFill>
                  <a:latin typeface="Poppins"/>
                  <a:ea typeface="Poppins"/>
                  <a:cs typeface="Poppins"/>
                  <a:sym typeface="Poppins"/>
                </a:rPr>
                <a:t>= (112,6 / 60) × 60.000 ≈ 112.800 đ/đơn</a:t>
              </a:r>
            </a:p>
          </p:txBody>
        </p:sp>
      </p:grpSp>
      <p:grpSp>
        <p:nvGrpSpPr>
          <p:cNvPr name="Group 16" id="16"/>
          <p:cNvGrpSpPr/>
          <p:nvPr/>
        </p:nvGrpSpPr>
        <p:grpSpPr>
          <a:xfrm rot="0">
            <a:off x="1028700" y="3097946"/>
            <a:ext cx="11416199" cy="1054408"/>
            <a:chOff x="0" y="0"/>
            <a:chExt cx="15221598" cy="1405877"/>
          </a:xfrm>
        </p:grpSpPr>
        <p:sp>
          <p:nvSpPr>
            <p:cNvPr name="TextBox 17" id="17"/>
            <p:cNvSpPr txBox="true"/>
            <p:nvPr/>
          </p:nvSpPr>
          <p:spPr>
            <a:xfrm rot="0">
              <a:off x="0" y="-9525"/>
              <a:ext cx="15213315" cy="450977"/>
            </a:xfrm>
            <a:prstGeom prst="rect">
              <a:avLst/>
            </a:prstGeom>
          </p:spPr>
          <p:txBody>
            <a:bodyPr anchor="t" rtlCol="false" tIns="0" lIns="0" bIns="0" rIns="0">
              <a:spAutoFit/>
            </a:bodyPr>
            <a:lstStyle/>
            <a:p>
              <a:pPr algn="l">
                <a:lnSpc>
                  <a:spcPts val="2508"/>
                </a:lnSpc>
                <a:spcBef>
                  <a:spcPct val="0"/>
                </a:spcBef>
              </a:pPr>
              <a:r>
                <a:rPr lang="en-US" b="true" sz="2200">
                  <a:solidFill>
                    <a:srgbClr val="000000"/>
                  </a:solidFill>
                  <a:latin typeface="Poppins Bold"/>
                  <a:ea typeface="Poppins Bold"/>
                  <a:cs typeface="Poppins Bold"/>
                  <a:sym typeface="Poppins Bold"/>
                </a:rPr>
                <a:t>2.Chi phí tài chính vốn COD</a:t>
              </a:r>
            </a:p>
          </p:txBody>
        </p:sp>
        <p:sp>
          <p:nvSpPr>
            <p:cNvPr name="TextBox 18" id="18"/>
            <p:cNvSpPr txBox="true"/>
            <p:nvPr/>
          </p:nvSpPr>
          <p:spPr>
            <a:xfrm rot="0">
              <a:off x="8283" y="614032"/>
              <a:ext cx="15213315" cy="791845"/>
            </a:xfrm>
            <a:prstGeom prst="rect">
              <a:avLst/>
            </a:prstGeom>
          </p:spPr>
          <p:txBody>
            <a:bodyPr anchor="t" rtlCol="false" tIns="0" lIns="0" bIns="0" rIns="0">
              <a:spAutoFit/>
            </a:bodyPr>
            <a:lstStyle/>
            <a:p>
              <a:pPr algn="l">
                <a:lnSpc>
                  <a:spcPts val="2280"/>
                </a:lnSpc>
              </a:pPr>
              <a:r>
                <a:rPr lang="en-US" sz="2000">
                  <a:solidFill>
                    <a:srgbClr val="000000"/>
                  </a:solidFill>
                  <a:latin typeface="Poppins"/>
                  <a:ea typeface="Poppins"/>
                  <a:cs typeface="Poppins"/>
                  <a:sym typeface="Poppins"/>
                </a:rPr>
                <a:t>= 300.000 × 9% × 75,84/(365×24)</a:t>
              </a:r>
            </a:p>
            <a:p>
              <a:pPr algn="l">
                <a:lnSpc>
                  <a:spcPts val="2280"/>
                </a:lnSpc>
                <a:spcBef>
                  <a:spcPct val="0"/>
                </a:spcBef>
              </a:pPr>
              <a:r>
                <a:rPr lang="en-US" sz="2000">
                  <a:solidFill>
                    <a:srgbClr val="000000"/>
                  </a:solidFill>
                  <a:latin typeface="Poppins"/>
                  <a:ea typeface="Poppins"/>
                  <a:cs typeface="Poppins"/>
                  <a:sym typeface="Poppins"/>
                </a:rPr>
                <a:t> ≈ 234 đ/đơn</a:t>
              </a:r>
            </a:p>
          </p:txBody>
        </p:sp>
      </p:grpSp>
      <p:grpSp>
        <p:nvGrpSpPr>
          <p:cNvPr name="Group 19" id="19"/>
          <p:cNvGrpSpPr/>
          <p:nvPr/>
        </p:nvGrpSpPr>
        <p:grpSpPr>
          <a:xfrm rot="0">
            <a:off x="1034913" y="4360371"/>
            <a:ext cx="11409986" cy="768658"/>
            <a:chOff x="0" y="0"/>
            <a:chExt cx="15213315" cy="1024877"/>
          </a:xfrm>
        </p:grpSpPr>
        <p:sp>
          <p:nvSpPr>
            <p:cNvPr name="TextBox 20" id="20"/>
            <p:cNvSpPr txBox="true"/>
            <p:nvPr/>
          </p:nvSpPr>
          <p:spPr>
            <a:xfrm rot="0">
              <a:off x="0" y="-9525"/>
              <a:ext cx="15213315" cy="450977"/>
            </a:xfrm>
            <a:prstGeom prst="rect">
              <a:avLst/>
            </a:prstGeom>
          </p:spPr>
          <p:txBody>
            <a:bodyPr anchor="t" rtlCol="false" tIns="0" lIns="0" bIns="0" rIns="0">
              <a:spAutoFit/>
            </a:bodyPr>
            <a:lstStyle/>
            <a:p>
              <a:pPr algn="l">
                <a:lnSpc>
                  <a:spcPts val="2508"/>
                </a:lnSpc>
                <a:spcBef>
                  <a:spcPct val="0"/>
                </a:spcBef>
              </a:pPr>
              <a:r>
                <a:rPr lang="en-US" b="true" sz="2200">
                  <a:solidFill>
                    <a:srgbClr val="000000"/>
                  </a:solidFill>
                  <a:latin typeface="Poppins Bold"/>
                  <a:ea typeface="Poppins Bold"/>
                  <a:cs typeface="Poppins Bold"/>
                  <a:sym typeface="Poppins Bold"/>
                </a:rPr>
                <a:t>3.Chi phí giao dịch ngân hàng</a:t>
              </a:r>
            </a:p>
          </p:txBody>
        </p:sp>
        <p:sp>
          <p:nvSpPr>
            <p:cNvPr name="TextBox 21" id="21"/>
            <p:cNvSpPr txBox="true"/>
            <p:nvPr/>
          </p:nvSpPr>
          <p:spPr>
            <a:xfrm rot="0">
              <a:off x="0" y="614032"/>
              <a:ext cx="15213315" cy="410845"/>
            </a:xfrm>
            <a:prstGeom prst="rect">
              <a:avLst/>
            </a:prstGeom>
          </p:spPr>
          <p:txBody>
            <a:bodyPr anchor="t" rtlCol="false" tIns="0" lIns="0" bIns="0" rIns="0">
              <a:spAutoFit/>
            </a:bodyPr>
            <a:lstStyle/>
            <a:p>
              <a:pPr algn="l">
                <a:lnSpc>
                  <a:spcPts val="2280"/>
                </a:lnSpc>
                <a:spcBef>
                  <a:spcPct val="0"/>
                </a:spcBef>
              </a:pPr>
              <a:r>
                <a:rPr lang="en-US" sz="2000">
                  <a:solidFill>
                    <a:srgbClr val="000000"/>
                  </a:solidFill>
                  <a:latin typeface="Poppins"/>
                  <a:ea typeface="Poppins"/>
                  <a:cs typeface="Poppins"/>
                  <a:sym typeface="Poppins"/>
                </a:rPr>
                <a:t>= 5.000 đ/đơn</a:t>
              </a:r>
            </a:p>
          </p:txBody>
        </p:sp>
      </p:grpSp>
      <p:grpSp>
        <p:nvGrpSpPr>
          <p:cNvPr name="Group 22" id="22"/>
          <p:cNvGrpSpPr/>
          <p:nvPr/>
        </p:nvGrpSpPr>
        <p:grpSpPr>
          <a:xfrm rot="0">
            <a:off x="1074007" y="5532124"/>
            <a:ext cx="11416199" cy="1350021"/>
            <a:chOff x="0" y="0"/>
            <a:chExt cx="15221598" cy="1800028"/>
          </a:xfrm>
        </p:grpSpPr>
        <p:sp>
          <p:nvSpPr>
            <p:cNvPr name="TextBox 23" id="23"/>
            <p:cNvSpPr txBox="true"/>
            <p:nvPr/>
          </p:nvSpPr>
          <p:spPr>
            <a:xfrm rot="0">
              <a:off x="8283" y="-9525"/>
              <a:ext cx="15213315" cy="464128"/>
            </a:xfrm>
            <a:prstGeom prst="rect">
              <a:avLst/>
            </a:prstGeom>
          </p:spPr>
          <p:txBody>
            <a:bodyPr anchor="t" rtlCol="false" tIns="0" lIns="0" bIns="0" rIns="0">
              <a:spAutoFit/>
            </a:bodyPr>
            <a:lstStyle/>
            <a:p>
              <a:pPr algn="l">
                <a:lnSpc>
                  <a:spcPts val="2558"/>
                </a:lnSpc>
                <a:spcBef>
                  <a:spcPct val="0"/>
                </a:spcBef>
              </a:pPr>
              <a:r>
                <a:rPr lang="en-US" b="true" sz="2244">
                  <a:solidFill>
                    <a:srgbClr val="000000"/>
                  </a:solidFill>
                  <a:latin typeface="Poppins Bold"/>
                  <a:ea typeface="Poppins Bold"/>
                  <a:cs typeface="Poppins Bold"/>
                  <a:sym typeface="Poppins Bold"/>
                </a:rPr>
                <a:t>Tổng chi phí COD-specific</a:t>
              </a:r>
            </a:p>
          </p:txBody>
        </p:sp>
        <p:sp>
          <p:nvSpPr>
            <p:cNvPr name="TextBox 24" id="24"/>
            <p:cNvSpPr txBox="true"/>
            <p:nvPr/>
          </p:nvSpPr>
          <p:spPr>
            <a:xfrm rot="0">
              <a:off x="0" y="627183"/>
              <a:ext cx="15213315" cy="1172845"/>
            </a:xfrm>
            <a:prstGeom prst="rect">
              <a:avLst/>
            </a:prstGeom>
          </p:spPr>
          <p:txBody>
            <a:bodyPr anchor="t" rtlCol="false" tIns="0" lIns="0" bIns="0" rIns="0">
              <a:spAutoFit/>
            </a:bodyPr>
            <a:lstStyle/>
            <a:p>
              <a:pPr algn="l">
                <a:lnSpc>
                  <a:spcPts val="2280"/>
                </a:lnSpc>
              </a:pPr>
              <a:r>
                <a:rPr lang="en-US" sz="2000">
                  <a:solidFill>
                    <a:srgbClr val="000000"/>
                  </a:solidFill>
                  <a:latin typeface="Poppins"/>
                  <a:ea typeface="Poppins"/>
                  <a:cs typeface="Poppins"/>
                  <a:sym typeface="Poppins"/>
                </a:rPr>
                <a:t>= 38.940 (Nhân công, PT bước 18–29) + 234 + 5.000</a:t>
              </a:r>
            </a:p>
            <a:p>
              <a:pPr algn="l">
                <a:lnSpc>
                  <a:spcPts val="2280"/>
                </a:lnSpc>
                <a:spcBef>
                  <a:spcPct val="0"/>
                </a:spcBef>
              </a:pPr>
              <a:r>
                <a:rPr lang="en-US" sz="2000">
                  <a:solidFill>
                    <a:srgbClr val="000000"/>
                  </a:solidFill>
                  <a:latin typeface="Poppins"/>
                  <a:ea typeface="Poppins"/>
                  <a:cs typeface="Poppins"/>
                  <a:sym typeface="Poppins"/>
                </a:rPr>
                <a:t>= 44.174 đ/đơn</a:t>
              </a:r>
            </a:p>
            <a:p>
              <a:pPr algn="l">
                <a:lnSpc>
                  <a:spcPts val="2280"/>
                </a:lnSpc>
                <a:spcBef>
                  <a:spcPct val="0"/>
                </a:spcBef>
              </a:pPr>
            </a:p>
          </p:txBody>
        </p:sp>
      </p:grpSp>
      <p:sp>
        <p:nvSpPr>
          <p:cNvPr name="TextBox 25" id="25"/>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26" id="26"/>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27" id="27"/>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50</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996108">
            <a:off x="-12372859" y="-13551484"/>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9" id="9"/>
          <p:cNvGrpSpPr/>
          <p:nvPr/>
        </p:nvGrpSpPr>
        <p:grpSpPr>
          <a:xfrm rot="0">
            <a:off x="9144000" y="4449874"/>
            <a:ext cx="7433476" cy="1387251"/>
            <a:chOff x="0" y="0"/>
            <a:chExt cx="9911302" cy="1849669"/>
          </a:xfrm>
        </p:grpSpPr>
        <p:sp>
          <p:nvSpPr>
            <p:cNvPr name="Freeform 10" id="10"/>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2544900" y="100306"/>
              <a:ext cx="6432584"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Chất lượng</a:t>
              </a:r>
            </a:p>
          </p:txBody>
        </p:sp>
        <p:sp>
          <p:nvSpPr>
            <p:cNvPr name="TextBox 12" id="12"/>
            <p:cNvSpPr txBox="true"/>
            <p:nvPr/>
          </p:nvSpPr>
          <p:spPr>
            <a:xfrm rot="0">
              <a:off x="2390048" y="555829"/>
              <a:ext cx="7521254" cy="1242252"/>
            </a:xfrm>
            <a:prstGeom prst="rect">
              <a:avLst/>
            </a:prstGeom>
          </p:spPr>
          <p:txBody>
            <a:bodyPr anchor="t" rtlCol="false" tIns="0" lIns="0" bIns="0" rIns="0">
              <a:spAutoFit/>
            </a:bodyPr>
            <a:lstStyle/>
            <a:p>
              <a:pPr algn="l" marL="344936" indent="-172468" lvl="1">
                <a:lnSpc>
                  <a:spcPts val="1837"/>
                </a:lnSpc>
                <a:buFont typeface="Arial"/>
                <a:buChar char="•"/>
              </a:pPr>
              <a:r>
                <a:rPr lang="en-US" sz="1597">
                  <a:solidFill>
                    <a:srgbClr val="100643"/>
                  </a:solidFill>
                  <a:latin typeface="Poppins"/>
                  <a:ea typeface="Poppins"/>
                  <a:cs typeface="Poppins"/>
                  <a:sym typeface="Poppins"/>
                </a:rPr>
                <a:t>Tỷ lệ giao hàng thành công: 92%</a:t>
              </a:r>
            </a:p>
            <a:p>
              <a:pPr algn="l" marL="344936" indent="-172468" lvl="1">
                <a:lnSpc>
                  <a:spcPts val="1837"/>
                </a:lnSpc>
                <a:buFont typeface="Arial"/>
                <a:buChar char="•"/>
              </a:pPr>
              <a:r>
                <a:rPr lang="en-US" sz="1597">
                  <a:solidFill>
                    <a:srgbClr val="100643"/>
                  </a:solidFill>
                  <a:latin typeface="Poppins"/>
                  <a:ea typeface="Poppins"/>
                  <a:cs typeface="Poppins"/>
                  <a:sym typeface="Poppins"/>
                </a:rPr>
                <a:t>Tỷ lệ đối soát chính xác: 95%</a:t>
              </a:r>
            </a:p>
            <a:p>
              <a:pPr algn="l" marL="344936" indent="-172468" lvl="1">
                <a:lnSpc>
                  <a:spcPts val="1837"/>
                </a:lnSpc>
                <a:buFont typeface="Arial"/>
                <a:buChar char="•"/>
              </a:pPr>
              <a:r>
                <a:rPr lang="en-US" sz="1597">
                  <a:solidFill>
                    <a:srgbClr val="100643"/>
                  </a:solidFill>
                  <a:latin typeface="Poppins"/>
                  <a:ea typeface="Poppins"/>
                  <a:cs typeface="Poppins"/>
                  <a:sym typeface="Poppins"/>
                </a:rPr>
                <a:t>FTR: 83,03%</a:t>
              </a:r>
            </a:p>
            <a:p>
              <a:pPr algn="l" marL="344936" indent="-172468" lvl="1">
                <a:lnSpc>
                  <a:spcPts val="1837"/>
                </a:lnSpc>
                <a:buFont typeface="Arial"/>
                <a:buChar char="•"/>
              </a:pPr>
              <a:r>
                <a:rPr lang="en-US" sz="1597">
                  <a:solidFill>
                    <a:srgbClr val="100643"/>
                  </a:solidFill>
                  <a:latin typeface="Poppins"/>
                  <a:ea typeface="Poppins"/>
                  <a:cs typeface="Poppins"/>
                  <a:sym typeface="Poppins"/>
                </a:rPr>
                <a:t>Khiếu nại: &gt;72 giờ/khiếu nại</a:t>
              </a:r>
            </a:p>
          </p:txBody>
        </p:sp>
        <p:sp>
          <p:nvSpPr>
            <p:cNvPr name="Freeform 13" id="13"/>
            <p:cNvSpPr/>
            <p:nvPr/>
          </p:nvSpPr>
          <p:spPr>
            <a:xfrm flipH="false" flipV="false" rot="0">
              <a:off x="658632" y="305939"/>
              <a:ext cx="910206" cy="1264175"/>
            </a:xfrm>
            <a:custGeom>
              <a:avLst/>
              <a:gdLst/>
              <a:ahLst/>
              <a:cxnLst/>
              <a:rect r="r" b="b" t="t" l="l"/>
              <a:pathLst>
                <a:path h="1264175" w="910206">
                  <a:moveTo>
                    <a:pt x="0" y="0"/>
                  </a:moveTo>
                  <a:lnTo>
                    <a:pt x="910206" y="0"/>
                  </a:lnTo>
                  <a:lnTo>
                    <a:pt x="910206" y="1264175"/>
                  </a:lnTo>
                  <a:lnTo>
                    <a:pt x="0" y="126417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14" id="14"/>
          <p:cNvGrpSpPr/>
          <p:nvPr/>
        </p:nvGrpSpPr>
        <p:grpSpPr>
          <a:xfrm rot="0">
            <a:off x="9144000" y="2422571"/>
            <a:ext cx="7119661" cy="1387251"/>
            <a:chOff x="0" y="0"/>
            <a:chExt cx="9492882" cy="1849669"/>
          </a:xfrm>
        </p:grpSpPr>
        <p:sp>
          <p:nvSpPr>
            <p:cNvPr name="Freeform 15" id="15"/>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6" id="16"/>
            <p:cNvSpPr txBox="true"/>
            <p:nvPr/>
          </p:nvSpPr>
          <p:spPr>
            <a:xfrm rot="0">
              <a:off x="2544900" y="127519"/>
              <a:ext cx="5114141"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Hiệu suất quy trình</a:t>
              </a:r>
            </a:p>
          </p:txBody>
        </p:sp>
        <p:sp>
          <p:nvSpPr>
            <p:cNvPr name="TextBox 17" id="17"/>
            <p:cNvSpPr txBox="true"/>
            <p:nvPr/>
          </p:nvSpPr>
          <p:spPr>
            <a:xfrm rot="0">
              <a:off x="2311344" y="601154"/>
              <a:ext cx="7181537" cy="1242252"/>
            </a:xfrm>
            <a:prstGeom prst="rect">
              <a:avLst/>
            </a:prstGeom>
          </p:spPr>
          <p:txBody>
            <a:bodyPr anchor="t" rtlCol="false" tIns="0" lIns="0" bIns="0" rIns="0">
              <a:spAutoFit/>
            </a:bodyPr>
            <a:lstStyle/>
            <a:p>
              <a:pPr algn="l" marL="344936" indent="-172468" lvl="1">
                <a:lnSpc>
                  <a:spcPts val="1837"/>
                </a:lnSpc>
                <a:buFont typeface="Arial"/>
                <a:buChar char="•"/>
              </a:pPr>
              <a:r>
                <a:rPr lang="en-US" sz="1597">
                  <a:solidFill>
                    <a:srgbClr val="100643"/>
                  </a:solidFill>
                  <a:latin typeface="Poppins"/>
                  <a:ea typeface="Poppins"/>
                  <a:cs typeface="Poppins"/>
                  <a:sym typeface="Poppins"/>
                </a:rPr>
                <a:t>PT: 1,78 giờ</a:t>
              </a:r>
            </a:p>
            <a:p>
              <a:pPr algn="l" marL="344936" indent="-172468" lvl="1">
                <a:lnSpc>
                  <a:spcPts val="1837"/>
                </a:lnSpc>
                <a:buFont typeface="Arial"/>
                <a:buChar char="•"/>
              </a:pPr>
              <a:r>
                <a:rPr lang="en-US" sz="1597">
                  <a:solidFill>
                    <a:srgbClr val="100643"/>
                  </a:solidFill>
                  <a:latin typeface="Poppins"/>
                  <a:ea typeface="Poppins"/>
                  <a:cs typeface="Poppins"/>
                  <a:sym typeface="Poppins"/>
                </a:rPr>
                <a:t>CT: 111,85 giờ (≈4,66 ngày)</a:t>
              </a:r>
            </a:p>
            <a:p>
              <a:pPr algn="l" marL="344936" indent="-172468" lvl="1">
                <a:lnSpc>
                  <a:spcPts val="1837"/>
                </a:lnSpc>
                <a:buFont typeface="Arial"/>
                <a:buChar char="•"/>
              </a:pPr>
              <a:r>
                <a:rPr lang="en-US" sz="1597">
                  <a:solidFill>
                    <a:srgbClr val="100643"/>
                  </a:solidFill>
                  <a:latin typeface="Poppins"/>
                  <a:ea typeface="Poppins"/>
                  <a:cs typeface="Poppins"/>
                  <a:sym typeface="Poppins"/>
                </a:rPr>
                <a:t>WT: 110,07 giờ</a:t>
              </a:r>
            </a:p>
            <a:p>
              <a:pPr algn="l" marL="344936" indent="-172468" lvl="1">
                <a:lnSpc>
                  <a:spcPts val="1837"/>
                </a:lnSpc>
                <a:buFont typeface="Arial"/>
                <a:buChar char="•"/>
              </a:pPr>
              <a:r>
                <a:rPr lang="en-US" sz="1597">
                  <a:solidFill>
                    <a:srgbClr val="100643"/>
                  </a:solidFill>
                  <a:latin typeface="Poppins"/>
                  <a:ea typeface="Poppins"/>
                  <a:cs typeface="Poppins"/>
                  <a:sym typeface="Poppins"/>
                </a:rPr>
                <a:t>CTE: 1,59%</a:t>
              </a:r>
            </a:p>
          </p:txBody>
        </p:sp>
        <p:sp>
          <p:nvSpPr>
            <p:cNvPr name="Freeform 18" id="18"/>
            <p:cNvSpPr/>
            <p:nvPr/>
          </p:nvSpPr>
          <p:spPr>
            <a:xfrm flipH="false" flipV="false" rot="0">
              <a:off x="609957" y="449720"/>
              <a:ext cx="963914" cy="963914"/>
            </a:xfrm>
            <a:custGeom>
              <a:avLst/>
              <a:gdLst/>
              <a:ahLst/>
              <a:cxnLst/>
              <a:rect r="r" b="b" t="t" l="l"/>
              <a:pathLst>
                <a:path h="963914" w="963914">
                  <a:moveTo>
                    <a:pt x="0" y="0"/>
                  </a:moveTo>
                  <a:lnTo>
                    <a:pt x="963914" y="0"/>
                  </a:lnTo>
                  <a:lnTo>
                    <a:pt x="963914" y="963914"/>
                  </a:lnTo>
                  <a:lnTo>
                    <a:pt x="0" y="963914"/>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grpSp>
        <p:nvGrpSpPr>
          <p:cNvPr name="Group 19" id="19"/>
          <p:cNvGrpSpPr/>
          <p:nvPr/>
        </p:nvGrpSpPr>
        <p:grpSpPr>
          <a:xfrm rot="0">
            <a:off x="9144000" y="6477178"/>
            <a:ext cx="7838254" cy="1387251"/>
            <a:chOff x="0" y="0"/>
            <a:chExt cx="10451006" cy="1849669"/>
          </a:xfrm>
        </p:grpSpPr>
        <p:sp>
          <p:nvSpPr>
            <p:cNvPr name="Freeform 20" id="20"/>
            <p:cNvSpPr/>
            <p:nvPr/>
          </p:nvSpPr>
          <p:spPr>
            <a:xfrm flipH="false" flipV="false" rot="0">
              <a:off x="0" y="0"/>
              <a:ext cx="2135260" cy="1849669"/>
            </a:xfrm>
            <a:custGeom>
              <a:avLst/>
              <a:gdLst/>
              <a:ahLst/>
              <a:cxnLst/>
              <a:rect r="r" b="b" t="t" l="l"/>
              <a:pathLst>
                <a:path h="1849669" w="2135260">
                  <a:moveTo>
                    <a:pt x="0" y="0"/>
                  </a:moveTo>
                  <a:lnTo>
                    <a:pt x="2135260" y="0"/>
                  </a:lnTo>
                  <a:lnTo>
                    <a:pt x="2135260" y="1849669"/>
                  </a:lnTo>
                  <a:lnTo>
                    <a:pt x="0" y="18496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1" id="21"/>
            <p:cNvSpPr txBox="true"/>
            <p:nvPr/>
          </p:nvSpPr>
          <p:spPr>
            <a:xfrm rot="0">
              <a:off x="2544900" y="69750"/>
              <a:ext cx="5114141" cy="415036"/>
            </a:xfrm>
            <a:prstGeom prst="rect">
              <a:avLst/>
            </a:prstGeom>
          </p:spPr>
          <p:txBody>
            <a:bodyPr anchor="t" rtlCol="false" tIns="0" lIns="0" bIns="0" rIns="0">
              <a:spAutoFit/>
            </a:bodyPr>
            <a:lstStyle/>
            <a:p>
              <a:pPr algn="l">
                <a:lnSpc>
                  <a:spcPts val="2394"/>
                </a:lnSpc>
              </a:pPr>
              <a:r>
                <a:rPr lang="en-US" sz="2100" b="true">
                  <a:solidFill>
                    <a:srgbClr val="100643"/>
                  </a:solidFill>
                  <a:latin typeface="Poppins Bold"/>
                  <a:ea typeface="Poppins Bold"/>
                  <a:cs typeface="Poppins Bold"/>
                  <a:sym typeface="Poppins Bold"/>
                </a:rPr>
                <a:t>Chi phí</a:t>
              </a:r>
            </a:p>
          </p:txBody>
        </p:sp>
        <p:sp>
          <p:nvSpPr>
            <p:cNvPr name="TextBox 22" id="22"/>
            <p:cNvSpPr txBox="true"/>
            <p:nvPr/>
          </p:nvSpPr>
          <p:spPr>
            <a:xfrm rot="0">
              <a:off x="2335246" y="603746"/>
              <a:ext cx="8115760" cy="632652"/>
            </a:xfrm>
            <a:prstGeom prst="rect">
              <a:avLst/>
            </a:prstGeom>
          </p:spPr>
          <p:txBody>
            <a:bodyPr anchor="t" rtlCol="false" tIns="0" lIns="0" bIns="0" rIns="0">
              <a:spAutoFit/>
            </a:bodyPr>
            <a:lstStyle/>
            <a:p>
              <a:pPr algn="l" marL="344936" indent="-172468" lvl="1">
                <a:lnSpc>
                  <a:spcPts val="1837"/>
                </a:lnSpc>
                <a:buFont typeface="Arial"/>
                <a:buChar char="•"/>
              </a:pPr>
              <a:r>
                <a:rPr lang="en-US" sz="1597">
                  <a:solidFill>
                    <a:srgbClr val="100643"/>
                  </a:solidFill>
                  <a:latin typeface="Poppins"/>
                  <a:ea typeface="Poppins"/>
                  <a:cs typeface="Poppins"/>
                  <a:sym typeface="Poppins"/>
                </a:rPr>
                <a:t>Chi phí COD-specific: 44.174 đ/đơn</a:t>
              </a:r>
            </a:p>
            <a:p>
              <a:pPr algn="l" marL="344936" indent="-172468" lvl="1">
                <a:lnSpc>
                  <a:spcPts val="1837"/>
                </a:lnSpc>
                <a:buFont typeface="Arial"/>
                <a:buChar char="•"/>
              </a:pPr>
              <a:r>
                <a:rPr lang="en-US" sz="1597">
                  <a:solidFill>
                    <a:srgbClr val="100643"/>
                  </a:solidFill>
                  <a:latin typeface="Poppins"/>
                  <a:ea typeface="Poppins"/>
                  <a:cs typeface="Poppins"/>
                  <a:sym typeface="Poppins"/>
                </a:rPr>
                <a:t>Chi phí ngân hàng: ≈5.000 đ/đơn</a:t>
              </a:r>
            </a:p>
          </p:txBody>
        </p:sp>
      </p:grpSp>
      <p:sp>
        <p:nvSpPr>
          <p:cNvPr name="Freeform 23" id="23"/>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0">
            <a:off x="9434850" y="6620224"/>
            <a:ext cx="1101160" cy="1101160"/>
          </a:xfrm>
          <a:custGeom>
            <a:avLst/>
            <a:gdLst/>
            <a:ahLst/>
            <a:cxnLst/>
            <a:rect r="r" b="b" t="t" l="l"/>
            <a:pathLst>
              <a:path h="1101160" w="1101160">
                <a:moveTo>
                  <a:pt x="0" y="0"/>
                </a:moveTo>
                <a:lnTo>
                  <a:pt x="1101160" y="0"/>
                </a:lnTo>
                <a:lnTo>
                  <a:pt x="1101160" y="1101160"/>
                </a:lnTo>
                <a:lnTo>
                  <a:pt x="0" y="110116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25" id="25"/>
          <p:cNvSpPr txBox="true"/>
          <p:nvPr/>
        </p:nvSpPr>
        <p:spPr>
          <a:xfrm rot="0">
            <a:off x="1430516" y="9505290"/>
            <a:ext cx="6726305"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26" id="26"/>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27" id="27"/>
          <p:cNvSpPr txBox="true"/>
          <p:nvPr/>
        </p:nvSpPr>
        <p:spPr>
          <a:xfrm rot="0">
            <a:off x="1028700" y="4444656"/>
            <a:ext cx="6770856" cy="461010"/>
          </a:xfrm>
          <a:prstGeom prst="rect">
            <a:avLst/>
          </a:prstGeom>
        </p:spPr>
        <p:txBody>
          <a:bodyPr anchor="t" rtlCol="false" tIns="0" lIns="0" bIns="0" rIns="0">
            <a:spAutoFit/>
          </a:bodyPr>
          <a:lstStyle/>
          <a:p>
            <a:pPr algn="ctr" marL="0" indent="0" lvl="0">
              <a:lnSpc>
                <a:spcPts val="3419"/>
              </a:lnSpc>
              <a:spcBef>
                <a:spcPct val="0"/>
              </a:spcBef>
            </a:pPr>
            <a:r>
              <a:rPr lang="en-US" b="true" sz="2999" strike="noStrike" u="none">
                <a:solidFill>
                  <a:srgbClr val="100643"/>
                </a:solidFill>
                <a:latin typeface="Poppins Bold"/>
                <a:ea typeface="Poppins Bold"/>
                <a:cs typeface="Poppins Bold"/>
                <a:sym typeface="Poppins Bold"/>
              </a:rPr>
              <a:t>Tổng hợp kết quả định lượng</a:t>
            </a:r>
          </a:p>
        </p:txBody>
      </p:sp>
      <p:sp>
        <p:nvSpPr>
          <p:cNvPr name="TextBox 28" id="28"/>
          <p:cNvSpPr txBox="true"/>
          <p:nvPr/>
        </p:nvSpPr>
        <p:spPr>
          <a:xfrm rot="0">
            <a:off x="1430516" y="538309"/>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29" id="29"/>
          <p:cNvSpPr txBox="true"/>
          <p:nvPr/>
        </p:nvSpPr>
        <p:spPr>
          <a:xfrm rot="0">
            <a:off x="1430516" y="855294"/>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30" id="30"/>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51</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821899">
            <a:off x="16647552" y="3888798"/>
            <a:ext cx="15903029" cy="15903029"/>
          </a:xfrm>
          <a:custGeom>
            <a:avLst/>
            <a:gdLst/>
            <a:ahLst/>
            <a:cxnLst/>
            <a:rect r="r" b="b" t="t" l="l"/>
            <a:pathLst>
              <a:path h="15903029" w="15903029">
                <a:moveTo>
                  <a:pt x="0" y="0"/>
                </a:moveTo>
                <a:lnTo>
                  <a:pt x="15903029" y="0"/>
                </a:lnTo>
                <a:lnTo>
                  <a:pt x="15903029" y="15903030"/>
                </a:lnTo>
                <a:lnTo>
                  <a:pt x="0" y="159030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6860" y="547834"/>
            <a:ext cx="847526" cy="961731"/>
          </a:xfrm>
          <a:custGeom>
            <a:avLst/>
            <a:gdLst/>
            <a:ahLst/>
            <a:cxnLst/>
            <a:rect r="r" b="b" t="t" l="l"/>
            <a:pathLst>
              <a:path h="961731" w="847526">
                <a:moveTo>
                  <a:pt x="0" y="0"/>
                </a:moveTo>
                <a:lnTo>
                  <a:pt x="847525" y="0"/>
                </a:lnTo>
                <a:lnTo>
                  <a:pt x="847525" y="961732"/>
                </a:lnTo>
                <a:lnTo>
                  <a:pt x="0" y="9617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36860" y="9200231"/>
            <a:ext cx="671992" cy="671992"/>
          </a:xfrm>
          <a:custGeom>
            <a:avLst/>
            <a:gdLst/>
            <a:ahLst/>
            <a:cxnLst/>
            <a:rect r="r" b="b" t="t" l="l"/>
            <a:pathLst>
              <a:path h="671992" w="671992">
                <a:moveTo>
                  <a:pt x="0" y="0"/>
                </a:moveTo>
                <a:lnTo>
                  <a:pt x="671991" y="0"/>
                </a:lnTo>
                <a:lnTo>
                  <a:pt x="671991" y="671991"/>
                </a:lnTo>
                <a:lnTo>
                  <a:pt x="0" y="671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82139" y="9344015"/>
            <a:ext cx="381433" cy="381433"/>
          </a:xfrm>
          <a:custGeom>
            <a:avLst/>
            <a:gdLst/>
            <a:ahLst/>
            <a:cxnLst/>
            <a:rect r="r" b="b" t="t" l="l"/>
            <a:pathLst>
              <a:path h="381433" w="381433">
                <a:moveTo>
                  <a:pt x="0" y="0"/>
                </a:moveTo>
                <a:lnTo>
                  <a:pt x="381433" y="0"/>
                </a:lnTo>
                <a:lnTo>
                  <a:pt x="381433" y="381434"/>
                </a:lnTo>
                <a:lnTo>
                  <a:pt x="0" y="38143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3468572">
            <a:off x="7957400" y="11767443"/>
            <a:ext cx="15903029" cy="15903029"/>
          </a:xfrm>
          <a:custGeom>
            <a:avLst/>
            <a:gdLst/>
            <a:ahLst/>
            <a:cxnLst/>
            <a:rect r="r" b="b" t="t" l="l"/>
            <a:pathLst>
              <a:path h="15903029" w="15903029">
                <a:moveTo>
                  <a:pt x="0" y="0"/>
                </a:moveTo>
                <a:lnTo>
                  <a:pt x="15903029" y="0"/>
                </a:lnTo>
                <a:lnTo>
                  <a:pt x="15903029" y="15903029"/>
                </a:lnTo>
                <a:lnTo>
                  <a:pt x="0" y="1590302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1430516" y="9505290"/>
            <a:ext cx="6551138" cy="348841"/>
          </a:xfrm>
          <a:prstGeom prst="rect">
            <a:avLst/>
          </a:prstGeom>
        </p:spPr>
        <p:txBody>
          <a:bodyPr anchor="t" rtlCol="false" tIns="0" lIns="0" bIns="0" rIns="0">
            <a:spAutoFit/>
          </a:bodyPr>
          <a:lstStyle/>
          <a:p>
            <a:pPr algn="l">
              <a:lnSpc>
                <a:spcPts val="2518"/>
              </a:lnSpc>
            </a:pPr>
            <a:r>
              <a:rPr lang="en-US" sz="2189" b="true">
                <a:solidFill>
                  <a:srgbClr val="100643"/>
                </a:solidFill>
                <a:latin typeface="Poppins Bold"/>
                <a:ea typeface="Poppins Bold"/>
                <a:cs typeface="Poppins Bold"/>
                <a:sym typeface="Poppins Bold"/>
              </a:rPr>
              <a:t>Hệ thống quy trình Thu hộ COD &amp; Chuyển tiền</a:t>
            </a:r>
          </a:p>
        </p:txBody>
      </p:sp>
      <p:sp>
        <p:nvSpPr>
          <p:cNvPr name="TextBox 9" id="9"/>
          <p:cNvSpPr txBox="true"/>
          <p:nvPr/>
        </p:nvSpPr>
        <p:spPr>
          <a:xfrm rot="0">
            <a:off x="1430516" y="9170860"/>
            <a:ext cx="2331008" cy="329300"/>
          </a:xfrm>
          <a:prstGeom prst="rect">
            <a:avLst/>
          </a:prstGeom>
        </p:spPr>
        <p:txBody>
          <a:bodyPr anchor="t" rtlCol="false" tIns="0" lIns="0" bIns="0" rIns="0">
            <a:spAutoFit/>
          </a:bodyPr>
          <a:lstStyle/>
          <a:p>
            <a:pPr algn="l">
              <a:lnSpc>
                <a:spcPts val="2438"/>
              </a:lnSpc>
            </a:pPr>
            <a:r>
              <a:rPr lang="en-US" sz="2120">
                <a:solidFill>
                  <a:srgbClr val="100643"/>
                </a:solidFill>
                <a:latin typeface="Poppins"/>
                <a:ea typeface="Poppins"/>
                <a:cs typeface="Poppins"/>
                <a:sym typeface="Poppins"/>
              </a:rPr>
              <a:t>VIETTEL POST </a:t>
            </a:r>
          </a:p>
        </p:txBody>
      </p:sp>
      <p:sp>
        <p:nvSpPr>
          <p:cNvPr name="TextBox 10" id="10"/>
          <p:cNvSpPr txBox="true"/>
          <p:nvPr/>
        </p:nvSpPr>
        <p:spPr>
          <a:xfrm rot="0">
            <a:off x="7071887" y="724755"/>
            <a:ext cx="9354255" cy="461010"/>
          </a:xfrm>
          <a:prstGeom prst="rect">
            <a:avLst/>
          </a:prstGeom>
        </p:spPr>
        <p:txBody>
          <a:bodyPr anchor="t" rtlCol="false" tIns="0" lIns="0" bIns="0" rIns="0">
            <a:spAutoFit/>
          </a:bodyPr>
          <a:lstStyle/>
          <a:p>
            <a:pPr algn="ctr" marL="0" indent="0" lvl="0">
              <a:lnSpc>
                <a:spcPts val="3419"/>
              </a:lnSpc>
              <a:spcBef>
                <a:spcPct val="0"/>
              </a:spcBef>
            </a:pPr>
            <a:r>
              <a:rPr lang="en-US" b="true" sz="3000" strike="noStrike" u="none">
                <a:solidFill>
                  <a:srgbClr val="100643"/>
                </a:solidFill>
                <a:latin typeface="Poppins Bold"/>
                <a:ea typeface="Poppins Bold"/>
                <a:cs typeface="Poppins Bold"/>
                <a:sym typeface="Poppins Bold"/>
              </a:rPr>
              <a:t>ĐO LƯỜNG, KẾT QUẢ VÀ ĐỀ XUẤT CẢI TIẾN</a:t>
            </a:r>
          </a:p>
        </p:txBody>
      </p:sp>
      <p:sp>
        <p:nvSpPr>
          <p:cNvPr name="TextBox 11" id="11"/>
          <p:cNvSpPr txBox="true"/>
          <p:nvPr/>
        </p:nvSpPr>
        <p:spPr>
          <a:xfrm rot="0">
            <a:off x="1207748" y="1717198"/>
            <a:ext cx="6245247" cy="370713"/>
          </a:xfrm>
          <a:prstGeom prst="rect">
            <a:avLst/>
          </a:prstGeom>
        </p:spPr>
        <p:txBody>
          <a:bodyPr anchor="t" rtlCol="false" tIns="0" lIns="0" bIns="0" rIns="0">
            <a:spAutoFit/>
          </a:bodyPr>
          <a:lstStyle/>
          <a:p>
            <a:pPr algn="ctr">
              <a:lnSpc>
                <a:spcPts val="2736"/>
              </a:lnSpc>
            </a:pPr>
            <a:r>
              <a:rPr lang="en-US" b="true" sz="2400">
                <a:solidFill>
                  <a:srgbClr val="EB2427"/>
                </a:solidFill>
                <a:latin typeface="Poppins Bold"/>
                <a:ea typeface="Poppins Bold"/>
                <a:cs typeface="Poppins Bold"/>
                <a:sym typeface="Poppins Bold"/>
              </a:rPr>
              <a:t>Giải Pháp &amp; Đề Xuất</a:t>
            </a:r>
          </a:p>
        </p:txBody>
      </p:sp>
      <p:grpSp>
        <p:nvGrpSpPr>
          <p:cNvPr name="Group 12" id="12"/>
          <p:cNvGrpSpPr/>
          <p:nvPr/>
        </p:nvGrpSpPr>
        <p:grpSpPr>
          <a:xfrm rot="0">
            <a:off x="963648" y="3666672"/>
            <a:ext cx="5587736" cy="1062615"/>
            <a:chOff x="0" y="0"/>
            <a:chExt cx="7450315" cy="1416820"/>
          </a:xfrm>
        </p:grpSpPr>
        <p:sp>
          <p:nvSpPr>
            <p:cNvPr name="Freeform 13" id="13"/>
            <p:cNvSpPr/>
            <p:nvPr/>
          </p:nvSpPr>
          <p:spPr>
            <a:xfrm flipH="false" flipV="false" rot="0">
              <a:off x="0" y="0"/>
              <a:ext cx="1635579" cy="1416820"/>
            </a:xfrm>
            <a:custGeom>
              <a:avLst/>
              <a:gdLst/>
              <a:ahLst/>
              <a:cxnLst/>
              <a:rect r="r" b="b" t="t" l="l"/>
              <a:pathLst>
                <a:path h="1416820" w="1635579">
                  <a:moveTo>
                    <a:pt x="0" y="0"/>
                  </a:moveTo>
                  <a:lnTo>
                    <a:pt x="1635579" y="0"/>
                  </a:lnTo>
                  <a:lnTo>
                    <a:pt x="1635579" y="1416820"/>
                  </a:lnTo>
                  <a:lnTo>
                    <a:pt x="0" y="14168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4" id="14"/>
            <p:cNvSpPr txBox="true"/>
            <p:nvPr/>
          </p:nvSpPr>
          <p:spPr>
            <a:xfrm rot="0">
              <a:off x="1949358" y="79405"/>
              <a:ext cx="5500957" cy="629005"/>
            </a:xfrm>
            <a:prstGeom prst="rect">
              <a:avLst/>
            </a:prstGeom>
          </p:spPr>
          <p:txBody>
            <a:bodyPr anchor="t" rtlCol="false" tIns="0" lIns="0" bIns="0" rIns="0">
              <a:spAutoFit/>
            </a:bodyPr>
            <a:lstStyle/>
            <a:p>
              <a:pPr algn="l">
                <a:lnSpc>
                  <a:spcPts val="1833"/>
                </a:lnSpc>
              </a:pPr>
              <a:r>
                <a:rPr lang="en-US" sz="1608" b="true">
                  <a:solidFill>
                    <a:srgbClr val="100643"/>
                  </a:solidFill>
                  <a:latin typeface="Poppins Bold"/>
                  <a:ea typeface="Poppins Bold"/>
                  <a:cs typeface="Poppins Bold"/>
                  <a:sym typeface="Poppins Bold"/>
                </a:rPr>
                <a:t>Số hóa chứng từ ngay tại điểm giao hàng</a:t>
              </a:r>
            </a:p>
          </p:txBody>
        </p:sp>
        <p:sp>
          <p:nvSpPr>
            <p:cNvPr name="TextBox 15" id="15"/>
            <p:cNvSpPr txBox="true"/>
            <p:nvPr/>
          </p:nvSpPr>
          <p:spPr>
            <a:xfrm rot="0">
              <a:off x="1949358" y="813477"/>
              <a:ext cx="5500957" cy="486832"/>
            </a:xfrm>
            <a:prstGeom prst="rect">
              <a:avLst/>
            </a:prstGeom>
          </p:spPr>
          <p:txBody>
            <a:bodyPr anchor="t" rtlCol="false" tIns="0" lIns="0" bIns="0" rIns="0">
              <a:spAutoFit/>
            </a:bodyPr>
            <a:lstStyle/>
            <a:p>
              <a:pPr algn="just">
                <a:lnSpc>
                  <a:spcPts val="1407"/>
                </a:lnSpc>
              </a:pPr>
              <a:r>
                <a:rPr lang="en-US" sz="1223">
                  <a:solidFill>
                    <a:srgbClr val="100643"/>
                  </a:solidFill>
                  <a:latin typeface="Poppins"/>
                  <a:ea typeface="Poppins"/>
                  <a:cs typeface="Poppins"/>
                  <a:sym typeface="Poppins"/>
                </a:rPr>
                <a:t>Xử quét mã, chụp ảnh và xác nhận ngay trên ứng dụng</a:t>
              </a:r>
            </a:p>
          </p:txBody>
        </p:sp>
        <p:sp>
          <p:nvSpPr>
            <p:cNvPr name="TextBox 16" id="16"/>
            <p:cNvSpPr txBox="true"/>
            <p:nvPr/>
          </p:nvSpPr>
          <p:spPr>
            <a:xfrm rot="0">
              <a:off x="189344" y="345640"/>
              <a:ext cx="1256891" cy="716016"/>
            </a:xfrm>
            <a:prstGeom prst="rect">
              <a:avLst/>
            </a:prstGeom>
          </p:spPr>
          <p:txBody>
            <a:bodyPr anchor="t" rtlCol="false" tIns="0" lIns="0" bIns="0" rIns="0">
              <a:spAutoFit/>
            </a:bodyPr>
            <a:lstStyle/>
            <a:p>
              <a:pPr algn="ctr">
                <a:lnSpc>
                  <a:spcPts val="4066"/>
                </a:lnSpc>
              </a:pPr>
              <a:r>
                <a:rPr lang="en-US" b="true" sz="3566">
                  <a:solidFill>
                    <a:srgbClr val="FFFFFF"/>
                  </a:solidFill>
                  <a:latin typeface="Poppins Bold"/>
                  <a:ea typeface="Poppins Bold"/>
                  <a:cs typeface="Poppins Bold"/>
                  <a:sym typeface="Poppins Bold"/>
                </a:rPr>
                <a:t>02</a:t>
              </a:r>
            </a:p>
          </p:txBody>
        </p:sp>
      </p:grpSp>
      <p:grpSp>
        <p:nvGrpSpPr>
          <p:cNvPr name="Group 17" id="17"/>
          <p:cNvGrpSpPr/>
          <p:nvPr/>
        </p:nvGrpSpPr>
        <p:grpSpPr>
          <a:xfrm rot="0">
            <a:off x="963648" y="2306987"/>
            <a:ext cx="6108238" cy="1062615"/>
            <a:chOff x="0" y="0"/>
            <a:chExt cx="8144318" cy="1416820"/>
          </a:xfrm>
        </p:grpSpPr>
        <p:sp>
          <p:nvSpPr>
            <p:cNvPr name="Freeform 18" id="18"/>
            <p:cNvSpPr/>
            <p:nvPr/>
          </p:nvSpPr>
          <p:spPr>
            <a:xfrm flipH="false" flipV="false" rot="0">
              <a:off x="0" y="0"/>
              <a:ext cx="1635579" cy="1416820"/>
            </a:xfrm>
            <a:custGeom>
              <a:avLst/>
              <a:gdLst/>
              <a:ahLst/>
              <a:cxnLst/>
              <a:rect r="r" b="b" t="t" l="l"/>
              <a:pathLst>
                <a:path h="1416820" w="1635579">
                  <a:moveTo>
                    <a:pt x="0" y="0"/>
                  </a:moveTo>
                  <a:lnTo>
                    <a:pt x="1635579" y="0"/>
                  </a:lnTo>
                  <a:lnTo>
                    <a:pt x="1635579" y="1416820"/>
                  </a:lnTo>
                  <a:lnTo>
                    <a:pt x="0" y="14168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9" id="19"/>
            <p:cNvSpPr txBox="true"/>
            <p:nvPr/>
          </p:nvSpPr>
          <p:spPr>
            <a:xfrm rot="0">
              <a:off x="1949358" y="137983"/>
              <a:ext cx="6194960" cy="629005"/>
            </a:xfrm>
            <a:prstGeom prst="rect">
              <a:avLst/>
            </a:prstGeom>
          </p:spPr>
          <p:txBody>
            <a:bodyPr anchor="t" rtlCol="false" tIns="0" lIns="0" bIns="0" rIns="0">
              <a:spAutoFit/>
            </a:bodyPr>
            <a:lstStyle/>
            <a:p>
              <a:pPr algn="l">
                <a:lnSpc>
                  <a:spcPts val="1833"/>
                </a:lnSpc>
              </a:pPr>
              <a:r>
                <a:rPr lang="en-US" sz="1608" b="true">
                  <a:solidFill>
                    <a:srgbClr val="100643"/>
                  </a:solidFill>
                  <a:latin typeface="Poppins Bold"/>
                  <a:ea typeface="Poppins Bold"/>
                  <a:cs typeface="Poppins Bold"/>
                  <a:sym typeface="Poppins Bold"/>
                </a:rPr>
                <a:t>Chuyển đối soát COD từ theo kỳ sang thời gian thực</a:t>
              </a:r>
            </a:p>
          </p:txBody>
        </p:sp>
        <p:sp>
          <p:nvSpPr>
            <p:cNvPr name="TextBox 20" id="20"/>
            <p:cNvSpPr txBox="true"/>
            <p:nvPr/>
          </p:nvSpPr>
          <p:spPr>
            <a:xfrm rot="0">
              <a:off x="1949358" y="813619"/>
              <a:ext cx="5500957" cy="486832"/>
            </a:xfrm>
            <a:prstGeom prst="rect">
              <a:avLst/>
            </a:prstGeom>
          </p:spPr>
          <p:txBody>
            <a:bodyPr anchor="t" rtlCol="false" tIns="0" lIns="0" bIns="0" rIns="0">
              <a:spAutoFit/>
            </a:bodyPr>
            <a:lstStyle/>
            <a:p>
              <a:pPr algn="just">
                <a:lnSpc>
                  <a:spcPts val="1407"/>
                </a:lnSpc>
              </a:pPr>
              <a:r>
                <a:rPr lang="en-US" sz="1223">
                  <a:solidFill>
                    <a:srgbClr val="100643"/>
                  </a:solidFill>
                  <a:latin typeface="Poppins"/>
                  <a:ea typeface="Poppins"/>
                  <a:cs typeface="Poppins"/>
                  <a:sym typeface="Poppins"/>
                </a:rPr>
                <a:t>Giải pháp quan trọng nhất vì đánh trực tiếp vào nguyên nhân gốc rễ (5Why)</a:t>
              </a:r>
            </a:p>
          </p:txBody>
        </p:sp>
        <p:sp>
          <p:nvSpPr>
            <p:cNvPr name="TextBox 21" id="21"/>
            <p:cNvSpPr txBox="true"/>
            <p:nvPr/>
          </p:nvSpPr>
          <p:spPr>
            <a:xfrm rot="0">
              <a:off x="221715" y="345640"/>
              <a:ext cx="1192149" cy="716158"/>
            </a:xfrm>
            <a:prstGeom prst="rect">
              <a:avLst/>
            </a:prstGeom>
          </p:spPr>
          <p:txBody>
            <a:bodyPr anchor="t" rtlCol="false" tIns="0" lIns="0" bIns="0" rIns="0">
              <a:spAutoFit/>
            </a:bodyPr>
            <a:lstStyle/>
            <a:p>
              <a:pPr algn="ctr">
                <a:lnSpc>
                  <a:spcPts val="4066"/>
                </a:lnSpc>
              </a:pPr>
              <a:r>
                <a:rPr lang="en-US" b="true" sz="3566">
                  <a:solidFill>
                    <a:srgbClr val="100643"/>
                  </a:solidFill>
                  <a:latin typeface="Poppins Bold"/>
                  <a:ea typeface="Poppins Bold"/>
                  <a:cs typeface="Poppins Bold"/>
                  <a:sym typeface="Poppins Bold"/>
                </a:rPr>
                <a:t>01</a:t>
              </a:r>
            </a:p>
          </p:txBody>
        </p:sp>
      </p:grpSp>
      <p:grpSp>
        <p:nvGrpSpPr>
          <p:cNvPr name="Group 22" id="22"/>
          <p:cNvGrpSpPr/>
          <p:nvPr/>
        </p:nvGrpSpPr>
        <p:grpSpPr>
          <a:xfrm rot="0">
            <a:off x="963648" y="5024562"/>
            <a:ext cx="5783680" cy="1062615"/>
            <a:chOff x="0" y="0"/>
            <a:chExt cx="7711574" cy="1416820"/>
          </a:xfrm>
        </p:grpSpPr>
        <p:sp>
          <p:nvSpPr>
            <p:cNvPr name="Freeform 23" id="23"/>
            <p:cNvSpPr/>
            <p:nvPr/>
          </p:nvSpPr>
          <p:spPr>
            <a:xfrm flipH="false" flipV="false" rot="0">
              <a:off x="0" y="0"/>
              <a:ext cx="1635579" cy="1416820"/>
            </a:xfrm>
            <a:custGeom>
              <a:avLst/>
              <a:gdLst/>
              <a:ahLst/>
              <a:cxnLst/>
              <a:rect r="r" b="b" t="t" l="l"/>
              <a:pathLst>
                <a:path h="1416820" w="1635579">
                  <a:moveTo>
                    <a:pt x="0" y="0"/>
                  </a:moveTo>
                  <a:lnTo>
                    <a:pt x="1635579" y="0"/>
                  </a:lnTo>
                  <a:lnTo>
                    <a:pt x="1635579" y="1416820"/>
                  </a:lnTo>
                  <a:lnTo>
                    <a:pt x="0" y="141682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4" id="24"/>
            <p:cNvSpPr txBox="true"/>
            <p:nvPr/>
          </p:nvSpPr>
          <p:spPr>
            <a:xfrm rot="0">
              <a:off x="1949358" y="98779"/>
              <a:ext cx="5762216" cy="629005"/>
            </a:xfrm>
            <a:prstGeom prst="rect">
              <a:avLst/>
            </a:prstGeom>
          </p:spPr>
          <p:txBody>
            <a:bodyPr anchor="t" rtlCol="false" tIns="0" lIns="0" bIns="0" rIns="0">
              <a:spAutoFit/>
            </a:bodyPr>
            <a:lstStyle/>
            <a:p>
              <a:pPr algn="l">
                <a:lnSpc>
                  <a:spcPts val="1833"/>
                </a:lnSpc>
              </a:pPr>
              <a:r>
                <a:rPr lang="en-US" sz="1608" b="true">
                  <a:solidFill>
                    <a:srgbClr val="100643"/>
                  </a:solidFill>
                  <a:latin typeface="Poppins Bold"/>
                  <a:ea typeface="Poppins Bold"/>
                  <a:cs typeface="Poppins Bold"/>
                  <a:sym typeface="Poppins Bold"/>
                </a:rPr>
                <a:t>Tự động hóa bước đối soát và chuyển khoản</a:t>
              </a:r>
            </a:p>
          </p:txBody>
        </p:sp>
        <p:sp>
          <p:nvSpPr>
            <p:cNvPr name="TextBox 25" id="25"/>
            <p:cNvSpPr txBox="true"/>
            <p:nvPr/>
          </p:nvSpPr>
          <p:spPr>
            <a:xfrm rot="0">
              <a:off x="1949358" y="696516"/>
              <a:ext cx="5762216" cy="720304"/>
            </a:xfrm>
            <a:prstGeom prst="rect">
              <a:avLst/>
            </a:prstGeom>
          </p:spPr>
          <p:txBody>
            <a:bodyPr anchor="t" rtlCol="false" tIns="0" lIns="0" bIns="0" rIns="0">
              <a:spAutoFit/>
            </a:bodyPr>
            <a:lstStyle/>
            <a:p>
              <a:pPr algn="just">
                <a:lnSpc>
                  <a:spcPts val="1407"/>
                </a:lnSpc>
              </a:pPr>
              <a:r>
                <a:rPr lang="en-US" sz="1223">
                  <a:solidFill>
                    <a:srgbClr val="100643"/>
                  </a:solidFill>
                  <a:latin typeface="Poppins"/>
                  <a:ea typeface="Poppins"/>
                  <a:cs typeface="Poppins"/>
                  <a:sym typeface="Poppins"/>
                </a:rPr>
                <a:t>Hệ thống tự động kích hoạt bước xác nhận và ngân hàng xử lý chuyển khoản theo nhiều đợt trong ngày thay vì chờ cuối ngày</a:t>
              </a:r>
            </a:p>
          </p:txBody>
        </p:sp>
        <p:sp>
          <p:nvSpPr>
            <p:cNvPr name="TextBox 26" id="26"/>
            <p:cNvSpPr txBox="true"/>
            <p:nvPr/>
          </p:nvSpPr>
          <p:spPr>
            <a:xfrm rot="0">
              <a:off x="262178" y="365013"/>
              <a:ext cx="1111223" cy="716016"/>
            </a:xfrm>
            <a:prstGeom prst="rect">
              <a:avLst/>
            </a:prstGeom>
          </p:spPr>
          <p:txBody>
            <a:bodyPr anchor="t" rtlCol="false" tIns="0" lIns="0" bIns="0" rIns="0">
              <a:spAutoFit/>
            </a:bodyPr>
            <a:lstStyle/>
            <a:p>
              <a:pPr algn="ctr">
                <a:lnSpc>
                  <a:spcPts val="4066"/>
                </a:lnSpc>
              </a:pPr>
              <a:r>
                <a:rPr lang="en-US" b="true" sz="3566">
                  <a:solidFill>
                    <a:srgbClr val="100643"/>
                  </a:solidFill>
                  <a:latin typeface="Poppins Bold"/>
                  <a:ea typeface="Poppins Bold"/>
                  <a:cs typeface="Poppins Bold"/>
                  <a:sym typeface="Poppins Bold"/>
                </a:rPr>
                <a:t>03</a:t>
              </a:r>
            </a:p>
          </p:txBody>
        </p:sp>
      </p:grpSp>
      <p:grpSp>
        <p:nvGrpSpPr>
          <p:cNvPr name="Group 27" id="27"/>
          <p:cNvGrpSpPr/>
          <p:nvPr/>
        </p:nvGrpSpPr>
        <p:grpSpPr>
          <a:xfrm rot="0">
            <a:off x="967655" y="6382452"/>
            <a:ext cx="5587736" cy="1062615"/>
            <a:chOff x="0" y="0"/>
            <a:chExt cx="7450315" cy="1416820"/>
          </a:xfrm>
        </p:grpSpPr>
        <p:sp>
          <p:nvSpPr>
            <p:cNvPr name="Freeform 28" id="28"/>
            <p:cNvSpPr/>
            <p:nvPr/>
          </p:nvSpPr>
          <p:spPr>
            <a:xfrm flipH="false" flipV="false" rot="0">
              <a:off x="0" y="0"/>
              <a:ext cx="1635579" cy="1416820"/>
            </a:xfrm>
            <a:custGeom>
              <a:avLst/>
              <a:gdLst/>
              <a:ahLst/>
              <a:cxnLst/>
              <a:rect r="r" b="b" t="t" l="l"/>
              <a:pathLst>
                <a:path h="1416820" w="1635579">
                  <a:moveTo>
                    <a:pt x="0" y="0"/>
                  </a:moveTo>
                  <a:lnTo>
                    <a:pt x="1635579" y="0"/>
                  </a:lnTo>
                  <a:lnTo>
                    <a:pt x="1635579" y="1416820"/>
                  </a:lnTo>
                  <a:lnTo>
                    <a:pt x="0" y="141682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9" id="29"/>
            <p:cNvSpPr txBox="true"/>
            <p:nvPr/>
          </p:nvSpPr>
          <p:spPr>
            <a:xfrm rot="0">
              <a:off x="1949358" y="215015"/>
              <a:ext cx="5500957" cy="327437"/>
            </a:xfrm>
            <a:prstGeom prst="rect">
              <a:avLst/>
            </a:prstGeom>
          </p:spPr>
          <p:txBody>
            <a:bodyPr anchor="t" rtlCol="false" tIns="0" lIns="0" bIns="0" rIns="0">
              <a:spAutoFit/>
            </a:bodyPr>
            <a:lstStyle/>
            <a:p>
              <a:pPr algn="l">
                <a:lnSpc>
                  <a:spcPts val="1833"/>
                </a:lnSpc>
              </a:pPr>
              <a:r>
                <a:rPr lang="en-US" sz="1608" b="true">
                  <a:solidFill>
                    <a:srgbClr val="100643"/>
                  </a:solidFill>
                  <a:latin typeface="Poppins Bold"/>
                  <a:ea typeface="Poppins Bold"/>
                  <a:cs typeface="Poppins Bold"/>
                  <a:sym typeface="Poppins Bold"/>
                </a:rPr>
                <a:t>Giảm các trường hợp ngoại lệ</a:t>
              </a:r>
            </a:p>
          </p:txBody>
        </p:sp>
        <p:sp>
          <p:nvSpPr>
            <p:cNvPr name="TextBox 30" id="30"/>
            <p:cNvSpPr txBox="true"/>
            <p:nvPr/>
          </p:nvSpPr>
          <p:spPr>
            <a:xfrm rot="0">
              <a:off x="1949358" y="698885"/>
              <a:ext cx="5500957" cy="486832"/>
            </a:xfrm>
            <a:prstGeom prst="rect">
              <a:avLst/>
            </a:prstGeom>
          </p:spPr>
          <p:txBody>
            <a:bodyPr anchor="t" rtlCol="false" tIns="0" lIns="0" bIns="0" rIns="0">
              <a:spAutoFit/>
            </a:bodyPr>
            <a:lstStyle/>
            <a:p>
              <a:pPr algn="just">
                <a:lnSpc>
                  <a:spcPts val="1407"/>
                </a:lnSpc>
              </a:pPr>
              <a:r>
                <a:rPr lang="en-US" sz="1223">
                  <a:solidFill>
                    <a:srgbClr val="100643"/>
                  </a:solidFill>
                  <a:latin typeface="Poppins"/>
                  <a:ea typeface="Poppins"/>
                  <a:cs typeface="Poppins"/>
                  <a:sym typeface="Poppins"/>
                </a:rPr>
                <a:t>Xác nhận trước với khách bằng SMS hoặc OTP để giảm tỷ lệ từ chối nhận. Sử dụng chat BOT AI để CSKH.</a:t>
              </a:r>
            </a:p>
          </p:txBody>
        </p:sp>
        <p:sp>
          <p:nvSpPr>
            <p:cNvPr name="TextBox 31" id="31"/>
            <p:cNvSpPr txBox="true"/>
            <p:nvPr/>
          </p:nvSpPr>
          <p:spPr>
            <a:xfrm rot="0">
              <a:off x="189344" y="345640"/>
              <a:ext cx="1256891" cy="716158"/>
            </a:xfrm>
            <a:prstGeom prst="rect">
              <a:avLst/>
            </a:prstGeom>
          </p:spPr>
          <p:txBody>
            <a:bodyPr anchor="t" rtlCol="false" tIns="0" lIns="0" bIns="0" rIns="0">
              <a:spAutoFit/>
            </a:bodyPr>
            <a:lstStyle/>
            <a:p>
              <a:pPr algn="ctr">
                <a:lnSpc>
                  <a:spcPts val="4066"/>
                </a:lnSpc>
              </a:pPr>
              <a:r>
                <a:rPr lang="en-US" b="true" sz="3566">
                  <a:solidFill>
                    <a:srgbClr val="FFFFFF"/>
                  </a:solidFill>
                  <a:latin typeface="Poppins Bold"/>
                  <a:ea typeface="Poppins Bold"/>
                  <a:cs typeface="Poppins Bold"/>
                  <a:sym typeface="Poppins Bold"/>
                </a:rPr>
                <a:t>04</a:t>
              </a:r>
            </a:p>
          </p:txBody>
        </p:sp>
      </p:grpSp>
      <p:sp>
        <p:nvSpPr>
          <p:cNvPr name="TextBox 32" id="32"/>
          <p:cNvSpPr txBox="true"/>
          <p:nvPr/>
        </p:nvSpPr>
        <p:spPr>
          <a:xfrm rot="0">
            <a:off x="9663667" y="1632457"/>
            <a:ext cx="6245247" cy="370713"/>
          </a:xfrm>
          <a:prstGeom prst="rect">
            <a:avLst/>
          </a:prstGeom>
        </p:spPr>
        <p:txBody>
          <a:bodyPr anchor="t" rtlCol="false" tIns="0" lIns="0" bIns="0" rIns="0">
            <a:spAutoFit/>
          </a:bodyPr>
          <a:lstStyle/>
          <a:p>
            <a:pPr algn="ctr">
              <a:lnSpc>
                <a:spcPts val="2736"/>
              </a:lnSpc>
            </a:pPr>
            <a:r>
              <a:rPr lang="en-US" b="true" sz="2400">
                <a:solidFill>
                  <a:srgbClr val="EB2427"/>
                </a:solidFill>
                <a:latin typeface="Poppins Bold"/>
                <a:ea typeface="Poppins Bold"/>
                <a:cs typeface="Poppins Bold"/>
                <a:sym typeface="Poppins Bold"/>
              </a:rPr>
              <a:t>Kết quả kỳ vọng</a:t>
            </a:r>
          </a:p>
        </p:txBody>
      </p:sp>
      <p:grpSp>
        <p:nvGrpSpPr>
          <p:cNvPr name="Group 33" id="33"/>
          <p:cNvGrpSpPr/>
          <p:nvPr/>
        </p:nvGrpSpPr>
        <p:grpSpPr>
          <a:xfrm rot="0">
            <a:off x="9395439" y="2202212"/>
            <a:ext cx="7384528" cy="957752"/>
            <a:chOff x="0" y="0"/>
            <a:chExt cx="1944896" cy="252248"/>
          </a:xfrm>
        </p:grpSpPr>
        <p:sp>
          <p:nvSpPr>
            <p:cNvPr name="Freeform 34" id="34"/>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35" id="35"/>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b="true" sz="1798">
                  <a:solidFill>
                    <a:srgbClr val="100643"/>
                  </a:solidFill>
                  <a:latin typeface="Poppins Bold"/>
                  <a:ea typeface="Poppins Bold"/>
                  <a:cs typeface="Poppins Bold"/>
                  <a:sym typeface="Poppins Bold"/>
                </a:rPr>
                <a:t>Thời gian xử lý một đơn COD</a:t>
              </a:r>
              <a:r>
                <a:rPr lang="en-US" sz="1798">
                  <a:solidFill>
                    <a:srgbClr val="100643"/>
                  </a:solidFill>
                  <a:latin typeface="Poppins"/>
                  <a:ea typeface="Poppins"/>
                  <a:cs typeface="Poppins"/>
                  <a:sym typeface="Poppins"/>
                </a:rPr>
                <a:t> dự kiến </a:t>
              </a:r>
              <a:r>
                <a:rPr lang="en-US" sz="1798" b="true">
                  <a:solidFill>
                    <a:srgbClr val="BD0016"/>
                  </a:solidFill>
                  <a:latin typeface="Poppins Bold"/>
                  <a:ea typeface="Poppins Bold"/>
                  <a:cs typeface="Poppins Bold"/>
                  <a:sym typeface="Poppins Bold"/>
                </a:rPr>
                <a:t>giảm từ 4,70/ngày</a:t>
              </a:r>
              <a:r>
                <a:rPr lang="en-US" sz="1798">
                  <a:solidFill>
                    <a:srgbClr val="100643"/>
                  </a:solidFill>
                  <a:latin typeface="Poppins"/>
                  <a:ea typeface="Poppins"/>
                  <a:cs typeface="Poppins"/>
                  <a:sym typeface="Poppins"/>
                </a:rPr>
                <a:t> </a:t>
              </a:r>
              <a:r>
                <a:rPr lang="en-US" b="true" sz="1798">
                  <a:solidFill>
                    <a:srgbClr val="100643"/>
                  </a:solidFill>
                  <a:latin typeface="Poppins Bold"/>
                  <a:ea typeface="Poppins Bold"/>
                  <a:cs typeface="Poppins Bold"/>
                  <a:sym typeface="Poppins Bold"/>
                </a:rPr>
                <a:t>xuống </a:t>
              </a:r>
              <a:r>
                <a:rPr lang="en-US" sz="1798" b="true">
                  <a:solidFill>
                    <a:srgbClr val="BD0016"/>
                  </a:solidFill>
                  <a:latin typeface="Poppins Bold"/>
                  <a:ea typeface="Poppins Bold"/>
                  <a:cs typeface="Poppins Bold"/>
                  <a:sym typeface="Poppins Bold"/>
                </a:rPr>
                <a:t>1,89 ngày</a:t>
              </a:r>
              <a:r>
                <a:rPr lang="en-US" sz="1798">
                  <a:solidFill>
                    <a:srgbClr val="100643"/>
                  </a:solidFill>
                  <a:latin typeface="Poppins"/>
                  <a:ea typeface="Poppins"/>
                  <a:cs typeface="Poppins"/>
                  <a:sym typeface="Poppins"/>
                </a:rPr>
                <a:t>, tức </a:t>
              </a:r>
              <a:r>
                <a:rPr lang="en-US" b="true" sz="1798">
                  <a:solidFill>
                    <a:srgbClr val="100643"/>
                  </a:solidFill>
                  <a:latin typeface="Poppins Bold"/>
                  <a:ea typeface="Poppins Bold"/>
                  <a:cs typeface="Poppins Bold"/>
                  <a:sym typeface="Poppins Bold"/>
                </a:rPr>
                <a:t>giảm gần 60%</a:t>
              </a:r>
              <a:r>
                <a:rPr lang="en-US" sz="1798">
                  <a:solidFill>
                    <a:srgbClr val="100643"/>
                  </a:solidFill>
                  <a:latin typeface="Poppins"/>
                  <a:ea typeface="Poppins"/>
                  <a:cs typeface="Poppins"/>
                  <a:sym typeface="Poppins"/>
                </a:rPr>
                <a:t>.</a:t>
              </a:r>
            </a:p>
          </p:txBody>
        </p:sp>
      </p:grpSp>
      <p:grpSp>
        <p:nvGrpSpPr>
          <p:cNvPr name="Group 36" id="36"/>
          <p:cNvGrpSpPr/>
          <p:nvPr/>
        </p:nvGrpSpPr>
        <p:grpSpPr>
          <a:xfrm rot="0">
            <a:off x="9395439" y="8019761"/>
            <a:ext cx="7384528" cy="957752"/>
            <a:chOff x="0" y="0"/>
            <a:chExt cx="1944896" cy="252248"/>
          </a:xfrm>
        </p:grpSpPr>
        <p:sp>
          <p:nvSpPr>
            <p:cNvPr name="Freeform 37" id="37"/>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38" id="38"/>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sz="1798" b="true">
                  <a:solidFill>
                    <a:srgbClr val="100643"/>
                  </a:solidFill>
                  <a:latin typeface="Poppins Bold"/>
                  <a:ea typeface="Poppins Bold"/>
                  <a:cs typeface="Poppins Bold"/>
                  <a:sym typeface="Poppins Bold"/>
                </a:rPr>
                <a:t>CTE </a:t>
              </a:r>
              <a:r>
                <a:rPr lang="en-US" b="true" sz="1798">
                  <a:solidFill>
                    <a:srgbClr val="100643"/>
                  </a:solidFill>
                  <a:latin typeface="Poppins Bold"/>
                  <a:ea typeface="Poppins Bold"/>
                  <a:cs typeface="Poppins Bold"/>
                  <a:sym typeface="Poppins Bold"/>
                </a:rPr>
                <a:t>tăn</a:t>
              </a:r>
              <a:r>
                <a:rPr lang="en-US" sz="1798" b="true">
                  <a:solidFill>
                    <a:srgbClr val="100643"/>
                  </a:solidFill>
                  <a:latin typeface="Poppins Bold"/>
                  <a:ea typeface="Poppins Bold"/>
                  <a:cs typeface="Poppins Bold"/>
                  <a:sym typeface="Poppins Bold"/>
                </a:rPr>
                <a:t>g </a:t>
              </a:r>
              <a:r>
                <a:rPr lang="en-US" sz="1798" b="true">
                  <a:solidFill>
                    <a:srgbClr val="BD0016"/>
                  </a:solidFill>
                  <a:latin typeface="Poppins Bold"/>
                  <a:ea typeface="Poppins Bold"/>
                  <a:cs typeface="Poppins Bold"/>
                  <a:sym typeface="Poppins Bold"/>
                </a:rPr>
                <a:t>từ 1,64%</a:t>
              </a:r>
              <a:r>
                <a:rPr lang="en-US" b="true" sz="1798">
                  <a:solidFill>
                    <a:srgbClr val="100643"/>
                  </a:solidFill>
                  <a:latin typeface="Poppins Bold"/>
                  <a:ea typeface="Poppins Bold"/>
                  <a:cs typeface="Poppins Bold"/>
                  <a:sym typeface="Poppins Bold"/>
                </a:rPr>
                <a:t> lên</a:t>
              </a:r>
              <a:r>
                <a:rPr lang="en-US" sz="1798" b="true">
                  <a:solidFill>
                    <a:srgbClr val="BD0016"/>
                  </a:solidFill>
                  <a:latin typeface="Poppins Bold"/>
                  <a:ea typeface="Poppins Bold"/>
                  <a:cs typeface="Poppins Bold"/>
                  <a:sym typeface="Poppins Bold"/>
                </a:rPr>
                <a:t> 2,85%</a:t>
              </a:r>
              <a:r>
                <a:rPr lang="en-US" b="true" sz="1798">
                  <a:solidFill>
                    <a:srgbClr val="100643"/>
                  </a:solidFill>
                  <a:latin typeface="Poppins Bold"/>
                  <a:ea typeface="Poppins Bold"/>
                  <a:cs typeface="Poppins Bold"/>
                  <a:sym typeface="Poppins Bold"/>
                </a:rPr>
                <a:t>. </a:t>
              </a:r>
            </a:p>
          </p:txBody>
        </p:sp>
      </p:grpSp>
      <p:grpSp>
        <p:nvGrpSpPr>
          <p:cNvPr name="Group 39" id="39"/>
          <p:cNvGrpSpPr/>
          <p:nvPr/>
        </p:nvGrpSpPr>
        <p:grpSpPr>
          <a:xfrm rot="0">
            <a:off x="9395439" y="3388652"/>
            <a:ext cx="7384528" cy="957752"/>
            <a:chOff x="0" y="0"/>
            <a:chExt cx="1944896" cy="252248"/>
          </a:xfrm>
        </p:grpSpPr>
        <p:sp>
          <p:nvSpPr>
            <p:cNvPr name="Freeform 40" id="40"/>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41" id="41"/>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sz="1798" b="true">
                  <a:solidFill>
                    <a:srgbClr val="100643"/>
                  </a:solidFill>
                  <a:latin typeface="Poppins Bold"/>
                  <a:ea typeface="Poppins Bold"/>
                  <a:cs typeface="Poppins Bold"/>
                  <a:sym typeface="Poppins Bold"/>
                </a:rPr>
                <a:t>Tỷ lệ giao hàng thất bại giảm từ</a:t>
              </a:r>
              <a:r>
                <a:rPr lang="en-US" sz="1798">
                  <a:solidFill>
                    <a:srgbClr val="100643"/>
                  </a:solidFill>
                  <a:latin typeface="Poppins"/>
                  <a:ea typeface="Poppins"/>
                  <a:cs typeface="Poppins"/>
                  <a:sym typeface="Poppins"/>
                </a:rPr>
                <a:t> </a:t>
              </a:r>
              <a:r>
                <a:rPr lang="en-US" sz="1798" b="true">
                  <a:solidFill>
                    <a:srgbClr val="BD0016"/>
                  </a:solidFill>
                  <a:latin typeface="Poppins Bold"/>
                  <a:ea typeface="Poppins Bold"/>
                  <a:cs typeface="Poppins Bold"/>
                  <a:sym typeface="Poppins Bold"/>
                </a:rPr>
                <a:t>8%</a:t>
              </a:r>
              <a:r>
                <a:rPr lang="en-US" sz="1798">
                  <a:solidFill>
                    <a:srgbClr val="100643"/>
                  </a:solidFill>
                  <a:latin typeface="Poppins"/>
                  <a:ea typeface="Poppins"/>
                  <a:cs typeface="Poppins"/>
                  <a:sym typeface="Poppins"/>
                </a:rPr>
                <a:t> </a:t>
              </a:r>
              <a:r>
                <a:rPr lang="en-US" sz="1798" b="true">
                  <a:solidFill>
                    <a:srgbClr val="100643"/>
                  </a:solidFill>
                  <a:latin typeface="Poppins Bold"/>
                  <a:ea typeface="Poppins Bold"/>
                  <a:cs typeface="Poppins Bold"/>
                  <a:sym typeface="Poppins Bold"/>
                </a:rPr>
                <a:t>xuống </a:t>
              </a:r>
              <a:r>
                <a:rPr lang="en-US" sz="1798" b="true">
                  <a:solidFill>
                    <a:srgbClr val="BD0016"/>
                  </a:solidFill>
                  <a:latin typeface="Poppins Bold"/>
                  <a:ea typeface="Poppins Bold"/>
                  <a:cs typeface="Poppins Bold"/>
                  <a:sym typeface="Poppins Bold"/>
                </a:rPr>
                <a:t>3%</a:t>
              </a:r>
            </a:p>
          </p:txBody>
        </p:sp>
      </p:grpSp>
      <p:grpSp>
        <p:nvGrpSpPr>
          <p:cNvPr name="Group 42" id="42"/>
          <p:cNvGrpSpPr/>
          <p:nvPr/>
        </p:nvGrpSpPr>
        <p:grpSpPr>
          <a:xfrm rot="0">
            <a:off x="9395439" y="4527379"/>
            <a:ext cx="7384528" cy="957752"/>
            <a:chOff x="0" y="0"/>
            <a:chExt cx="1944896" cy="252248"/>
          </a:xfrm>
        </p:grpSpPr>
        <p:sp>
          <p:nvSpPr>
            <p:cNvPr name="Freeform 43" id="43"/>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44" id="44"/>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sz="1798" b="true">
                  <a:solidFill>
                    <a:srgbClr val="100643"/>
                  </a:solidFill>
                  <a:latin typeface="Poppins Bold"/>
                  <a:ea typeface="Poppins Bold"/>
                  <a:cs typeface="Poppins Bold"/>
                  <a:sym typeface="Poppins Bold"/>
                </a:rPr>
                <a:t>Tỷ lệ khiếu nại đối soát từ </a:t>
              </a:r>
              <a:r>
                <a:rPr lang="en-US" sz="1798" b="true">
                  <a:solidFill>
                    <a:srgbClr val="BD0016"/>
                  </a:solidFill>
                  <a:latin typeface="Poppins Bold"/>
                  <a:ea typeface="Poppins Bold"/>
                  <a:cs typeface="Poppins Bold"/>
                  <a:sym typeface="Poppins Bold"/>
                </a:rPr>
                <a:t>5%</a:t>
              </a:r>
              <a:r>
                <a:rPr lang="en-US" sz="1798" b="true">
                  <a:solidFill>
                    <a:srgbClr val="100643"/>
                  </a:solidFill>
                  <a:latin typeface="Poppins Bold"/>
                  <a:ea typeface="Poppins Bold"/>
                  <a:cs typeface="Poppins Bold"/>
                  <a:sym typeface="Poppins Bold"/>
                </a:rPr>
                <a:t> xuống </a:t>
              </a:r>
              <a:r>
                <a:rPr lang="en-US" sz="1798" b="true">
                  <a:solidFill>
                    <a:srgbClr val="BD0016"/>
                  </a:solidFill>
                  <a:latin typeface="Poppins Bold"/>
                  <a:ea typeface="Poppins Bold"/>
                  <a:cs typeface="Poppins Bold"/>
                  <a:sym typeface="Poppins Bold"/>
                </a:rPr>
                <a:t>2%</a:t>
              </a:r>
            </a:p>
          </p:txBody>
        </p:sp>
      </p:grpSp>
      <p:grpSp>
        <p:nvGrpSpPr>
          <p:cNvPr name="Group 45" id="45"/>
          <p:cNvGrpSpPr/>
          <p:nvPr/>
        </p:nvGrpSpPr>
        <p:grpSpPr>
          <a:xfrm rot="0">
            <a:off x="9395439" y="5685156"/>
            <a:ext cx="7384528" cy="957752"/>
            <a:chOff x="0" y="0"/>
            <a:chExt cx="1944896" cy="252248"/>
          </a:xfrm>
        </p:grpSpPr>
        <p:sp>
          <p:nvSpPr>
            <p:cNvPr name="Freeform 46" id="46"/>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47" id="47"/>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sz="1798" b="true">
                  <a:solidFill>
                    <a:srgbClr val="100643"/>
                  </a:solidFill>
                  <a:latin typeface="Poppins Bold"/>
                  <a:ea typeface="Poppins Bold"/>
                  <a:cs typeface="Poppins Bold"/>
                  <a:sym typeface="Poppins Bold"/>
                </a:rPr>
                <a:t>Tỷ lệ làm đúng lần đầu (FTR)</a:t>
              </a:r>
              <a:r>
                <a:rPr lang="en-US" sz="1798">
                  <a:solidFill>
                    <a:srgbClr val="100643"/>
                  </a:solidFill>
                  <a:latin typeface="Poppins"/>
                  <a:ea typeface="Poppins"/>
                  <a:cs typeface="Poppins"/>
                  <a:sym typeface="Poppins"/>
                </a:rPr>
                <a:t> </a:t>
              </a:r>
              <a:r>
                <a:rPr lang="en-US" sz="1798" b="true">
                  <a:solidFill>
                    <a:srgbClr val="100643"/>
                  </a:solidFill>
                  <a:latin typeface="Poppins Bold"/>
                  <a:ea typeface="Poppins Bold"/>
                  <a:cs typeface="Poppins Bold"/>
                  <a:sym typeface="Poppins Bold"/>
                </a:rPr>
                <a:t>tăng từ </a:t>
              </a:r>
              <a:r>
                <a:rPr lang="en-US" sz="1798" b="true">
                  <a:solidFill>
                    <a:srgbClr val="BD0016"/>
                  </a:solidFill>
                  <a:latin typeface="Poppins Bold"/>
                  <a:ea typeface="Poppins Bold"/>
                  <a:cs typeface="Poppins Bold"/>
                  <a:sym typeface="Poppins Bold"/>
                </a:rPr>
                <a:t>87,4%</a:t>
              </a:r>
              <a:r>
                <a:rPr lang="en-US" sz="1798" b="true">
                  <a:solidFill>
                    <a:srgbClr val="100643"/>
                  </a:solidFill>
                  <a:latin typeface="Poppins Bold"/>
                  <a:ea typeface="Poppins Bold"/>
                  <a:cs typeface="Poppins Bold"/>
                  <a:sym typeface="Poppins Bold"/>
                </a:rPr>
                <a:t> lên </a:t>
              </a:r>
              <a:r>
                <a:rPr lang="en-US" sz="1798" b="true">
                  <a:solidFill>
                    <a:srgbClr val="BD0016"/>
                  </a:solidFill>
                  <a:latin typeface="Poppins Bold"/>
                  <a:ea typeface="Poppins Bold"/>
                  <a:cs typeface="Poppins Bold"/>
                  <a:sym typeface="Poppins Bold"/>
                </a:rPr>
                <a:t>95,1%</a:t>
              </a:r>
            </a:p>
          </p:txBody>
        </p:sp>
      </p:grpSp>
      <p:grpSp>
        <p:nvGrpSpPr>
          <p:cNvPr name="Group 48" id="48"/>
          <p:cNvGrpSpPr/>
          <p:nvPr/>
        </p:nvGrpSpPr>
        <p:grpSpPr>
          <a:xfrm rot="0">
            <a:off x="9395439" y="6852459"/>
            <a:ext cx="7384528" cy="957752"/>
            <a:chOff x="0" y="0"/>
            <a:chExt cx="1944896" cy="252248"/>
          </a:xfrm>
        </p:grpSpPr>
        <p:sp>
          <p:nvSpPr>
            <p:cNvPr name="Freeform 49" id="49"/>
            <p:cNvSpPr/>
            <p:nvPr/>
          </p:nvSpPr>
          <p:spPr>
            <a:xfrm flipH="false" flipV="false" rot="0">
              <a:off x="0" y="0"/>
              <a:ext cx="1944896" cy="252248"/>
            </a:xfrm>
            <a:custGeom>
              <a:avLst/>
              <a:gdLst/>
              <a:ahLst/>
              <a:cxnLst/>
              <a:rect r="r" b="b" t="t" l="l"/>
              <a:pathLst>
                <a:path h="252248" w="1944896">
                  <a:moveTo>
                    <a:pt x="17823" y="0"/>
                  </a:moveTo>
                  <a:lnTo>
                    <a:pt x="1927073" y="0"/>
                  </a:lnTo>
                  <a:cubicBezTo>
                    <a:pt x="1931800" y="0"/>
                    <a:pt x="1936334" y="1878"/>
                    <a:pt x="1939676" y="5220"/>
                  </a:cubicBezTo>
                  <a:cubicBezTo>
                    <a:pt x="1943018" y="8563"/>
                    <a:pt x="1944896" y="13096"/>
                    <a:pt x="1944896" y="17823"/>
                  </a:cubicBezTo>
                  <a:lnTo>
                    <a:pt x="1944896" y="234425"/>
                  </a:lnTo>
                  <a:cubicBezTo>
                    <a:pt x="1944896" y="244268"/>
                    <a:pt x="1936917" y="252248"/>
                    <a:pt x="1927073" y="252248"/>
                  </a:cubicBezTo>
                  <a:lnTo>
                    <a:pt x="17823" y="252248"/>
                  </a:lnTo>
                  <a:cubicBezTo>
                    <a:pt x="7980" y="252248"/>
                    <a:pt x="0" y="244268"/>
                    <a:pt x="0" y="234425"/>
                  </a:cubicBezTo>
                  <a:lnTo>
                    <a:pt x="0" y="17823"/>
                  </a:lnTo>
                  <a:cubicBezTo>
                    <a:pt x="0" y="7980"/>
                    <a:pt x="7980" y="0"/>
                    <a:pt x="17823" y="0"/>
                  </a:cubicBezTo>
                  <a:close/>
                </a:path>
              </a:pathLst>
            </a:custGeom>
            <a:solidFill>
              <a:srgbClr val="E8E8E8"/>
            </a:solidFill>
          </p:spPr>
        </p:sp>
        <p:sp>
          <p:nvSpPr>
            <p:cNvPr name="TextBox 50" id="50"/>
            <p:cNvSpPr txBox="true"/>
            <p:nvPr/>
          </p:nvSpPr>
          <p:spPr>
            <a:xfrm>
              <a:off x="0" y="-9525"/>
              <a:ext cx="1944896" cy="261773"/>
            </a:xfrm>
            <a:prstGeom prst="rect">
              <a:avLst/>
            </a:prstGeom>
          </p:spPr>
          <p:txBody>
            <a:bodyPr anchor="ctr" rtlCol="false" tIns="50800" lIns="50800" bIns="50800" rIns="50800"/>
            <a:lstStyle/>
            <a:p>
              <a:pPr algn="l">
                <a:lnSpc>
                  <a:spcPts val="2050"/>
                </a:lnSpc>
              </a:pPr>
              <a:r>
                <a:rPr lang="en-US" sz="1798" b="true">
                  <a:solidFill>
                    <a:srgbClr val="100643"/>
                  </a:solidFill>
                  <a:latin typeface="Poppins Bold"/>
                  <a:ea typeface="Poppins Bold"/>
                  <a:cs typeface="Poppins Bold"/>
                  <a:sym typeface="Poppins Bold"/>
                </a:rPr>
                <a:t>Chi phí nhân công mỗi đơn </a:t>
              </a:r>
              <a:r>
                <a:rPr lang="en-US" sz="1798" b="true">
                  <a:solidFill>
                    <a:srgbClr val="BD0016"/>
                  </a:solidFill>
                  <a:latin typeface="Poppins Bold"/>
                  <a:ea typeface="Poppins Bold"/>
                  <a:cs typeface="Poppins Bold"/>
                  <a:sym typeface="Poppins Bold"/>
                </a:rPr>
                <a:t>giảm từ 111.350 </a:t>
              </a:r>
              <a:r>
                <a:rPr lang="en-US" sz="1798" b="true">
                  <a:solidFill>
                    <a:srgbClr val="100643"/>
                  </a:solidFill>
                  <a:latin typeface="Poppins Bold"/>
                  <a:ea typeface="Poppins Bold"/>
                  <a:cs typeface="Poppins Bold"/>
                  <a:sym typeface="Poppins Bold"/>
                </a:rPr>
                <a:t>xuống khoảng </a:t>
              </a:r>
              <a:r>
                <a:rPr lang="en-US" sz="1798" b="true">
                  <a:solidFill>
                    <a:srgbClr val="BD0016"/>
                  </a:solidFill>
                  <a:latin typeface="Poppins Bold"/>
                  <a:ea typeface="Poppins Bold"/>
                  <a:cs typeface="Poppins Bold"/>
                  <a:sym typeface="Poppins Bold"/>
                </a:rPr>
                <a:t>77.400 đồng</a:t>
              </a:r>
              <a:r>
                <a:rPr lang="en-US" sz="1798" b="true">
                  <a:solidFill>
                    <a:srgbClr val="100643"/>
                  </a:solidFill>
                  <a:latin typeface="Poppins Bold"/>
                  <a:ea typeface="Poppins Bold"/>
                  <a:cs typeface="Poppins Bold"/>
                  <a:sym typeface="Poppins Bold"/>
                </a:rPr>
                <a:t>, tiết kiệm hơn 30%.</a:t>
              </a:r>
            </a:p>
          </p:txBody>
        </p:sp>
      </p:grpSp>
      <p:grpSp>
        <p:nvGrpSpPr>
          <p:cNvPr name="Group 51" id="51"/>
          <p:cNvGrpSpPr/>
          <p:nvPr/>
        </p:nvGrpSpPr>
        <p:grpSpPr>
          <a:xfrm rot="0">
            <a:off x="960623" y="7740342"/>
            <a:ext cx="5783680" cy="1062615"/>
            <a:chOff x="0" y="0"/>
            <a:chExt cx="7711574" cy="1416820"/>
          </a:xfrm>
        </p:grpSpPr>
        <p:sp>
          <p:nvSpPr>
            <p:cNvPr name="Freeform 52" id="52"/>
            <p:cNvSpPr/>
            <p:nvPr/>
          </p:nvSpPr>
          <p:spPr>
            <a:xfrm flipH="false" flipV="false" rot="0">
              <a:off x="0" y="0"/>
              <a:ext cx="1635579" cy="1416820"/>
            </a:xfrm>
            <a:custGeom>
              <a:avLst/>
              <a:gdLst/>
              <a:ahLst/>
              <a:cxnLst/>
              <a:rect r="r" b="b" t="t" l="l"/>
              <a:pathLst>
                <a:path h="1416820" w="1635579">
                  <a:moveTo>
                    <a:pt x="0" y="0"/>
                  </a:moveTo>
                  <a:lnTo>
                    <a:pt x="1635579" y="0"/>
                  </a:lnTo>
                  <a:lnTo>
                    <a:pt x="1635579" y="1416820"/>
                  </a:lnTo>
                  <a:lnTo>
                    <a:pt x="0" y="141682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53" id="53"/>
            <p:cNvSpPr txBox="true"/>
            <p:nvPr/>
          </p:nvSpPr>
          <p:spPr>
            <a:xfrm rot="0">
              <a:off x="1949358" y="98779"/>
              <a:ext cx="5762216" cy="629005"/>
            </a:xfrm>
            <a:prstGeom prst="rect">
              <a:avLst/>
            </a:prstGeom>
          </p:spPr>
          <p:txBody>
            <a:bodyPr anchor="t" rtlCol="false" tIns="0" lIns="0" bIns="0" rIns="0">
              <a:spAutoFit/>
            </a:bodyPr>
            <a:lstStyle/>
            <a:p>
              <a:pPr algn="l">
                <a:lnSpc>
                  <a:spcPts val="1833"/>
                </a:lnSpc>
              </a:pPr>
              <a:r>
                <a:rPr lang="en-US" sz="1608" b="true">
                  <a:solidFill>
                    <a:srgbClr val="100643"/>
                  </a:solidFill>
                  <a:latin typeface="Poppins Bold"/>
                  <a:ea typeface="Poppins Bold"/>
                  <a:cs typeface="Poppins Bold"/>
                  <a:sym typeface="Poppins Bold"/>
                </a:rPr>
                <a:t>Thí điểm ở mô hình nhỏ để do lường thực tế </a:t>
              </a:r>
            </a:p>
          </p:txBody>
        </p:sp>
        <p:sp>
          <p:nvSpPr>
            <p:cNvPr name="TextBox 54" id="54"/>
            <p:cNvSpPr txBox="true"/>
            <p:nvPr/>
          </p:nvSpPr>
          <p:spPr>
            <a:xfrm rot="0">
              <a:off x="1949358" y="832993"/>
              <a:ext cx="5762216" cy="486832"/>
            </a:xfrm>
            <a:prstGeom prst="rect">
              <a:avLst/>
            </a:prstGeom>
          </p:spPr>
          <p:txBody>
            <a:bodyPr anchor="t" rtlCol="false" tIns="0" lIns="0" bIns="0" rIns="0">
              <a:spAutoFit/>
            </a:bodyPr>
            <a:lstStyle/>
            <a:p>
              <a:pPr algn="just">
                <a:lnSpc>
                  <a:spcPts val="1407"/>
                </a:lnSpc>
              </a:pPr>
              <a:r>
                <a:rPr lang="en-US" sz="1223">
                  <a:solidFill>
                    <a:srgbClr val="100643"/>
                  </a:solidFill>
                  <a:latin typeface="Poppins"/>
                  <a:ea typeface="Poppins"/>
                  <a:cs typeface="Poppins"/>
                  <a:sym typeface="Poppins"/>
                </a:rPr>
                <a:t>Giúp kiểm soát các bước chặt chẽ và đưa ra các bảng phân tích đo lường khi áp dụng vào thực tế</a:t>
              </a:r>
            </a:p>
          </p:txBody>
        </p:sp>
        <p:sp>
          <p:nvSpPr>
            <p:cNvPr name="TextBox 55" id="55"/>
            <p:cNvSpPr txBox="true"/>
            <p:nvPr/>
          </p:nvSpPr>
          <p:spPr>
            <a:xfrm rot="0">
              <a:off x="262178" y="365013"/>
              <a:ext cx="1111223" cy="716158"/>
            </a:xfrm>
            <a:prstGeom prst="rect">
              <a:avLst/>
            </a:prstGeom>
          </p:spPr>
          <p:txBody>
            <a:bodyPr anchor="t" rtlCol="false" tIns="0" lIns="0" bIns="0" rIns="0">
              <a:spAutoFit/>
            </a:bodyPr>
            <a:lstStyle/>
            <a:p>
              <a:pPr algn="ctr">
                <a:lnSpc>
                  <a:spcPts val="4066"/>
                </a:lnSpc>
              </a:pPr>
              <a:r>
                <a:rPr lang="en-US" b="true" sz="3566">
                  <a:solidFill>
                    <a:srgbClr val="FFFFFF"/>
                  </a:solidFill>
                  <a:latin typeface="Poppins Bold"/>
                  <a:ea typeface="Poppins Bold"/>
                  <a:cs typeface="Poppins Bold"/>
                  <a:sym typeface="Poppins Bold"/>
                </a:rPr>
                <a:t>05</a:t>
              </a:r>
            </a:p>
          </p:txBody>
        </p:sp>
      </p:grpSp>
      <p:sp>
        <p:nvSpPr>
          <p:cNvPr name="TextBox 56" id="56"/>
          <p:cNvSpPr txBox="true"/>
          <p:nvPr/>
        </p:nvSpPr>
        <p:spPr>
          <a:xfrm rot="0">
            <a:off x="1430516" y="516761"/>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5</a:t>
            </a:r>
          </a:p>
        </p:txBody>
      </p:sp>
      <p:sp>
        <p:nvSpPr>
          <p:cNvPr name="TextBox 57" id="57"/>
          <p:cNvSpPr txBox="true"/>
          <p:nvPr/>
        </p:nvSpPr>
        <p:spPr>
          <a:xfrm rot="0">
            <a:off x="1430516" y="833746"/>
            <a:ext cx="2902199" cy="511977"/>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MÔ HÌNH HÓA, PHÂN TÍCH VÀ CẢI TIẾN QUY TRÌNH</a:t>
            </a:r>
          </a:p>
        </p:txBody>
      </p:sp>
      <p:sp>
        <p:nvSpPr>
          <p:cNvPr name="TextBox 58" id="58"/>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52</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1544540" y="6016082"/>
            <a:ext cx="20613434" cy="10306717"/>
          </a:xfrm>
          <a:custGeom>
            <a:avLst/>
            <a:gdLst/>
            <a:ahLst/>
            <a:cxnLst/>
            <a:rect r="r" b="b" t="t" l="l"/>
            <a:pathLst>
              <a:path h="10306717" w="20613434">
                <a:moveTo>
                  <a:pt x="0" y="0"/>
                </a:moveTo>
                <a:lnTo>
                  <a:pt x="20613434" y="0"/>
                </a:lnTo>
                <a:lnTo>
                  <a:pt x="20613434" y="10306717"/>
                </a:lnTo>
                <a:lnTo>
                  <a:pt x="0" y="1030671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95184" y="8169375"/>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40463" y="8313160"/>
            <a:ext cx="381433" cy="381433"/>
          </a:xfrm>
          <a:custGeom>
            <a:avLst/>
            <a:gdLst/>
            <a:ahLst/>
            <a:cxnLst/>
            <a:rect r="r" b="b" t="t" l="l"/>
            <a:pathLst>
              <a:path h="381433" w="381433">
                <a:moveTo>
                  <a:pt x="0" y="0"/>
                </a:moveTo>
                <a:lnTo>
                  <a:pt x="381434" y="0"/>
                </a:lnTo>
                <a:lnTo>
                  <a:pt x="381434" y="381433"/>
                </a:lnTo>
                <a:lnTo>
                  <a:pt x="0" y="3814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1887739" y="8189221"/>
            <a:ext cx="671992" cy="671992"/>
          </a:xfrm>
          <a:custGeom>
            <a:avLst/>
            <a:gdLst/>
            <a:ahLst/>
            <a:cxnLst/>
            <a:rect r="r" b="b" t="t" l="l"/>
            <a:pathLst>
              <a:path h="671992" w="671992">
                <a:moveTo>
                  <a:pt x="0" y="0"/>
                </a:moveTo>
                <a:lnTo>
                  <a:pt x="671992" y="0"/>
                </a:lnTo>
                <a:lnTo>
                  <a:pt x="671992" y="671992"/>
                </a:lnTo>
                <a:lnTo>
                  <a:pt x="0" y="6719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703342" y="1445633"/>
            <a:ext cx="6134793" cy="6134793"/>
          </a:xfrm>
          <a:custGeom>
            <a:avLst/>
            <a:gdLst/>
            <a:ahLst/>
            <a:cxnLst/>
            <a:rect r="r" b="b" t="t" l="l"/>
            <a:pathLst>
              <a:path h="6134793" w="6134793">
                <a:moveTo>
                  <a:pt x="0" y="0"/>
                </a:moveTo>
                <a:lnTo>
                  <a:pt x="6134794" y="0"/>
                </a:lnTo>
                <a:lnTo>
                  <a:pt x="6134794" y="6134794"/>
                </a:lnTo>
                <a:lnTo>
                  <a:pt x="0" y="61347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10127936" y="1870227"/>
            <a:ext cx="5285606" cy="528560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0"/>
              <a:stretch>
                <a:fillRect l="-25901" t="0" r="-25901" b="0"/>
              </a:stretch>
            </a:blipFill>
            <a:ln w="190500" cap="sq">
              <a:solidFill>
                <a:srgbClr val="FFFFFF"/>
              </a:solidFill>
              <a:prstDash val="solid"/>
              <a:miter/>
            </a:ln>
          </p:spPr>
        </p:sp>
      </p:grpSp>
      <p:grpSp>
        <p:nvGrpSpPr>
          <p:cNvPr name="Group 9" id="9"/>
          <p:cNvGrpSpPr/>
          <p:nvPr/>
        </p:nvGrpSpPr>
        <p:grpSpPr>
          <a:xfrm rot="0">
            <a:off x="8762177" y="2055809"/>
            <a:ext cx="2558609" cy="255860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1"/>
              <a:stretch>
                <a:fillRect l="-122524" t="0" r="-74873" b="0"/>
              </a:stretch>
            </a:blipFill>
            <a:ln w="142875" cap="sq">
              <a:solidFill>
                <a:srgbClr val="100643"/>
              </a:solidFill>
              <a:prstDash val="solid"/>
              <a:miter/>
            </a:ln>
          </p:spPr>
        </p:sp>
      </p:grpSp>
      <p:grpSp>
        <p:nvGrpSpPr>
          <p:cNvPr name="Group 11" id="11"/>
          <p:cNvGrpSpPr/>
          <p:nvPr/>
        </p:nvGrpSpPr>
        <p:grpSpPr>
          <a:xfrm rot="0">
            <a:off x="14271609" y="2055809"/>
            <a:ext cx="2558609" cy="255860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24005" t="0" r="-24005" b="0"/>
              </a:stretch>
            </a:blipFill>
            <a:ln w="142875" cap="sq">
              <a:solidFill>
                <a:srgbClr val="100643"/>
              </a:solidFill>
              <a:prstDash val="solid"/>
              <a:miter/>
            </a:ln>
          </p:spPr>
        </p:sp>
      </p:grpSp>
      <p:sp>
        <p:nvSpPr>
          <p:cNvPr name="Freeform 13" id="13"/>
          <p:cNvSpPr/>
          <p:nvPr/>
        </p:nvSpPr>
        <p:spPr>
          <a:xfrm flipH="false" flipV="false" rot="0">
            <a:off x="1325322" y="1445633"/>
            <a:ext cx="847526" cy="961731"/>
          </a:xfrm>
          <a:custGeom>
            <a:avLst/>
            <a:gdLst/>
            <a:ahLst/>
            <a:cxnLst/>
            <a:rect r="r" b="b" t="t" l="l"/>
            <a:pathLst>
              <a:path h="961731" w="847526">
                <a:moveTo>
                  <a:pt x="0" y="0"/>
                </a:moveTo>
                <a:lnTo>
                  <a:pt x="847526" y="0"/>
                </a:lnTo>
                <a:lnTo>
                  <a:pt x="847526" y="961732"/>
                </a:lnTo>
                <a:lnTo>
                  <a:pt x="0" y="9617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11872258" y="8169375"/>
            <a:ext cx="702954" cy="702954"/>
          </a:xfrm>
          <a:custGeom>
            <a:avLst/>
            <a:gdLst/>
            <a:ahLst/>
            <a:cxnLst/>
            <a:rect r="r" b="b" t="t" l="l"/>
            <a:pathLst>
              <a:path h="702954" w="702954">
                <a:moveTo>
                  <a:pt x="0" y="0"/>
                </a:moveTo>
                <a:lnTo>
                  <a:pt x="702954" y="0"/>
                </a:lnTo>
                <a:lnTo>
                  <a:pt x="702954" y="702954"/>
                </a:lnTo>
                <a:lnTo>
                  <a:pt x="0" y="702954"/>
                </a:lnTo>
                <a:lnTo>
                  <a:pt x="0" y="0"/>
                </a:lnTo>
                <a:close/>
              </a:path>
            </a:pathLst>
          </a:custGeom>
          <a:blipFill>
            <a:blip r:embed="rId15"/>
            <a:stretch>
              <a:fillRect l="0" t="0" r="0" b="0"/>
            </a:stretch>
          </a:blipFill>
        </p:spPr>
      </p:sp>
      <p:sp>
        <p:nvSpPr>
          <p:cNvPr name="TextBox 15" id="15"/>
          <p:cNvSpPr txBox="true"/>
          <p:nvPr/>
        </p:nvSpPr>
        <p:spPr>
          <a:xfrm rot="0">
            <a:off x="1395184" y="3316063"/>
            <a:ext cx="6465655" cy="691183"/>
          </a:xfrm>
          <a:prstGeom prst="rect">
            <a:avLst/>
          </a:prstGeom>
        </p:spPr>
        <p:txBody>
          <a:bodyPr anchor="t" rtlCol="false" tIns="0" lIns="0" bIns="0" rIns="0">
            <a:spAutoFit/>
          </a:bodyPr>
          <a:lstStyle/>
          <a:p>
            <a:pPr algn="l" marL="0" indent="0" lvl="0">
              <a:lnSpc>
                <a:spcPts val="5080"/>
              </a:lnSpc>
              <a:spcBef>
                <a:spcPct val="0"/>
              </a:spcBef>
            </a:pPr>
            <a:r>
              <a:rPr lang="en-US" b="true" sz="4456" strike="noStrike" u="none">
                <a:solidFill>
                  <a:srgbClr val="100643"/>
                </a:solidFill>
                <a:latin typeface="Poppins Bold"/>
                <a:ea typeface="Poppins Bold"/>
                <a:cs typeface="Poppins Bold"/>
                <a:sym typeface="Poppins Bold"/>
              </a:rPr>
              <a:t>Thảo luận và hỏi đáp</a:t>
            </a:r>
          </a:p>
        </p:txBody>
      </p:sp>
      <p:sp>
        <p:nvSpPr>
          <p:cNvPr name="TextBox 16" id="16"/>
          <p:cNvSpPr txBox="true"/>
          <p:nvPr/>
        </p:nvSpPr>
        <p:spPr>
          <a:xfrm rot="0">
            <a:off x="2288840" y="8474434"/>
            <a:ext cx="8895149" cy="348841"/>
          </a:xfrm>
          <a:prstGeom prst="rect">
            <a:avLst/>
          </a:prstGeom>
        </p:spPr>
        <p:txBody>
          <a:bodyPr anchor="t" rtlCol="false" tIns="0" lIns="0" bIns="0" rIns="0">
            <a:spAutoFit/>
          </a:bodyPr>
          <a:lstStyle/>
          <a:p>
            <a:pPr algn="l">
              <a:lnSpc>
                <a:spcPts val="2518"/>
              </a:lnSpc>
            </a:pPr>
            <a:r>
              <a:rPr lang="en-US" sz="2189" b="true">
                <a:solidFill>
                  <a:srgbClr val="FFFFFF"/>
                </a:solidFill>
                <a:latin typeface="Poppins Bold"/>
                <a:ea typeface="Poppins Bold"/>
                <a:cs typeface="Poppins Bold"/>
                <a:sym typeface="Poppins Bold"/>
              </a:rPr>
              <a:t>Phân tích hệ thống quản trị qui trình nghiệp vụ của Viettel Post </a:t>
            </a:r>
          </a:p>
        </p:txBody>
      </p:sp>
      <p:sp>
        <p:nvSpPr>
          <p:cNvPr name="TextBox 17" id="17"/>
          <p:cNvSpPr txBox="true"/>
          <p:nvPr/>
        </p:nvSpPr>
        <p:spPr>
          <a:xfrm rot="0">
            <a:off x="2288840" y="8140004"/>
            <a:ext cx="3456605" cy="329300"/>
          </a:xfrm>
          <a:prstGeom prst="rect">
            <a:avLst/>
          </a:prstGeom>
        </p:spPr>
        <p:txBody>
          <a:bodyPr anchor="t" rtlCol="false" tIns="0" lIns="0" bIns="0" rIns="0">
            <a:spAutoFit/>
          </a:bodyPr>
          <a:lstStyle/>
          <a:p>
            <a:pPr algn="l">
              <a:lnSpc>
                <a:spcPts val="2438"/>
              </a:lnSpc>
            </a:pPr>
            <a:r>
              <a:rPr lang="en-US" sz="2120">
                <a:solidFill>
                  <a:srgbClr val="FFFFFF"/>
                </a:solidFill>
                <a:latin typeface="Poppins"/>
                <a:ea typeface="Poppins"/>
                <a:cs typeface="Poppins"/>
                <a:sym typeface="Poppins"/>
              </a:rPr>
              <a:t>ĐỀ TÀI:</a:t>
            </a:r>
          </a:p>
        </p:txBody>
      </p:sp>
      <p:sp>
        <p:nvSpPr>
          <p:cNvPr name="TextBox 18" id="18"/>
          <p:cNvSpPr txBox="true"/>
          <p:nvPr/>
        </p:nvSpPr>
        <p:spPr>
          <a:xfrm rot="0">
            <a:off x="12781395" y="8494281"/>
            <a:ext cx="4543023" cy="348841"/>
          </a:xfrm>
          <a:prstGeom prst="rect">
            <a:avLst/>
          </a:prstGeom>
        </p:spPr>
        <p:txBody>
          <a:bodyPr anchor="t" rtlCol="false" tIns="0" lIns="0" bIns="0" rIns="0">
            <a:spAutoFit/>
          </a:bodyPr>
          <a:lstStyle/>
          <a:p>
            <a:pPr algn="l">
              <a:lnSpc>
                <a:spcPts val="2518"/>
              </a:lnSpc>
            </a:pPr>
            <a:r>
              <a:rPr lang="en-US" sz="2189" b="true">
                <a:solidFill>
                  <a:srgbClr val="FFFFFF"/>
                </a:solidFill>
                <a:latin typeface="Poppins Bold"/>
                <a:ea typeface="Poppins Bold"/>
                <a:cs typeface="Poppins Bold"/>
                <a:sym typeface="Poppins Bold"/>
              </a:rPr>
              <a:t>NHÓM 8</a:t>
            </a:r>
          </a:p>
        </p:txBody>
      </p:sp>
      <p:sp>
        <p:nvSpPr>
          <p:cNvPr name="TextBox 19" id="19"/>
          <p:cNvSpPr txBox="true"/>
          <p:nvPr/>
        </p:nvSpPr>
        <p:spPr>
          <a:xfrm rot="0">
            <a:off x="12781395" y="8159850"/>
            <a:ext cx="4040867" cy="329300"/>
          </a:xfrm>
          <a:prstGeom prst="rect">
            <a:avLst/>
          </a:prstGeom>
        </p:spPr>
        <p:txBody>
          <a:bodyPr anchor="t" rtlCol="false" tIns="0" lIns="0" bIns="0" rIns="0">
            <a:spAutoFit/>
          </a:bodyPr>
          <a:lstStyle/>
          <a:p>
            <a:pPr algn="l">
              <a:lnSpc>
                <a:spcPts val="2438"/>
              </a:lnSpc>
            </a:pPr>
            <a:r>
              <a:rPr lang="en-US" sz="2120">
                <a:solidFill>
                  <a:srgbClr val="FFFFFF"/>
                </a:solidFill>
                <a:latin typeface="Poppins"/>
                <a:ea typeface="Poppins"/>
                <a:cs typeface="Poppins"/>
                <a:sym typeface="Poppins"/>
              </a:rPr>
              <a:t>NHÓM THỰC HIỆN:</a:t>
            </a:r>
          </a:p>
        </p:txBody>
      </p:sp>
      <p:sp>
        <p:nvSpPr>
          <p:cNvPr name="TextBox 20" id="20"/>
          <p:cNvSpPr txBox="true"/>
          <p:nvPr/>
        </p:nvSpPr>
        <p:spPr>
          <a:xfrm rot="0">
            <a:off x="1395184" y="6208856"/>
            <a:ext cx="7584369" cy="486241"/>
          </a:xfrm>
          <a:prstGeom prst="rect">
            <a:avLst/>
          </a:prstGeom>
        </p:spPr>
        <p:txBody>
          <a:bodyPr anchor="t" rtlCol="false" tIns="0" lIns="0" bIns="0" rIns="0">
            <a:spAutoFit/>
          </a:bodyPr>
          <a:lstStyle/>
          <a:p>
            <a:pPr algn="l">
              <a:lnSpc>
                <a:spcPts val="3534"/>
              </a:lnSpc>
            </a:pPr>
            <a:r>
              <a:rPr lang="en-US" sz="3073" b="true">
                <a:solidFill>
                  <a:srgbClr val="FFFFFF"/>
                </a:solidFill>
                <a:latin typeface="Poppins Bold"/>
                <a:ea typeface="Poppins Bold"/>
                <a:cs typeface="Poppins Bold"/>
                <a:sym typeface="Poppins Bold"/>
              </a:rPr>
              <a:t>THẢO LUẬN &amp; HỎI ĐÁP </a:t>
            </a:r>
          </a:p>
        </p:txBody>
      </p:sp>
      <p:sp>
        <p:nvSpPr>
          <p:cNvPr name="TextBox 21" id="21"/>
          <p:cNvSpPr txBox="true"/>
          <p:nvPr/>
        </p:nvSpPr>
        <p:spPr>
          <a:xfrm rot="0">
            <a:off x="1395184" y="6799873"/>
            <a:ext cx="7488879" cy="933916"/>
          </a:xfrm>
          <a:prstGeom prst="rect">
            <a:avLst/>
          </a:prstGeom>
        </p:spPr>
        <p:txBody>
          <a:bodyPr anchor="t" rtlCol="false" tIns="0" lIns="0" bIns="0" rIns="0">
            <a:spAutoFit/>
          </a:bodyPr>
          <a:lstStyle/>
          <a:p>
            <a:pPr algn="l">
              <a:lnSpc>
                <a:spcPts val="3534"/>
              </a:lnSpc>
            </a:pPr>
            <a:r>
              <a:rPr lang="en-US" sz="3073" b="true">
                <a:solidFill>
                  <a:srgbClr val="FFFFFF"/>
                </a:solidFill>
                <a:latin typeface="Poppins Bold"/>
                <a:ea typeface="Poppins Bold"/>
                <a:cs typeface="Poppins Bold"/>
                <a:sym typeface="Poppins Bold"/>
              </a:rPr>
              <a:t>Kính mời Thầy và các bạn đặt câu hỏi cho nhóm.</a:t>
            </a:r>
          </a:p>
        </p:txBody>
      </p:sp>
      <p:sp>
        <p:nvSpPr>
          <p:cNvPr name="Freeform 22" id="22"/>
          <p:cNvSpPr/>
          <p:nvPr/>
        </p:nvSpPr>
        <p:spPr>
          <a:xfrm flipH="false" flipV="false" rot="0">
            <a:off x="17259300" y="9404386"/>
            <a:ext cx="663351" cy="663351"/>
          </a:xfrm>
          <a:custGeom>
            <a:avLst/>
            <a:gdLst/>
            <a:ahLst/>
            <a:cxnLst/>
            <a:rect r="r" b="b" t="t" l="l"/>
            <a:pathLst>
              <a:path h="663351" w="663351">
                <a:moveTo>
                  <a:pt x="0" y="0"/>
                </a:moveTo>
                <a:lnTo>
                  <a:pt x="663351" y="0"/>
                </a:lnTo>
                <a:lnTo>
                  <a:pt x="663351" y="663352"/>
                </a:lnTo>
                <a:lnTo>
                  <a:pt x="0" y="66335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3" id="23"/>
          <p:cNvSpPr txBox="true"/>
          <p:nvPr/>
        </p:nvSpPr>
        <p:spPr>
          <a:xfrm rot="0">
            <a:off x="2288840" y="1575656"/>
            <a:ext cx="2448396" cy="349852"/>
          </a:xfrm>
          <a:prstGeom prst="rect">
            <a:avLst/>
          </a:prstGeom>
        </p:spPr>
        <p:txBody>
          <a:bodyPr anchor="t" rtlCol="false" tIns="0" lIns="0" bIns="0" rIns="0">
            <a:spAutoFit/>
          </a:bodyPr>
          <a:lstStyle/>
          <a:p>
            <a:pPr algn="l" marL="0" indent="0" lvl="0">
              <a:lnSpc>
                <a:spcPts val="2558"/>
              </a:lnSpc>
              <a:spcBef>
                <a:spcPct val="0"/>
              </a:spcBef>
            </a:pPr>
            <a:r>
              <a:rPr lang="en-US" b="true" sz="2244" strike="noStrike" u="none">
                <a:solidFill>
                  <a:srgbClr val="100643"/>
                </a:solidFill>
                <a:latin typeface="Poppins Bold"/>
                <a:ea typeface="Poppins Bold"/>
                <a:cs typeface="Poppins Bold"/>
                <a:sym typeface="Poppins Bold"/>
              </a:rPr>
              <a:t>CHƯƠNG 6</a:t>
            </a:r>
          </a:p>
        </p:txBody>
      </p:sp>
      <p:sp>
        <p:nvSpPr>
          <p:cNvPr name="TextBox 24" id="24"/>
          <p:cNvSpPr txBox="true"/>
          <p:nvPr/>
        </p:nvSpPr>
        <p:spPr>
          <a:xfrm rot="0">
            <a:off x="2288840" y="1892641"/>
            <a:ext cx="2902199" cy="262632"/>
          </a:xfrm>
          <a:prstGeom prst="rect">
            <a:avLst/>
          </a:prstGeom>
        </p:spPr>
        <p:txBody>
          <a:bodyPr anchor="t" rtlCol="false" tIns="0" lIns="0" bIns="0" rIns="0">
            <a:spAutoFit/>
          </a:bodyPr>
          <a:lstStyle/>
          <a:p>
            <a:pPr algn="l">
              <a:lnSpc>
                <a:spcPts val="1987"/>
              </a:lnSpc>
            </a:pPr>
            <a:r>
              <a:rPr lang="en-US" sz="1743">
                <a:solidFill>
                  <a:srgbClr val="100643"/>
                </a:solidFill>
                <a:latin typeface="Poppins"/>
                <a:ea typeface="Poppins"/>
                <a:cs typeface="Poppins"/>
                <a:sym typeface="Poppins"/>
              </a:rPr>
              <a:t>THẢO LUẬN VÀ HỎI ĐÁP</a:t>
            </a:r>
          </a:p>
        </p:txBody>
      </p:sp>
      <p:sp>
        <p:nvSpPr>
          <p:cNvPr name="TextBox 25" id="25"/>
          <p:cNvSpPr txBox="true"/>
          <p:nvPr/>
        </p:nvSpPr>
        <p:spPr>
          <a:xfrm rot="0">
            <a:off x="17325975" y="9582150"/>
            <a:ext cx="533400" cy="311150"/>
          </a:xfrm>
          <a:prstGeom prst="rect">
            <a:avLst/>
          </a:prstGeom>
        </p:spPr>
        <p:txBody>
          <a:bodyPr anchor="t" rtlCol="false" tIns="0" lIns="0" bIns="0" rIns="0">
            <a:spAutoFit/>
          </a:bodyPr>
          <a:lstStyle/>
          <a:p>
            <a:pPr algn="ctr" marL="0" indent="0" lvl="0">
              <a:lnSpc>
                <a:spcPts val="2200"/>
              </a:lnSpc>
              <a:spcBef>
                <a:spcPct val="0"/>
              </a:spcBef>
            </a:pPr>
            <a:r>
              <a:rPr lang="en-US" b="true" sz="2000" strike="noStrike" u="none">
                <a:solidFill>
                  <a:srgbClr val="FFFFFF"/>
                </a:solidFill>
                <a:latin typeface="Poppins Bold"/>
                <a:ea typeface="Poppins Bold"/>
                <a:cs typeface="Poppins Bold"/>
                <a:sym typeface="Poppins Bold"/>
              </a:rPr>
              <a:t>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DAHRTmSbimA</dc:identifier>
  <dcterms:modified xsi:type="dcterms:W3CDTF">2011-08-01T06:04:30Z</dcterms:modified>
  <cp:revision>1</cp:revision>
  <dc:title>Viettel Post - Logistics domain</dc:title>
</cp:coreProperties>
</file>